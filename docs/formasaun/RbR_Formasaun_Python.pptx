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saun" id="{a1eee8af-9e5d-bf3f-ec71-b8e25f131427}">
          <p14:sldIdLst>
            <p14:sldId id="256"/>
            <p14:sldId id="257"/>
            <p14:sldId id="258"/>
          </p14:sldIdLst>
        </p14:section>
        <p14:section name="Hahú" id="{659d0f8c-6715-e713-eaa0-c21e727013db}">
          <p14:sldIdLst>
            <p14:sldId id="259"/>
            <p14:sldId id="260"/>
            <p14:sldId id="261"/>
            <p14:sldId id="262"/>
          </p14:sldIdLst>
        </p14:section>
        <p14:section name="Dadus baziku" id="{2199f9f9-624d-9df2-b96e-d4af55dc5700}">
          <p14:sldIdLst>
            <p14:sldId id="263"/>
            <p14:sldId id="264"/>
            <p14:sldId id="265"/>
            <p14:sldId id="266"/>
            <p14:sldId id="267"/>
            <p14:sldId id="268"/>
          </p14:sldIdLst>
        </p14:section>
        <p14:section name="Kontrolu" id="{f80b9f05-125e-590d-d7d4-805c3e00adf8}">
          <p14:sldIdLst>
            <p14:sldId id="269"/>
            <p14:sldId id="270"/>
            <p14:sldId id="271"/>
            <p14:sldId id="272"/>
          </p14:sldIdLst>
        </p14:section>
        <p14:section name="Dicionáriu no funsaun" id="{bcf75afd-ddad-c3af-bafb-74b98f25bfa2}">
          <p14:sldIdLst>
            <p14:sldId id="273"/>
            <p14:sldId id="274"/>
            <p14:sldId id="275"/>
            <p14:sldId id="276"/>
            <p14:sldId id="277"/>
            <p14:sldId id="278"/>
          </p14:sldIdLst>
        </p14:section>
        <p14:section name="Projetu" id="{0b81c00c-17f8-d331-e30f-f3d74723cb30}">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2"/>
                </a:solidFill>
                <a:latin typeface="+mj-lt"/>
              </a:defRPr>
            </a:pPr>
            <a:r>
              <a:rPr sz="1400" b="0" i="0" u="none" strike="noStrike">
                <a:solidFill>
                  <a:schemeClr val="tx2"/>
                </a:solidFill>
                <a:latin typeface="+mj-lt"/>
              </a:rPr>
              <a:t>Ezemplu rezultadu: kazu kada munisípiu</a:t>
            </a:r>
          </a:p>
        </c:rich>
      </c:tx>
      <c:layout/>
      <c:overlay val="0"/>
    </c:title>
    <c:autoTitleDeleted val="0"/>
    <c:plotArea>
      <c:layout/>
      <c:barChart>
        <c:barDir val="col"/>
        <c:grouping val="clustered"/>
        <c:varyColors val="0"/>
        <c:ser>
          <c:idx val="0"/>
          <c:order val="0"/>
          <c:tx>
            <c:strRef>
              <c:f>Sheet1!$B$1</c:f>
              <c:strCache>
                <c:ptCount val="1"/>
                <c:pt idx="0">
                  <c:v>Kazu</c:v>
                </c:pt>
              </c:strCache>
            </c:strRef>
          </c:tx>
          <c:spPr>
            <a:solidFill>
              <a:schemeClr val="accent1"/>
            </a:solidFill>
            <a:effectLst/>
          </c:spPr>
          <c:invertIfNegative val="0"/>
          <c:dLbls>
            <c:numFmt formatCode="#,##0" sourceLinked="0"/>
            <c:txPr>
              <a:bodyPr/>
              <a:lstStyle/>
              <a:p>
                <a:pPr>
                  <a:defRPr b="0" i="0" strike="noStrike" sz="1200" u="none">
                    <a:solidFill>
                      <a:schemeClr val="tx1"/>
                    </a:solidFill>
                    <a:latin typeface="+mn-lt"/>
                  </a:defRPr>
                </a:pPr>
              </a:p>
            </c:txPr>
            <c:showLegendKey val="0"/>
            <c:showVal val="1"/>
            <c:showCatName val="0"/>
            <c:showSerName val="0"/>
            <c:showPercent val="0"/>
            <c:showBubbleSize val="0"/>
            <c:showLeaderLines val="0"/>
          </c:dLbls>
          <c:cat>
            <c:multiLvlStrRef>
              <c:f>Sheet1!$A$2:$A$6</c:f>
              <c:multiLvlStrCache>
                <c:ptCount val="5"/>
                <c:lvl>
                  <c:pt idx="0">
                    <c:v>Dili</c:v>
                  </c:pt>
                  <c:pt idx="1">
                    <c:v>Liquiçá</c:v>
                  </c:pt>
                  <c:pt idx="2">
                    <c:v>Baucau</c:v>
                  </c:pt>
                  <c:pt idx="3">
                    <c:v>Ermera</c:v>
                  </c:pt>
                  <c:pt idx="4">
                    <c:v>Bobonaro</c:v>
                  </c:pt>
                </c:lvl>
              </c:multiLvlStrCache>
            </c:multiLvlStrRef>
          </c:cat>
          <c:val>
            <c:numRef>
              <c:f>Sheet1!$B$2:$B$6</c:f>
              <c:numCache>
                <c:formatCode>General</c:formatCode>
                <c:ptCount val="5"/>
                <c:pt idx="0">
                  <c:v>24</c:v>
                </c:pt>
                <c:pt idx="1">
                  <c:v>18</c:v>
                </c:pt>
                <c:pt idx="2">
                  <c:v>15</c:v>
                </c:pt>
                <c:pt idx="3">
                  <c:v>11</c:v>
                </c:pt>
                <c:pt idx="4">
                  <c:v>7</c:v>
                </c:pt>
              </c:numCache>
            </c:numRef>
          </c:val>
        </c:ser>
        <c:dLbls>
          <c:numFmt formatCode="#,##0" sourceLinked="0"/>
          <c:txPr>
            <a:bodyPr/>
            <a:lstStyle/>
            <a:p>
              <a:pPr>
                <a:defRPr b="0" i="0" strike="noStrike" sz="1200" u="none">
                  <a:solidFill>
                    <a:schemeClr val="tx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5DE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chemeClr val="tx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Bondia hotu. Ohin ita aprende Python husi zero: la presiza esperiénsia ruma. Objetivu: ita-boot sira bele hakerek programa ki'ik atu kalkula no organiza dadus, hanesan dadus kazu konflitu rai ne'ebé ita servisu ho loron-loron. Sistema SIBAR-RbR rasik hakerek ho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Haree objetivu haat ne'e. Ita la sai programadór iha loron ida, maibé ita sei hatene baze no bele kontinua aprende rasik. Ezersísiu hotu uza ezemplu husi servisu Rede ba Rai.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Ida-ne'e agenda ba loron ohin. Kada parte iha esplikasaun badak no prátika kedas. Ezersísiu sira halo iha pár: ema na'in rua servisu hamutuk iha komputadór 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mak lian ida atu ko'alia ho komputadór. Nia populár tebes tanba fásil atu lee. Ezemplu ne'ebé besik ita: sistema SIBAR-RbR, ne'ebé ita uza atu rejista kazu, hakerek ho Python. Entaun aprende Python ajuda ita komprende oinsá sistema ita-nian servisu.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Ohin ita uza Google Colab: loke iha browser, la presiza instala buat ida. Kada partisipante presiza konta Google. Ba prátika iha uma ka fatin la iha internet, instala Thonny: programa ki'ik ne'ebé mai ho Python 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Ida-ne'e programa dahuluk. Funsaun print hatudu buat ruma iha ekran. Testu tenke iha laran aspas, númeru la presiza. Komentáriu mak nota ba ita rasik ka kolega; komputadór la halo buat ida ho nia. Agora kada ema hakerek print ho naran rasik.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Hanoin variável hanesan kaixa ida ho etiketa. Etiketa mak naran, laran mak valór. Sinál hanesan (=) iha Python signifika 'tau valór ne'e iha kaixa'. Naran variável: letra ki'ik, la iha espasu, la hahú ho númeru.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iha tipu dadus barak, maibé ohin ita uza haat de'it. Int: númeru tomak, hanesan uma-kain 12. Float: númeru ho pontu, hanesan rai luan 2.5 hektar. Str: testu iha aspas. Bool: True ka False, hanesan kazu urjente ka lae. Iha Python, vírgula desimál hakerek ho pontu (2.5), la'ós vírgula.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bele sai kalkuladora. Sinál + mós kombina testu. Maibé dalan ne'ebé di'ak liu atu hatama númeru iha testu mak f-string: letra f molok aspas, no naran variável iha laran kurvadura. Demonstra iha Colab no husu partisipante koko.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Funsaun input halo programa para no hein utilizador hakerek buat ruma. Atensaun: rezultadu input sempre testu. Se ita soma testu rua, Python kola de'it testu sira. Tan ne'e uza int() ka float() atu troka ba númeru molok kalkula.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Fó minutu 15. Partisipante servisu iha pár. Lori volta: husu grupu ida hatudu nia kódigu. Erru komún: haluha int() iha input, ka haluha f iha f-string. Bónus: :.1f hatudu desimál ida de'it.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Kondisaun fó programa kbiit atu hili. If: se kondisaun loos, halo ida-ne'e. Elif: se lae, koko kondisaun seluk. Else: se la iha ida loos. Importante tebes: dois-pontu no espasu haat (indentasaun). Python la uza kurvadura hanesan lian seluk; nia uza espasu. Atensaun: == mak komparasaun, = mak rai valór.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rai valór barak tuir orden, iha laran kolxete. Kada valór iha númeru index, hahú husi zero. len() fó total. append() aumenta valór iha rohan. Operadór in hatene se valór iha lista ka lae.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mak repetisaun: ba kada valór iha lista, halo kódigu iha laran. Variável m troka valór kada volta. Range fó lista númeru; atensaun númeru ikus la tama. Husu partisipante: oinsá atu imprime númeru 1 to'o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Dicionáriu rai dadus ho naran, la'ós ho númeru index. Kada xave iha valór. Hanoin formuláriu kazu iha SIBAR-RbR: pergunta 'munisípiu' iha resposta 'Liquiçá'. Iha sistema, kada kazu hanesan dicionáriu 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Ida-ne'e momentu importante: ita kombina buat hotu. Lista ida ho dicionáriu barak, kada ida kazu ida. For pasa kazu ida-idak, soma ema, no konta urjente ho if. Dashboard iha SIBAR-RbR halo kalkulu hanesan ne'e, maibé ho kazu atus ba 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Ezersísiu ne'e difisil uitoan. Esplika lójika: se munisípiu iha ona iha dicionáriu, aumenta 1; se seidauk, hahú ho 1. items() fó xave no valór hamutuk. Fó tempu no ajuda grupu ida-idak.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Funsaun hanesan máquina: tama valór, sai rezultadu. Ita uza ona funsaun husi Python: print, len, input. Agora ita kria rasik ho def. Return fó rezultadu fila fali ba fatin ne'ebé bolu funsaun. Vantajen: hakerek dala ida, uza dala barak.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Programadór hotu hetan erru beibeik, programadór esperiente mós. Erru mak Python hatete ita saida mak sala. Lee liña ikus: naran erru no liña hira. Haat ne'e mak komún liu ba ema foun. Halo demonstrasaun: hakerek erru ida-idak iha Colab no hatudu mensajen.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Ida-ne'e antevizaun ba formasaun tuir mai. Pandas mak biblioteka Python atu servisu ho tabela, hanesan Excel. Ho liña uitoan ita bele lee file Excel, konta kazu kada munisípiu no halo gráfiku. Dadus iha gráfiku ne'e ezemplu de'it. Se iha tempu, demonstra iha Colab ho file ezemplu.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Projetu final kombina buat hotu ohin: variável, lista, dicionáriu, for, if, funsaun no f-string. Fó minutu 30-40. Hafoin ne'e kada pár hatudu sira-nia programa. Fó apresiasaun ba sira hotu: ida-ne'e programa loos dahuluk!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Haree fali buat sia ne'ebé ita aprende ohin. Husu partisipante: ida ne'ebé mak fásil, ida ne'ebé mak difisil? Nota parte difisil atu repete iha formasaun tuir mai.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 sai di'ak iha Python, prátika mak importante liu, la'ós tempu naruk. Minutu 15 loron-loron di'ak liu fali oras 3 dala ida semana ida. Sujere grupu prátika iha Rede ba Rai. Obrigadu ba partisipasaun; agora tempu ba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KSAU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E6B66"/>
                </a:solidFill>
              </a:rPr>
              <a:t>Python ba Dadus · Formasaun staf Rede ba Rai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sirkulu"/>
          <p:cNvSpPr/>
          <p:nvPr/>
        </p:nvSpPr>
        <p:spPr>
          <a:xfrm>
            <a:off x="548640" y="548640"/>
            <a:ext cx="1280160" cy="1280160"/>
          </a:xfrm>
          <a:prstGeom prst="ellipse">
            <a:avLst/>
          </a:prstGeom>
          <a:solidFill>
            <a:schemeClr val="bg1"/>
          </a:solidFill>
          <a:ln w="12700">
            <a:solidFill>
              <a:schemeClr val="bg1"/>
            </a:solidFill>
            <a:prstDash val="solid"/>
          </a:ln>
        </p:spPr>
      </p:sp>
      <p:pic>
        <p:nvPicPr>
          <p:cNvPr id="3" name="logo" descr="/home/user/SMKRE/main/static/main/images/logo.png">    </p:cNvPr>
          <p:cNvPicPr>
            <a:picLocks noChangeAspect="1"/>
          </p:cNvPicPr>
          <p:nvPr/>
        </p:nvPicPr>
        <p:blipFill>
          <a:blip r:embed="rId1"/>
          <a:stretch>
            <a:fillRect/>
          </a:stretch>
        </p:blipFill>
        <p:spPr>
          <a:xfrm>
            <a:off x="731520" y="731520"/>
            <a:ext cx="914400" cy="914400"/>
          </a:xfrm>
          <a:prstGeom prst="rect">
            <a:avLst/>
          </a:prstGeom>
        </p:spPr>
      </p:pic>
      <p:sp>
        <p:nvSpPr>
          <p:cNvPr id="4"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Python ba Dadus</a:t>
            </a:r>
            <a:endParaRPr lang="en-US" sz="5000" dirty="0"/>
          </a:p>
        </p:txBody>
      </p:sp>
      <p:sp>
        <p:nvSpPr>
          <p:cNvPr id="5"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Formasaun baziku ba staf Rede ba Rai</a:t>
            </a:r>
            <a:endParaRPr lang="en-US" sz="2000" dirty="0"/>
          </a:p>
          <a:p>
            <a:pPr indent="0" marL="0">
              <a:buNone/>
            </a:pPr>
            <a:r>
              <a:rPr lang="en-US" sz="2000" b="1" dirty="0">
                <a:solidFill>
                  <a:schemeClr val="accent2"/>
                </a:solidFill>
              </a:rPr>
              <a:t>Loron ida · Ba ema ne'ebé seidauk hakerek kódigu</a:t>
            </a:r>
            <a:endParaRPr lang="en-US" sz="2000" dirty="0"/>
          </a:p>
        </p:txBody>
      </p:sp>
      <p:sp>
        <p:nvSpPr>
          <p:cNvPr id="6" name="kapa-kodigu"/>
          <p:cNvSpPr/>
          <p:nvPr/>
        </p:nvSpPr>
        <p:spPr>
          <a:xfrm>
            <a:off x="8549640" y="1920240"/>
            <a:ext cx="3108960" cy="2743200"/>
          </a:xfrm>
          <a:prstGeom prst="roundRect">
            <a:avLst>
              <a:gd name="adj" fmla="val 3333"/>
            </a:avLst>
          </a:prstGeom>
          <a:solidFill>
            <a:schemeClr val="tx1"/>
          </a:solidFill>
          <a:ln w="12700">
            <a:solidFill>
              <a:schemeClr val="tx1"/>
            </a:solidFill>
            <a:prstDash val="solid"/>
          </a:ln>
        </p:spPr>
      </p:sp>
      <p:sp>
        <p:nvSpPr>
          <p:cNvPr id="7" name="kapa-kodigu-t"/>
          <p:cNvSpPr txBox="1"/>
          <p:nvPr/>
        </p:nvSpPr>
        <p:spPr>
          <a:xfrm>
            <a:off x="8823960" y="2148840"/>
            <a:ext cx="2560320" cy="228600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&gt;&gt;&gt; print("Bondia!")</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Bondia!</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&gt;&gt;&gt; kazu = 92</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&gt;&gt;&gt; kazu + 8</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100</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Hafoin formasaun ne'e, ita bele…</a:t>
            </a:r>
            <a:endParaRPr lang="en-US" sz="3000" dirty="0"/>
          </a:p>
        </p:txBody>
      </p:sp>
      <p:sp>
        <p:nvSpPr>
          <p:cNvPr id="3" name="obj-0"/>
          <p:cNvSpPr/>
          <p:nvPr/>
        </p:nvSpPr>
        <p:spPr>
          <a:xfrm>
            <a:off x="548640" y="1554480"/>
            <a:ext cx="2499284" cy="4206240"/>
          </a:xfrm>
          <a:prstGeom prst="roundRect">
            <a:avLst>
              <a:gd name="adj" fmla="val 4390"/>
            </a:avLst>
          </a:prstGeom>
          <a:solidFill>
            <a:schemeClr val="bg2"/>
          </a:solidFill>
          <a:ln w="12700">
            <a:solidFill>
              <a:schemeClr val="bg2"/>
            </a:solidFill>
            <a:prstDash val="solid"/>
          </a:ln>
        </p:spPr>
      </p:sp>
      <p:sp>
        <p:nvSpPr>
          <p:cNvPr id="4" name="obj-ik-0-sirkulu"/>
          <p:cNvSpPr/>
          <p:nvPr/>
        </p:nvSpPr>
        <p:spPr>
          <a:xfrm>
            <a:off x="1249642" y="1920240"/>
            <a:ext cx="1097280" cy="1097280"/>
          </a:xfrm>
          <a:prstGeom prst="ellipse">
            <a:avLst/>
          </a:prstGeom>
          <a:solidFill>
            <a:schemeClr val="accent6"/>
          </a:solidFill>
          <a:ln w="12700">
            <a:solidFill>
              <a:schemeClr val="accent6"/>
            </a:solidFill>
            <a:prstDash val="solid"/>
          </a:ln>
        </p:spPr>
      </p:sp>
      <p:pic>
        <p:nvPicPr>
          <p:cNvPr id="5" name="obj-ik-0-ikone" descr="preencoded.png">    </p:cNvPr>
          <p:cNvPicPr>
            <a:picLocks noChangeAspect="1"/>
          </p:cNvPicPr>
          <p:nvPr/>
        </p:nvPicPr>
        <p:blipFill>
          <a:blip r:embed="rId1"/>
          <a:stretch>
            <a:fillRect/>
          </a:stretch>
        </p:blipFill>
        <p:spPr>
          <a:xfrm>
            <a:off x="1512989" y="2183587"/>
            <a:ext cx="570586" cy="570586"/>
          </a:xfrm>
          <a:prstGeom prst="rect">
            <a:avLst/>
          </a:prstGeom>
        </p:spPr>
      </p:pic>
      <p:sp>
        <p:nvSpPr>
          <p:cNvPr id="6" name="Text 3"/>
          <p:cNvSpPr txBox="1"/>
          <p:nvPr/>
        </p:nvSpPr>
        <p:spPr>
          <a:xfrm>
            <a:off x="731520" y="3291840"/>
            <a:ext cx="2133524" cy="457200"/>
          </a:xfrm>
          <a:prstGeom prst="rect">
            <a:avLst/>
          </a:prstGeom>
          <a:noFill/>
          <a:ln/>
        </p:spPr>
        <p:txBody>
          <a:bodyPr wrap="square" lIns="0" tIns="0" rIns="0" bIns="0" rtlCol="0" anchor="t"/>
          <a:lstStyle/>
          <a:p>
            <a:pPr algn="ctr" indent="0" marL="0">
              <a:buNone/>
            </a:pPr>
            <a:r>
              <a:rPr lang="en-US" sz="2100" b="1" dirty="0">
                <a:solidFill>
                  <a:schemeClr val="tx2"/>
                </a:solidFill>
              </a:rPr>
              <a:t>Komprende</a:t>
            </a:r>
            <a:endParaRPr lang="en-US" sz="2100" dirty="0"/>
          </a:p>
        </p:txBody>
      </p:sp>
      <p:sp>
        <p:nvSpPr>
          <p:cNvPr id="7" name="Text 4"/>
          <p:cNvSpPr txBox="1"/>
          <p:nvPr/>
        </p:nvSpPr>
        <p:spPr>
          <a:xfrm>
            <a:off x="777240" y="3840480"/>
            <a:ext cx="2042084" cy="1554480"/>
          </a:xfrm>
          <a:prstGeom prst="rect">
            <a:avLst/>
          </a:prstGeom>
          <a:noFill/>
          <a:ln/>
        </p:spPr>
        <p:txBody>
          <a:bodyPr wrap="square" lIns="0" tIns="0" rIns="0" bIns="0" rtlCol="0" anchor="t"/>
          <a:lstStyle/>
          <a:p>
            <a:pPr algn="ctr" indent="0" marL="0">
              <a:buNone/>
            </a:pPr>
            <a:r>
              <a:rPr lang="en-US" sz="1500" dirty="0">
                <a:solidFill>
                  <a:schemeClr val="tx1"/>
                </a:solidFill>
              </a:rPr>
              <a:t>Saida mak Python no tanba sá ema barak uza</a:t>
            </a:r>
            <a:endParaRPr lang="en-US" sz="1500" dirty="0"/>
          </a:p>
        </p:txBody>
      </p:sp>
      <p:sp>
        <p:nvSpPr>
          <p:cNvPr id="8" name="obj-1"/>
          <p:cNvSpPr/>
          <p:nvPr/>
        </p:nvSpPr>
        <p:spPr>
          <a:xfrm>
            <a:off x="3322244" y="1554480"/>
            <a:ext cx="2499284" cy="4206240"/>
          </a:xfrm>
          <a:prstGeom prst="roundRect">
            <a:avLst>
              <a:gd name="adj" fmla="val 4390"/>
            </a:avLst>
          </a:prstGeom>
          <a:solidFill>
            <a:schemeClr val="bg2"/>
          </a:solidFill>
          <a:ln w="12700">
            <a:solidFill>
              <a:schemeClr val="bg2"/>
            </a:solidFill>
            <a:prstDash val="solid"/>
          </a:ln>
        </p:spPr>
      </p:sp>
      <p:sp>
        <p:nvSpPr>
          <p:cNvPr id="9" name="obj-ik-1-sirkulu"/>
          <p:cNvSpPr/>
          <p:nvPr/>
        </p:nvSpPr>
        <p:spPr>
          <a:xfrm>
            <a:off x="4023246" y="1920240"/>
            <a:ext cx="1097280" cy="1097280"/>
          </a:xfrm>
          <a:prstGeom prst="ellipse">
            <a:avLst/>
          </a:prstGeom>
          <a:solidFill>
            <a:schemeClr val="accent1"/>
          </a:solidFill>
          <a:ln w="12700">
            <a:solidFill>
              <a:schemeClr val="accent1"/>
            </a:solidFill>
            <a:prstDash val="solid"/>
          </a:ln>
        </p:spPr>
      </p:sp>
      <p:pic>
        <p:nvPicPr>
          <p:cNvPr id="10" name="obj-ik-1-ikone" descr="preencoded.png">    </p:cNvPr>
          <p:cNvPicPr>
            <a:picLocks noChangeAspect="1"/>
          </p:cNvPicPr>
          <p:nvPr/>
        </p:nvPicPr>
        <p:blipFill>
          <a:blip r:embed="rId2"/>
          <a:stretch>
            <a:fillRect/>
          </a:stretch>
        </p:blipFill>
        <p:spPr>
          <a:xfrm>
            <a:off x="4286593" y="2183587"/>
            <a:ext cx="570586" cy="570586"/>
          </a:xfrm>
          <a:prstGeom prst="rect">
            <a:avLst/>
          </a:prstGeom>
        </p:spPr>
      </p:pic>
      <p:sp>
        <p:nvSpPr>
          <p:cNvPr id="11" name="Text 7"/>
          <p:cNvSpPr txBox="1"/>
          <p:nvPr/>
        </p:nvSpPr>
        <p:spPr>
          <a:xfrm>
            <a:off x="3505124" y="3291840"/>
            <a:ext cx="2133524" cy="457200"/>
          </a:xfrm>
          <a:prstGeom prst="rect">
            <a:avLst/>
          </a:prstGeom>
          <a:noFill/>
          <a:ln/>
        </p:spPr>
        <p:txBody>
          <a:bodyPr wrap="square" lIns="0" tIns="0" rIns="0" bIns="0" rtlCol="0" anchor="t"/>
          <a:lstStyle/>
          <a:p>
            <a:pPr algn="ctr" indent="0" marL="0">
              <a:buNone/>
            </a:pPr>
            <a:r>
              <a:rPr lang="en-US" sz="2100" b="1" dirty="0">
                <a:solidFill>
                  <a:schemeClr val="tx2"/>
                </a:solidFill>
              </a:rPr>
              <a:t>Hakerek</a:t>
            </a:r>
            <a:endParaRPr lang="en-US" sz="2100" dirty="0"/>
          </a:p>
        </p:txBody>
      </p:sp>
      <p:sp>
        <p:nvSpPr>
          <p:cNvPr id="12" name="Text 8"/>
          <p:cNvSpPr txBox="1"/>
          <p:nvPr/>
        </p:nvSpPr>
        <p:spPr>
          <a:xfrm>
            <a:off x="3550844" y="3840480"/>
            <a:ext cx="2042084" cy="1554480"/>
          </a:xfrm>
          <a:prstGeom prst="rect">
            <a:avLst/>
          </a:prstGeom>
          <a:noFill/>
          <a:ln/>
        </p:spPr>
        <p:txBody>
          <a:bodyPr wrap="square" lIns="0" tIns="0" rIns="0" bIns="0" rtlCol="0" anchor="t"/>
          <a:lstStyle/>
          <a:p>
            <a:pPr algn="ctr" indent="0" marL="0">
              <a:buNone/>
            </a:pPr>
            <a:r>
              <a:rPr lang="en-US" sz="1500" dirty="0">
                <a:solidFill>
                  <a:schemeClr val="tx1"/>
                </a:solidFill>
              </a:rPr>
              <a:t>Programa ki'ik: variável, kondisaun, repetisaun</a:t>
            </a:r>
            <a:endParaRPr lang="en-US" sz="1500" dirty="0"/>
          </a:p>
        </p:txBody>
      </p:sp>
      <p:sp>
        <p:nvSpPr>
          <p:cNvPr id="13" name="obj-2"/>
          <p:cNvSpPr/>
          <p:nvPr/>
        </p:nvSpPr>
        <p:spPr>
          <a:xfrm>
            <a:off x="6095848" y="1554480"/>
            <a:ext cx="2499284" cy="4206240"/>
          </a:xfrm>
          <a:prstGeom prst="roundRect">
            <a:avLst>
              <a:gd name="adj" fmla="val 4390"/>
            </a:avLst>
          </a:prstGeom>
          <a:solidFill>
            <a:schemeClr val="bg2"/>
          </a:solidFill>
          <a:ln w="12700">
            <a:solidFill>
              <a:schemeClr val="bg2"/>
            </a:solidFill>
            <a:prstDash val="solid"/>
          </a:ln>
        </p:spPr>
      </p:sp>
      <p:sp>
        <p:nvSpPr>
          <p:cNvPr id="14" name="obj-ik-2-sirkulu"/>
          <p:cNvSpPr/>
          <p:nvPr/>
        </p:nvSpPr>
        <p:spPr>
          <a:xfrm>
            <a:off x="6796850" y="1920240"/>
            <a:ext cx="1097280" cy="1097280"/>
          </a:xfrm>
          <a:prstGeom prst="ellipse">
            <a:avLst/>
          </a:prstGeom>
          <a:solidFill>
            <a:schemeClr val="accent5"/>
          </a:solidFill>
          <a:ln w="12700">
            <a:solidFill>
              <a:schemeClr val="accent5"/>
            </a:solidFill>
            <a:prstDash val="solid"/>
          </a:ln>
        </p:spPr>
      </p:sp>
      <p:pic>
        <p:nvPicPr>
          <p:cNvPr id="15" name="obj-ik-2-ikone" descr="preencoded.png">    </p:cNvPr>
          <p:cNvPicPr>
            <a:picLocks noChangeAspect="1"/>
          </p:cNvPicPr>
          <p:nvPr/>
        </p:nvPicPr>
        <p:blipFill>
          <a:blip r:embed="rId3"/>
          <a:stretch>
            <a:fillRect/>
          </a:stretch>
        </p:blipFill>
        <p:spPr>
          <a:xfrm>
            <a:off x="7060197" y="2183587"/>
            <a:ext cx="570586" cy="570586"/>
          </a:xfrm>
          <a:prstGeom prst="rect">
            <a:avLst/>
          </a:prstGeom>
        </p:spPr>
      </p:pic>
      <p:sp>
        <p:nvSpPr>
          <p:cNvPr id="16" name="Text 11"/>
          <p:cNvSpPr txBox="1"/>
          <p:nvPr/>
        </p:nvSpPr>
        <p:spPr>
          <a:xfrm>
            <a:off x="6278728" y="3291840"/>
            <a:ext cx="2133524" cy="457200"/>
          </a:xfrm>
          <a:prstGeom prst="rect">
            <a:avLst/>
          </a:prstGeom>
          <a:noFill/>
          <a:ln/>
        </p:spPr>
        <p:txBody>
          <a:bodyPr wrap="square" lIns="0" tIns="0" rIns="0" bIns="0" rtlCol="0" anchor="t"/>
          <a:lstStyle/>
          <a:p>
            <a:pPr algn="ctr" indent="0" marL="0">
              <a:buNone/>
            </a:pPr>
            <a:r>
              <a:rPr lang="en-US" sz="2100" b="1" dirty="0">
                <a:solidFill>
                  <a:schemeClr val="tx2"/>
                </a:solidFill>
              </a:rPr>
              <a:t>Organiza</a:t>
            </a:r>
            <a:endParaRPr lang="en-US" sz="2100" dirty="0"/>
          </a:p>
        </p:txBody>
      </p:sp>
      <p:sp>
        <p:nvSpPr>
          <p:cNvPr id="17" name="Text 12"/>
          <p:cNvSpPr txBox="1"/>
          <p:nvPr/>
        </p:nvSpPr>
        <p:spPr>
          <a:xfrm>
            <a:off x="6324448" y="3840480"/>
            <a:ext cx="2042084" cy="1554480"/>
          </a:xfrm>
          <a:prstGeom prst="rect">
            <a:avLst/>
          </a:prstGeom>
          <a:noFill/>
          <a:ln/>
        </p:spPr>
        <p:txBody>
          <a:bodyPr wrap="square" lIns="0" tIns="0" rIns="0" bIns="0" rtlCol="0" anchor="t"/>
          <a:lstStyle/>
          <a:p>
            <a:pPr algn="ctr" indent="0" marL="0">
              <a:buNone/>
            </a:pPr>
            <a:r>
              <a:rPr lang="en-US" sz="1500" dirty="0">
                <a:solidFill>
                  <a:schemeClr val="tx1"/>
                </a:solidFill>
              </a:rPr>
              <a:t>Dadus iha lista no dicionáriu</a:t>
            </a:r>
            <a:endParaRPr lang="en-US" sz="1500" dirty="0"/>
          </a:p>
        </p:txBody>
      </p:sp>
      <p:sp>
        <p:nvSpPr>
          <p:cNvPr id="18" name="obj-3"/>
          <p:cNvSpPr/>
          <p:nvPr/>
        </p:nvSpPr>
        <p:spPr>
          <a:xfrm>
            <a:off x="8869451" y="1554480"/>
            <a:ext cx="2499284" cy="4206240"/>
          </a:xfrm>
          <a:prstGeom prst="roundRect">
            <a:avLst>
              <a:gd name="adj" fmla="val 4390"/>
            </a:avLst>
          </a:prstGeom>
          <a:solidFill>
            <a:schemeClr val="bg2"/>
          </a:solidFill>
          <a:ln w="12700">
            <a:solidFill>
              <a:schemeClr val="bg2"/>
            </a:solidFill>
            <a:prstDash val="solid"/>
          </a:ln>
        </p:spPr>
      </p:sp>
      <p:sp>
        <p:nvSpPr>
          <p:cNvPr id="19" name="obj-ik-3-sirkulu"/>
          <p:cNvSpPr/>
          <p:nvPr/>
        </p:nvSpPr>
        <p:spPr>
          <a:xfrm>
            <a:off x="9570453" y="1920240"/>
            <a:ext cx="1097280" cy="1097280"/>
          </a:xfrm>
          <a:prstGeom prst="ellipse">
            <a:avLst/>
          </a:prstGeom>
          <a:solidFill>
            <a:schemeClr val="accent3"/>
          </a:solidFill>
          <a:ln w="12700">
            <a:solidFill>
              <a:schemeClr val="accent3"/>
            </a:solidFill>
            <a:prstDash val="solid"/>
          </a:ln>
        </p:spPr>
      </p:sp>
      <p:pic>
        <p:nvPicPr>
          <p:cNvPr id="20" name="obj-ik-3-ikone" descr="preencoded.png">    </p:cNvPr>
          <p:cNvPicPr>
            <a:picLocks noChangeAspect="1"/>
          </p:cNvPicPr>
          <p:nvPr/>
        </p:nvPicPr>
        <p:blipFill>
          <a:blip r:embed="rId4"/>
          <a:stretch>
            <a:fillRect/>
          </a:stretch>
        </p:blipFill>
        <p:spPr>
          <a:xfrm>
            <a:off x="9833801" y="2183587"/>
            <a:ext cx="570586" cy="570586"/>
          </a:xfrm>
          <a:prstGeom prst="rect">
            <a:avLst/>
          </a:prstGeom>
        </p:spPr>
      </p:pic>
      <p:sp>
        <p:nvSpPr>
          <p:cNvPr id="21" name="Text 15"/>
          <p:cNvSpPr txBox="1"/>
          <p:nvPr/>
        </p:nvSpPr>
        <p:spPr>
          <a:xfrm>
            <a:off x="9052331" y="3291840"/>
            <a:ext cx="2133524" cy="457200"/>
          </a:xfrm>
          <a:prstGeom prst="rect">
            <a:avLst/>
          </a:prstGeom>
          <a:noFill/>
          <a:ln/>
        </p:spPr>
        <p:txBody>
          <a:bodyPr wrap="square" lIns="0" tIns="0" rIns="0" bIns="0" rtlCol="0" anchor="t"/>
          <a:lstStyle/>
          <a:p>
            <a:pPr algn="ctr" indent="0" marL="0">
              <a:buNone/>
            </a:pPr>
            <a:r>
              <a:rPr lang="en-US" sz="2100" b="1" dirty="0">
                <a:solidFill>
                  <a:schemeClr val="tx2"/>
                </a:solidFill>
              </a:rPr>
              <a:t>Kalkula</a:t>
            </a:r>
            <a:endParaRPr lang="en-US" sz="2100" dirty="0"/>
          </a:p>
        </p:txBody>
      </p:sp>
      <p:sp>
        <p:nvSpPr>
          <p:cNvPr id="22" name="Text 16"/>
          <p:cNvSpPr txBox="1"/>
          <p:nvPr/>
        </p:nvSpPr>
        <p:spPr>
          <a:xfrm>
            <a:off x="9098051" y="3840480"/>
            <a:ext cx="2042084" cy="1554480"/>
          </a:xfrm>
          <a:prstGeom prst="rect">
            <a:avLst/>
          </a:prstGeom>
          <a:noFill/>
          <a:ln/>
        </p:spPr>
        <p:txBody>
          <a:bodyPr wrap="square" lIns="0" tIns="0" rIns="0" bIns="0" rtlCol="0" anchor="t"/>
          <a:lstStyle/>
          <a:p>
            <a:pPr algn="ctr" indent="0" marL="0">
              <a:buNone/>
            </a:pPr>
            <a:r>
              <a:rPr lang="en-US" sz="1500" dirty="0">
                <a:solidFill>
                  <a:schemeClr val="tx1"/>
                </a:solidFill>
              </a:rPr>
              <a:t>Rezumu dadus kazu: total, urjente, kada munisípiu</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Agenda loron ida</a:t>
            </a:r>
            <a:endParaRPr lang="en-US" sz="3000" dirty="0"/>
          </a:p>
        </p:txBody>
      </p:sp>
      <p:sp>
        <p:nvSpPr>
          <p:cNvPr id="3" name="ag-liña"/>
          <p:cNvSpPr/>
          <p:nvPr/>
        </p:nvSpPr>
        <p:spPr>
          <a:xfrm>
            <a:off x="2029968" y="1783080"/>
            <a:ext cx="0" cy="3657600"/>
          </a:xfrm>
          <a:prstGeom prst="line">
            <a:avLst/>
          </a:prstGeom>
          <a:noFill/>
          <a:ln w="25400">
            <a:solidFill>
              <a:schemeClr val="accent1"/>
            </a:solidFill>
            <a:prstDash val="solid"/>
          </a:ln>
        </p:spPr>
      </p:sp>
      <p:sp>
        <p:nvSpPr>
          <p:cNvPr id="4" name="Text 2"/>
          <p:cNvSpPr txBox="1"/>
          <p:nvPr/>
        </p:nvSpPr>
        <p:spPr>
          <a:xfrm>
            <a:off x="548640" y="161848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08:30</a:t>
            </a:r>
            <a:endParaRPr lang="en-US" sz="1700" dirty="0"/>
          </a:p>
        </p:txBody>
      </p:sp>
      <p:sp>
        <p:nvSpPr>
          <p:cNvPr id="5" name="ag-pontu-0"/>
          <p:cNvSpPr/>
          <p:nvPr/>
        </p:nvSpPr>
        <p:spPr>
          <a:xfrm>
            <a:off x="1920240" y="1673352"/>
            <a:ext cx="228600" cy="228600"/>
          </a:xfrm>
          <a:prstGeom prst="ellipse">
            <a:avLst/>
          </a:prstGeom>
          <a:solidFill>
            <a:schemeClr val="accent1"/>
          </a:solidFill>
          <a:ln w="25400">
            <a:solidFill>
              <a:schemeClr val="bg1"/>
            </a:solidFill>
            <a:prstDash val="solid"/>
          </a:ln>
        </p:spPr>
      </p:sp>
      <p:sp>
        <p:nvSpPr>
          <p:cNvPr id="6" name="Text 4"/>
          <p:cNvSpPr txBox="1"/>
          <p:nvPr/>
        </p:nvSpPr>
        <p:spPr>
          <a:xfrm>
            <a:off x="2423160" y="1581912"/>
            <a:ext cx="3108960" cy="411480"/>
          </a:xfrm>
          <a:prstGeom prst="rect">
            <a:avLst/>
          </a:prstGeom>
          <a:noFill/>
          <a:ln/>
        </p:spPr>
        <p:txBody>
          <a:bodyPr wrap="square" lIns="0" tIns="0" rIns="0" bIns="0" rtlCol="0" anchor="t"/>
          <a:lstStyle/>
          <a:p>
            <a:pPr indent="0" marL="0">
              <a:buNone/>
            </a:pPr>
            <a:r>
              <a:rPr lang="en-US" sz="1800" b="1" dirty="0">
                <a:solidFill>
                  <a:schemeClr val="tx2"/>
                </a:solidFill>
              </a:rPr>
              <a:t>Hahú</a:t>
            </a:r>
            <a:endParaRPr lang="en-US" sz="1800" dirty="0"/>
          </a:p>
        </p:txBody>
      </p:sp>
      <p:sp>
        <p:nvSpPr>
          <p:cNvPr id="7" name="Text 5"/>
          <p:cNvSpPr txBox="1"/>
          <p:nvPr/>
        </p:nvSpPr>
        <p:spPr>
          <a:xfrm>
            <a:off x="5577840" y="1609344"/>
            <a:ext cx="6065215" cy="411480"/>
          </a:xfrm>
          <a:prstGeom prst="rect">
            <a:avLst/>
          </a:prstGeom>
          <a:noFill/>
          <a:ln/>
        </p:spPr>
        <p:txBody>
          <a:bodyPr wrap="square" lIns="0" tIns="0" rIns="0" bIns="0" rtlCol="0" anchor="t"/>
          <a:lstStyle/>
          <a:p>
            <a:pPr indent="0" marL="0">
              <a:buNone/>
            </a:pPr>
            <a:r>
              <a:rPr lang="en-US" sz="1600" dirty="0">
                <a:solidFill>
                  <a:schemeClr val="tx1"/>
                </a:solidFill>
              </a:rPr>
              <a:t>Saida mak Python · Google Colab · programa dahuluk</a:t>
            </a:r>
            <a:endParaRPr lang="en-US" sz="1600" dirty="0"/>
          </a:p>
        </p:txBody>
      </p:sp>
      <p:sp>
        <p:nvSpPr>
          <p:cNvPr id="8" name="Text 6"/>
          <p:cNvSpPr txBox="1"/>
          <p:nvPr/>
        </p:nvSpPr>
        <p:spPr>
          <a:xfrm>
            <a:off x="548640" y="235000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09:30</a:t>
            </a:r>
            <a:endParaRPr lang="en-US" sz="1700" dirty="0"/>
          </a:p>
        </p:txBody>
      </p:sp>
      <p:sp>
        <p:nvSpPr>
          <p:cNvPr id="9" name="ag-pontu-1"/>
          <p:cNvSpPr/>
          <p:nvPr/>
        </p:nvSpPr>
        <p:spPr>
          <a:xfrm>
            <a:off x="1920240" y="2404872"/>
            <a:ext cx="228600" cy="228600"/>
          </a:xfrm>
          <a:prstGeom prst="ellipse">
            <a:avLst/>
          </a:prstGeom>
          <a:solidFill>
            <a:schemeClr val="accent1"/>
          </a:solidFill>
          <a:ln w="25400">
            <a:solidFill>
              <a:schemeClr val="bg1"/>
            </a:solidFill>
            <a:prstDash val="solid"/>
          </a:ln>
        </p:spPr>
      </p:sp>
      <p:sp>
        <p:nvSpPr>
          <p:cNvPr id="10" name="Text 8"/>
          <p:cNvSpPr txBox="1"/>
          <p:nvPr/>
        </p:nvSpPr>
        <p:spPr>
          <a:xfrm>
            <a:off x="2423160" y="2313432"/>
            <a:ext cx="3108960" cy="411480"/>
          </a:xfrm>
          <a:prstGeom prst="rect">
            <a:avLst/>
          </a:prstGeom>
          <a:noFill/>
          <a:ln/>
        </p:spPr>
        <p:txBody>
          <a:bodyPr wrap="square" lIns="0" tIns="0" rIns="0" bIns="0" rtlCol="0" anchor="t"/>
          <a:lstStyle/>
          <a:p>
            <a:pPr indent="0" marL="0">
              <a:buNone/>
            </a:pPr>
            <a:r>
              <a:rPr lang="en-US" sz="1800" b="1" dirty="0">
                <a:solidFill>
                  <a:schemeClr val="tx2"/>
                </a:solidFill>
              </a:rPr>
              <a:t>Dadus baziku</a:t>
            </a:r>
            <a:endParaRPr lang="en-US" sz="1800" dirty="0"/>
          </a:p>
        </p:txBody>
      </p:sp>
      <p:sp>
        <p:nvSpPr>
          <p:cNvPr id="11" name="Text 9"/>
          <p:cNvSpPr txBox="1"/>
          <p:nvPr/>
        </p:nvSpPr>
        <p:spPr>
          <a:xfrm>
            <a:off x="5577840" y="2340864"/>
            <a:ext cx="6065215" cy="411480"/>
          </a:xfrm>
          <a:prstGeom prst="rect">
            <a:avLst/>
          </a:prstGeom>
          <a:noFill/>
          <a:ln/>
        </p:spPr>
        <p:txBody>
          <a:bodyPr wrap="square" lIns="0" tIns="0" rIns="0" bIns="0" rtlCol="0" anchor="t"/>
          <a:lstStyle/>
          <a:p>
            <a:pPr indent="0" marL="0">
              <a:buNone/>
            </a:pPr>
            <a:r>
              <a:rPr lang="en-US" sz="1600" dirty="0">
                <a:solidFill>
                  <a:schemeClr val="tx1"/>
                </a:solidFill>
              </a:rPr>
              <a:t>Variável · tipu dadus · operasaun · input</a:t>
            </a:r>
            <a:endParaRPr lang="en-US" sz="1600" dirty="0"/>
          </a:p>
        </p:txBody>
      </p:sp>
      <p:sp>
        <p:nvSpPr>
          <p:cNvPr id="12" name="Text 10"/>
          <p:cNvSpPr txBox="1"/>
          <p:nvPr/>
        </p:nvSpPr>
        <p:spPr>
          <a:xfrm>
            <a:off x="548640" y="308152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10:45</a:t>
            </a:r>
            <a:endParaRPr lang="en-US" sz="1700" dirty="0"/>
          </a:p>
        </p:txBody>
      </p:sp>
      <p:sp>
        <p:nvSpPr>
          <p:cNvPr id="13" name="ag-pontu-2"/>
          <p:cNvSpPr/>
          <p:nvPr/>
        </p:nvSpPr>
        <p:spPr>
          <a:xfrm>
            <a:off x="1920240" y="3136392"/>
            <a:ext cx="228600" cy="228600"/>
          </a:xfrm>
          <a:prstGeom prst="ellipse">
            <a:avLst/>
          </a:prstGeom>
          <a:solidFill>
            <a:schemeClr val="accent3"/>
          </a:solidFill>
          <a:ln w="25400">
            <a:solidFill>
              <a:schemeClr val="bg1"/>
            </a:solidFill>
            <a:prstDash val="solid"/>
          </a:ln>
        </p:spPr>
      </p:sp>
      <p:sp>
        <p:nvSpPr>
          <p:cNvPr id="14" name="Text 12"/>
          <p:cNvSpPr txBox="1"/>
          <p:nvPr/>
        </p:nvSpPr>
        <p:spPr>
          <a:xfrm>
            <a:off x="2423160" y="3044952"/>
            <a:ext cx="3108960" cy="411480"/>
          </a:xfrm>
          <a:prstGeom prst="rect">
            <a:avLst/>
          </a:prstGeom>
          <a:noFill/>
          <a:ln/>
        </p:spPr>
        <p:txBody>
          <a:bodyPr wrap="square" lIns="0" tIns="0" rIns="0" bIns="0" rtlCol="0" anchor="t"/>
          <a:lstStyle/>
          <a:p>
            <a:pPr indent="0" marL="0">
              <a:buNone/>
            </a:pPr>
            <a:r>
              <a:rPr lang="en-US" sz="1800" b="1" dirty="0">
                <a:solidFill>
                  <a:schemeClr val="tx2"/>
                </a:solidFill>
              </a:rPr>
              <a:t>Ezersísiu 1</a:t>
            </a:r>
            <a:endParaRPr lang="en-US" sz="1800" dirty="0"/>
          </a:p>
        </p:txBody>
      </p:sp>
      <p:sp>
        <p:nvSpPr>
          <p:cNvPr id="15" name="Text 13"/>
          <p:cNvSpPr txBox="1"/>
          <p:nvPr/>
        </p:nvSpPr>
        <p:spPr>
          <a:xfrm>
            <a:off x="5577840" y="3072384"/>
            <a:ext cx="6065215" cy="411480"/>
          </a:xfrm>
          <a:prstGeom prst="rect">
            <a:avLst/>
          </a:prstGeom>
          <a:noFill/>
          <a:ln/>
        </p:spPr>
        <p:txBody>
          <a:bodyPr wrap="square" lIns="0" tIns="0" rIns="0" bIns="0" rtlCol="0" anchor="t"/>
          <a:lstStyle/>
          <a:p>
            <a:pPr indent="0" marL="0">
              <a:buNone/>
            </a:pPr>
            <a:r>
              <a:rPr lang="en-US" sz="1600" dirty="0">
                <a:solidFill>
                  <a:schemeClr val="tx1"/>
                </a:solidFill>
              </a:rPr>
              <a:t>Kalkula ema afetadu</a:t>
            </a:r>
            <a:endParaRPr lang="en-US" sz="1600" dirty="0"/>
          </a:p>
        </p:txBody>
      </p:sp>
      <p:sp>
        <p:nvSpPr>
          <p:cNvPr id="16" name="Text 14"/>
          <p:cNvSpPr txBox="1"/>
          <p:nvPr/>
        </p:nvSpPr>
        <p:spPr>
          <a:xfrm>
            <a:off x="548640" y="381304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11:15</a:t>
            </a:r>
            <a:endParaRPr lang="en-US" sz="1700" dirty="0"/>
          </a:p>
        </p:txBody>
      </p:sp>
      <p:sp>
        <p:nvSpPr>
          <p:cNvPr id="17" name="ag-pontu-3"/>
          <p:cNvSpPr/>
          <p:nvPr/>
        </p:nvSpPr>
        <p:spPr>
          <a:xfrm>
            <a:off x="1920240" y="3867912"/>
            <a:ext cx="228600" cy="228600"/>
          </a:xfrm>
          <a:prstGeom prst="ellipse">
            <a:avLst/>
          </a:prstGeom>
          <a:solidFill>
            <a:schemeClr val="accent1"/>
          </a:solidFill>
          <a:ln w="25400">
            <a:solidFill>
              <a:schemeClr val="bg1"/>
            </a:solidFill>
            <a:prstDash val="solid"/>
          </a:ln>
        </p:spPr>
      </p:sp>
      <p:sp>
        <p:nvSpPr>
          <p:cNvPr id="18" name="Text 16"/>
          <p:cNvSpPr txBox="1"/>
          <p:nvPr/>
        </p:nvSpPr>
        <p:spPr>
          <a:xfrm>
            <a:off x="2423160" y="3776472"/>
            <a:ext cx="3108960" cy="411480"/>
          </a:xfrm>
          <a:prstGeom prst="rect">
            <a:avLst/>
          </a:prstGeom>
          <a:noFill/>
          <a:ln/>
        </p:spPr>
        <p:txBody>
          <a:bodyPr wrap="square" lIns="0" tIns="0" rIns="0" bIns="0" rtlCol="0" anchor="t"/>
          <a:lstStyle/>
          <a:p>
            <a:pPr indent="0" marL="0">
              <a:buNone/>
            </a:pPr>
            <a:r>
              <a:rPr lang="en-US" sz="1800" b="1" dirty="0">
                <a:solidFill>
                  <a:schemeClr val="tx2"/>
                </a:solidFill>
              </a:rPr>
              <a:t>Kontrolu</a:t>
            </a:r>
            <a:endParaRPr lang="en-US" sz="1800" dirty="0"/>
          </a:p>
        </p:txBody>
      </p:sp>
      <p:sp>
        <p:nvSpPr>
          <p:cNvPr id="19" name="Text 17"/>
          <p:cNvSpPr txBox="1"/>
          <p:nvPr/>
        </p:nvSpPr>
        <p:spPr>
          <a:xfrm>
            <a:off x="5577840" y="3803904"/>
            <a:ext cx="6065215" cy="411480"/>
          </a:xfrm>
          <a:prstGeom prst="rect">
            <a:avLst/>
          </a:prstGeom>
          <a:noFill/>
          <a:ln/>
        </p:spPr>
        <p:txBody>
          <a:bodyPr wrap="square" lIns="0" tIns="0" rIns="0" bIns="0" rtlCol="0" anchor="t"/>
          <a:lstStyle/>
          <a:p>
            <a:pPr indent="0" marL="0">
              <a:buNone/>
            </a:pPr>
            <a:r>
              <a:rPr lang="en-US" sz="1600" dirty="0">
                <a:solidFill>
                  <a:schemeClr val="tx1"/>
                </a:solidFill>
              </a:rPr>
              <a:t>Kondisaun if · lista · repetisaun for</a:t>
            </a:r>
            <a:endParaRPr lang="en-US" sz="1600" dirty="0"/>
          </a:p>
        </p:txBody>
      </p:sp>
      <p:sp>
        <p:nvSpPr>
          <p:cNvPr id="20" name="Text 18"/>
          <p:cNvSpPr txBox="1"/>
          <p:nvPr/>
        </p:nvSpPr>
        <p:spPr>
          <a:xfrm>
            <a:off x="548640" y="454456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13:30</a:t>
            </a:r>
            <a:endParaRPr lang="en-US" sz="1700" dirty="0"/>
          </a:p>
        </p:txBody>
      </p:sp>
      <p:sp>
        <p:nvSpPr>
          <p:cNvPr id="21" name="ag-pontu-4"/>
          <p:cNvSpPr/>
          <p:nvPr/>
        </p:nvSpPr>
        <p:spPr>
          <a:xfrm>
            <a:off x="1920240" y="4599432"/>
            <a:ext cx="228600" cy="228600"/>
          </a:xfrm>
          <a:prstGeom prst="ellipse">
            <a:avLst/>
          </a:prstGeom>
          <a:solidFill>
            <a:schemeClr val="accent1"/>
          </a:solidFill>
          <a:ln w="25400">
            <a:solidFill>
              <a:schemeClr val="bg1"/>
            </a:solidFill>
            <a:prstDash val="solid"/>
          </a:ln>
        </p:spPr>
      </p:sp>
      <p:sp>
        <p:nvSpPr>
          <p:cNvPr id="22" name="Text 20"/>
          <p:cNvSpPr txBox="1"/>
          <p:nvPr/>
        </p:nvSpPr>
        <p:spPr>
          <a:xfrm>
            <a:off x="2423160" y="4507992"/>
            <a:ext cx="3108960" cy="411480"/>
          </a:xfrm>
          <a:prstGeom prst="rect">
            <a:avLst/>
          </a:prstGeom>
          <a:noFill/>
          <a:ln/>
        </p:spPr>
        <p:txBody>
          <a:bodyPr wrap="square" lIns="0" tIns="0" rIns="0" bIns="0" rtlCol="0" anchor="t"/>
          <a:lstStyle/>
          <a:p>
            <a:pPr indent="0" marL="0">
              <a:buNone/>
            </a:pPr>
            <a:r>
              <a:rPr lang="en-US" sz="1800" b="1" dirty="0">
                <a:solidFill>
                  <a:schemeClr val="tx2"/>
                </a:solidFill>
              </a:rPr>
              <a:t>Dicionáriu no funsaun</a:t>
            </a:r>
            <a:endParaRPr lang="en-US" sz="1800" dirty="0"/>
          </a:p>
        </p:txBody>
      </p:sp>
      <p:sp>
        <p:nvSpPr>
          <p:cNvPr id="23" name="Text 21"/>
          <p:cNvSpPr txBox="1"/>
          <p:nvPr/>
        </p:nvSpPr>
        <p:spPr>
          <a:xfrm>
            <a:off x="5577840" y="4535424"/>
            <a:ext cx="6065215" cy="411480"/>
          </a:xfrm>
          <a:prstGeom prst="rect">
            <a:avLst/>
          </a:prstGeom>
          <a:noFill/>
          <a:ln/>
        </p:spPr>
        <p:txBody>
          <a:bodyPr wrap="square" lIns="0" tIns="0" rIns="0" bIns="0" rtlCol="0" anchor="t"/>
          <a:lstStyle/>
          <a:p>
            <a:pPr indent="0" marL="0">
              <a:buNone/>
            </a:pPr>
            <a:r>
              <a:rPr lang="en-US" sz="1600" dirty="0">
                <a:solidFill>
                  <a:schemeClr val="tx1"/>
                </a:solidFill>
              </a:rPr>
              <a:t>Dadus kazu · def · erru komún</a:t>
            </a:r>
            <a:endParaRPr lang="en-US" sz="1600" dirty="0"/>
          </a:p>
        </p:txBody>
      </p:sp>
      <p:sp>
        <p:nvSpPr>
          <p:cNvPr id="24" name="Text 22"/>
          <p:cNvSpPr txBox="1"/>
          <p:nvPr/>
        </p:nvSpPr>
        <p:spPr>
          <a:xfrm>
            <a:off x="548640" y="527608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15:00</a:t>
            </a:r>
            <a:endParaRPr lang="en-US" sz="1700" dirty="0"/>
          </a:p>
        </p:txBody>
      </p:sp>
      <p:sp>
        <p:nvSpPr>
          <p:cNvPr id="25" name="ag-pontu-5"/>
          <p:cNvSpPr/>
          <p:nvPr/>
        </p:nvSpPr>
        <p:spPr>
          <a:xfrm>
            <a:off x="1920240" y="5330952"/>
            <a:ext cx="228600" cy="228600"/>
          </a:xfrm>
          <a:prstGeom prst="ellipse">
            <a:avLst/>
          </a:prstGeom>
          <a:solidFill>
            <a:schemeClr val="accent1"/>
          </a:solidFill>
          <a:ln w="25400">
            <a:solidFill>
              <a:schemeClr val="bg1"/>
            </a:solidFill>
            <a:prstDash val="solid"/>
          </a:ln>
        </p:spPr>
      </p:sp>
      <p:sp>
        <p:nvSpPr>
          <p:cNvPr id="26" name="Text 24"/>
          <p:cNvSpPr txBox="1"/>
          <p:nvPr/>
        </p:nvSpPr>
        <p:spPr>
          <a:xfrm>
            <a:off x="2423160" y="5239512"/>
            <a:ext cx="3108960" cy="411480"/>
          </a:xfrm>
          <a:prstGeom prst="rect">
            <a:avLst/>
          </a:prstGeom>
          <a:noFill/>
          <a:ln/>
        </p:spPr>
        <p:txBody>
          <a:bodyPr wrap="square" lIns="0" tIns="0" rIns="0" bIns="0" rtlCol="0" anchor="t"/>
          <a:lstStyle/>
          <a:p>
            <a:pPr indent="0" marL="0">
              <a:buNone/>
            </a:pPr>
            <a:r>
              <a:rPr lang="en-US" sz="1800" b="1" dirty="0">
                <a:solidFill>
                  <a:schemeClr val="tx2"/>
                </a:solidFill>
              </a:rPr>
              <a:t>Projetu ki'ik</a:t>
            </a:r>
            <a:endParaRPr lang="en-US" sz="1800" dirty="0"/>
          </a:p>
        </p:txBody>
      </p:sp>
      <p:sp>
        <p:nvSpPr>
          <p:cNvPr id="27" name="Text 25"/>
          <p:cNvSpPr txBox="1"/>
          <p:nvPr/>
        </p:nvSpPr>
        <p:spPr>
          <a:xfrm>
            <a:off x="5577840" y="5266944"/>
            <a:ext cx="6065215" cy="411480"/>
          </a:xfrm>
          <a:prstGeom prst="rect">
            <a:avLst/>
          </a:prstGeom>
          <a:noFill/>
          <a:ln/>
        </p:spPr>
        <p:txBody>
          <a:bodyPr wrap="square" lIns="0" tIns="0" rIns="0" bIns="0" rtlCol="0" anchor="t"/>
          <a:lstStyle/>
          <a:p>
            <a:pPr indent="0" marL="0">
              <a:buNone/>
            </a:pPr>
            <a:r>
              <a:rPr lang="en-US" sz="1600" dirty="0">
                <a:solidFill>
                  <a:schemeClr val="tx1"/>
                </a:solidFill>
              </a:rPr>
              <a:t>Rezumu kazu · pasu tuir mai</a:t>
            </a:r>
            <a:endParaRPr lang="en-US" sz="1600" dirty="0"/>
          </a:p>
        </p:txBody>
      </p:sp>
      <p:sp>
        <p:nvSpPr>
          <p:cNvPr id="28" name="Text 26"/>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300" i="1" dirty="0">
                <a:solidFill>
                  <a:srgbClr val="5E6B66"/>
                </a:solidFill>
              </a:rPr>
              <a:t>Deskansa: 10:30 · Han meiudia: 12:30 · Deskansa: 14:45 · Remata: 16:30</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Hahú ho Python</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Saida mak Python · fatin atu hakerek · programa dahuluk</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01</a:t>
            </a:r>
            <a:endParaRPr lang="en-US" sz="15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Saida mak Python?</a:t>
            </a:r>
            <a:endParaRPr lang="en-US" sz="3000" dirty="0"/>
          </a:p>
        </p:txBody>
      </p:sp>
      <p:sp>
        <p:nvSpPr>
          <p:cNvPr id="3" name="Text 1"/>
          <p:cNvSpPr txBox="1"/>
          <p:nvPr/>
        </p:nvSpPr>
        <p:spPr>
          <a:xfrm>
            <a:off x="548640" y="1463040"/>
            <a:ext cx="5760720" cy="384048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2"/>
                </a:solidFill>
              </a:rPr>
              <a:t>Lian programasaun</a:t>
            </a:r>
            <a:pPr indent="0" marL="0">
              <a:spcAft>
                <a:spcPts val="1000"/>
              </a:spcAft>
              <a:buNone/>
            </a:pPr>
            <a:r>
              <a:rPr lang="en-US" sz="1600" dirty="0">
                <a:solidFill>
                  <a:schemeClr val="tx1"/>
                </a:solidFill>
              </a:rPr>
              <a:t> atu fó instrusaun ba komputadór, liña ba liña.</a:t>
            </a:r>
            <a:endParaRPr lang="en-US" sz="1600" dirty="0"/>
          </a:p>
          <a:p>
            <a:pPr marL="342900" indent="-342900">
              <a:spcAft>
                <a:spcPts val="1000"/>
              </a:spcAft>
              <a:buSzPct val="100000"/>
              <a:buChar char="•"/>
            </a:pPr>
            <a:r>
              <a:rPr lang="en-US" sz="1600" b="1" dirty="0">
                <a:solidFill>
                  <a:schemeClr val="tx2"/>
                </a:solidFill>
              </a:rPr>
              <a:t>Fásil atu lee</a:t>
            </a:r>
            <a:pPr indent="0" marL="0">
              <a:spcAft>
                <a:spcPts val="1000"/>
              </a:spcAft>
              <a:buNone/>
            </a:pPr>
            <a:r>
              <a:rPr lang="en-US" sz="1600" dirty="0">
                <a:solidFill>
                  <a:schemeClr val="tx1"/>
                </a:solidFill>
              </a:rPr>
              <a:t> kódigu Python besik ba lian Inglés baibain.</a:t>
            </a:r>
            <a:endParaRPr lang="en-US" sz="1600" dirty="0"/>
          </a:p>
          <a:p>
            <a:pPr marL="342900" indent="-342900">
              <a:spcAft>
                <a:spcPts val="1000"/>
              </a:spcAft>
              <a:buSzPct val="100000"/>
              <a:buChar char="•"/>
            </a:pPr>
            <a:r>
              <a:rPr lang="en-US" sz="1600" b="1" dirty="0">
                <a:solidFill>
                  <a:schemeClr val="tx2"/>
                </a:solidFill>
              </a:rPr>
              <a:t>Gratuitu</a:t>
            </a:r>
            <a:pPr indent="0" marL="0">
              <a:spcAft>
                <a:spcPts val="1000"/>
              </a:spcAft>
              <a:buNone/>
            </a:pPr>
            <a:r>
              <a:rPr lang="en-US" sz="1600" dirty="0">
                <a:solidFill>
                  <a:schemeClr val="tx1"/>
                </a:solidFill>
              </a:rPr>
              <a:t> ema hotu bele uza, la selu lisensa.</a:t>
            </a:r>
            <a:endParaRPr lang="en-US" sz="1600" dirty="0"/>
          </a:p>
          <a:p>
            <a:pPr marL="342900" indent="-342900">
              <a:spcAft>
                <a:spcPts val="1000"/>
              </a:spcAft>
              <a:buSzPct val="100000"/>
              <a:buChar char="•"/>
            </a:pPr>
            <a:r>
              <a:rPr lang="en-US" sz="1600" b="1" dirty="0">
                <a:solidFill>
                  <a:schemeClr val="tx2"/>
                </a:solidFill>
              </a:rPr>
              <a:t>Uza iha mundu tomak</a:t>
            </a:r>
            <a:pPr indent="0" marL="0">
              <a:spcAft>
                <a:spcPts val="1000"/>
              </a:spcAft>
              <a:buNone/>
            </a:pPr>
            <a:r>
              <a:rPr lang="en-US" sz="1600" dirty="0">
                <a:solidFill>
                  <a:schemeClr val="tx1"/>
                </a:solidFill>
              </a:rPr>
              <a:t> analiza dadus, website, mapa, intelijénsia artifisiál.</a:t>
            </a:r>
            <a:endParaRPr lang="en-US" sz="1600" dirty="0"/>
          </a:p>
        </p:txBody>
      </p:sp>
      <p:sp>
        <p:nvSpPr>
          <p:cNvPr id="4" name="sibar-karta"/>
          <p:cNvSpPr/>
          <p:nvPr/>
        </p:nvSpPr>
        <p:spPr>
          <a:xfrm>
            <a:off x="6766560" y="1463040"/>
            <a:ext cx="4876495" cy="4480560"/>
          </a:xfrm>
          <a:prstGeom prst="roundRect">
            <a:avLst>
              <a:gd name="adj" fmla="val 2449"/>
            </a:avLst>
          </a:prstGeom>
          <a:solidFill>
            <a:schemeClr val="tx2"/>
          </a:solidFill>
          <a:ln w="12700">
            <a:solidFill>
              <a:schemeClr val="tx2"/>
            </a:solidFill>
            <a:prstDash val="solid"/>
          </a:ln>
        </p:spPr>
      </p:sp>
      <p:sp>
        <p:nvSpPr>
          <p:cNvPr id="5" name="sibar-ik-sirkulu"/>
          <p:cNvSpPr/>
          <p:nvPr/>
        </p:nvSpPr>
        <p:spPr>
          <a:xfrm>
            <a:off x="7086600" y="1783080"/>
            <a:ext cx="914400" cy="914400"/>
          </a:xfrm>
          <a:prstGeom prst="ellipse">
            <a:avLst/>
          </a:prstGeom>
          <a:solidFill>
            <a:schemeClr val="accent1"/>
          </a:solidFill>
          <a:ln w="12700">
            <a:solidFill>
              <a:schemeClr val="accent1"/>
            </a:solidFill>
            <a:prstDash val="solid"/>
          </a:ln>
        </p:spPr>
      </p:sp>
      <p:pic>
        <p:nvPicPr>
          <p:cNvPr id="6" name="sibar-ik-ikone" descr="preencoded.png">    </p:cNvPr>
          <p:cNvPicPr>
            <a:picLocks noChangeAspect="1"/>
          </p:cNvPicPr>
          <p:nvPr/>
        </p:nvPicPr>
        <p:blipFill>
          <a:blip r:embed="rId1"/>
          <a:stretch>
            <a:fillRect/>
          </a:stretch>
        </p:blipFill>
        <p:spPr>
          <a:xfrm>
            <a:off x="7306056" y="2002536"/>
            <a:ext cx="475488" cy="475488"/>
          </a:xfrm>
          <a:prstGeom prst="rect">
            <a:avLst/>
          </a:prstGeom>
        </p:spPr>
      </p:pic>
      <p:sp>
        <p:nvSpPr>
          <p:cNvPr id="7" name="Text 4"/>
          <p:cNvSpPr txBox="1"/>
          <p:nvPr/>
        </p:nvSpPr>
        <p:spPr>
          <a:xfrm>
            <a:off x="8229600" y="1874520"/>
            <a:ext cx="3200400" cy="365760"/>
          </a:xfrm>
          <a:prstGeom prst="rect">
            <a:avLst/>
          </a:prstGeom>
          <a:noFill/>
          <a:ln/>
        </p:spPr>
        <p:txBody>
          <a:bodyPr wrap="square" lIns="0" tIns="0" rIns="0" bIns="0" rtlCol="0" anchor="t"/>
          <a:lstStyle/>
          <a:p>
            <a:pPr indent="0" marL="0">
              <a:buNone/>
            </a:pPr>
            <a:r>
              <a:rPr lang="en-US" sz="1400" b="1" dirty="0">
                <a:solidFill>
                  <a:schemeClr val="accent2"/>
                </a:solidFill>
              </a:rPr>
              <a:t>Ezemplu besik ita</a:t>
            </a:r>
            <a:endParaRPr lang="en-US" sz="1400" dirty="0"/>
          </a:p>
        </p:txBody>
      </p:sp>
      <p:sp>
        <p:nvSpPr>
          <p:cNvPr id="8" name="Text 5"/>
          <p:cNvSpPr txBox="1"/>
          <p:nvPr/>
        </p:nvSpPr>
        <p:spPr>
          <a:xfrm>
            <a:off x="8229600" y="2194560"/>
            <a:ext cx="3200400" cy="54864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SIBAR-RbR</a:t>
            </a:r>
            <a:endParaRPr lang="en-US" sz="2800" dirty="0"/>
          </a:p>
        </p:txBody>
      </p:sp>
      <p:sp>
        <p:nvSpPr>
          <p:cNvPr id="9" name="Text 6"/>
          <p:cNvSpPr txBox="1"/>
          <p:nvPr/>
        </p:nvSpPr>
        <p:spPr>
          <a:xfrm>
            <a:off x="7086600" y="3063240"/>
            <a:ext cx="4236415" cy="1828800"/>
          </a:xfrm>
          <a:prstGeom prst="rect">
            <a:avLst/>
          </a:prstGeom>
          <a:noFill/>
          <a:ln/>
        </p:spPr>
        <p:txBody>
          <a:bodyPr wrap="square" lIns="0" tIns="0" rIns="0" bIns="0" rtlCol="0" anchor="t"/>
          <a:lstStyle/>
          <a:p>
            <a:pPr indent="0" marL="0">
              <a:buNone/>
            </a:pPr>
            <a:r>
              <a:rPr lang="en-US" sz="1600" dirty="0">
                <a:solidFill>
                  <a:schemeClr val="bg1"/>
                </a:solidFill>
              </a:rPr>
              <a:t>Sistema baze dadus Rede ba Rai hakerek ho Python (Django). Formuláriu kazu, dashboard, mapa no relatóriu PDF hotu la'o ho Python.</a:t>
            </a:r>
            <a:endParaRPr lang="en-US" sz="1600" dirty="0"/>
          </a:p>
        </p:txBody>
      </p:sp>
      <p:sp>
        <p:nvSpPr>
          <p:cNvPr id="10" name="Text 7"/>
          <p:cNvSpPr txBox="1"/>
          <p:nvPr/>
        </p:nvSpPr>
        <p:spPr>
          <a:xfrm>
            <a:off x="7086600" y="4937760"/>
            <a:ext cx="4236415" cy="731520"/>
          </a:xfrm>
          <a:prstGeom prst="rect">
            <a:avLst/>
          </a:prstGeom>
          <a:noFill/>
          <a:ln/>
        </p:spPr>
        <p:txBody>
          <a:bodyPr wrap="square" lIns="0" tIns="0" rIns="0" bIns="0" rtlCol="0" anchor="t"/>
          <a:lstStyle/>
          <a:p>
            <a:pPr indent="0" marL="0">
              <a:buNone/>
            </a:pPr>
            <a:r>
              <a:rPr lang="en-US" sz="1400" i="1" dirty="0">
                <a:solidFill>
                  <a:schemeClr val="bg2"/>
                </a:solidFill>
              </a:rPr>
              <a:t>Hatene Python = bele komprende no ajuda dezenvolve sistema rasik.</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Fatin atu hakerek kódigu</a:t>
            </a:r>
            <a:endParaRPr lang="en-US" sz="3000" dirty="0"/>
          </a:p>
        </p:txBody>
      </p:sp>
      <p:sp>
        <p:nvSpPr>
          <p:cNvPr id="3" name="op-0"/>
          <p:cNvSpPr/>
          <p:nvPr/>
        </p:nvSpPr>
        <p:spPr>
          <a:xfrm>
            <a:off x="548640" y="1463040"/>
            <a:ext cx="5410048" cy="4572000"/>
          </a:xfrm>
          <a:prstGeom prst="roundRect">
            <a:avLst>
              <a:gd name="adj" fmla="val 2400"/>
            </a:avLst>
          </a:prstGeom>
          <a:solidFill>
            <a:schemeClr val="bg2"/>
          </a:solidFill>
          <a:ln w="12700">
            <a:solidFill>
              <a:schemeClr val="bg2"/>
            </a:solidFill>
            <a:prstDash val="solid"/>
          </a:ln>
        </p:spPr>
      </p:sp>
      <p:sp>
        <p:nvSpPr>
          <p:cNvPr id="4" name="op-ik-0-sirkulu"/>
          <p:cNvSpPr/>
          <p:nvPr/>
        </p:nvSpPr>
        <p:spPr>
          <a:xfrm>
            <a:off x="868680" y="1737360"/>
            <a:ext cx="914400" cy="914400"/>
          </a:xfrm>
          <a:prstGeom prst="ellipse">
            <a:avLst/>
          </a:prstGeom>
          <a:solidFill>
            <a:schemeClr val="accent1"/>
          </a:solidFill>
          <a:ln w="12700">
            <a:solidFill>
              <a:schemeClr val="accent1"/>
            </a:solidFill>
            <a:prstDash val="solid"/>
          </a:ln>
        </p:spPr>
      </p:sp>
      <p:pic>
        <p:nvPicPr>
          <p:cNvPr id="5" name="op-ik-0-ikone" descr="preencoded.png">    </p:cNvPr>
          <p:cNvPicPr>
            <a:picLocks noChangeAspect="1"/>
          </p:cNvPicPr>
          <p:nvPr/>
        </p:nvPicPr>
        <p:blipFill>
          <a:blip r:embed="rId1"/>
          <a:stretch>
            <a:fillRect/>
          </a:stretch>
        </p:blipFill>
        <p:spPr>
          <a:xfrm>
            <a:off x="1088136" y="1956816"/>
            <a:ext cx="475488" cy="475488"/>
          </a:xfrm>
          <a:prstGeom prst="rect">
            <a:avLst/>
          </a:prstGeom>
        </p:spPr>
      </p:pic>
      <p:sp>
        <p:nvSpPr>
          <p:cNvPr id="6" name="Text 3"/>
          <p:cNvSpPr txBox="1"/>
          <p:nvPr/>
        </p:nvSpPr>
        <p:spPr>
          <a:xfrm>
            <a:off x="2011680" y="1783080"/>
            <a:ext cx="3672688" cy="457200"/>
          </a:xfrm>
          <a:prstGeom prst="rect">
            <a:avLst/>
          </a:prstGeom>
          <a:noFill/>
          <a:ln/>
        </p:spPr>
        <p:txBody>
          <a:bodyPr wrap="square" lIns="0" tIns="0" rIns="0" bIns="0" rtlCol="0" anchor="t"/>
          <a:lstStyle/>
          <a:p>
            <a:pPr indent="0" marL="0">
              <a:buNone/>
            </a:pPr>
            <a:r>
              <a:rPr lang="en-US" sz="2400" b="1" dirty="0">
                <a:solidFill>
                  <a:schemeClr val="tx2"/>
                </a:solidFill>
              </a:rPr>
              <a:t>Google Colab</a:t>
            </a:r>
            <a:endParaRPr lang="en-US" sz="2400" dirty="0"/>
          </a:p>
        </p:txBody>
      </p:sp>
      <p:sp>
        <p:nvSpPr>
          <p:cNvPr id="7" name="Text 4"/>
          <p:cNvSpPr txBox="1"/>
          <p:nvPr/>
        </p:nvSpPr>
        <p:spPr>
          <a:xfrm>
            <a:off x="2011680" y="2240280"/>
            <a:ext cx="3672688" cy="365760"/>
          </a:xfrm>
          <a:prstGeom prst="rect">
            <a:avLst/>
          </a:prstGeom>
          <a:noFill/>
          <a:ln/>
        </p:spPr>
        <p:txBody>
          <a:bodyPr wrap="square" lIns="0" tIns="0" rIns="0" bIns="0" rtlCol="0" anchor="t"/>
          <a:lstStyle/>
          <a:p>
            <a:pPr indent="0" marL="0">
              <a:buNone/>
            </a:pPr>
            <a:r>
              <a:rPr lang="en-US" sz="1400" b="1" dirty="0">
                <a:solidFill>
                  <a:schemeClr val="accent1"/>
                </a:solidFill>
              </a:rPr>
              <a:t>Rekomenda ba ohin</a:t>
            </a:r>
            <a:endParaRPr lang="en-US" sz="1400" dirty="0"/>
          </a:p>
        </p:txBody>
      </p:sp>
      <p:sp>
        <p:nvSpPr>
          <p:cNvPr id="8" name="Text 5"/>
          <p:cNvSpPr txBox="1"/>
          <p:nvPr/>
        </p:nvSpPr>
        <p:spPr>
          <a:xfrm>
            <a:off x="914400" y="2971800"/>
            <a:ext cx="4678528" cy="21945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tx1"/>
                </a:solidFill>
              </a:rPr>
              <a:t>Loke colab.research.google.com</a:t>
            </a:r>
            <a:endParaRPr lang="en-US" sz="1600" dirty="0"/>
          </a:p>
          <a:p>
            <a:pPr marL="342900" indent="-342900">
              <a:spcAft>
                <a:spcPts val="800"/>
              </a:spcAft>
              <a:buSzPct val="100000"/>
              <a:buFont typeface="+mj-lt"/>
              <a:buAutoNum type="arabicPeriod" startAt="1"/>
            </a:pPr>
            <a:r>
              <a:rPr lang="en-US" sz="1600" dirty="0">
                <a:solidFill>
                  <a:schemeClr val="tx1"/>
                </a:solidFill>
              </a:rPr>
              <a:t>Login ho konta Google</a:t>
            </a:r>
            <a:endParaRPr lang="en-US" sz="1600" dirty="0"/>
          </a:p>
          <a:p>
            <a:pPr marL="342900" indent="-342900">
              <a:spcAft>
                <a:spcPts val="800"/>
              </a:spcAft>
              <a:buSzPct val="100000"/>
              <a:buFont typeface="+mj-lt"/>
              <a:buAutoNum type="arabicPeriod" startAt="1"/>
            </a:pPr>
            <a:r>
              <a:rPr lang="en-US" sz="1600" dirty="0">
                <a:solidFill>
                  <a:schemeClr val="tx1"/>
                </a:solidFill>
              </a:rPr>
              <a:t>Klik "New notebook"</a:t>
            </a:r>
            <a:endParaRPr lang="en-US" sz="1600" dirty="0"/>
          </a:p>
          <a:p>
            <a:pPr marL="342900" indent="-342900">
              <a:spcAft>
                <a:spcPts val="800"/>
              </a:spcAft>
              <a:buSzPct val="100000"/>
              <a:buFont typeface="+mj-lt"/>
              <a:buAutoNum type="arabicPeriod" startAt="1"/>
            </a:pPr>
            <a:r>
              <a:rPr lang="en-US" sz="1600" dirty="0">
                <a:solidFill>
                  <a:schemeClr val="tx1"/>
                </a:solidFill>
              </a:rPr>
              <a:t>Hakerek kódigu → klik ▶ (ka Shift + Enter)</a:t>
            </a:r>
            <a:endParaRPr lang="en-US" sz="1600" dirty="0"/>
          </a:p>
        </p:txBody>
      </p:sp>
      <p:sp>
        <p:nvSpPr>
          <p:cNvPr id="9" name="Text 6"/>
          <p:cNvSpPr txBox="1"/>
          <p:nvPr/>
        </p:nvSpPr>
        <p:spPr>
          <a:xfrm>
            <a:off x="914400" y="5349240"/>
            <a:ext cx="4678528" cy="365760"/>
          </a:xfrm>
          <a:prstGeom prst="rect">
            <a:avLst/>
          </a:prstGeom>
          <a:noFill/>
          <a:ln/>
        </p:spPr>
        <p:txBody>
          <a:bodyPr wrap="square" lIns="0" tIns="0" rIns="0" bIns="0" rtlCol="0" anchor="t"/>
          <a:lstStyle/>
          <a:p>
            <a:pPr indent="0" marL="0">
              <a:buNone/>
            </a:pPr>
            <a:r>
              <a:rPr lang="en-US" sz="1300" i="1" dirty="0">
                <a:solidFill>
                  <a:srgbClr val="5E6B66"/>
                </a:solidFill>
              </a:rPr>
              <a:t>La presiza instala · presiza internet</a:t>
            </a:r>
            <a:endParaRPr lang="en-US" sz="1300" dirty="0"/>
          </a:p>
        </p:txBody>
      </p:sp>
      <p:sp>
        <p:nvSpPr>
          <p:cNvPr id="10" name="op-1"/>
          <p:cNvSpPr/>
          <p:nvPr/>
        </p:nvSpPr>
        <p:spPr>
          <a:xfrm>
            <a:off x="6233008" y="1463040"/>
            <a:ext cx="5410048" cy="4572000"/>
          </a:xfrm>
          <a:prstGeom prst="roundRect">
            <a:avLst>
              <a:gd name="adj" fmla="val 2400"/>
            </a:avLst>
          </a:prstGeom>
          <a:solidFill>
            <a:srgbClr val="F2F4F7"/>
          </a:solidFill>
          <a:ln w="12700">
            <a:solidFill>
              <a:srgbClr val="F2F4F7"/>
            </a:solidFill>
            <a:prstDash val="solid"/>
          </a:ln>
        </p:spPr>
      </p:sp>
      <p:sp>
        <p:nvSpPr>
          <p:cNvPr id="11" name="op-ik-1-sirkulu"/>
          <p:cNvSpPr/>
          <p:nvPr/>
        </p:nvSpPr>
        <p:spPr>
          <a:xfrm>
            <a:off x="6553048" y="1737360"/>
            <a:ext cx="914400" cy="914400"/>
          </a:xfrm>
          <a:prstGeom prst="ellipse">
            <a:avLst/>
          </a:prstGeom>
          <a:solidFill>
            <a:schemeClr val="accent5"/>
          </a:solidFill>
          <a:ln w="12700">
            <a:solidFill>
              <a:schemeClr val="accent5"/>
            </a:solidFill>
            <a:prstDash val="solid"/>
          </a:ln>
        </p:spPr>
      </p:sp>
      <p:pic>
        <p:nvPicPr>
          <p:cNvPr id="12" name="op-ik-1-ikone" descr="preencoded.png">    </p:cNvPr>
          <p:cNvPicPr>
            <a:picLocks noChangeAspect="1"/>
          </p:cNvPicPr>
          <p:nvPr/>
        </p:nvPicPr>
        <p:blipFill>
          <a:blip r:embed="rId2"/>
          <a:stretch>
            <a:fillRect/>
          </a:stretch>
        </p:blipFill>
        <p:spPr>
          <a:xfrm>
            <a:off x="6772504" y="1956816"/>
            <a:ext cx="475488" cy="475488"/>
          </a:xfrm>
          <a:prstGeom prst="rect">
            <a:avLst/>
          </a:prstGeom>
        </p:spPr>
      </p:pic>
      <p:sp>
        <p:nvSpPr>
          <p:cNvPr id="13" name="Text 9"/>
          <p:cNvSpPr txBox="1"/>
          <p:nvPr/>
        </p:nvSpPr>
        <p:spPr>
          <a:xfrm>
            <a:off x="7696048" y="1783080"/>
            <a:ext cx="3672688" cy="457200"/>
          </a:xfrm>
          <a:prstGeom prst="rect">
            <a:avLst/>
          </a:prstGeom>
          <a:noFill/>
          <a:ln/>
        </p:spPr>
        <p:txBody>
          <a:bodyPr wrap="square" lIns="0" tIns="0" rIns="0" bIns="0" rtlCol="0" anchor="t"/>
          <a:lstStyle/>
          <a:p>
            <a:pPr indent="0" marL="0">
              <a:buNone/>
            </a:pPr>
            <a:r>
              <a:rPr lang="en-US" sz="2400" b="1" dirty="0">
                <a:solidFill>
                  <a:schemeClr val="tx2"/>
                </a:solidFill>
              </a:rPr>
              <a:t>Thonny</a:t>
            </a:r>
            <a:endParaRPr lang="en-US" sz="2400" dirty="0"/>
          </a:p>
        </p:txBody>
      </p:sp>
      <p:sp>
        <p:nvSpPr>
          <p:cNvPr id="14" name="Text 10"/>
          <p:cNvSpPr txBox="1"/>
          <p:nvPr/>
        </p:nvSpPr>
        <p:spPr>
          <a:xfrm>
            <a:off x="7696048" y="2240280"/>
            <a:ext cx="3672688" cy="365760"/>
          </a:xfrm>
          <a:prstGeom prst="rect">
            <a:avLst/>
          </a:prstGeom>
          <a:noFill/>
          <a:ln/>
        </p:spPr>
        <p:txBody>
          <a:bodyPr wrap="square" lIns="0" tIns="0" rIns="0" bIns="0" rtlCol="0" anchor="t"/>
          <a:lstStyle/>
          <a:p>
            <a:pPr indent="0" marL="0">
              <a:buNone/>
            </a:pPr>
            <a:r>
              <a:rPr lang="en-US" sz="1400" b="1" dirty="0">
                <a:solidFill>
                  <a:schemeClr val="accent5"/>
                </a:solidFill>
              </a:rPr>
              <a:t>Ba uza iha uma / offline</a:t>
            </a:r>
            <a:endParaRPr lang="en-US" sz="1400" dirty="0"/>
          </a:p>
        </p:txBody>
      </p:sp>
      <p:sp>
        <p:nvSpPr>
          <p:cNvPr id="15" name="Text 11"/>
          <p:cNvSpPr txBox="1"/>
          <p:nvPr/>
        </p:nvSpPr>
        <p:spPr>
          <a:xfrm>
            <a:off x="6598768" y="2971800"/>
            <a:ext cx="4678528" cy="21945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tx1"/>
                </a:solidFill>
              </a:rPr>
              <a:t>Download husi thonny.org</a:t>
            </a:r>
            <a:endParaRPr lang="en-US" sz="1600" dirty="0"/>
          </a:p>
          <a:p>
            <a:pPr marL="342900" indent="-342900">
              <a:spcAft>
                <a:spcPts val="800"/>
              </a:spcAft>
              <a:buSzPct val="100000"/>
              <a:buFont typeface="+mj-lt"/>
              <a:buAutoNum type="arabicPeriod" startAt="1"/>
            </a:pPr>
            <a:r>
              <a:rPr lang="en-US" sz="1600" dirty="0">
                <a:solidFill>
                  <a:schemeClr val="tx1"/>
                </a:solidFill>
              </a:rPr>
              <a:t>Instala (Python tama ona)</a:t>
            </a:r>
            <a:endParaRPr lang="en-US" sz="1600" dirty="0"/>
          </a:p>
          <a:p>
            <a:pPr marL="342900" indent="-342900">
              <a:spcAft>
                <a:spcPts val="800"/>
              </a:spcAft>
              <a:buSzPct val="100000"/>
              <a:buFont typeface="+mj-lt"/>
              <a:buAutoNum type="arabicPeriod" startAt="1"/>
            </a:pPr>
            <a:r>
              <a:rPr lang="en-US" sz="1600" dirty="0">
                <a:solidFill>
                  <a:schemeClr val="tx1"/>
                </a:solidFill>
              </a:rPr>
              <a:t>Hakerek iha leten → klik Run</a:t>
            </a:r>
            <a:endParaRPr lang="en-US" sz="1600" dirty="0"/>
          </a:p>
          <a:p>
            <a:pPr marL="342900" indent="-342900">
              <a:spcAft>
                <a:spcPts val="800"/>
              </a:spcAft>
              <a:buSzPct val="100000"/>
              <a:buFont typeface="+mj-lt"/>
              <a:buAutoNum type="arabicPeriod" startAt="1"/>
            </a:pPr>
            <a:r>
              <a:rPr lang="en-US" sz="1600" dirty="0">
                <a:solidFill>
                  <a:schemeClr val="tx1"/>
                </a:solidFill>
              </a:rPr>
              <a:t>Rezultadu mosu iha "Shell"</a:t>
            </a:r>
            <a:endParaRPr lang="en-US" sz="1600" dirty="0"/>
          </a:p>
        </p:txBody>
      </p:sp>
      <p:sp>
        <p:nvSpPr>
          <p:cNvPr id="16" name="Text 12"/>
          <p:cNvSpPr txBox="1"/>
          <p:nvPr/>
        </p:nvSpPr>
        <p:spPr>
          <a:xfrm>
            <a:off x="6598768" y="5349240"/>
            <a:ext cx="4678528" cy="365760"/>
          </a:xfrm>
          <a:prstGeom prst="rect">
            <a:avLst/>
          </a:prstGeom>
          <a:noFill/>
          <a:ln/>
        </p:spPr>
        <p:txBody>
          <a:bodyPr wrap="square" lIns="0" tIns="0" rIns="0" bIns="0" rtlCol="0" anchor="t"/>
          <a:lstStyle/>
          <a:p>
            <a:pPr indent="0" marL="0">
              <a:buNone/>
            </a:pPr>
            <a:r>
              <a:rPr lang="en-US" sz="1300" i="1" dirty="0">
                <a:solidFill>
                  <a:srgbClr val="5E6B66"/>
                </a:solidFill>
              </a:rPr>
              <a:t>La presiza internet hafoin instala</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Programa dahuluk: print()</a:t>
            </a:r>
            <a:endParaRPr lang="en-US" sz="3000" dirty="0"/>
          </a:p>
        </p:txBody>
      </p:sp>
      <p:sp>
        <p:nvSpPr>
          <p:cNvPr id="3" name="k6"/>
          <p:cNvSpPr/>
          <p:nvPr/>
        </p:nvSpPr>
        <p:spPr>
          <a:xfrm>
            <a:off x="548640" y="1463040"/>
            <a:ext cx="6583680" cy="3017520"/>
          </a:xfrm>
          <a:prstGeom prst="roundRect">
            <a:avLst>
              <a:gd name="adj" fmla="val 3030"/>
            </a:avLst>
          </a:prstGeom>
          <a:solidFill>
            <a:schemeClr val="tx1"/>
          </a:solidFill>
          <a:ln w="12700">
            <a:solidFill>
              <a:schemeClr val="tx1"/>
            </a:solidFill>
            <a:prstDash val="solid"/>
          </a:ln>
        </p:spPr>
      </p:sp>
      <p:sp>
        <p:nvSpPr>
          <p:cNvPr id="4" name="k6-t"/>
          <p:cNvSpPr txBox="1"/>
          <p:nvPr/>
        </p:nvSpPr>
        <p:spPr>
          <a:xfrm>
            <a:off x="822960" y="1691640"/>
            <a:ext cx="6035040" cy="2560320"/>
          </a:xfrm>
          <a:prstGeom prst="rect">
            <a:avLst/>
          </a:prstGeom>
          <a:noFill/>
          <a:ln/>
        </p:spPr>
        <p:txBody>
          <a:bodyPr wrap="square" lIns="0" tIns="0" rIns="0" bIns="0" rtlCol="0" anchor="t"/>
          <a:lstStyle/>
          <a:p>
            <a:pPr indent="0" marL="0">
              <a:buNone/>
            </a:pPr>
            <a:r>
              <a:rPr lang="en-US" sz="1600" i="1" dirty="0">
                <a:solidFill>
                  <a:schemeClr val="accent2"/>
                </a:solidFill>
                <a:latin typeface="Courier New" pitchFamily="34" charset="0"/>
                <a:ea typeface="Courier New" pitchFamily="34" charset="-122"/>
                <a:cs typeface="Courier New" pitchFamily="34" charset="-120"/>
              </a:rPr>
              <a:t># Liña ne'ebé hahú ho # mak komentáriu</a:t>
            </a:r>
            <a:endParaRPr lang="en-US" sz="1600" dirty="0"/>
          </a:p>
          <a:p>
            <a:pPr indent="0" marL="0">
              <a:buNone/>
            </a:pPr>
            <a:r>
              <a:rPr lang="en-US" sz="1600" i="1" dirty="0">
                <a:solidFill>
                  <a:schemeClr val="accent2"/>
                </a:solidFill>
                <a:latin typeface="Courier New" pitchFamily="34" charset="0"/>
                <a:ea typeface="Courier New" pitchFamily="34" charset="-122"/>
                <a:cs typeface="Courier New" pitchFamily="34" charset="-120"/>
              </a:rPr>
              <a:t># Komputadór la lee komentáriu</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print("Bondia, Timor-Leste!")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print("Ha'u-nia naran Maria")</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print(2026)</a:t>
            </a:r>
            <a:endParaRPr lang="en-US" sz="1600" dirty="0"/>
          </a:p>
        </p:txBody>
      </p:sp>
      <p:sp>
        <p:nvSpPr>
          <p:cNvPr id="5" name="r6"/>
          <p:cNvSpPr/>
          <p:nvPr/>
        </p:nvSpPr>
        <p:spPr>
          <a:xfrm>
            <a:off x="548640" y="4709160"/>
            <a:ext cx="6583680" cy="1417320"/>
          </a:xfrm>
          <a:prstGeom prst="roundRect">
            <a:avLst>
              <a:gd name="adj" fmla="val 6452"/>
            </a:avLst>
          </a:prstGeom>
          <a:solidFill>
            <a:schemeClr val="bg2"/>
          </a:solidFill>
          <a:ln w="15875">
            <a:solidFill>
              <a:schemeClr val="accent1"/>
            </a:solidFill>
            <a:prstDash val="solid"/>
          </a:ln>
        </p:spPr>
      </p:sp>
      <p:sp>
        <p:nvSpPr>
          <p:cNvPr id="6" name="r6-l"/>
          <p:cNvSpPr txBox="1"/>
          <p:nvPr/>
        </p:nvSpPr>
        <p:spPr>
          <a:xfrm>
            <a:off x="822960" y="4873752"/>
            <a:ext cx="6035040" cy="274320"/>
          </a:xfrm>
          <a:prstGeom prst="rect">
            <a:avLst/>
          </a:prstGeom>
          <a:noFill/>
          <a:ln/>
        </p:spPr>
        <p:txBody>
          <a:bodyPr wrap="square" lIns="0" tIns="0" rIns="0" bIns="0" rtlCol="0" anchor="t"/>
          <a:lstStyle/>
          <a:p>
            <a:pPr indent="0" marL="0">
              <a:buNone/>
            </a:pPr>
            <a:r>
              <a:rPr lang="en-US" sz="1200" b="1" dirty="0">
                <a:solidFill>
                  <a:schemeClr val="accent1"/>
                </a:solidFill>
              </a:rPr>
              <a:t>Rezultadu</a:t>
            </a:r>
            <a:endParaRPr lang="en-US" sz="1200" dirty="0"/>
          </a:p>
        </p:txBody>
      </p:sp>
      <p:sp>
        <p:nvSpPr>
          <p:cNvPr id="7" name="r6-t"/>
          <p:cNvSpPr txBox="1"/>
          <p:nvPr/>
        </p:nvSpPr>
        <p:spPr>
          <a:xfrm>
            <a:off x="822960" y="5166360"/>
            <a:ext cx="6035040" cy="82296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Bondia, Timor-Leste!</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Ha'u-nia naran Maria</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2026</a:t>
            </a:r>
            <a:endParaRPr lang="en-US" sz="1500" dirty="0"/>
          </a:p>
        </p:txBody>
      </p:sp>
      <p:sp>
        <p:nvSpPr>
          <p:cNvPr id="8" name="i6-sirkulu"/>
          <p:cNvSpPr/>
          <p:nvPr/>
        </p:nvSpPr>
        <p:spPr>
          <a:xfrm>
            <a:off x="7589520" y="1508760"/>
            <a:ext cx="685800" cy="685800"/>
          </a:xfrm>
          <a:prstGeom prst="ellipse">
            <a:avLst/>
          </a:prstGeom>
          <a:solidFill>
            <a:schemeClr val="accent5"/>
          </a:solidFill>
          <a:ln w="12700">
            <a:solidFill>
              <a:schemeClr val="accent5"/>
            </a:solidFill>
            <a:prstDash val="solid"/>
          </a:ln>
        </p:spPr>
      </p:sp>
      <p:pic>
        <p:nvPicPr>
          <p:cNvPr id="9" name="i6-ikone" descr="preencoded.png">    </p:cNvPr>
          <p:cNvPicPr>
            <a:picLocks noChangeAspect="1"/>
          </p:cNvPicPr>
          <p:nvPr/>
        </p:nvPicPr>
        <p:blipFill>
          <a:blip r:embed="rId1"/>
          <a:stretch>
            <a:fillRect/>
          </a:stretch>
        </p:blipFill>
        <p:spPr>
          <a:xfrm>
            <a:off x="7754112" y="1673352"/>
            <a:ext cx="356616" cy="356616"/>
          </a:xfrm>
          <a:prstGeom prst="rect">
            <a:avLst/>
          </a:prstGeom>
        </p:spPr>
      </p:pic>
      <p:sp>
        <p:nvSpPr>
          <p:cNvPr id="10" name="Text 7"/>
          <p:cNvSpPr txBox="1"/>
          <p:nvPr/>
        </p:nvSpPr>
        <p:spPr>
          <a:xfrm>
            <a:off x="7589520" y="2377440"/>
            <a:ext cx="4053535" cy="365760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2"/>
                </a:solidFill>
              </a:rPr>
              <a:t>print()</a:t>
            </a:r>
            <a:pPr indent="0" marL="0">
              <a:spcAft>
                <a:spcPts val="1000"/>
              </a:spcAft>
              <a:buNone/>
            </a:pPr>
            <a:r>
              <a:rPr lang="en-US" sz="1600" dirty="0">
                <a:solidFill>
                  <a:schemeClr val="tx1"/>
                </a:solidFill>
              </a:rPr>
              <a:t> hatudu testu ka númeru iha ekran.</a:t>
            </a:r>
            <a:endParaRPr lang="en-US" sz="1600" dirty="0"/>
          </a:p>
          <a:p>
            <a:pPr marL="342900" indent="-342900">
              <a:spcAft>
                <a:spcPts val="1000"/>
              </a:spcAft>
              <a:buSzPct val="100000"/>
              <a:buChar char="•"/>
            </a:pPr>
            <a:r>
              <a:rPr lang="en-US" sz="1600" b="1" dirty="0">
                <a:solidFill>
                  <a:schemeClr val="tx2"/>
                </a:solidFill>
              </a:rPr>
              <a:t>Testu</a:t>
            </a:r>
            <a:pPr indent="0" marL="0">
              <a:spcAft>
                <a:spcPts val="1000"/>
              </a:spcAft>
              <a:buNone/>
            </a:pPr>
            <a:r>
              <a:rPr lang="en-US" sz="1600" dirty="0">
                <a:solidFill>
                  <a:schemeClr val="tx1"/>
                </a:solidFill>
              </a:rPr>
              <a:t> tenke iha laran "aspas".</a:t>
            </a:r>
            <a:endParaRPr lang="en-US" sz="1600" dirty="0"/>
          </a:p>
          <a:p>
            <a:pPr marL="342900" indent="-342900">
              <a:spcAft>
                <a:spcPts val="1000"/>
              </a:spcAft>
              <a:buSzPct val="100000"/>
              <a:buChar char="•"/>
            </a:pPr>
            <a:r>
              <a:rPr lang="en-US" sz="1600" b="1" dirty="0">
                <a:solidFill>
                  <a:schemeClr val="tx2"/>
                </a:solidFill>
              </a:rPr>
              <a:t>Númeru</a:t>
            </a:r>
            <a:pPr indent="0" marL="0">
              <a:spcAft>
                <a:spcPts val="1000"/>
              </a:spcAft>
              <a:buNone/>
            </a:pPr>
            <a:r>
              <a:rPr lang="en-US" sz="1600" dirty="0">
                <a:solidFill>
                  <a:schemeClr val="tx1"/>
                </a:solidFill>
              </a:rPr>
              <a:t> la presiza aspas.</a:t>
            </a:r>
            <a:endParaRPr lang="en-US" sz="1600" dirty="0"/>
          </a:p>
          <a:p>
            <a:pPr marL="342900" indent="-342900">
              <a:spcAft>
                <a:spcPts val="1000"/>
              </a:spcAft>
              <a:buSzPct val="100000"/>
              <a:buChar char="•"/>
            </a:pPr>
            <a:r>
              <a:rPr lang="en-US" sz="1600" b="1" dirty="0">
                <a:solidFill>
                  <a:schemeClr val="tx2"/>
                </a:solidFill>
              </a:rPr>
              <a:t>Komentáriu</a:t>
            </a:r>
            <a:pPr indent="0" marL="0">
              <a:spcAft>
                <a:spcPts val="1000"/>
              </a:spcAft>
              <a:buNone/>
            </a:pPr>
            <a:r>
              <a:rPr lang="en-US" sz="1600" dirty="0">
                <a:solidFill>
                  <a:schemeClr val="tx1"/>
                </a:solidFill>
              </a:rPr>
              <a:t> nota ba ema; hahú ho #.</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Dadus baziku</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Variável · tipu dadus · operasaun · input</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02</a:t>
            </a:r>
            <a:endParaRPr lang="en-US" sz="15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Variável: kaixa ho etiketa</a:t>
            </a:r>
            <a:endParaRPr lang="en-US" sz="3000" dirty="0"/>
          </a:p>
        </p:txBody>
      </p:sp>
      <p:sp>
        <p:nvSpPr>
          <p:cNvPr id="3" name="kaixa-0"/>
          <p:cNvSpPr/>
          <p:nvPr/>
        </p:nvSpPr>
        <p:spPr>
          <a:xfrm>
            <a:off x="548640" y="1691640"/>
            <a:ext cx="1920240" cy="1554480"/>
          </a:xfrm>
          <a:prstGeom prst="roundRect">
            <a:avLst>
              <a:gd name="adj" fmla="val 5882"/>
            </a:avLst>
          </a:prstGeom>
          <a:solidFill>
            <a:schemeClr val="bg2"/>
          </a:solidFill>
          <a:ln w="31750">
            <a:solidFill>
              <a:schemeClr val="accent1"/>
            </a:solidFill>
            <a:prstDash val="solid"/>
          </a:ln>
        </p:spPr>
      </p:sp>
      <p:sp>
        <p:nvSpPr>
          <p:cNvPr id="4" name="Text 2"/>
          <p:cNvSpPr txBox="1"/>
          <p:nvPr/>
        </p:nvSpPr>
        <p:spPr>
          <a:xfrm>
            <a:off x="548640" y="2057400"/>
            <a:ext cx="1920240" cy="731520"/>
          </a:xfrm>
          <a:prstGeom prst="rect">
            <a:avLst/>
          </a:prstGeom>
          <a:no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"Liquiçá"</a:t>
            </a:r>
            <a:endParaRPr lang="en-US" sz="2200" dirty="0"/>
          </a:p>
        </p:txBody>
      </p:sp>
      <p:sp>
        <p:nvSpPr>
          <p:cNvPr id="5" name="etiketa-0"/>
          <p:cNvSpPr/>
          <p:nvPr/>
        </p:nvSpPr>
        <p:spPr>
          <a:xfrm>
            <a:off x="731520" y="3063240"/>
            <a:ext cx="1554480" cy="411480"/>
          </a:xfrm>
          <a:prstGeom prst="roundRect">
            <a:avLst>
              <a:gd name="adj" fmla="val 17778"/>
            </a:avLst>
          </a:prstGeom>
          <a:solidFill>
            <a:schemeClr val="accent1"/>
          </a:solidFill>
          <a:ln w="12700">
            <a:solidFill>
              <a:schemeClr val="accent1"/>
            </a:solidFill>
            <a:prstDash val="solid"/>
          </a:ln>
        </p:spPr>
      </p:sp>
      <p:sp>
        <p:nvSpPr>
          <p:cNvPr id="6" name="Text 4"/>
          <p:cNvSpPr txBox="1"/>
          <p:nvPr/>
        </p:nvSpPr>
        <p:spPr>
          <a:xfrm>
            <a:off x="731520" y="3063240"/>
            <a:ext cx="1554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munisipiu</a:t>
            </a:r>
            <a:endParaRPr lang="en-US" sz="1300" dirty="0"/>
          </a:p>
        </p:txBody>
      </p:sp>
      <p:sp>
        <p:nvSpPr>
          <p:cNvPr id="7" name="kaixa-1"/>
          <p:cNvSpPr/>
          <p:nvPr/>
        </p:nvSpPr>
        <p:spPr>
          <a:xfrm>
            <a:off x="2697480" y="1691640"/>
            <a:ext cx="1920240" cy="1554480"/>
          </a:xfrm>
          <a:prstGeom prst="roundRect">
            <a:avLst>
              <a:gd name="adj" fmla="val 5882"/>
            </a:avLst>
          </a:prstGeom>
          <a:solidFill>
            <a:schemeClr val="bg2"/>
          </a:solidFill>
          <a:ln w="31750">
            <a:solidFill>
              <a:schemeClr val="accent5"/>
            </a:solidFill>
            <a:prstDash val="solid"/>
          </a:ln>
        </p:spPr>
      </p:sp>
      <p:sp>
        <p:nvSpPr>
          <p:cNvPr id="8" name="Text 6"/>
          <p:cNvSpPr txBox="1"/>
          <p:nvPr/>
        </p:nvSpPr>
        <p:spPr>
          <a:xfrm>
            <a:off x="2697480" y="2057400"/>
            <a:ext cx="1920240" cy="731520"/>
          </a:xfrm>
          <a:prstGeom prst="rect">
            <a:avLst/>
          </a:prstGeom>
          <a:no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45</a:t>
            </a:r>
            <a:endParaRPr lang="en-US" sz="2200" dirty="0"/>
          </a:p>
        </p:txBody>
      </p:sp>
      <p:sp>
        <p:nvSpPr>
          <p:cNvPr id="9" name="etiketa-1"/>
          <p:cNvSpPr/>
          <p:nvPr/>
        </p:nvSpPr>
        <p:spPr>
          <a:xfrm>
            <a:off x="2880360" y="3063240"/>
            <a:ext cx="1554480" cy="411480"/>
          </a:xfrm>
          <a:prstGeom prst="roundRect">
            <a:avLst>
              <a:gd name="adj" fmla="val 17778"/>
            </a:avLst>
          </a:prstGeom>
          <a:solidFill>
            <a:schemeClr val="accent5"/>
          </a:solidFill>
          <a:ln w="12700">
            <a:solidFill>
              <a:schemeClr val="accent5"/>
            </a:solidFill>
            <a:prstDash val="solid"/>
          </a:ln>
        </p:spPr>
      </p:sp>
      <p:sp>
        <p:nvSpPr>
          <p:cNvPr id="10" name="Text 8"/>
          <p:cNvSpPr txBox="1"/>
          <p:nvPr/>
        </p:nvSpPr>
        <p:spPr>
          <a:xfrm>
            <a:off x="2880360" y="3063240"/>
            <a:ext cx="1554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total_ema</a:t>
            </a:r>
            <a:endParaRPr lang="en-US" sz="1300" dirty="0"/>
          </a:p>
        </p:txBody>
      </p:sp>
      <p:sp>
        <p:nvSpPr>
          <p:cNvPr id="11" name="kaixa-2"/>
          <p:cNvSpPr/>
          <p:nvPr/>
        </p:nvSpPr>
        <p:spPr>
          <a:xfrm>
            <a:off x="4846320" y="1691640"/>
            <a:ext cx="1920240" cy="1554480"/>
          </a:xfrm>
          <a:prstGeom prst="roundRect">
            <a:avLst>
              <a:gd name="adj" fmla="val 5882"/>
            </a:avLst>
          </a:prstGeom>
          <a:solidFill>
            <a:schemeClr val="bg2"/>
          </a:solidFill>
          <a:ln w="31750">
            <a:solidFill>
              <a:schemeClr val="accent3"/>
            </a:solidFill>
            <a:prstDash val="solid"/>
          </a:ln>
        </p:spPr>
      </p:sp>
      <p:sp>
        <p:nvSpPr>
          <p:cNvPr id="12" name="Text 10"/>
          <p:cNvSpPr txBox="1"/>
          <p:nvPr/>
        </p:nvSpPr>
        <p:spPr>
          <a:xfrm>
            <a:off x="4846320" y="2057400"/>
            <a:ext cx="1920240" cy="731520"/>
          </a:xfrm>
          <a:prstGeom prst="rect">
            <a:avLst/>
          </a:prstGeom>
          <a:no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True</a:t>
            </a:r>
            <a:endParaRPr lang="en-US" sz="2200" dirty="0"/>
          </a:p>
        </p:txBody>
      </p:sp>
      <p:sp>
        <p:nvSpPr>
          <p:cNvPr id="13" name="etiketa-2"/>
          <p:cNvSpPr/>
          <p:nvPr/>
        </p:nvSpPr>
        <p:spPr>
          <a:xfrm>
            <a:off x="5029200" y="3063240"/>
            <a:ext cx="1554480" cy="411480"/>
          </a:xfrm>
          <a:prstGeom prst="roundRect">
            <a:avLst>
              <a:gd name="adj" fmla="val 17778"/>
            </a:avLst>
          </a:prstGeom>
          <a:solidFill>
            <a:schemeClr val="accent3"/>
          </a:solidFill>
          <a:ln w="12700">
            <a:solidFill>
              <a:schemeClr val="accent3"/>
            </a:solidFill>
            <a:prstDash val="solid"/>
          </a:ln>
        </p:spPr>
      </p:sp>
      <p:sp>
        <p:nvSpPr>
          <p:cNvPr id="14" name="Text 12"/>
          <p:cNvSpPr txBox="1"/>
          <p:nvPr/>
        </p:nvSpPr>
        <p:spPr>
          <a:xfrm>
            <a:off x="5029200" y="3063240"/>
            <a:ext cx="1554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urjente</a:t>
            </a:r>
            <a:endParaRPr lang="en-US" sz="1300" dirty="0"/>
          </a:p>
        </p:txBody>
      </p:sp>
      <p:sp>
        <p:nvSpPr>
          <p:cNvPr id="15" name="k7"/>
          <p:cNvSpPr/>
          <p:nvPr/>
        </p:nvSpPr>
        <p:spPr>
          <a:xfrm>
            <a:off x="548640" y="3840480"/>
            <a:ext cx="6355080" cy="2286000"/>
          </a:xfrm>
          <a:prstGeom prst="roundRect">
            <a:avLst>
              <a:gd name="adj" fmla="val 4000"/>
            </a:avLst>
          </a:prstGeom>
          <a:solidFill>
            <a:schemeClr val="tx1"/>
          </a:solidFill>
          <a:ln w="12700">
            <a:solidFill>
              <a:schemeClr val="tx1"/>
            </a:solidFill>
            <a:prstDash val="solid"/>
          </a:ln>
        </p:spPr>
      </p:sp>
      <p:sp>
        <p:nvSpPr>
          <p:cNvPr id="16" name="k7-t"/>
          <p:cNvSpPr txBox="1"/>
          <p:nvPr/>
        </p:nvSpPr>
        <p:spPr>
          <a:xfrm>
            <a:off x="822960" y="4069080"/>
            <a:ext cx="5806440" cy="182880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munisipiu = "Liquiçá"</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total_ema = 45</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urjente = True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print(munisipiu, total_ema)</a:t>
            </a:r>
            <a:endParaRPr lang="en-US" sz="1600" dirty="0"/>
          </a:p>
        </p:txBody>
      </p:sp>
      <p:sp>
        <p:nvSpPr>
          <p:cNvPr id="17" name="Text 15"/>
          <p:cNvSpPr txBox="1"/>
          <p:nvPr/>
        </p:nvSpPr>
        <p:spPr>
          <a:xfrm>
            <a:off x="7269480" y="1691640"/>
            <a:ext cx="4373575" cy="438912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2"/>
                </a:solidFill>
              </a:rPr>
              <a:t>Variável</a:t>
            </a:r>
            <a:pPr indent="0" marL="0">
              <a:spcAft>
                <a:spcPts val="1000"/>
              </a:spcAft>
              <a:buNone/>
            </a:pPr>
            <a:r>
              <a:rPr lang="en-US" sz="1600" dirty="0">
                <a:solidFill>
                  <a:schemeClr val="tx1"/>
                </a:solidFill>
              </a:rPr>
              <a:t> rai valór ida ho naran, atu uza fali depois.</a:t>
            </a:r>
            <a:endParaRPr lang="en-US" sz="1600" dirty="0"/>
          </a:p>
          <a:p>
            <a:pPr marL="342900" indent="-342900">
              <a:spcAft>
                <a:spcPts val="1000"/>
              </a:spcAft>
              <a:buSzPct val="100000"/>
              <a:buChar char="•"/>
            </a:pPr>
            <a:r>
              <a:rPr lang="en-US" sz="1600" b="1" dirty="0">
                <a:solidFill>
                  <a:schemeClr val="tx2"/>
                </a:solidFill>
              </a:rPr>
              <a:t>Sinál =</a:t>
            </a:r>
            <a:pPr indent="0" marL="0">
              <a:spcAft>
                <a:spcPts val="1000"/>
              </a:spcAft>
              <a:buNone/>
            </a:pPr>
            <a:r>
              <a:rPr lang="en-US" sz="1600" dirty="0">
                <a:solidFill>
                  <a:schemeClr val="tx1"/>
                </a:solidFill>
              </a:rPr>
              <a:t> signifika "rai iha laran", la'ós "hanesan".</a:t>
            </a:r>
            <a:endParaRPr lang="en-US" sz="1600" dirty="0"/>
          </a:p>
          <a:p>
            <a:pPr marL="342900" indent="-342900">
              <a:spcAft>
                <a:spcPts val="1000"/>
              </a:spcAft>
              <a:buSzPct val="100000"/>
              <a:buChar char="•"/>
            </a:pPr>
            <a:r>
              <a:rPr lang="en-US" sz="1600" b="1" dirty="0">
                <a:solidFill>
                  <a:schemeClr val="tx2"/>
                </a:solidFill>
              </a:rPr>
              <a:t>Naran</a:t>
            </a:r>
            <a:pPr indent="0" marL="0">
              <a:spcAft>
                <a:spcPts val="1000"/>
              </a:spcAft>
              <a:buNone/>
            </a:pPr>
            <a:r>
              <a:rPr lang="en-US" sz="1600" dirty="0">
                <a:solidFill>
                  <a:schemeClr val="tx1"/>
                </a:solidFill>
              </a:rPr>
              <a:t> letra ki'ik, la iha espasu: uza _ (total_ema).</a:t>
            </a:r>
            <a:endParaRPr lang="en-US" sz="1600" dirty="0"/>
          </a:p>
          <a:p>
            <a:pPr marL="342900" indent="-342900">
              <a:spcAft>
                <a:spcPts val="1000"/>
              </a:spcAft>
              <a:buSzPct val="100000"/>
              <a:buChar char="•"/>
            </a:pPr>
            <a:r>
              <a:rPr lang="en-US" sz="1600" b="1" dirty="0">
                <a:solidFill>
                  <a:schemeClr val="tx2"/>
                </a:solidFill>
              </a:rPr>
              <a:t>Muda</a:t>
            </a:r>
            <a:pPr indent="0" marL="0">
              <a:spcAft>
                <a:spcPts val="1000"/>
              </a:spcAft>
              <a:buNone/>
            </a:pPr>
            <a:r>
              <a:rPr lang="en-US" sz="1600" dirty="0">
                <a:solidFill>
                  <a:schemeClr val="tx1"/>
                </a:solidFill>
              </a:rPr>
              <a:t> valór bele troka: total_ema = 50</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Tipu dadus haat</a:t>
            </a:r>
            <a:endParaRPr lang="en-US" sz="3000" dirty="0"/>
          </a:p>
        </p:txBody>
      </p:sp>
      <p:sp>
        <p:nvSpPr>
          <p:cNvPr id="3" name="tipu-0"/>
          <p:cNvSpPr/>
          <p:nvPr/>
        </p:nvSpPr>
        <p:spPr>
          <a:xfrm>
            <a:off x="548640" y="1463040"/>
            <a:ext cx="5410048" cy="2011680"/>
          </a:xfrm>
          <a:prstGeom prst="roundRect">
            <a:avLst>
              <a:gd name="adj" fmla="val 5455"/>
            </a:avLst>
          </a:prstGeom>
          <a:solidFill>
            <a:schemeClr val="bg2"/>
          </a:solidFill>
          <a:ln w="12700">
            <a:solidFill>
              <a:schemeClr val="bg2"/>
            </a:solidFill>
            <a:prstDash val="solid"/>
          </a:ln>
        </p:spPr>
      </p:sp>
      <p:sp>
        <p:nvSpPr>
          <p:cNvPr id="4" name="tipu-kaixa-0"/>
          <p:cNvSpPr/>
          <p:nvPr/>
        </p:nvSpPr>
        <p:spPr>
          <a:xfrm>
            <a:off x="822960" y="1783080"/>
            <a:ext cx="1371600" cy="1371600"/>
          </a:xfrm>
          <a:prstGeom prst="roundRect">
            <a:avLst>
              <a:gd name="adj" fmla="val 8000"/>
            </a:avLst>
          </a:prstGeom>
          <a:solidFill>
            <a:schemeClr val="accent5"/>
          </a:solidFill>
          <a:ln w="12700">
            <a:solidFill>
              <a:schemeClr val="accent5"/>
            </a:solidFill>
            <a:prstDash val="solid"/>
          </a:ln>
        </p:spPr>
      </p:sp>
      <p:sp>
        <p:nvSpPr>
          <p:cNvPr id="5" name="Text 3"/>
          <p:cNvSpPr txBox="1"/>
          <p:nvPr/>
        </p:nvSpPr>
        <p:spPr>
          <a:xfrm>
            <a:off x="822960" y="1783080"/>
            <a:ext cx="1371600" cy="1371600"/>
          </a:xfrm>
          <a:prstGeom prst="rect">
            <a:avLst/>
          </a:prstGeom>
          <a:no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int</a:t>
            </a:r>
            <a:endParaRPr lang="en-US" sz="2600" dirty="0"/>
          </a:p>
        </p:txBody>
      </p:sp>
      <p:sp>
        <p:nvSpPr>
          <p:cNvPr id="6" name="Text 4"/>
          <p:cNvSpPr txBox="1"/>
          <p:nvPr/>
        </p:nvSpPr>
        <p:spPr>
          <a:xfrm>
            <a:off x="2468880" y="1828800"/>
            <a:ext cx="3215488" cy="457200"/>
          </a:xfrm>
          <a:prstGeom prst="rect">
            <a:avLst/>
          </a:prstGeom>
          <a:noFill/>
          <a:ln/>
        </p:spPr>
        <p:txBody>
          <a:bodyPr wrap="square" lIns="0" tIns="0" rIns="0" bIns="0" rtlCol="0" anchor="t"/>
          <a:lstStyle/>
          <a:p>
            <a:pPr indent="0" marL="0">
              <a:buNone/>
            </a:pPr>
            <a:r>
              <a:rPr lang="en-US" sz="2100" b="1" dirty="0">
                <a:solidFill>
                  <a:schemeClr val="tx2"/>
                </a:solidFill>
              </a:rPr>
              <a:t>Númeru tomak</a:t>
            </a:r>
            <a:endParaRPr lang="en-US" sz="2100" dirty="0"/>
          </a:p>
        </p:txBody>
      </p:sp>
      <p:sp>
        <p:nvSpPr>
          <p:cNvPr id="7" name="Text 5"/>
          <p:cNvSpPr txBox="1"/>
          <p:nvPr/>
        </p:nvSpPr>
        <p:spPr>
          <a:xfrm>
            <a:off x="2468880" y="2423160"/>
            <a:ext cx="3215488" cy="457200"/>
          </a:xfrm>
          <a:prstGeom prst="rect">
            <a:avLst/>
          </a:prstGeom>
          <a:noFill/>
          <a:ln/>
        </p:spPr>
        <p:txBody>
          <a:bodyPr wrap="square" lIns="0" tIns="0" rIns="0" bIns="0" rtlCol="0" anchor="t"/>
          <a:lstStyle/>
          <a:p>
            <a:pPr indent="0" marL="0">
              <a:buNone/>
            </a:pPr>
            <a:r>
              <a:rPr lang="en-US" sz="1800" dirty="0">
                <a:solidFill>
                  <a:schemeClr val="tx1"/>
                </a:solidFill>
                <a:latin typeface="Courier New" pitchFamily="34" charset="0"/>
                <a:ea typeface="Courier New" pitchFamily="34" charset="-122"/>
                <a:cs typeface="Courier New" pitchFamily="34" charset="-120"/>
              </a:rPr>
              <a:t>uma_kain = 12</a:t>
            </a:r>
            <a:endParaRPr lang="en-US" sz="1800" dirty="0"/>
          </a:p>
        </p:txBody>
      </p:sp>
      <p:sp>
        <p:nvSpPr>
          <p:cNvPr id="8" name="tipu-1"/>
          <p:cNvSpPr/>
          <p:nvPr/>
        </p:nvSpPr>
        <p:spPr>
          <a:xfrm>
            <a:off x="6233008" y="1463040"/>
            <a:ext cx="5410048" cy="2011680"/>
          </a:xfrm>
          <a:prstGeom prst="roundRect">
            <a:avLst>
              <a:gd name="adj" fmla="val 5455"/>
            </a:avLst>
          </a:prstGeom>
          <a:solidFill>
            <a:schemeClr val="bg2"/>
          </a:solidFill>
          <a:ln w="12700">
            <a:solidFill>
              <a:schemeClr val="bg2"/>
            </a:solidFill>
            <a:prstDash val="solid"/>
          </a:ln>
        </p:spPr>
      </p:sp>
      <p:sp>
        <p:nvSpPr>
          <p:cNvPr id="9" name="tipu-kaixa-1"/>
          <p:cNvSpPr/>
          <p:nvPr/>
        </p:nvSpPr>
        <p:spPr>
          <a:xfrm>
            <a:off x="6507328" y="1783080"/>
            <a:ext cx="1371600" cy="1371600"/>
          </a:xfrm>
          <a:prstGeom prst="roundRect">
            <a:avLst>
              <a:gd name="adj" fmla="val 8000"/>
            </a:avLst>
          </a:prstGeom>
          <a:solidFill>
            <a:schemeClr val="accent6"/>
          </a:solidFill>
          <a:ln w="12700">
            <a:solidFill>
              <a:schemeClr val="accent6"/>
            </a:solidFill>
            <a:prstDash val="solid"/>
          </a:ln>
        </p:spPr>
      </p:sp>
      <p:sp>
        <p:nvSpPr>
          <p:cNvPr id="10" name="Text 8"/>
          <p:cNvSpPr txBox="1"/>
          <p:nvPr/>
        </p:nvSpPr>
        <p:spPr>
          <a:xfrm>
            <a:off x="6507328" y="1783080"/>
            <a:ext cx="1371600" cy="1371600"/>
          </a:xfrm>
          <a:prstGeom prst="rect">
            <a:avLst/>
          </a:prstGeom>
          <a:no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float</a:t>
            </a:r>
            <a:endParaRPr lang="en-US" sz="2600" dirty="0"/>
          </a:p>
        </p:txBody>
      </p:sp>
      <p:sp>
        <p:nvSpPr>
          <p:cNvPr id="11" name="Text 9"/>
          <p:cNvSpPr txBox="1"/>
          <p:nvPr/>
        </p:nvSpPr>
        <p:spPr>
          <a:xfrm>
            <a:off x="8153248" y="1828800"/>
            <a:ext cx="3215488" cy="457200"/>
          </a:xfrm>
          <a:prstGeom prst="rect">
            <a:avLst/>
          </a:prstGeom>
          <a:noFill/>
          <a:ln/>
        </p:spPr>
        <p:txBody>
          <a:bodyPr wrap="square" lIns="0" tIns="0" rIns="0" bIns="0" rtlCol="0" anchor="t"/>
          <a:lstStyle/>
          <a:p>
            <a:pPr indent="0" marL="0">
              <a:buNone/>
            </a:pPr>
            <a:r>
              <a:rPr lang="en-US" sz="2100" b="1" dirty="0">
                <a:solidFill>
                  <a:schemeClr val="tx2"/>
                </a:solidFill>
              </a:rPr>
              <a:t>Númeru ho vírgula</a:t>
            </a:r>
            <a:endParaRPr lang="en-US" sz="2100" dirty="0"/>
          </a:p>
        </p:txBody>
      </p:sp>
      <p:sp>
        <p:nvSpPr>
          <p:cNvPr id="12" name="Text 10"/>
          <p:cNvSpPr txBox="1"/>
          <p:nvPr/>
        </p:nvSpPr>
        <p:spPr>
          <a:xfrm>
            <a:off x="8153248" y="2423160"/>
            <a:ext cx="3215488" cy="457200"/>
          </a:xfrm>
          <a:prstGeom prst="rect">
            <a:avLst/>
          </a:prstGeom>
          <a:noFill/>
          <a:ln/>
        </p:spPr>
        <p:txBody>
          <a:bodyPr wrap="square" lIns="0" tIns="0" rIns="0" bIns="0" rtlCol="0" anchor="t"/>
          <a:lstStyle/>
          <a:p>
            <a:pPr indent="0" marL="0">
              <a:buNone/>
            </a:pPr>
            <a:r>
              <a:rPr lang="en-US" sz="1800" dirty="0">
                <a:solidFill>
                  <a:schemeClr val="tx1"/>
                </a:solidFill>
                <a:latin typeface="Courier New" pitchFamily="34" charset="0"/>
                <a:ea typeface="Courier New" pitchFamily="34" charset="-122"/>
                <a:cs typeface="Courier New" pitchFamily="34" charset="-120"/>
              </a:rPr>
              <a:t>rai_luan = 2.5</a:t>
            </a:r>
            <a:endParaRPr lang="en-US" sz="1800" dirty="0"/>
          </a:p>
        </p:txBody>
      </p:sp>
      <p:sp>
        <p:nvSpPr>
          <p:cNvPr id="13" name="tipu-2"/>
          <p:cNvSpPr/>
          <p:nvPr/>
        </p:nvSpPr>
        <p:spPr>
          <a:xfrm>
            <a:off x="548640" y="3703320"/>
            <a:ext cx="5410048" cy="2011680"/>
          </a:xfrm>
          <a:prstGeom prst="roundRect">
            <a:avLst>
              <a:gd name="adj" fmla="val 5455"/>
            </a:avLst>
          </a:prstGeom>
          <a:solidFill>
            <a:schemeClr val="bg2"/>
          </a:solidFill>
          <a:ln w="12700">
            <a:solidFill>
              <a:schemeClr val="bg2"/>
            </a:solidFill>
            <a:prstDash val="solid"/>
          </a:ln>
        </p:spPr>
      </p:sp>
      <p:sp>
        <p:nvSpPr>
          <p:cNvPr id="14" name="tipu-kaixa-2"/>
          <p:cNvSpPr/>
          <p:nvPr/>
        </p:nvSpPr>
        <p:spPr>
          <a:xfrm>
            <a:off x="822960" y="4023360"/>
            <a:ext cx="1371600" cy="1371600"/>
          </a:xfrm>
          <a:prstGeom prst="roundRect">
            <a:avLst>
              <a:gd name="adj" fmla="val 8000"/>
            </a:avLst>
          </a:prstGeom>
          <a:solidFill>
            <a:schemeClr val="accent1"/>
          </a:solidFill>
          <a:ln w="12700">
            <a:solidFill>
              <a:schemeClr val="accent1"/>
            </a:solidFill>
            <a:prstDash val="solid"/>
          </a:ln>
        </p:spPr>
      </p:sp>
      <p:sp>
        <p:nvSpPr>
          <p:cNvPr id="15" name="Text 13"/>
          <p:cNvSpPr txBox="1"/>
          <p:nvPr/>
        </p:nvSpPr>
        <p:spPr>
          <a:xfrm>
            <a:off x="822960" y="4023360"/>
            <a:ext cx="1371600" cy="1371600"/>
          </a:xfrm>
          <a:prstGeom prst="rect">
            <a:avLst/>
          </a:prstGeom>
          <a:no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str</a:t>
            </a:r>
            <a:endParaRPr lang="en-US" sz="2600" dirty="0"/>
          </a:p>
        </p:txBody>
      </p:sp>
      <p:sp>
        <p:nvSpPr>
          <p:cNvPr id="16" name="Text 14"/>
          <p:cNvSpPr txBox="1"/>
          <p:nvPr/>
        </p:nvSpPr>
        <p:spPr>
          <a:xfrm>
            <a:off x="2468880" y="4069080"/>
            <a:ext cx="3215488" cy="457200"/>
          </a:xfrm>
          <a:prstGeom prst="rect">
            <a:avLst/>
          </a:prstGeom>
          <a:noFill/>
          <a:ln/>
        </p:spPr>
        <p:txBody>
          <a:bodyPr wrap="square" lIns="0" tIns="0" rIns="0" bIns="0" rtlCol="0" anchor="t"/>
          <a:lstStyle/>
          <a:p>
            <a:pPr indent="0" marL="0">
              <a:buNone/>
            </a:pPr>
            <a:r>
              <a:rPr lang="en-US" sz="2100" b="1" dirty="0">
                <a:solidFill>
                  <a:schemeClr val="tx2"/>
                </a:solidFill>
              </a:rPr>
              <a:t>Testu (string)</a:t>
            </a:r>
            <a:endParaRPr lang="en-US" sz="2100" dirty="0"/>
          </a:p>
        </p:txBody>
      </p:sp>
      <p:sp>
        <p:nvSpPr>
          <p:cNvPr id="17" name="Text 15"/>
          <p:cNvSpPr txBox="1"/>
          <p:nvPr/>
        </p:nvSpPr>
        <p:spPr>
          <a:xfrm>
            <a:off x="2468880" y="4663440"/>
            <a:ext cx="3215488" cy="457200"/>
          </a:xfrm>
          <a:prstGeom prst="rect">
            <a:avLst/>
          </a:prstGeom>
          <a:noFill/>
          <a:ln/>
        </p:spPr>
        <p:txBody>
          <a:bodyPr wrap="square" lIns="0" tIns="0" rIns="0" bIns="0" rtlCol="0" anchor="t"/>
          <a:lstStyle/>
          <a:p>
            <a:pPr indent="0" marL="0">
              <a:buNone/>
            </a:pPr>
            <a:r>
              <a:rPr lang="en-US" sz="1800" dirty="0">
                <a:solidFill>
                  <a:schemeClr val="tx1"/>
                </a:solidFill>
                <a:latin typeface="Courier New" pitchFamily="34" charset="0"/>
                <a:ea typeface="Courier New" pitchFamily="34" charset="-122"/>
                <a:cs typeface="Courier New" pitchFamily="34" charset="-120"/>
              </a:rPr>
              <a:t>suku = "Ulmera"</a:t>
            </a:r>
            <a:endParaRPr lang="en-US" sz="1800" dirty="0"/>
          </a:p>
        </p:txBody>
      </p:sp>
      <p:sp>
        <p:nvSpPr>
          <p:cNvPr id="18" name="tipu-3"/>
          <p:cNvSpPr/>
          <p:nvPr/>
        </p:nvSpPr>
        <p:spPr>
          <a:xfrm>
            <a:off x="6233008" y="3703320"/>
            <a:ext cx="5410048" cy="2011680"/>
          </a:xfrm>
          <a:prstGeom prst="roundRect">
            <a:avLst>
              <a:gd name="adj" fmla="val 5455"/>
            </a:avLst>
          </a:prstGeom>
          <a:solidFill>
            <a:schemeClr val="bg2"/>
          </a:solidFill>
          <a:ln w="12700">
            <a:solidFill>
              <a:schemeClr val="bg2"/>
            </a:solidFill>
            <a:prstDash val="solid"/>
          </a:ln>
        </p:spPr>
      </p:sp>
      <p:sp>
        <p:nvSpPr>
          <p:cNvPr id="19" name="tipu-kaixa-3"/>
          <p:cNvSpPr/>
          <p:nvPr/>
        </p:nvSpPr>
        <p:spPr>
          <a:xfrm>
            <a:off x="6507328" y="4023360"/>
            <a:ext cx="1371600" cy="1371600"/>
          </a:xfrm>
          <a:prstGeom prst="roundRect">
            <a:avLst>
              <a:gd name="adj" fmla="val 8000"/>
            </a:avLst>
          </a:prstGeom>
          <a:solidFill>
            <a:schemeClr val="accent3"/>
          </a:solidFill>
          <a:ln w="12700">
            <a:solidFill>
              <a:schemeClr val="accent3"/>
            </a:solidFill>
            <a:prstDash val="solid"/>
          </a:ln>
        </p:spPr>
      </p:sp>
      <p:sp>
        <p:nvSpPr>
          <p:cNvPr id="20" name="Text 18"/>
          <p:cNvSpPr txBox="1"/>
          <p:nvPr/>
        </p:nvSpPr>
        <p:spPr>
          <a:xfrm>
            <a:off x="6507328" y="4023360"/>
            <a:ext cx="1371600" cy="1371600"/>
          </a:xfrm>
          <a:prstGeom prst="rect">
            <a:avLst/>
          </a:prstGeom>
          <a:no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bool</a:t>
            </a:r>
            <a:endParaRPr lang="en-US" sz="2600" dirty="0"/>
          </a:p>
        </p:txBody>
      </p:sp>
      <p:sp>
        <p:nvSpPr>
          <p:cNvPr id="21" name="Text 19"/>
          <p:cNvSpPr txBox="1"/>
          <p:nvPr/>
        </p:nvSpPr>
        <p:spPr>
          <a:xfrm>
            <a:off x="8153248" y="4069080"/>
            <a:ext cx="3215488" cy="457200"/>
          </a:xfrm>
          <a:prstGeom prst="rect">
            <a:avLst/>
          </a:prstGeom>
          <a:noFill/>
          <a:ln/>
        </p:spPr>
        <p:txBody>
          <a:bodyPr wrap="square" lIns="0" tIns="0" rIns="0" bIns="0" rtlCol="0" anchor="t"/>
          <a:lstStyle/>
          <a:p>
            <a:pPr indent="0" marL="0">
              <a:buNone/>
            </a:pPr>
            <a:r>
              <a:rPr lang="en-US" sz="2100" b="1" dirty="0">
                <a:solidFill>
                  <a:schemeClr val="tx2"/>
                </a:solidFill>
              </a:rPr>
              <a:t>Loos ka sala</a:t>
            </a:r>
            <a:endParaRPr lang="en-US" sz="2100" dirty="0"/>
          </a:p>
        </p:txBody>
      </p:sp>
      <p:sp>
        <p:nvSpPr>
          <p:cNvPr id="22" name="Text 20"/>
          <p:cNvSpPr txBox="1"/>
          <p:nvPr/>
        </p:nvSpPr>
        <p:spPr>
          <a:xfrm>
            <a:off x="8153248" y="4663440"/>
            <a:ext cx="3215488" cy="457200"/>
          </a:xfrm>
          <a:prstGeom prst="rect">
            <a:avLst/>
          </a:prstGeom>
          <a:noFill/>
          <a:ln/>
        </p:spPr>
        <p:txBody>
          <a:bodyPr wrap="square" lIns="0" tIns="0" rIns="0" bIns="0" rtlCol="0" anchor="t"/>
          <a:lstStyle/>
          <a:p>
            <a:pPr indent="0" marL="0">
              <a:buNone/>
            </a:pPr>
            <a:r>
              <a:rPr lang="en-US" sz="1800" dirty="0">
                <a:solidFill>
                  <a:schemeClr val="tx1"/>
                </a:solidFill>
                <a:latin typeface="Courier New" pitchFamily="34" charset="0"/>
                <a:ea typeface="Courier New" pitchFamily="34" charset="-122"/>
                <a:cs typeface="Courier New" pitchFamily="34" charset="-120"/>
              </a:rPr>
              <a:t>urjente = True</a:t>
            </a:r>
            <a:endParaRPr lang="en-US" sz="1800" dirty="0"/>
          </a:p>
        </p:txBody>
      </p:sp>
      <p:sp>
        <p:nvSpPr>
          <p:cNvPr id="23" name="Text 21"/>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400" dirty="0">
                <a:solidFill>
                  <a:srgbClr val="5E6B66"/>
                </a:solidFill>
                <a:latin typeface="Courier New" pitchFamily="34" charset="0"/>
                <a:ea typeface="Courier New" pitchFamily="34" charset="-122"/>
                <a:cs typeface="Courier New" pitchFamily="34" charset="-120"/>
              </a:rPr>
              <a:t>Atu hatene tipu: type(rai_luan)  →  &lt;class 'float'&gt;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Operasaun: kalkula no kombina</a:t>
            </a:r>
            <a:endParaRPr lang="en-US" sz="3000" dirty="0"/>
          </a:p>
        </p:txBody>
      </p:sp>
      <p:sp>
        <p:nvSpPr>
          <p:cNvPr id="3" name="op-0"/>
          <p:cNvSpPr/>
          <p:nvPr/>
        </p:nvSpPr>
        <p:spPr>
          <a:xfrm>
            <a:off x="548640" y="1554480"/>
            <a:ext cx="1417320" cy="1051560"/>
          </a:xfrm>
          <a:prstGeom prst="roundRect">
            <a:avLst>
              <a:gd name="adj" fmla="val 8696"/>
            </a:avLst>
          </a:prstGeom>
          <a:solidFill>
            <a:schemeClr val="bg2"/>
          </a:solidFill>
          <a:ln w="12700">
            <a:solidFill>
              <a:schemeClr val="bg2"/>
            </a:solidFill>
            <a:prstDash val="solid"/>
          </a:ln>
        </p:spPr>
      </p:sp>
      <p:sp>
        <p:nvSpPr>
          <p:cNvPr id="4" name="Text 2"/>
          <p:cNvSpPr txBox="1"/>
          <p:nvPr/>
        </p:nvSpPr>
        <p:spPr>
          <a:xfrm>
            <a:off x="548640" y="1627632"/>
            <a:ext cx="1417320" cy="548640"/>
          </a:xfrm>
          <a:prstGeom prst="rect">
            <a:avLst/>
          </a:prstGeom>
          <a:noFill/>
          <a:ln/>
        </p:spPr>
        <p:txBody>
          <a:bodyPr wrap="square" lIns="0" tIns="0" rIns="0" bIns="0" rtlCol="0" anchor="t"/>
          <a:lstStyle/>
          <a:p>
            <a:pPr algn="ctr" indent="0" marL="0">
              <a:buNone/>
            </a:pPr>
            <a:r>
              <a:rPr lang="en-US" sz="2800" b="1" dirty="0">
                <a:solidFill>
                  <a:schemeClr val="accent1"/>
                </a:solidFill>
                <a:latin typeface="Courier New" pitchFamily="34" charset="0"/>
                <a:ea typeface="Courier New" pitchFamily="34" charset="-122"/>
                <a:cs typeface="Courier New" pitchFamily="34" charset="-120"/>
              </a:rPr>
              <a:t>+</a:t>
            </a:r>
            <a:endParaRPr lang="en-US" sz="2800" dirty="0"/>
          </a:p>
        </p:txBody>
      </p:sp>
      <p:sp>
        <p:nvSpPr>
          <p:cNvPr id="5" name="Text 3"/>
          <p:cNvSpPr txBox="1"/>
          <p:nvPr/>
        </p:nvSpPr>
        <p:spPr>
          <a:xfrm>
            <a:off x="548640" y="2194560"/>
            <a:ext cx="1417320" cy="320040"/>
          </a:xfrm>
          <a:prstGeom prst="rect">
            <a:avLst/>
          </a:prstGeom>
          <a:noFill/>
          <a:ln/>
        </p:spPr>
        <p:txBody>
          <a:bodyPr wrap="square" lIns="0" tIns="0" rIns="0" bIns="0" rtlCol="0" anchor="t"/>
          <a:lstStyle/>
          <a:p>
            <a:pPr algn="ctr" indent="0" marL="0">
              <a:buNone/>
            </a:pPr>
            <a:r>
              <a:rPr lang="en-US" sz="1300" dirty="0">
                <a:solidFill>
                  <a:schemeClr val="tx1"/>
                </a:solidFill>
              </a:rPr>
              <a:t>soma</a:t>
            </a:r>
            <a:endParaRPr lang="en-US" sz="1300" dirty="0"/>
          </a:p>
        </p:txBody>
      </p:sp>
      <p:sp>
        <p:nvSpPr>
          <p:cNvPr id="6" name="op-1"/>
          <p:cNvSpPr/>
          <p:nvPr/>
        </p:nvSpPr>
        <p:spPr>
          <a:xfrm>
            <a:off x="2148840" y="1554480"/>
            <a:ext cx="1417320" cy="1051560"/>
          </a:xfrm>
          <a:prstGeom prst="roundRect">
            <a:avLst>
              <a:gd name="adj" fmla="val 8696"/>
            </a:avLst>
          </a:prstGeom>
          <a:solidFill>
            <a:schemeClr val="bg2"/>
          </a:solidFill>
          <a:ln w="12700">
            <a:solidFill>
              <a:schemeClr val="bg2"/>
            </a:solidFill>
            <a:prstDash val="solid"/>
          </a:ln>
        </p:spPr>
      </p:sp>
      <p:sp>
        <p:nvSpPr>
          <p:cNvPr id="7" name="Text 5"/>
          <p:cNvSpPr txBox="1"/>
          <p:nvPr/>
        </p:nvSpPr>
        <p:spPr>
          <a:xfrm>
            <a:off x="2148840" y="1627632"/>
            <a:ext cx="1417320" cy="548640"/>
          </a:xfrm>
          <a:prstGeom prst="rect">
            <a:avLst/>
          </a:prstGeom>
          <a:noFill/>
          <a:ln/>
        </p:spPr>
        <p:txBody>
          <a:bodyPr wrap="square" lIns="0" tIns="0" rIns="0" bIns="0" rtlCol="0" anchor="t"/>
          <a:lstStyle/>
          <a:p>
            <a:pPr algn="ctr" indent="0" marL="0">
              <a:buNone/>
            </a:pPr>
            <a:r>
              <a:rPr lang="en-US" sz="2800" b="1" dirty="0">
                <a:solidFill>
                  <a:schemeClr val="accent1"/>
                </a:solidFill>
                <a:latin typeface="Courier New" pitchFamily="34" charset="0"/>
                <a:ea typeface="Courier New" pitchFamily="34" charset="-122"/>
                <a:cs typeface="Courier New" pitchFamily="34" charset="-120"/>
              </a:rPr>
              <a:t>-</a:t>
            </a:r>
            <a:endParaRPr lang="en-US" sz="2800" dirty="0"/>
          </a:p>
        </p:txBody>
      </p:sp>
      <p:sp>
        <p:nvSpPr>
          <p:cNvPr id="8" name="Text 6"/>
          <p:cNvSpPr txBox="1"/>
          <p:nvPr/>
        </p:nvSpPr>
        <p:spPr>
          <a:xfrm>
            <a:off x="2148840" y="2194560"/>
            <a:ext cx="1417320" cy="320040"/>
          </a:xfrm>
          <a:prstGeom prst="rect">
            <a:avLst/>
          </a:prstGeom>
          <a:noFill/>
          <a:ln/>
        </p:spPr>
        <p:txBody>
          <a:bodyPr wrap="square" lIns="0" tIns="0" rIns="0" bIns="0" rtlCol="0" anchor="t"/>
          <a:lstStyle/>
          <a:p>
            <a:pPr algn="ctr" indent="0" marL="0">
              <a:buNone/>
            </a:pPr>
            <a:r>
              <a:rPr lang="en-US" sz="1300" dirty="0">
                <a:solidFill>
                  <a:schemeClr val="tx1"/>
                </a:solidFill>
              </a:rPr>
              <a:t>kuran</a:t>
            </a:r>
            <a:endParaRPr lang="en-US" sz="1300" dirty="0"/>
          </a:p>
        </p:txBody>
      </p:sp>
      <p:sp>
        <p:nvSpPr>
          <p:cNvPr id="9" name="op-2"/>
          <p:cNvSpPr/>
          <p:nvPr/>
        </p:nvSpPr>
        <p:spPr>
          <a:xfrm>
            <a:off x="3749040" y="1554480"/>
            <a:ext cx="1417320" cy="1051560"/>
          </a:xfrm>
          <a:prstGeom prst="roundRect">
            <a:avLst>
              <a:gd name="adj" fmla="val 8696"/>
            </a:avLst>
          </a:prstGeom>
          <a:solidFill>
            <a:schemeClr val="bg2"/>
          </a:solidFill>
          <a:ln w="12700">
            <a:solidFill>
              <a:schemeClr val="bg2"/>
            </a:solidFill>
            <a:prstDash val="solid"/>
          </a:ln>
        </p:spPr>
      </p:sp>
      <p:sp>
        <p:nvSpPr>
          <p:cNvPr id="10" name="Text 8"/>
          <p:cNvSpPr txBox="1"/>
          <p:nvPr/>
        </p:nvSpPr>
        <p:spPr>
          <a:xfrm>
            <a:off x="3749040" y="1627632"/>
            <a:ext cx="1417320" cy="548640"/>
          </a:xfrm>
          <a:prstGeom prst="rect">
            <a:avLst/>
          </a:prstGeom>
          <a:noFill/>
          <a:ln/>
        </p:spPr>
        <p:txBody>
          <a:bodyPr wrap="square" lIns="0" tIns="0" rIns="0" bIns="0" rtlCol="0" anchor="t"/>
          <a:lstStyle/>
          <a:p>
            <a:pPr algn="ctr" indent="0" marL="0">
              <a:buNone/>
            </a:pPr>
            <a:r>
              <a:rPr lang="en-US" sz="2800" b="1" dirty="0">
                <a:solidFill>
                  <a:schemeClr val="accent1"/>
                </a:solidFill>
                <a:latin typeface="Courier New" pitchFamily="34" charset="0"/>
                <a:ea typeface="Courier New" pitchFamily="34" charset="-122"/>
                <a:cs typeface="Courier New" pitchFamily="34" charset="-120"/>
              </a:rPr>
              <a:t>*</a:t>
            </a:r>
            <a:endParaRPr lang="en-US" sz="2800" dirty="0"/>
          </a:p>
        </p:txBody>
      </p:sp>
      <p:sp>
        <p:nvSpPr>
          <p:cNvPr id="11" name="Text 9"/>
          <p:cNvSpPr txBox="1"/>
          <p:nvPr/>
        </p:nvSpPr>
        <p:spPr>
          <a:xfrm>
            <a:off x="3749040" y="2194560"/>
            <a:ext cx="1417320" cy="320040"/>
          </a:xfrm>
          <a:prstGeom prst="rect">
            <a:avLst/>
          </a:prstGeom>
          <a:noFill/>
          <a:ln/>
        </p:spPr>
        <p:txBody>
          <a:bodyPr wrap="square" lIns="0" tIns="0" rIns="0" bIns="0" rtlCol="0" anchor="t"/>
          <a:lstStyle/>
          <a:p>
            <a:pPr algn="ctr" indent="0" marL="0">
              <a:buNone/>
            </a:pPr>
            <a:r>
              <a:rPr lang="en-US" sz="1300" dirty="0">
                <a:solidFill>
                  <a:schemeClr val="tx1"/>
                </a:solidFill>
              </a:rPr>
              <a:t>multiplika</a:t>
            </a:r>
            <a:endParaRPr lang="en-US" sz="1300" dirty="0"/>
          </a:p>
        </p:txBody>
      </p:sp>
      <p:sp>
        <p:nvSpPr>
          <p:cNvPr id="12" name="op-3"/>
          <p:cNvSpPr/>
          <p:nvPr/>
        </p:nvSpPr>
        <p:spPr>
          <a:xfrm>
            <a:off x="548640" y="2788920"/>
            <a:ext cx="1417320" cy="1051560"/>
          </a:xfrm>
          <a:prstGeom prst="roundRect">
            <a:avLst>
              <a:gd name="adj" fmla="val 8696"/>
            </a:avLst>
          </a:prstGeom>
          <a:solidFill>
            <a:schemeClr val="bg2"/>
          </a:solidFill>
          <a:ln w="12700">
            <a:solidFill>
              <a:schemeClr val="bg2"/>
            </a:solidFill>
            <a:prstDash val="solid"/>
          </a:ln>
        </p:spPr>
      </p:sp>
      <p:sp>
        <p:nvSpPr>
          <p:cNvPr id="13" name="Text 11"/>
          <p:cNvSpPr txBox="1"/>
          <p:nvPr/>
        </p:nvSpPr>
        <p:spPr>
          <a:xfrm>
            <a:off x="548640" y="2862072"/>
            <a:ext cx="1417320" cy="548640"/>
          </a:xfrm>
          <a:prstGeom prst="rect">
            <a:avLst/>
          </a:prstGeom>
          <a:noFill/>
          <a:ln/>
        </p:spPr>
        <p:txBody>
          <a:bodyPr wrap="square" lIns="0" tIns="0" rIns="0" bIns="0" rtlCol="0" anchor="t"/>
          <a:lstStyle/>
          <a:p>
            <a:pPr algn="ctr" indent="0" marL="0">
              <a:buNone/>
            </a:pPr>
            <a:r>
              <a:rPr lang="en-US" sz="2800" b="1" dirty="0">
                <a:solidFill>
                  <a:schemeClr val="accent1"/>
                </a:solidFill>
                <a:latin typeface="Courier New" pitchFamily="34" charset="0"/>
                <a:ea typeface="Courier New" pitchFamily="34" charset="-122"/>
                <a:cs typeface="Courier New" pitchFamily="34" charset="-120"/>
              </a:rPr>
              <a:t>/</a:t>
            </a:r>
            <a:endParaRPr lang="en-US" sz="2800" dirty="0"/>
          </a:p>
        </p:txBody>
      </p:sp>
      <p:sp>
        <p:nvSpPr>
          <p:cNvPr id="14" name="Text 12"/>
          <p:cNvSpPr txBox="1"/>
          <p:nvPr/>
        </p:nvSpPr>
        <p:spPr>
          <a:xfrm>
            <a:off x="548640" y="3429000"/>
            <a:ext cx="1417320" cy="320040"/>
          </a:xfrm>
          <a:prstGeom prst="rect">
            <a:avLst/>
          </a:prstGeom>
          <a:noFill/>
          <a:ln/>
        </p:spPr>
        <p:txBody>
          <a:bodyPr wrap="square" lIns="0" tIns="0" rIns="0" bIns="0" rtlCol="0" anchor="t"/>
          <a:lstStyle/>
          <a:p>
            <a:pPr algn="ctr" indent="0" marL="0">
              <a:buNone/>
            </a:pPr>
            <a:r>
              <a:rPr lang="en-US" sz="1300" dirty="0">
                <a:solidFill>
                  <a:schemeClr val="tx1"/>
                </a:solidFill>
              </a:rPr>
              <a:t>fahe</a:t>
            </a:r>
            <a:endParaRPr lang="en-US" sz="1300" dirty="0"/>
          </a:p>
        </p:txBody>
      </p:sp>
      <p:sp>
        <p:nvSpPr>
          <p:cNvPr id="15" name="op-4"/>
          <p:cNvSpPr/>
          <p:nvPr/>
        </p:nvSpPr>
        <p:spPr>
          <a:xfrm>
            <a:off x="2148840" y="2788920"/>
            <a:ext cx="1417320" cy="1051560"/>
          </a:xfrm>
          <a:prstGeom prst="roundRect">
            <a:avLst>
              <a:gd name="adj" fmla="val 8696"/>
            </a:avLst>
          </a:prstGeom>
          <a:solidFill>
            <a:schemeClr val="bg2"/>
          </a:solidFill>
          <a:ln w="12700">
            <a:solidFill>
              <a:schemeClr val="bg2"/>
            </a:solidFill>
            <a:prstDash val="solid"/>
          </a:ln>
        </p:spPr>
      </p:sp>
      <p:sp>
        <p:nvSpPr>
          <p:cNvPr id="16" name="Text 14"/>
          <p:cNvSpPr txBox="1"/>
          <p:nvPr/>
        </p:nvSpPr>
        <p:spPr>
          <a:xfrm>
            <a:off x="2148840" y="2862072"/>
            <a:ext cx="1417320" cy="548640"/>
          </a:xfrm>
          <a:prstGeom prst="rect">
            <a:avLst/>
          </a:prstGeom>
          <a:noFill/>
          <a:ln/>
        </p:spPr>
        <p:txBody>
          <a:bodyPr wrap="square" lIns="0" tIns="0" rIns="0" bIns="0" rtlCol="0" anchor="t"/>
          <a:lstStyle/>
          <a:p>
            <a:pPr algn="ctr" indent="0" marL="0">
              <a:buNone/>
            </a:pPr>
            <a:r>
              <a:rPr lang="en-US" sz="2800" b="1" dirty="0">
                <a:solidFill>
                  <a:schemeClr val="accent1"/>
                </a:solidFill>
                <a:latin typeface="Courier New" pitchFamily="34" charset="0"/>
                <a:ea typeface="Courier New" pitchFamily="34" charset="-122"/>
                <a:cs typeface="Courier New" pitchFamily="34" charset="-120"/>
              </a:rPr>
              <a:t>//</a:t>
            </a:r>
            <a:endParaRPr lang="en-US" sz="2800" dirty="0"/>
          </a:p>
        </p:txBody>
      </p:sp>
      <p:sp>
        <p:nvSpPr>
          <p:cNvPr id="17" name="Text 15"/>
          <p:cNvSpPr txBox="1"/>
          <p:nvPr/>
        </p:nvSpPr>
        <p:spPr>
          <a:xfrm>
            <a:off x="2148840" y="3429000"/>
            <a:ext cx="1417320" cy="320040"/>
          </a:xfrm>
          <a:prstGeom prst="rect">
            <a:avLst/>
          </a:prstGeom>
          <a:noFill/>
          <a:ln/>
        </p:spPr>
        <p:txBody>
          <a:bodyPr wrap="square" lIns="0" tIns="0" rIns="0" bIns="0" rtlCol="0" anchor="t"/>
          <a:lstStyle/>
          <a:p>
            <a:pPr algn="ctr" indent="0" marL="0">
              <a:buNone/>
            </a:pPr>
            <a:r>
              <a:rPr lang="en-US" sz="1300" dirty="0">
                <a:solidFill>
                  <a:schemeClr val="tx1"/>
                </a:solidFill>
              </a:rPr>
              <a:t>fahe tomak</a:t>
            </a:r>
            <a:endParaRPr lang="en-US" sz="1300" dirty="0"/>
          </a:p>
        </p:txBody>
      </p:sp>
      <p:sp>
        <p:nvSpPr>
          <p:cNvPr id="18" name="op-5"/>
          <p:cNvSpPr/>
          <p:nvPr/>
        </p:nvSpPr>
        <p:spPr>
          <a:xfrm>
            <a:off x="3749040" y="2788920"/>
            <a:ext cx="1417320" cy="1051560"/>
          </a:xfrm>
          <a:prstGeom prst="roundRect">
            <a:avLst>
              <a:gd name="adj" fmla="val 8696"/>
            </a:avLst>
          </a:prstGeom>
          <a:solidFill>
            <a:schemeClr val="bg2"/>
          </a:solidFill>
          <a:ln w="12700">
            <a:solidFill>
              <a:schemeClr val="bg2"/>
            </a:solidFill>
            <a:prstDash val="solid"/>
          </a:ln>
        </p:spPr>
      </p:sp>
      <p:sp>
        <p:nvSpPr>
          <p:cNvPr id="19" name="Text 17"/>
          <p:cNvSpPr txBox="1"/>
          <p:nvPr/>
        </p:nvSpPr>
        <p:spPr>
          <a:xfrm>
            <a:off x="3749040" y="2862072"/>
            <a:ext cx="1417320" cy="548640"/>
          </a:xfrm>
          <a:prstGeom prst="rect">
            <a:avLst/>
          </a:prstGeom>
          <a:noFill/>
          <a:ln/>
        </p:spPr>
        <p:txBody>
          <a:bodyPr wrap="square" lIns="0" tIns="0" rIns="0" bIns="0" rtlCol="0" anchor="t"/>
          <a:lstStyle/>
          <a:p>
            <a:pPr algn="ctr" indent="0" marL="0">
              <a:buNone/>
            </a:pPr>
            <a:r>
              <a:rPr lang="en-US" sz="2800" b="1" dirty="0">
                <a:solidFill>
                  <a:schemeClr val="accent1"/>
                </a:solidFill>
                <a:latin typeface="Courier New" pitchFamily="34" charset="0"/>
                <a:ea typeface="Courier New" pitchFamily="34" charset="-122"/>
                <a:cs typeface="Courier New" pitchFamily="34" charset="-120"/>
              </a:rPr>
              <a:t>%</a:t>
            </a:r>
            <a:endParaRPr lang="en-US" sz="2800" dirty="0"/>
          </a:p>
        </p:txBody>
      </p:sp>
      <p:sp>
        <p:nvSpPr>
          <p:cNvPr id="20" name="Text 18"/>
          <p:cNvSpPr txBox="1"/>
          <p:nvPr/>
        </p:nvSpPr>
        <p:spPr>
          <a:xfrm>
            <a:off x="3749040" y="3429000"/>
            <a:ext cx="1417320" cy="320040"/>
          </a:xfrm>
          <a:prstGeom prst="rect">
            <a:avLst/>
          </a:prstGeom>
          <a:noFill/>
          <a:ln/>
        </p:spPr>
        <p:txBody>
          <a:bodyPr wrap="square" lIns="0" tIns="0" rIns="0" bIns="0" rtlCol="0" anchor="t"/>
          <a:lstStyle/>
          <a:p>
            <a:pPr algn="ctr" indent="0" marL="0">
              <a:buNone/>
            </a:pPr>
            <a:r>
              <a:rPr lang="en-US" sz="1300" dirty="0">
                <a:solidFill>
                  <a:schemeClr val="tx1"/>
                </a:solidFill>
              </a:rPr>
              <a:t>restu</a:t>
            </a:r>
            <a:endParaRPr lang="en-US" sz="1300" dirty="0"/>
          </a:p>
        </p:txBody>
      </p:sp>
      <p:sp>
        <p:nvSpPr>
          <p:cNvPr id="21" name="Text 19"/>
          <p:cNvSpPr txBox="1"/>
          <p:nvPr/>
        </p:nvSpPr>
        <p:spPr>
          <a:xfrm>
            <a:off x="548640" y="4206240"/>
            <a:ext cx="4754880" cy="365760"/>
          </a:xfrm>
          <a:prstGeom prst="rect">
            <a:avLst/>
          </a:prstGeom>
          <a:noFill/>
          <a:ln/>
        </p:spPr>
        <p:txBody>
          <a:bodyPr wrap="square" lIns="0" tIns="0" rIns="0" bIns="0" rtlCol="0" anchor="t"/>
          <a:lstStyle/>
          <a:p>
            <a:pPr indent="0" marL="0">
              <a:buNone/>
            </a:pPr>
            <a:r>
              <a:rPr lang="en-US" sz="1700" b="1" dirty="0">
                <a:solidFill>
                  <a:schemeClr val="tx2"/>
                </a:solidFill>
              </a:rPr>
              <a:t>f-string: hatama variável iha testu</a:t>
            </a:r>
            <a:endParaRPr lang="en-US" sz="1700" dirty="0"/>
          </a:p>
        </p:txBody>
      </p:sp>
      <p:sp>
        <p:nvSpPr>
          <p:cNvPr id="22" name="Text 20"/>
          <p:cNvSpPr txBox="1"/>
          <p:nvPr/>
        </p:nvSpPr>
        <p:spPr>
          <a:xfrm>
            <a:off x="548640" y="4617720"/>
            <a:ext cx="4754880" cy="731520"/>
          </a:xfrm>
          <a:prstGeom prst="rect">
            <a:avLst/>
          </a:prstGeom>
          <a:noFill/>
          <a:ln/>
        </p:spPr>
        <p:txBody>
          <a:bodyPr wrap="square" lIns="0" tIns="0" rIns="0" bIns="0" rtlCol="0" anchor="t"/>
          <a:lstStyle/>
          <a:p>
            <a:pPr indent="0" marL="0">
              <a:buNone/>
            </a:pPr>
            <a:r>
              <a:rPr lang="en-US" sz="1500" dirty="0">
                <a:solidFill>
                  <a:schemeClr val="tx1"/>
                </a:solidFill>
              </a:rPr>
              <a:t>Hakerek f molok aspas, no variável iha laran { }.</a:t>
            </a:r>
            <a:endParaRPr lang="en-US" sz="1500" dirty="0"/>
          </a:p>
        </p:txBody>
      </p:sp>
      <p:sp>
        <p:nvSpPr>
          <p:cNvPr id="23" name="k9"/>
          <p:cNvSpPr/>
          <p:nvPr/>
        </p:nvSpPr>
        <p:spPr>
          <a:xfrm>
            <a:off x="5623560" y="1463040"/>
            <a:ext cx="6019495" cy="3108960"/>
          </a:xfrm>
          <a:prstGeom prst="roundRect">
            <a:avLst>
              <a:gd name="adj" fmla="val 2941"/>
            </a:avLst>
          </a:prstGeom>
          <a:solidFill>
            <a:schemeClr val="tx1"/>
          </a:solidFill>
          <a:ln w="12700">
            <a:solidFill>
              <a:schemeClr val="tx1"/>
            </a:solidFill>
            <a:prstDash val="solid"/>
          </a:ln>
        </p:spPr>
      </p:sp>
      <p:sp>
        <p:nvSpPr>
          <p:cNvPr id="24" name="k9-t"/>
          <p:cNvSpPr txBox="1"/>
          <p:nvPr/>
        </p:nvSpPr>
        <p:spPr>
          <a:xfrm>
            <a:off x="5897880" y="1691640"/>
            <a:ext cx="5470855" cy="26517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mane = 20</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feto = 25</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total = mane + feto</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print(total)</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print(f"Total ema afetadu: {total}")</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suku = "Ulmera"</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print("Suku " + suku)</a:t>
            </a:r>
            <a:endParaRPr lang="en-US" sz="1500" dirty="0"/>
          </a:p>
        </p:txBody>
      </p:sp>
      <p:sp>
        <p:nvSpPr>
          <p:cNvPr id="25" name="r9"/>
          <p:cNvSpPr/>
          <p:nvPr/>
        </p:nvSpPr>
        <p:spPr>
          <a:xfrm>
            <a:off x="5623560" y="4754880"/>
            <a:ext cx="6019495" cy="1463040"/>
          </a:xfrm>
          <a:prstGeom prst="roundRect">
            <a:avLst>
              <a:gd name="adj" fmla="val 6250"/>
            </a:avLst>
          </a:prstGeom>
          <a:solidFill>
            <a:schemeClr val="bg2"/>
          </a:solidFill>
          <a:ln w="15875">
            <a:solidFill>
              <a:schemeClr val="accent1"/>
            </a:solidFill>
            <a:prstDash val="solid"/>
          </a:ln>
        </p:spPr>
      </p:sp>
      <p:sp>
        <p:nvSpPr>
          <p:cNvPr id="26" name="r9-l"/>
          <p:cNvSpPr txBox="1"/>
          <p:nvPr/>
        </p:nvSpPr>
        <p:spPr>
          <a:xfrm>
            <a:off x="5897880" y="4919472"/>
            <a:ext cx="5470855" cy="274320"/>
          </a:xfrm>
          <a:prstGeom prst="rect">
            <a:avLst/>
          </a:prstGeom>
          <a:noFill/>
          <a:ln/>
        </p:spPr>
        <p:txBody>
          <a:bodyPr wrap="square" lIns="0" tIns="0" rIns="0" bIns="0" rtlCol="0" anchor="t"/>
          <a:lstStyle/>
          <a:p>
            <a:pPr indent="0" marL="0">
              <a:buNone/>
            </a:pPr>
            <a:r>
              <a:rPr lang="en-US" sz="1200" b="1" dirty="0">
                <a:solidFill>
                  <a:schemeClr val="accent1"/>
                </a:solidFill>
              </a:rPr>
              <a:t>Rezultadu</a:t>
            </a:r>
            <a:endParaRPr lang="en-US" sz="1200" dirty="0"/>
          </a:p>
        </p:txBody>
      </p:sp>
      <p:sp>
        <p:nvSpPr>
          <p:cNvPr id="27" name="r9-t"/>
          <p:cNvSpPr txBox="1"/>
          <p:nvPr/>
        </p:nvSpPr>
        <p:spPr>
          <a:xfrm>
            <a:off x="5897880" y="5212080"/>
            <a:ext cx="5470855" cy="86868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45</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Total ema afetadu: 45</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Suku Ulmera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input(): programa husu ba utilizador</a:t>
            </a:r>
            <a:endParaRPr lang="en-US" sz="3000" dirty="0"/>
          </a:p>
        </p:txBody>
      </p:sp>
      <p:sp>
        <p:nvSpPr>
          <p:cNvPr id="3" name="k10"/>
          <p:cNvSpPr/>
          <p:nvPr/>
        </p:nvSpPr>
        <p:spPr>
          <a:xfrm>
            <a:off x="548640" y="1463040"/>
            <a:ext cx="6949440" cy="2788920"/>
          </a:xfrm>
          <a:prstGeom prst="roundRect">
            <a:avLst>
              <a:gd name="adj" fmla="val 3279"/>
            </a:avLst>
          </a:prstGeom>
          <a:solidFill>
            <a:schemeClr val="tx1"/>
          </a:solidFill>
          <a:ln w="12700">
            <a:solidFill>
              <a:schemeClr val="tx1"/>
            </a:solidFill>
            <a:prstDash val="solid"/>
          </a:ln>
        </p:spPr>
      </p:sp>
      <p:sp>
        <p:nvSpPr>
          <p:cNvPr id="4" name="k10-t"/>
          <p:cNvSpPr txBox="1"/>
          <p:nvPr/>
        </p:nvSpPr>
        <p:spPr>
          <a:xfrm>
            <a:off x="822960" y="1691640"/>
            <a:ext cx="6400800" cy="233172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naran = input("Ita-nia naran: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print(f"Bondia, {naran}!")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i="1" dirty="0">
                <a:solidFill>
                  <a:schemeClr val="accent2"/>
                </a:solidFill>
                <a:latin typeface="Courier New" pitchFamily="34" charset="0"/>
                <a:ea typeface="Courier New" pitchFamily="34" charset="-122"/>
                <a:cs typeface="Courier New" pitchFamily="34" charset="-120"/>
              </a:rPr>
              <a:t># input() fó testu (str) beibeik</a:t>
            </a:r>
            <a:endParaRPr lang="en-US" sz="1500" dirty="0"/>
          </a:p>
          <a:p>
            <a:pPr indent="0" marL="0">
              <a:buNone/>
            </a:pPr>
            <a:r>
              <a:rPr lang="en-US" sz="1500" i="1" dirty="0">
                <a:solidFill>
                  <a:schemeClr val="accent2"/>
                </a:solidFill>
                <a:latin typeface="Courier New" pitchFamily="34" charset="0"/>
                <a:ea typeface="Courier New" pitchFamily="34" charset="-122"/>
                <a:cs typeface="Courier New" pitchFamily="34" charset="-120"/>
              </a:rPr>
              <a:t># Atu kalkula, troka ba int:</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ema = int(input("Ema hira?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print(f"Uma-kain (5 ema/uma): {ema // 5}")</a:t>
            </a:r>
            <a:endParaRPr lang="en-US" sz="1500" dirty="0"/>
          </a:p>
        </p:txBody>
      </p:sp>
      <p:sp>
        <p:nvSpPr>
          <p:cNvPr id="5" name="r10"/>
          <p:cNvSpPr/>
          <p:nvPr/>
        </p:nvSpPr>
        <p:spPr>
          <a:xfrm>
            <a:off x="548640" y="4434840"/>
            <a:ext cx="6949440" cy="1737360"/>
          </a:xfrm>
          <a:prstGeom prst="roundRect">
            <a:avLst>
              <a:gd name="adj" fmla="val 5263"/>
            </a:avLst>
          </a:prstGeom>
          <a:solidFill>
            <a:schemeClr val="bg2"/>
          </a:solidFill>
          <a:ln w="15875">
            <a:solidFill>
              <a:schemeClr val="accent1"/>
            </a:solidFill>
            <a:prstDash val="solid"/>
          </a:ln>
        </p:spPr>
      </p:sp>
      <p:sp>
        <p:nvSpPr>
          <p:cNvPr id="6" name="r10-l"/>
          <p:cNvSpPr txBox="1"/>
          <p:nvPr/>
        </p:nvSpPr>
        <p:spPr>
          <a:xfrm>
            <a:off x="822960" y="4599432"/>
            <a:ext cx="6400800" cy="274320"/>
          </a:xfrm>
          <a:prstGeom prst="rect">
            <a:avLst/>
          </a:prstGeom>
          <a:noFill/>
          <a:ln/>
        </p:spPr>
        <p:txBody>
          <a:bodyPr wrap="square" lIns="0" tIns="0" rIns="0" bIns="0" rtlCol="0" anchor="t"/>
          <a:lstStyle/>
          <a:p>
            <a:pPr indent="0" marL="0">
              <a:buNone/>
            </a:pPr>
            <a:r>
              <a:rPr lang="en-US" sz="1200" b="1" dirty="0">
                <a:solidFill>
                  <a:schemeClr val="accent1"/>
                </a:solidFill>
              </a:rPr>
              <a:t>Rezultadu (utilizador hakerek Maria no 40)</a:t>
            </a:r>
            <a:endParaRPr lang="en-US" sz="1200" dirty="0"/>
          </a:p>
        </p:txBody>
      </p:sp>
      <p:sp>
        <p:nvSpPr>
          <p:cNvPr id="7" name="r10-t"/>
          <p:cNvSpPr txBox="1"/>
          <p:nvPr/>
        </p:nvSpPr>
        <p:spPr>
          <a:xfrm>
            <a:off x="822960" y="4892040"/>
            <a:ext cx="6400800" cy="114300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Ita-nia naran: Maria</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Bondia, Maria!</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Ema hira? 40</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Uma-kain (5 ema/uma): 8</a:t>
            </a:r>
            <a:endParaRPr lang="en-US" sz="1500" dirty="0"/>
          </a:p>
        </p:txBody>
      </p:sp>
      <p:sp>
        <p:nvSpPr>
          <p:cNvPr id="8" name="k10-nota"/>
          <p:cNvSpPr/>
          <p:nvPr/>
        </p:nvSpPr>
        <p:spPr>
          <a:xfrm>
            <a:off x="7863840" y="1463040"/>
            <a:ext cx="3779215" cy="4709160"/>
          </a:xfrm>
          <a:prstGeom prst="roundRect">
            <a:avLst>
              <a:gd name="adj" fmla="val 2903"/>
            </a:avLst>
          </a:prstGeom>
          <a:solidFill>
            <a:schemeClr val="bg2"/>
          </a:solidFill>
          <a:ln w="12700">
            <a:solidFill>
              <a:schemeClr val="bg2"/>
            </a:solidFill>
            <a:prstDash val="solid"/>
          </a:ln>
        </p:spPr>
      </p:sp>
      <p:sp>
        <p:nvSpPr>
          <p:cNvPr id="9" name="k10-ik-sirkulu"/>
          <p:cNvSpPr/>
          <p:nvPr/>
        </p:nvSpPr>
        <p:spPr>
          <a:xfrm>
            <a:off x="8138160" y="1737360"/>
            <a:ext cx="731520" cy="731520"/>
          </a:xfrm>
          <a:prstGeom prst="ellipse">
            <a:avLst/>
          </a:prstGeom>
          <a:solidFill>
            <a:schemeClr val="accent3"/>
          </a:solidFill>
          <a:ln w="12700">
            <a:solidFill>
              <a:schemeClr val="accent3"/>
            </a:solidFill>
            <a:prstDash val="solid"/>
          </a:ln>
        </p:spPr>
      </p:sp>
      <p:pic>
        <p:nvPicPr>
          <p:cNvPr id="10" name="k10-ik-ikone" descr="preencoded.png">    </p:cNvPr>
          <p:cNvPicPr>
            <a:picLocks noChangeAspect="1"/>
          </p:cNvPicPr>
          <p:nvPr/>
        </p:nvPicPr>
        <p:blipFill>
          <a:blip r:embed="rId1"/>
          <a:stretch>
            <a:fillRect/>
          </a:stretch>
        </p:blipFill>
        <p:spPr>
          <a:xfrm>
            <a:off x="8313725" y="1912925"/>
            <a:ext cx="380390" cy="380390"/>
          </a:xfrm>
          <a:prstGeom prst="rect">
            <a:avLst/>
          </a:prstGeom>
        </p:spPr>
      </p:pic>
      <p:sp>
        <p:nvSpPr>
          <p:cNvPr id="11" name="Text 8"/>
          <p:cNvSpPr txBox="1"/>
          <p:nvPr/>
        </p:nvSpPr>
        <p:spPr>
          <a:xfrm>
            <a:off x="9006840" y="1874520"/>
            <a:ext cx="2377440" cy="457200"/>
          </a:xfrm>
          <a:prstGeom prst="rect">
            <a:avLst/>
          </a:prstGeom>
          <a:noFill/>
          <a:ln/>
        </p:spPr>
        <p:txBody>
          <a:bodyPr wrap="square" lIns="0" tIns="0" rIns="0" bIns="0" rtlCol="0" anchor="t"/>
          <a:lstStyle/>
          <a:p>
            <a:pPr indent="0" marL="0">
              <a:buNone/>
            </a:pPr>
            <a:r>
              <a:rPr lang="en-US" sz="2000" b="1" dirty="0">
                <a:solidFill>
                  <a:schemeClr val="accent3"/>
                </a:solidFill>
              </a:rPr>
              <a:t>Atensaun</a:t>
            </a:r>
            <a:endParaRPr lang="en-US" sz="2000" dirty="0"/>
          </a:p>
        </p:txBody>
      </p:sp>
      <p:sp>
        <p:nvSpPr>
          <p:cNvPr id="12" name="Text 9"/>
          <p:cNvSpPr txBox="1"/>
          <p:nvPr/>
        </p:nvSpPr>
        <p:spPr>
          <a:xfrm>
            <a:off x="8138160" y="2743200"/>
            <a:ext cx="3230575" cy="3108960"/>
          </a:xfrm>
          <a:prstGeom prst="rect">
            <a:avLst/>
          </a:prstGeom>
          <a:noFill/>
          <a:ln/>
        </p:spPr>
        <p:txBody>
          <a:bodyPr wrap="square" lIns="0" tIns="0" rIns="0" bIns="0" rtlCol="0" anchor="t"/>
          <a:lstStyle/>
          <a:p>
            <a:pPr indent="0" marL="0">
              <a:buNone/>
            </a:pPr>
            <a:r>
              <a:rPr lang="en-US" sz="1600" b="1" dirty="0">
                <a:solidFill>
                  <a:schemeClr val="tx1"/>
                </a:solidFill>
              </a:rPr>
              <a:t>input() sempre fó testu.</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"40" + "5" = "405"</a:t>
            </a:r>
            <a:endParaRPr lang="en-US" sz="1600" dirty="0"/>
          </a:p>
          <a:p>
            <a:pPr indent="0" marL="0">
              <a:buNone/>
            </a:pPr>
            <a:r>
              <a:rPr lang="en-US" sz="1600" dirty="0">
                <a:solidFill>
                  <a:schemeClr val="tx1"/>
                </a:solidFill>
              </a:rPr>
              <a:t> </a:t>
            </a:r>
            <a:endParaRPr lang="en-US" sz="1600" dirty="0"/>
          </a:p>
          <a:p>
            <a:pPr indent="0" marL="0">
              <a:buNone/>
            </a:pPr>
            <a:r>
              <a:rPr lang="en-US" sz="1600" b="1" dirty="0">
                <a:solidFill>
                  <a:schemeClr val="tx1"/>
                </a:solidFill>
              </a:rPr>
              <a:t>Troka ho int() ka float() molok kalkula:</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int("40") + 5 = 45</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Ezersísiu 1: Ema afetadu</a:t>
            </a:r>
            <a:endParaRPr lang="en-US" sz="3000" dirty="0"/>
          </a:p>
        </p:txBody>
      </p:sp>
      <p:sp>
        <p:nvSpPr>
          <p:cNvPr id="3" name="ez-ik-sirkulu"/>
          <p:cNvSpPr/>
          <p:nvPr/>
        </p:nvSpPr>
        <p:spPr>
          <a:xfrm>
            <a:off x="548640" y="1417320"/>
            <a:ext cx="1005840" cy="1005840"/>
          </a:xfrm>
          <a:prstGeom prst="ellipse">
            <a:avLst/>
          </a:prstGeom>
          <a:solidFill>
            <a:schemeClr val="accent3"/>
          </a:solidFill>
          <a:ln w="12700">
            <a:solidFill>
              <a:schemeClr val="accent3"/>
            </a:solidFill>
            <a:prstDash val="solid"/>
          </a:ln>
        </p:spPr>
      </p:sp>
      <p:pic>
        <p:nvPicPr>
          <p:cNvPr id="4" name="ez-ik-ikone" descr="preencoded.png">    </p:cNvPr>
          <p:cNvPicPr>
            <a:picLocks noChangeAspect="1"/>
          </p:cNvPicPr>
          <p:nvPr/>
        </p:nvPicPr>
        <p:blipFill>
          <a:blip r:embed="rId1"/>
          <a:stretch>
            <a:fillRect/>
          </a:stretch>
        </p:blipFill>
        <p:spPr>
          <a:xfrm>
            <a:off x="790042" y="1658722"/>
            <a:ext cx="523037" cy="523037"/>
          </a:xfrm>
          <a:prstGeom prst="rect">
            <a:avLst/>
          </a:prstGeom>
        </p:spPr>
      </p:pic>
      <p:sp>
        <p:nvSpPr>
          <p:cNvPr id="5" name="Text 2"/>
          <p:cNvSpPr txBox="1"/>
          <p:nvPr/>
        </p:nvSpPr>
        <p:spPr>
          <a:xfrm>
            <a:off x="1783080" y="1463040"/>
            <a:ext cx="4572000" cy="365760"/>
          </a:xfrm>
          <a:prstGeom prst="rect">
            <a:avLst/>
          </a:prstGeom>
          <a:noFill/>
          <a:ln/>
        </p:spPr>
        <p:txBody>
          <a:bodyPr wrap="square" lIns="0" tIns="0" rIns="0" bIns="0" rtlCol="0" anchor="t"/>
          <a:lstStyle/>
          <a:p>
            <a:pPr indent="0" marL="0">
              <a:buNone/>
            </a:pPr>
            <a:r>
              <a:rPr lang="en-US" sz="2000" b="1" dirty="0">
                <a:solidFill>
                  <a:schemeClr val="accent3"/>
                </a:solidFill>
              </a:rPr>
              <a:t>Knaar</a:t>
            </a:r>
            <a:endParaRPr lang="en-US" sz="2000" dirty="0"/>
          </a:p>
        </p:txBody>
      </p:sp>
      <p:sp>
        <p:nvSpPr>
          <p:cNvPr id="6" name="Text 3"/>
          <p:cNvSpPr txBox="1"/>
          <p:nvPr/>
        </p:nvSpPr>
        <p:spPr>
          <a:xfrm>
            <a:off x="1783080" y="1874520"/>
            <a:ext cx="4572000" cy="320040"/>
          </a:xfrm>
          <a:prstGeom prst="rect">
            <a:avLst/>
          </a:prstGeom>
          <a:noFill/>
          <a:ln/>
        </p:spPr>
        <p:txBody>
          <a:bodyPr wrap="square" lIns="0" tIns="0" rIns="0" bIns="0" rtlCol="0" anchor="t"/>
          <a:lstStyle/>
          <a:p>
            <a:pPr indent="0" marL="0">
              <a:buNone/>
            </a:pPr>
            <a:r>
              <a:rPr lang="en-US" sz="1300" dirty="0">
                <a:solidFill>
                  <a:srgbClr val="5E6B66"/>
                </a:solidFill>
              </a:rPr>
              <a:t>Tempu: minutu 15 · servisu iha pár</a:t>
            </a:r>
            <a:endParaRPr lang="en-US" sz="1300" dirty="0"/>
          </a:p>
        </p:txBody>
      </p:sp>
      <p:sp>
        <p:nvSpPr>
          <p:cNvPr id="7" name="ez-karta"/>
          <p:cNvSpPr/>
          <p:nvPr/>
        </p:nvSpPr>
        <p:spPr>
          <a:xfrm>
            <a:off x="548640" y="2651760"/>
            <a:ext cx="6035040" cy="3474720"/>
          </a:xfrm>
          <a:prstGeom prst="roundRect">
            <a:avLst>
              <a:gd name="adj" fmla="val 3158"/>
            </a:avLst>
          </a:prstGeom>
          <a:solidFill>
            <a:schemeClr val="bg1"/>
          </a:solidFill>
          <a:ln w="12700">
            <a:solidFill>
              <a:schemeClr val="bg1"/>
            </a:solidFill>
            <a:prstDash val="solid"/>
          </a:ln>
        </p:spPr>
      </p:sp>
      <p:sp>
        <p:nvSpPr>
          <p:cNvPr id="8" name="Text 5"/>
          <p:cNvSpPr txBox="1"/>
          <p:nvPr/>
        </p:nvSpPr>
        <p:spPr>
          <a:xfrm>
            <a:off x="822960" y="2834640"/>
            <a:ext cx="5486400" cy="31089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700" dirty="0">
                <a:solidFill>
                  <a:schemeClr val="tx1"/>
                </a:solidFill>
              </a:rPr>
              <a:t>Husu ba utilizador: naran suku.</a:t>
            </a:r>
            <a:endParaRPr lang="en-US" sz="1700" dirty="0"/>
          </a:p>
          <a:p>
            <a:pPr marL="342900" indent="-342900">
              <a:spcAft>
                <a:spcPts val="1200"/>
              </a:spcAft>
              <a:buSzPct val="100000"/>
              <a:buFont typeface="+mj-lt"/>
              <a:buAutoNum type="arabicPeriod" startAt="1"/>
            </a:pPr>
            <a:r>
              <a:rPr lang="en-US" sz="1700" dirty="0">
                <a:solidFill>
                  <a:schemeClr val="tx1"/>
                </a:solidFill>
              </a:rPr>
              <a:t>Husu: total mane afetadu no total feto afetadu.</a:t>
            </a:r>
            <a:endParaRPr lang="en-US" sz="1700" dirty="0"/>
          </a:p>
          <a:p>
            <a:pPr marL="342900" indent="-342900">
              <a:spcAft>
                <a:spcPts val="1200"/>
              </a:spcAft>
              <a:buSzPct val="100000"/>
              <a:buFont typeface="+mj-lt"/>
              <a:buAutoNum type="arabicPeriod" startAt="1"/>
            </a:pPr>
            <a:r>
              <a:rPr lang="en-US" sz="1700" dirty="0">
                <a:solidFill>
                  <a:schemeClr val="tx1"/>
                </a:solidFill>
              </a:rPr>
              <a:t>Kalkula total ema.</a:t>
            </a:r>
            <a:endParaRPr lang="en-US" sz="1700" dirty="0"/>
          </a:p>
          <a:p>
            <a:pPr marL="342900" indent="-342900">
              <a:spcAft>
                <a:spcPts val="1200"/>
              </a:spcAft>
              <a:buSzPct val="100000"/>
              <a:buFont typeface="+mj-lt"/>
              <a:buAutoNum type="arabicPeriod" startAt="1"/>
            </a:pPr>
            <a:r>
              <a:rPr lang="en-US" sz="1700" dirty="0">
                <a:solidFill>
                  <a:schemeClr val="tx1"/>
                </a:solidFill>
              </a:rPr>
              <a:t>Hatudu: "Suku Ulmera: ema 45 afetadu (mane 20, feto 25)".</a:t>
            </a:r>
            <a:endParaRPr lang="en-US" sz="1700" dirty="0"/>
          </a:p>
          <a:p>
            <a:pPr marL="342900" indent="-342900">
              <a:spcAft>
                <a:spcPts val="1200"/>
              </a:spcAft>
              <a:buSzPct val="100000"/>
              <a:buFont typeface="+mj-lt"/>
              <a:buAutoNum type="arabicPeriod" startAt="1"/>
            </a:pPr>
            <a:r>
              <a:rPr lang="en-US" sz="1700" dirty="0">
                <a:solidFill>
                  <a:schemeClr val="tx1"/>
                </a:solidFill>
              </a:rPr>
              <a:t>Bónus: kalkula persentajen feto.</a:t>
            </a:r>
            <a:endParaRPr lang="en-US" sz="1700" dirty="0"/>
          </a:p>
        </p:txBody>
      </p:sp>
      <p:sp>
        <p:nvSpPr>
          <p:cNvPr id="9" name="ez-kodigu"/>
          <p:cNvSpPr/>
          <p:nvPr/>
        </p:nvSpPr>
        <p:spPr>
          <a:xfrm>
            <a:off x="6812280" y="1417320"/>
            <a:ext cx="4830775" cy="4709160"/>
          </a:xfrm>
          <a:prstGeom prst="roundRect">
            <a:avLst>
              <a:gd name="adj" fmla="val 1942"/>
            </a:avLst>
          </a:prstGeom>
          <a:solidFill>
            <a:schemeClr val="tx1"/>
          </a:solidFill>
          <a:ln w="12700">
            <a:solidFill>
              <a:schemeClr val="tx1"/>
            </a:solidFill>
            <a:prstDash val="solid"/>
          </a:ln>
        </p:spPr>
      </p:sp>
      <p:sp>
        <p:nvSpPr>
          <p:cNvPr id="10" name="ez-kodigu-t"/>
          <p:cNvSpPr txBox="1"/>
          <p:nvPr/>
        </p:nvSpPr>
        <p:spPr>
          <a:xfrm>
            <a:off x="7086600" y="1645920"/>
            <a:ext cx="4282135" cy="4251960"/>
          </a:xfrm>
          <a:prstGeom prst="rect">
            <a:avLst/>
          </a:prstGeom>
          <a:noFill/>
          <a:ln/>
        </p:spPr>
        <p:txBody>
          <a:bodyPr wrap="square" lIns="0" tIns="0" rIns="0" bIns="0" rtlCol="0" anchor="t"/>
          <a:lstStyle/>
          <a:p>
            <a:pPr indent="0" marL="0">
              <a:buNone/>
            </a:pPr>
            <a:r>
              <a:rPr lang="en-US" sz="1400" i="1" dirty="0">
                <a:solidFill>
                  <a:schemeClr val="accent2"/>
                </a:solidFill>
                <a:latin typeface="Courier New" pitchFamily="34" charset="0"/>
                <a:ea typeface="Courier New" pitchFamily="34" charset="-122"/>
                <a:cs typeface="Courier New" pitchFamily="34" charset="-120"/>
              </a:rPr>
              <a:t># Sujestaun hahú:</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suku = input("Suku: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mane = int(input("Mane: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feto =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total =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print(f"Suku {suku}: ema {total}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chemeClr val="accent2"/>
                </a:solidFill>
                <a:latin typeface="Courier New" pitchFamily="34" charset="0"/>
                <a:ea typeface="Courier New" pitchFamily="34" charset="-122"/>
                <a:cs typeface="Courier New" pitchFamily="34" charset="-120"/>
              </a:rPr>
              <a:t># Bónus:</a:t>
            </a:r>
            <a:endParaRPr lang="en-US" sz="1400" dirty="0"/>
          </a:p>
          <a:p>
            <a:pPr indent="0" marL="0">
              <a:buNone/>
            </a:pPr>
            <a:r>
              <a:rPr lang="en-US" sz="1400" i="1" dirty="0">
                <a:solidFill>
                  <a:schemeClr val="accent2"/>
                </a:solidFill>
                <a:latin typeface="Courier New" pitchFamily="34" charset="0"/>
                <a:ea typeface="Courier New" pitchFamily="34" charset="-122"/>
                <a:cs typeface="Courier New" pitchFamily="34" charset="-120"/>
              </a:rPr>
              <a:t># pct = feto / total * 100</a:t>
            </a:r>
            <a:endParaRPr lang="en-US" sz="1400" dirty="0"/>
          </a:p>
          <a:p>
            <a:pPr indent="0" marL="0">
              <a:buNone/>
            </a:pPr>
            <a:r>
              <a:rPr lang="en-US" sz="1400" i="1" dirty="0">
                <a:solidFill>
                  <a:schemeClr val="accent2"/>
                </a:solidFill>
                <a:latin typeface="Courier New" pitchFamily="34" charset="0"/>
                <a:ea typeface="Courier New" pitchFamily="34" charset="-122"/>
                <a:cs typeface="Courier New" pitchFamily="34" charset="-120"/>
              </a:rPr>
              <a:t># print(f"Feto: {pct:.1f}%")</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Kontrolu programa</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Kondisaun if · lista · repetisaun for</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03</a:t>
            </a:r>
            <a:endParaRPr lang="en-US" sz="15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Kondisaun: if · elif · else</a:t>
            </a:r>
            <a:endParaRPr lang="en-US" sz="3000" dirty="0"/>
          </a:p>
        </p:txBody>
      </p:sp>
      <p:sp>
        <p:nvSpPr>
          <p:cNvPr id="3" name="if-diamante"/>
          <p:cNvSpPr/>
          <p:nvPr/>
        </p:nvSpPr>
        <p:spPr>
          <a:xfrm>
            <a:off x="7955280" y="1463040"/>
            <a:ext cx="2560320" cy="1371600"/>
          </a:xfrm>
          <a:prstGeom prst="diamond">
            <a:avLst/>
          </a:prstGeom>
          <a:solidFill>
            <a:schemeClr val="accent5"/>
          </a:solidFill>
          <a:ln w="12700">
            <a:solidFill>
              <a:schemeClr val="accent5"/>
            </a:solidFill>
            <a:prstDash val="solid"/>
          </a:ln>
        </p:spPr>
      </p:sp>
      <p:sp>
        <p:nvSpPr>
          <p:cNvPr id="4" name="Text 2"/>
          <p:cNvSpPr txBox="1"/>
          <p:nvPr/>
        </p:nvSpPr>
        <p:spPr>
          <a:xfrm>
            <a:off x="7955280" y="1463040"/>
            <a:ext cx="2560320" cy="13716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ema &gt; 100 ?</a:t>
            </a:r>
            <a:endParaRPr lang="en-US" sz="1600" dirty="0"/>
          </a:p>
        </p:txBody>
      </p:sp>
      <p:sp>
        <p:nvSpPr>
          <p:cNvPr id="5" name="if-seta-sin"/>
          <p:cNvSpPr/>
          <p:nvPr/>
        </p:nvSpPr>
        <p:spPr>
          <a:xfrm flipH="1">
            <a:off x="7909560" y="2834640"/>
            <a:ext cx="1325880" cy="685800"/>
          </a:xfrm>
          <a:prstGeom prst="line">
            <a:avLst/>
          </a:prstGeom>
          <a:noFill/>
          <a:ln w="22225">
            <a:solidFill>
              <a:schemeClr val="tx2"/>
            </a:solidFill>
            <a:prstDash val="solid"/>
            <a:tailEnd type="triangle"/>
          </a:ln>
        </p:spPr>
      </p:sp>
      <p:sp>
        <p:nvSpPr>
          <p:cNvPr id="6" name="if-seta-lae"/>
          <p:cNvSpPr/>
          <p:nvPr/>
        </p:nvSpPr>
        <p:spPr>
          <a:xfrm>
            <a:off x="9235440" y="2834640"/>
            <a:ext cx="1325880" cy="685800"/>
          </a:xfrm>
          <a:prstGeom prst="line">
            <a:avLst/>
          </a:prstGeom>
          <a:noFill/>
          <a:ln w="22225">
            <a:solidFill>
              <a:schemeClr val="tx2"/>
            </a:solidFill>
            <a:prstDash val="solid"/>
            <a:tailEnd type="triangle"/>
          </a:ln>
        </p:spPr>
      </p:sp>
      <p:sp>
        <p:nvSpPr>
          <p:cNvPr id="7" name="Text 5"/>
          <p:cNvSpPr txBox="1"/>
          <p:nvPr/>
        </p:nvSpPr>
        <p:spPr>
          <a:xfrm>
            <a:off x="7772400" y="2880360"/>
            <a:ext cx="822960" cy="320040"/>
          </a:xfrm>
          <a:prstGeom prst="rect">
            <a:avLst/>
          </a:prstGeom>
          <a:noFill/>
          <a:ln/>
        </p:spPr>
        <p:txBody>
          <a:bodyPr wrap="square" lIns="0" tIns="0" rIns="0" bIns="0" rtlCol="0" anchor="t"/>
          <a:lstStyle/>
          <a:p>
            <a:pPr indent="0" marL="0">
              <a:buNone/>
            </a:pPr>
            <a:r>
              <a:rPr lang="en-US" sz="1400" b="1" dirty="0">
                <a:solidFill>
                  <a:schemeClr val="accent1"/>
                </a:solidFill>
              </a:rPr>
              <a:t>Sin</a:t>
            </a:r>
            <a:endParaRPr lang="en-US" sz="1400" dirty="0"/>
          </a:p>
        </p:txBody>
      </p:sp>
      <p:sp>
        <p:nvSpPr>
          <p:cNvPr id="8" name="Text 6"/>
          <p:cNvSpPr txBox="1"/>
          <p:nvPr/>
        </p:nvSpPr>
        <p:spPr>
          <a:xfrm>
            <a:off x="10058400" y="2880360"/>
            <a:ext cx="822960" cy="320040"/>
          </a:xfrm>
          <a:prstGeom prst="rect">
            <a:avLst/>
          </a:prstGeom>
          <a:noFill/>
          <a:ln/>
        </p:spPr>
        <p:txBody>
          <a:bodyPr wrap="square" lIns="0" tIns="0" rIns="0" bIns="0" rtlCol="0" anchor="t"/>
          <a:lstStyle/>
          <a:p>
            <a:pPr algn="r" indent="0" marL="0">
              <a:buNone/>
            </a:pPr>
            <a:r>
              <a:rPr lang="en-US" sz="1400" b="1" dirty="0">
                <a:solidFill>
                  <a:schemeClr val="accent4"/>
                </a:solidFill>
              </a:rPr>
              <a:t>Lae</a:t>
            </a:r>
            <a:endParaRPr lang="en-US" sz="1400" dirty="0"/>
          </a:p>
        </p:txBody>
      </p:sp>
      <p:sp>
        <p:nvSpPr>
          <p:cNvPr id="9" name="if-rez-0"/>
          <p:cNvSpPr/>
          <p:nvPr/>
        </p:nvSpPr>
        <p:spPr>
          <a:xfrm>
            <a:off x="7086600" y="3566160"/>
            <a:ext cx="1783080" cy="777240"/>
          </a:xfrm>
          <a:prstGeom prst="roundRect">
            <a:avLst>
              <a:gd name="adj" fmla="val 11765"/>
            </a:avLst>
          </a:prstGeom>
          <a:solidFill>
            <a:schemeClr val="accent4"/>
          </a:solidFill>
          <a:ln w="12700">
            <a:solidFill>
              <a:schemeClr val="accent4"/>
            </a:solidFill>
            <a:prstDash val="solid"/>
          </a:ln>
        </p:spPr>
      </p:sp>
      <p:sp>
        <p:nvSpPr>
          <p:cNvPr id="10" name="Text 8"/>
          <p:cNvSpPr txBox="1"/>
          <p:nvPr/>
        </p:nvSpPr>
        <p:spPr>
          <a:xfrm>
            <a:off x="7086600" y="3566160"/>
            <a:ext cx="1783080" cy="777240"/>
          </a:xfrm>
          <a:prstGeom prst="rect">
            <a:avLst/>
          </a:prstGeom>
          <a:noFill/>
          <a:ln/>
        </p:spPr>
        <p:txBody>
          <a:bodyPr wrap="square" lIns="0" tIns="0" rIns="0" bIns="0" rtlCol="0" anchor="ctr"/>
          <a:lstStyle/>
          <a:p>
            <a:pPr algn="ctr" indent="0" marL="0">
              <a:buNone/>
            </a:pPr>
            <a:r>
              <a:rPr lang="en-US" sz="1400" b="1" dirty="0">
                <a:solidFill>
                  <a:schemeClr val="bg1"/>
                </a:solidFill>
              </a:rPr>
              <a:t>"Impaktu boot"</a:t>
            </a:r>
            <a:endParaRPr lang="en-US" sz="1400" dirty="0"/>
          </a:p>
        </p:txBody>
      </p:sp>
      <p:sp>
        <p:nvSpPr>
          <p:cNvPr id="11" name="if-rez-1"/>
          <p:cNvSpPr/>
          <p:nvPr/>
        </p:nvSpPr>
        <p:spPr>
          <a:xfrm>
            <a:off x="9738360" y="3566160"/>
            <a:ext cx="1783080" cy="777240"/>
          </a:xfrm>
          <a:prstGeom prst="roundRect">
            <a:avLst>
              <a:gd name="adj" fmla="val 11765"/>
            </a:avLst>
          </a:prstGeom>
          <a:solidFill>
            <a:schemeClr val="accent1"/>
          </a:solidFill>
          <a:ln w="12700">
            <a:solidFill>
              <a:schemeClr val="accent1"/>
            </a:solidFill>
            <a:prstDash val="solid"/>
          </a:ln>
        </p:spPr>
      </p:sp>
      <p:sp>
        <p:nvSpPr>
          <p:cNvPr id="12" name="Text 10"/>
          <p:cNvSpPr txBox="1"/>
          <p:nvPr/>
        </p:nvSpPr>
        <p:spPr>
          <a:xfrm>
            <a:off x="9738360" y="3566160"/>
            <a:ext cx="1783080" cy="777240"/>
          </a:xfrm>
          <a:prstGeom prst="rect">
            <a:avLst/>
          </a:prstGeom>
          <a:noFill/>
          <a:ln/>
        </p:spPr>
        <p:txBody>
          <a:bodyPr wrap="square" lIns="0" tIns="0" rIns="0" bIns="0" rtlCol="0" anchor="ctr"/>
          <a:lstStyle/>
          <a:p>
            <a:pPr algn="ctr" indent="0" marL="0">
              <a:buNone/>
            </a:pPr>
            <a:r>
              <a:rPr lang="en-US" sz="1400" b="1" dirty="0">
                <a:solidFill>
                  <a:schemeClr val="bg1"/>
                </a:solidFill>
              </a:rPr>
              <a:t>"Impaktu ki'ik"</a:t>
            </a:r>
            <a:endParaRPr lang="en-US" sz="1400" dirty="0"/>
          </a:p>
        </p:txBody>
      </p:sp>
      <p:sp>
        <p:nvSpPr>
          <p:cNvPr id="13" name="k12"/>
          <p:cNvSpPr/>
          <p:nvPr/>
        </p:nvSpPr>
        <p:spPr>
          <a:xfrm>
            <a:off x="548640" y="1463040"/>
            <a:ext cx="6126480" cy="3291840"/>
          </a:xfrm>
          <a:prstGeom prst="roundRect">
            <a:avLst>
              <a:gd name="adj" fmla="val 2778"/>
            </a:avLst>
          </a:prstGeom>
          <a:solidFill>
            <a:schemeClr val="tx1"/>
          </a:solidFill>
          <a:ln w="12700">
            <a:solidFill>
              <a:schemeClr val="tx1"/>
            </a:solidFill>
            <a:prstDash val="solid"/>
          </a:ln>
        </p:spPr>
      </p:sp>
      <p:sp>
        <p:nvSpPr>
          <p:cNvPr id="14" name="k12-t"/>
          <p:cNvSpPr txBox="1"/>
          <p:nvPr/>
        </p:nvSpPr>
        <p:spPr>
          <a:xfrm>
            <a:off x="822960" y="1691640"/>
            <a:ext cx="5577840" cy="283464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ema = 150</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if ema &gt; 100:</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print("Impaktu boot")</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elif ema &gt; 20:</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print("Impaktu médiu")</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else: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print("Impaktu ki'ik")</a:t>
            </a:r>
            <a:endParaRPr lang="en-US" sz="1600" dirty="0"/>
          </a:p>
        </p:txBody>
      </p:sp>
      <p:sp>
        <p:nvSpPr>
          <p:cNvPr id="15" name="Text 13"/>
          <p:cNvSpPr txBox="1"/>
          <p:nvPr/>
        </p:nvSpPr>
        <p:spPr>
          <a:xfrm>
            <a:off x="548640" y="4937760"/>
            <a:ext cx="11094415" cy="1371600"/>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chemeClr val="tx2"/>
                </a:solidFill>
              </a:rPr>
              <a:t>Dois-pontu ( : )</a:t>
            </a:r>
            <a:pPr indent="0" marL="0">
              <a:spcAft>
                <a:spcPts val="400"/>
              </a:spcAft>
              <a:buNone/>
            </a:pPr>
            <a:r>
              <a:rPr lang="en-US" sz="1500" dirty="0">
                <a:solidFill>
                  <a:schemeClr val="tx1"/>
                </a:solidFill>
              </a:rPr>
              <a:t> iha rohan liña if, elif, else.</a:t>
            </a:r>
            <a:endParaRPr lang="en-US" sz="1500" dirty="0"/>
          </a:p>
          <a:p>
            <a:pPr marL="342900" indent="-342900">
              <a:spcAft>
                <a:spcPts val="400"/>
              </a:spcAft>
              <a:buSzPct val="100000"/>
              <a:buChar char="•"/>
            </a:pPr>
            <a:r>
              <a:rPr lang="en-US" sz="1500" b="1" dirty="0">
                <a:solidFill>
                  <a:schemeClr val="tx2"/>
                </a:solidFill>
              </a:rPr>
              <a:t>Indentasaun</a:t>
            </a:r>
            <a:pPr indent="0" marL="0">
              <a:spcAft>
                <a:spcPts val="400"/>
              </a:spcAft>
              <a:buNone/>
            </a:pPr>
            <a:r>
              <a:rPr lang="en-US" sz="1500" dirty="0">
                <a:solidFill>
                  <a:schemeClr val="tx1"/>
                </a:solidFill>
              </a:rPr>
              <a:t> espasu 4 iha liña okos: Python uza atu hatene saida mak parte husi if.</a:t>
            </a:r>
            <a:endParaRPr lang="en-US" sz="1500" dirty="0"/>
          </a:p>
          <a:p>
            <a:pPr marL="342900" indent="-342900">
              <a:spcAft>
                <a:spcPts val="400"/>
              </a:spcAft>
              <a:buSzPct val="100000"/>
              <a:buChar char="•"/>
            </a:pPr>
            <a:r>
              <a:rPr lang="en-US" sz="1500" b="1" dirty="0">
                <a:solidFill>
                  <a:schemeClr val="tx2"/>
                </a:solidFill>
              </a:rPr>
              <a:t>Komparasaun</a:t>
            </a:r>
            <a:pPr indent="0" marL="0">
              <a:spcAft>
                <a:spcPts val="400"/>
              </a:spcAft>
              <a:buNone/>
            </a:pPr>
            <a:r>
              <a:rPr lang="en-US" sz="1500" dirty="0">
                <a:solidFill>
                  <a:schemeClr val="tx1"/>
                </a:solidFill>
              </a:rPr>
              <a:t> &gt;  &lt;  &gt;=  &lt;=  == (hanesan)  != (la hanesan)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Lista: valór barak iha variável ida</a:t>
            </a:r>
            <a:endParaRPr lang="en-US" sz="3000" dirty="0"/>
          </a:p>
        </p:txBody>
      </p:sp>
      <p:sp>
        <p:nvSpPr>
          <p:cNvPr id="3" name="lista-0"/>
          <p:cNvSpPr/>
          <p:nvPr/>
        </p:nvSpPr>
        <p:spPr>
          <a:xfrm>
            <a:off x="548640" y="1600200"/>
            <a:ext cx="1645920" cy="914400"/>
          </a:xfrm>
          <a:prstGeom prst="roundRect">
            <a:avLst>
              <a:gd name="adj" fmla="val 8000"/>
            </a:avLst>
          </a:prstGeom>
          <a:solidFill>
            <a:schemeClr val="bg2"/>
          </a:solidFill>
          <a:ln w="19050">
            <a:solidFill>
              <a:schemeClr val="accent1"/>
            </a:solidFill>
            <a:prstDash val="solid"/>
          </a:ln>
        </p:spPr>
      </p:sp>
      <p:sp>
        <p:nvSpPr>
          <p:cNvPr id="4" name="Text 2"/>
          <p:cNvSpPr txBox="1"/>
          <p:nvPr/>
        </p:nvSpPr>
        <p:spPr>
          <a:xfrm>
            <a:off x="548640" y="1600200"/>
            <a:ext cx="1645920" cy="9144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"Dili"</a:t>
            </a:r>
            <a:endParaRPr lang="en-US" sz="1600" dirty="0"/>
          </a:p>
        </p:txBody>
      </p:sp>
      <p:sp>
        <p:nvSpPr>
          <p:cNvPr id="5" name="Text 3"/>
          <p:cNvSpPr txBox="1"/>
          <p:nvPr/>
        </p:nvSpPr>
        <p:spPr>
          <a:xfrm>
            <a:off x="548640" y="2606040"/>
            <a:ext cx="1645920" cy="320040"/>
          </a:xfrm>
          <a:prstGeom prst="rect">
            <a:avLst/>
          </a:prstGeom>
          <a:noFill/>
          <a:ln/>
        </p:spPr>
        <p:txBody>
          <a:bodyPr wrap="square" lIns="0" tIns="0" rIns="0" bIns="0" rtlCol="0" anchor="t"/>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[0]</a:t>
            </a:r>
            <a:endParaRPr lang="en-US" sz="1400" dirty="0"/>
          </a:p>
        </p:txBody>
      </p:sp>
      <p:sp>
        <p:nvSpPr>
          <p:cNvPr id="6" name="lista-1"/>
          <p:cNvSpPr/>
          <p:nvPr/>
        </p:nvSpPr>
        <p:spPr>
          <a:xfrm>
            <a:off x="2331720" y="1600200"/>
            <a:ext cx="1645920" cy="914400"/>
          </a:xfrm>
          <a:prstGeom prst="roundRect">
            <a:avLst>
              <a:gd name="adj" fmla="val 8000"/>
            </a:avLst>
          </a:prstGeom>
          <a:solidFill>
            <a:schemeClr val="bg2"/>
          </a:solidFill>
          <a:ln w="19050">
            <a:solidFill>
              <a:schemeClr val="accent1"/>
            </a:solidFill>
            <a:prstDash val="solid"/>
          </a:ln>
        </p:spPr>
      </p:sp>
      <p:sp>
        <p:nvSpPr>
          <p:cNvPr id="7" name="Text 5"/>
          <p:cNvSpPr txBox="1"/>
          <p:nvPr/>
        </p:nvSpPr>
        <p:spPr>
          <a:xfrm>
            <a:off x="2331720" y="1600200"/>
            <a:ext cx="1645920" cy="9144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"Liquiçá"</a:t>
            </a:r>
            <a:endParaRPr lang="en-US" sz="1600" dirty="0"/>
          </a:p>
        </p:txBody>
      </p:sp>
      <p:sp>
        <p:nvSpPr>
          <p:cNvPr id="8" name="Text 6"/>
          <p:cNvSpPr txBox="1"/>
          <p:nvPr/>
        </p:nvSpPr>
        <p:spPr>
          <a:xfrm>
            <a:off x="2331720" y="2606040"/>
            <a:ext cx="1645920" cy="320040"/>
          </a:xfrm>
          <a:prstGeom prst="rect">
            <a:avLst/>
          </a:prstGeom>
          <a:noFill/>
          <a:ln/>
        </p:spPr>
        <p:txBody>
          <a:bodyPr wrap="square" lIns="0" tIns="0" rIns="0" bIns="0" rtlCol="0" anchor="t"/>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[1]</a:t>
            </a:r>
            <a:endParaRPr lang="en-US" sz="1400" dirty="0"/>
          </a:p>
        </p:txBody>
      </p:sp>
      <p:sp>
        <p:nvSpPr>
          <p:cNvPr id="9" name="lista-2"/>
          <p:cNvSpPr/>
          <p:nvPr/>
        </p:nvSpPr>
        <p:spPr>
          <a:xfrm>
            <a:off x="4114800" y="1600200"/>
            <a:ext cx="1645920" cy="914400"/>
          </a:xfrm>
          <a:prstGeom prst="roundRect">
            <a:avLst>
              <a:gd name="adj" fmla="val 8000"/>
            </a:avLst>
          </a:prstGeom>
          <a:solidFill>
            <a:schemeClr val="bg2"/>
          </a:solidFill>
          <a:ln w="19050">
            <a:solidFill>
              <a:schemeClr val="accent1"/>
            </a:solidFill>
            <a:prstDash val="solid"/>
          </a:ln>
        </p:spPr>
      </p:sp>
      <p:sp>
        <p:nvSpPr>
          <p:cNvPr id="10" name="Text 8"/>
          <p:cNvSpPr txBox="1"/>
          <p:nvPr/>
        </p:nvSpPr>
        <p:spPr>
          <a:xfrm>
            <a:off x="4114800" y="1600200"/>
            <a:ext cx="1645920" cy="9144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"Baucau"</a:t>
            </a:r>
            <a:endParaRPr lang="en-US" sz="1600" dirty="0"/>
          </a:p>
        </p:txBody>
      </p:sp>
      <p:sp>
        <p:nvSpPr>
          <p:cNvPr id="11" name="Text 9"/>
          <p:cNvSpPr txBox="1"/>
          <p:nvPr/>
        </p:nvSpPr>
        <p:spPr>
          <a:xfrm>
            <a:off x="4114800" y="2606040"/>
            <a:ext cx="1645920" cy="320040"/>
          </a:xfrm>
          <a:prstGeom prst="rect">
            <a:avLst/>
          </a:prstGeom>
          <a:noFill/>
          <a:ln/>
        </p:spPr>
        <p:txBody>
          <a:bodyPr wrap="square" lIns="0" tIns="0" rIns="0" bIns="0" rtlCol="0" anchor="t"/>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[2]</a:t>
            </a:r>
            <a:endParaRPr lang="en-US" sz="1400" dirty="0"/>
          </a:p>
        </p:txBody>
      </p:sp>
      <p:sp>
        <p:nvSpPr>
          <p:cNvPr id="12" name="lista-3"/>
          <p:cNvSpPr/>
          <p:nvPr/>
        </p:nvSpPr>
        <p:spPr>
          <a:xfrm>
            <a:off x="5897880" y="1600200"/>
            <a:ext cx="1645920" cy="914400"/>
          </a:xfrm>
          <a:prstGeom prst="roundRect">
            <a:avLst>
              <a:gd name="adj" fmla="val 8000"/>
            </a:avLst>
          </a:prstGeom>
          <a:solidFill>
            <a:schemeClr val="bg2"/>
          </a:solidFill>
          <a:ln w="19050">
            <a:solidFill>
              <a:schemeClr val="accent1"/>
            </a:solidFill>
            <a:prstDash val="solid"/>
          </a:ln>
        </p:spPr>
      </p:sp>
      <p:sp>
        <p:nvSpPr>
          <p:cNvPr id="13" name="Text 11"/>
          <p:cNvSpPr txBox="1"/>
          <p:nvPr/>
        </p:nvSpPr>
        <p:spPr>
          <a:xfrm>
            <a:off x="5897880" y="1600200"/>
            <a:ext cx="1645920" cy="9144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"Ermera"</a:t>
            </a:r>
            <a:endParaRPr lang="en-US" sz="1600" dirty="0"/>
          </a:p>
        </p:txBody>
      </p:sp>
      <p:sp>
        <p:nvSpPr>
          <p:cNvPr id="14" name="Text 12"/>
          <p:cNvSpPr txBox="1"/>
          <p:nvPr/>
        </p:nvSpPr>
        <p:spPr>
          <a:xfrm>
            <a:off x="5897880" y="2606040"/>
            <a:ext cx="1645920" cy="320040"/>
          </a:xfrm>
          <a:prstGeom prst="rect">
            <a:avLst/>
          </a:prstGeom>
          <a:noFill/>
          <a:ln/>
        </p:spPr>
        <p:txBody>
          <a:bodyPr wrap="square" lIns="0" tIns="0" rIns="0" bIns="0" rtlCol="0" anchor="t"/>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[3]</a:t>
            </a:r>
            <a:endParaRPr lang="en-US" sz="1400" dirty="0"/>
          </a:p>
        </p:txBody>
      </p:sp>
      <p:sp>
        <p:nvSpPr>
          <p:cNvPr id="15" name="Text 13"/>
          <p:cNvSpPr txBox="1"/>
          <p:nvPr/>
        </p:nvSpPr>
        <p:spPr>
          <a:xfrm>
            <a:off x="7863840" y="1828800"/>
            <a:ext cx="3566160" cy="548640"/>
          </a:xfrm>
          <a:prstGeom prst="rect">
            <a:avLst/>
          </a:prstGeom>
          <a:noFill/>
          <a:ln/>
        </p:spPr>
        <p:txBody>
          <a:bodyPr wrap="square" lIns="0" tIns="0" rIns="0" bIns="0" rtlCol="0" anchor="t"/>
          <a:lstStyle/>
          <a:p>
            <a:pPr indent="0" marL="0">
              <a:buNone/>
            </a:pPr>
            <a:r>
              <a:rPr lang="en-US" sz="1700" b="1" dirty="0">
                <a:solidFill>
                  <a:schemeClr val="accent3"/>
                </a:solidFill>
              </a:rPr>
              <a:t>Index hahú husi 0, la'ós 1</a:t>
            </a:r>
            <a:endParaRPr lang="en-US" sz="1700" dirty="0"/>
          </a:p>
        </p:txBody>
      </p:sp>
      <p:sp>
        <p:nvSpPr>
          <p:cNvPr id="16" name="k13"/>
          <p:cNvSpPr/>
          <p:nvPr/>
        </p:nvSpPr>
        <p:spPr>
          <a:xfrm>
            <a:off x="548640" y="3200400"/>
            <a:ext cx="7223760" cy="2926080"/>
          </a:xfrm>
          <a:prstGeom prst="roundRect">
            <a:avLst>
              <a:gd name="adj" fmla="val 3125"/>
            </a:avLst>
          </a:prstGeom>
          <a:solidFill>
            <a:schemeClr val="tx1"/>
          </a:solidFill>
          <a:ln w="12700">
            <a:solidFill>
              <a:schemeClr val="tx1"/>
            </a:solidFill>
            <a:prstDash val="solid"/>
          </a:ln>
        </p:spPr>
      </p:sp>
      <p:sp>
        <p:nvSpPr>
          <p:cNvPr id="17" name="k13-t"/>
          <p:cNvSpPr txBox="1"/>
          <p:nvPr/>
        </p:nvSpPr>
        <p:spPr>
          <a:xfrm>
            <a:off x="822960" y="3429000"/>
            <a:ext cx="6675120" cy="246888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munisipiu = ["Dili", "Liquiçá", "Baucau", "Ermera"]</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print(munisipiu[0])        # primeiru</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print(len(munisipiu))      # hira</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munisipiu.append("Aileu")  # aumenta</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print("Baucau" in munisipiu)</a:t>
            </a:r>
            <a:endParaRPr lang="en-US" sz="1500" dirty="0"/>
          </a:p>
        </p:txBody>
      </p:sp>
      <p:sp>
        <p:nvSpPr>
          <p:cNvPr id="18" name="r13"/>
          <p:cNvSpPr/>
          <p:nvPr/>
        </p:nvSpPr>
        <p:spPr>
          <a:xfrm>
            <a:off x="8001000" y="3200400"/>
            <a:ext cx="3642055" cy="2926080"/>
          </a:xfrm>
          <a:prstGeom prst="roundRect">
            <a:avLst>
              <a:gd name="adj" fmla="val 3125"/>
            </a:avLst>
          </a:prstGeom>
          <a:solidFill>
            <a:schemeClr val="bg2"/>
          </a:solidFill>
          <a:ln w="15875">
            <a:solidFill>
              <a:schemeClr val="accent1"/>
            </a:solidFill>
            <a:prstDash val="solid"/>
          </a:ln>
        </p:spPr>
      </p:sp>
      <p:sp>
        <p:nvSpPr>
          <p:cNvPr id="19" name="r13-l"/>
          <p:cNvSpPr txBox="1"/>
          <p:nvPr/>
        </p:nvSpPr>
        <p:spPr>
          <a:xfrm>
            <a:off x="8275320" y="3364992"/>
            <a:ext cx="3093415" cy="274320"/>
          </a:xfrm>
          <a:prstGeom prst="rect">
            <a:avLst/>
          </a:prstGeom>
          <a:noFill/>
          <a:ln/>
        </p:spPr>
        <p:txBody>
          <a:bodyPr wrap="square" lIns="0" tIns="0" rIns="0" bIns="0" rtlCol="0" anchor="t"/>
          <a:lstStyle/>
          <a:p>
            <a:pPr indent="0" marL="0">
              <a:buNone/>
            </a:pPr>
            <a:r>
              <a:rPr lang="en-US" sz="1200" b="1" dirty="0">
                <a:solidFill>
                  <a:schemeClr val="accent1"/>
                </a:solidFill>
              </a:rPr>
              <a:t>Rezultadu</a:t>
            </a:r>
            <a:endParaRPr lang="en-US" sz="1200" dirty="0"/>
          </a:p>
        </p:txBody>
      </p:sp>
      <p:sp>
        <p:nvSpPr>
          <p:cNvPr id="20" name="r13-t"/>
          <p:cNvSpPr txBox="1"/>
          <p:nvPr/>
        </p:nvSpPr>
        <p:spPr>
          <a:xfrm>
            <a:off x="8275320" y="3657600"/>
            <a:ext cx="3093415" cy="233172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Dili</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4</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True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Repetisaun: for</a:t>
            </a:r>
            <a:endParaRPr lang="en-US" sz="3000" dirty="0"/>
          </a:p>
        </p:txBody>
      </p:sp>
      <p:sp>
        <p:nvSpPr>
          <p:cNvPr id="3" name="k14"/>
          <p:cNvSpPr/>
          <p:nvPr/>
        </p:nvSpPr>
        <p:spPr>
          <a:xfrm>
            <a:off x="548640" y="1463040"/>
            <a:ext cx="6309360" cy="3611880"/>
          </a:xfrm>
          <a:prstGeom prst="roundRect">
            <a:avLst>
              <a:gd name="adj" fmla="val 2532"/>
            </a:avLst>
          </a:prstGeom>
          <a:solidFill>
            <a:schemeClr val="tx1"/>
          </a:solidFill>
          <a:ln w="12700">
            <a:solidFill>
              <a:schemeClr val="tx1"/>
            </a:solidFill>
            <a:prstDash val="solid"/>
          </a:ln>
        </p:spPr>
      </p:sp>
      <p:sp>
        <p:nvSpPr>
          <p:cNvPr id="4" name="k14-t"/>
          <p:cNvSpPr txBox="1"/>
          <p:nvPr/>
        </p:nvSpPr>
        <p:spPr>
          <a:xfrm>
            <a:off x="822960" y="1691640"/>
            <a:ext cx="5760720" cy="315468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munisipiu = ["Dili", "Liquiçá", "Baucau"]</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for m in munisipiu:</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print(f"Vizita ba {m}")</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i="1" dirty="0">
                <a:solidFill>
                  <a:schemeClr val="accent2"/>
                </a:solidFill>
                <a:latin typeface="Courier New" pitchFamily="34" charset="0"/>
                <a:ea typeface="Courier New" pitchFamily="34" charset="-122"/>
                <a:cs typeface="Courier New" pitchFamily="34" charset="-120"/>
              </a:rPr>
              <a:t># range(): númeru 1 to'o 3</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for n in range(1, 4):</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print(f"Loron {n}")</a:t>
            </a:r>
            <a:endParaRPr lang="en-US" sz="1500" dirty="0"/>
          </a:p>
        </p:txBody>
      </p:sp>
      <p:sp>
        <p:nvSpPr>
          <p:cNvPr id="5" name="r14"/>
          <p:cNvSpPr/>
          <p:nvPr/>
        </p:nvSpPr>
        <p:spPr>
          <a:xfrm>
            <a:off x="7086600" y="1463040"/>
            <a:ext cx="4556455" cy="3611880"/>
          </a:xfrm>
          <a:prstGeom prst="roundRect">
            <a:avLst>
              <a:gd name="adj" fmla="val 2532"/>
            </a:avLst>
          </a:prstGeom>
          <a:solidFill>
            <a:schemeClr val="bg2"/>
          </a:solidFill>
          <a:ln w="15875">
            <a:solidFill>
              <a:schemeClr val="accent1"/>
            </a:solidFill>
            <a:prstDash val="solid"/>
          </a:ln>
        </p:spPr>
      </p:sp>
      <p:sp>
        <p:nvSpPr>
          <p:cNvPr id="6" name="r14-l"/>
          <p:cNvSpPr txBox="1"/>
          <p:nvPr/>
        </p:nvSpPr>
        <p:spPr>
          <a:xfrm>
            <a:off x="7360920" y="1627632"/>
            <a:ext cx="4007815" cy="274320"/>
          </a:xfrm>
          <a:prstGeom prst="rect">
            <a:avLst/>
          </a:prstGeom>
          <a:noFill/>
          <a:ln/>
        </p:spPr>
        <p:txBody>
          <a:bodyPr wrap="square" lIns="0" tIns="0" rIns="0" bIns="0" rtlCol="0" anchor="t"/>
          <a:lstStyle/>
          <a:p>
            <a:pPr indent="0" marL="0">
              <a:buNone/>
            </a:pPr>
            <a:r>
              <a:rPr lang="en-US" sz="1200" b="1" dirty="0">
                <a:solidFill>
                  <a:schemeClr val="accent1"/>
                </a:solidFill>
              </a:rPr>
              <a:t>Rezultadu</a:t>
            </a:r>
            <a:endParaRPr lang="en-US" sz="1200" dirty="0"/>
          </a:p>
        </p:txBody>
      </p:sp>
      <p:sp>
        <p:nvSpPr>
          <p:cNvPr id="7" name="r14-t"/>
          <p:cNvSpPr txBox="1"/>
          <p:nvPr/>
        </p:nvSpPr>
        <p:spPr>
          <a:xfrm>
            <a:off x="7360920" y="1920240"/>
            <a:ext cx="4007815" cy="301752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Vizita ba Dili</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Vizita ba Liquiçá</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Vizita ba Baucau</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Loron 1</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Loron 2</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Loron 3</a:t>
            </a:r>
            <a:endParaRPr lang="en-US" sz="1500" dirty="0"/>
          </a:p>
        </p:txBody>
      </p:sp>
      <p:sp>
        <p:nvSpPr>
          <p:cNvPr id="8" name="k14-nota"/>
          <p:cNvSpPr/>
          <p:nvPr/>
        </p:nvSpPr>
        <p:spPr>
          <a:xfrm>
            <a:off x="548640" y="5303520"/>
            <a:ext cx="11094415" cy="868680"/>
          </a:xfrm>
          <a:prstGeom prst="roundRect">
            <a:avLst>
              <a:gd name="adj" fmla="val 12632"/>
            </a:avLst>
          </a:prstGeom>
          <a:solidFill>
            <a:schemeClr val="bg2"/>
          </a:solidFill>
          <a:ln w="12700">
            <a:solidFill>
              <a:schemeClr val="bg2"/>
            </a:solidFill>
            <a:prstDash val="solid"/>
          </a:ln>
        </p:spPr>
      </p:sp>
      <p:sp>
        <p:nvSpPr>
          <p:cNvPr id="9" name="k14-ik-sirkulu"/>
          <p:cNvSpPr/>
          <p:nvPr/>
        </p:nvSpPr>
        <p:spPr>
          <a:xfrm>
            <a:off x="731520" y="5413248"/>
            <a:ext cx="640080" cy="640080"/>
          </a:xfrm>
          <a:prstGeom prst="ellipse">
            <a:avLst/>
          </a:prstGeom>
          <a:solidFill>
            <a:schemeClr val="accent1"/>
          </a:solidFill>
          <a:ln w="12700">
            <a:solidFill>
              <a:schemeClr val="accent1"/>
            </a:solidFill>
            <a:prstDash val="solid"/>
          </a:ln>
        </p:spPr>
      </p:sp>
      <p:pic>
        <p:nvPicPr>
          <p:cNvPr id="10" name="k14-ik-ikone" descr="preencoded.png">    </p:cNvPr>
          <p:cNvPicPr>
            <a:picLocks noChangeAspect="1"/>
          </p:cNvPicPr>
          <p:nvPr/>
        </p:nvPicPr>
        <p:blipFill>
          <a:blip r:embed="rId1"/>
          <a:stretch>
            <a:fillRect/>
          </a:stretch>
        </p:blipFill>
        <p:spPr>
          <a:xfrm>
            <a:off x="885139" y="5566867"/>
            <a:ext cx="332842" cy="332842"/>
          </a:xfrm>
          <a:prstGeom prst="rect">
            <a:avLst/>
          </a:prstGeom>
        </p:spPr>
      </p:pic>
      <p:sp>
        <p:nvSpPr>
          <p:cNvPr id="11" name="Text 8"/>
          <p:cNvSpPr txBox="1"/>
          <p:nvPr/>
        </p:nvSpPr>
        <p:spPr>
          <a:xfrm>
            <a:off x="1554480" y="5303520"/>
            <a:ext cx="9905695" cy="868680"/>
          </a:xfrm>
          <a:prstGeom prst="rect">
            <a:avLst/>
          </a:prstGeom>
          <a:noFill/>
          <a:ln/>
        </p:spPr>
        <p:txBody>
          <a:bodyPr wrap="square" lIns="0" tIns="0" rIns="0" bIns="0" rtlCol="0" anchor="ctr"/>
          <a:lstStyle/>
          <a:p>
            <a:pPr indent="0" marL="0">
              <a:buNone/>
            </a:pPr>
            <a:r>
              <a:rPr lang="en-US" sz="1500" b="1" dirty="0">
                <a:solidFill>
                  <a:schemeClr val="tx1"/>
                </a:solidFill>
              </a:rPr>
              <a:t>for halo servisu hanesan ba kada valór iha lista. </a:t>
            </a:r>
            <a:pPr indent="0" marL="0">
              <a:buNone/>
            </a:pPr>
            <a:r>
              <a:rPr lang="en-US" sz="1500" dirty="0">
                <a:solidFill>
                  <a:schemeClr val="tx1"/>
                </a:solidFill>
              </a:rPr>
              <a:t>Kódigu ne'ebé iha indentasaun mak repete; range(1, 4) fó 1, 2, 3 (la inklui 4).</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Dicionáriu no funsaun</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Dadus kazu · def · erru komún</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04</a:t>
            </a:r>
            <a:endParaRPr lang="en-US" sz="15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Dicionáriu: dadus ho naran</a:t>
            </a:r>
            <a:endParaRPr lang="en-US" sz="3000" dirty="0"/>
          </a:p>
        </p:txBody>
      </p:sp>
      <p:sp>
        <p:nvSpPr>
          <p:cNvPr id="3" name="k15"/>
          <p:cNvSpPr/>
          <p:nvPr/>
        </p:nvSpPr>
        <p:spPr>
          <a:xfrm>
            <a:off x="548640" y="1463040"/>
            <a:ext cx="6400800" cy="4709160"/>
          </a:xfrm>
          <a:prstGeom prst="roundRect">
            <a:avLst>
              <a:gd name="adj" fmla="val 1942"/>
            </a:avLst>
          </a:prstGeom>
          <a:solidFill>
            <a:schemeClr val="tx1"/>
          </a:solidFill>
          <a:ln w="12700">
            <a:solidFill>
              <a:schemeClr val="tx1"/>
            </a:solidFill>
            <a:prstDash val="solid"/>
          </a:ln>
        </p:spPr>
      </p:sp>
      <p:sp>
        <p:nvSpPr>
          <p:cNvPr id="4" name="k15-t"/>
          <p:cNvSpPr txBox="1"/>
          <p:nvPr/>
        </p:nvSpPr>
        <p:spPr>
          <a:xfrm>
            <a:off x="822960" y="1691640"/>
            <a:ext cx="5852160" cy="42519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kazu =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"kode": "RbR-LIQ-2026-0001",</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"munisipiu": "Liquiçá",</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"ema": 45,</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"urjente": True,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print(kazu["munisipiu"])</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kazu["ema"] = 50       # muda</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kazu["suku"] = "Ulmera" # aumenta</a:t>
            </a:r>
            <a:endParaRPr lang="en-US" sz="1500" dirty="0"/>
          </a:p>
        </p:txBody>
      </p:sp>
      <p:sp>
        <p:nvSpPr>
          <p:cNvPr id="5" name="Text 3"/>
          <p:cNvSpPr txBox="1"/>
          <p:nvPr/>
        </p:nvSpPr>
        <p:spPr>
          <a:xfrm>
            <a:off x="7223760" y="1463040"/>
            <a:ext cx="1737360" cy="320040"/>
          </a:xfrm>
          <a:prstGeom prst="rect">
            <a:avLst/>
          </a:prstGeom>
          <a:noFill/>
          <a:ln/>
        </p:spPr>
        <p:txBody>
          <a:bodyPr wrap="square" lIns="0" tIns="0" rIns="0" bIns="0" rtlCol="0" anchor="t"/>
          <a:lstStyle/>
          <a:p>
            <a:pPr algn="ctr" indent="0" marL="0">
              <a:buNone/>
            </a:pPr>
            <a:r>
              <a:rPr lang="en-US" sz="1400" b="1" dirty="0">
                <a:solidFill>
                  <a:schemeClr val="accent3"/>
                </a:solidFill>
              </a:rPr>
              <a:t>Xave</a:t>
            </a:r>
            <a:endParaRPr lang="en-US" sz="1400" dirty="0"/>
          </a:p>
        </p:txBody>
      </p:sp>
      <p:sp>
        <p:nvSpPr>
          <p:cNvPr id="6" name="Text 4"/>
          <p:cNvSpPr txBox="1"/>
          <p:nvPr/>
        </p:nvSpPr>
        <p:spPr>
          <a:xfrm>
            <a:off x="9372600" y="1463040"/>
            <a:ext cx="2267712" cy="320040"/>
          </a:xfrm>
          <a:prstGeom prst="rect">
            <a:avLst/>
          </a:prstGeom>
          <a:noFill/>
          <a:ln/>
        </p:spPr>
        <p:txBody>
          <a:bodyPr wrap="square" lIns="0" tIns="0" rIns="0" bIns="0" rtlCol="0" anchor="t"/>
          <a:lstStyle/>
          <a:p>
            <a:pPr algn="ctr" indent="0" marL="0">
              <a:buNone/>
            </a:pPr>
            <a:r>
              <a:rPr lang="en-US" sz="1400" b="1" dirty="0">
                <a:solidFill>
                  <a:schemeClr val="accent1"/>
                </a:solidFill>
              </a:rPr>
              <a:t>Valór</a:t>
            </a:r>
            <a:endParaRPr lang="en-US" sz="1400" dirty="0"/>
          </a:p>
        </p:txBody>
      </p:sp>
      <p:sp>
        <p:nvSpPr>
          <p:cNvPr id="7" name="xave-0"/>
          <p:cNvSpPr/>
          <p:nvPr/>
        </p:nvSpPr>
        <p:spPr>
          <a:xfrm>
            <a:off x="7223760" y="1874520"/>
            <a:ext cx="1737360" cy="548640"/>
          </a:xfrm>
          <a:prstGeom prst="roundRect">
            <a:avLst>
              <a:gd name="adj" fmla="val 13333"/>
            </a:avLst>
          </a:prstGeom>
          <a:solidFill>
            <a:schemeClr val="accent3"/>
          </a:solidFill>
          <a:ln w="12700">
            <a:solidFill>
              <a:schemeClr val="accent3"/>
            </a:solidFill>
            <a:prstDash val="solid"/>
          </a:ln>
        </p:spPr>
      </p:sp>
      <p:sp>
        <p:nvSpPr>
          <p:cNvPr id="8" name="Text 6"/>
          <p:cNvSpPr txBox="1"/>
          <p:nvPr/>
        </p:nvSpPr>
        <p:spPr>
          <a:xfrm>
            <a:off x="7223760" y="1874520"/>
            <a:ext cx="1737360" cy="54864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"kode"</a:t>
            </a:r>
            <a:endParaRPr lang="en-US" sz="1200" dirty="0"/>
          </a:p>
        </p:txBody>
      </p:sp>
      <p:sp>
        <p:nvSpPr>
          <p:cNvPr id="9" name="kv-seta-0"/>
          <p:cNvSpPr/>
          <p:nvPr/>
        </p:nvSpPr>
        <p:spPr>
          <a:xfrm>
            <a:off x="9006840" y="2148840"/>
            <a:ext cx="320040" cy="914"/>
          </a:xfrm>
          <a:prstGeom prst="line">
            <a:avLst/>
          </a:prstGeom>
          <a:noFill/>
          <a:ln w="15875">
            <a:solidFill>
              <a:srgbClr val="5E6B66"/>
            </a:solidFill>
            <a:prstDash val="solid"/>
            <a:tailEnd type="triangle"/>
          </a:ln>
        </p:spPr>
      </p:sp>
      <p:sp>
        <p:nvSpPr>
          <p:cNvPr id="10" name="valor-0"/>
          <p:cNvSpPr/>
          <p:nvPr/>
        </p:nvSpPr>
        <p:spPr>
          <a:xfrm>
            <a:off x="9372600" y="1874520"/>
            <a:ext cx="2267712" cy="548640"/>
          </a:xfrm>
          <a:prstGeom prst="roundRect">
            <a:avLst>
              <a:gd name="adj" fmla="val 13333"/>
            </a:avLst>
          </a:prstGeom>
          <a:solidFill>
            <a:schemeClr val="bg2"/>
          </a:solidFill>
          <a:ln w="15875">
            <a:solidFill>
              <a:schemeClr val="accent1"/>
            </a:solidFill>
            <a:prstDash val="solid"/>
          </a:ln>
        </p:spPr>
      </p:sp>
      <p:sp>
        <p:nvSpPr>
          <p:cNvPr id="11" name="Text 9"/>
          <p:cNvSpPr txBox="1"/>
          <p:nvPr/>
        </p:nvSpPr>
        <p:spPr>
          <a:xfrm>
            <a:off x="9372600" y="1874520"/>
            <a:ext cx="2267712" cy="548640"/>
          </a:xfrm>
          <a:prstGeom prst="rect">
            <a:avLst/>
          </a:prstGeom>
          <a:noFill/>
          <a:ln/>
        </p:spPr>
        <p:txBody>
          <a:bodyPr wrap="square" lIns="0" tIns="0" rIns="0" bIns="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"RbR-LIQ-2026-0001"</a:t>
            </a:r>
            <a:endParaRPr lang="en-US" sz="1150" dirty="0"/>
          </a:p>
        </p:txBody>
      </p:sp>
      <p:sp>
        <p:nvSpPr>
          <p:cNvPr id="12" name="xave-1"/>
          <p:cNvSpPr/>
          <p:nvPr/>
        </p:nvSpPr>
        <p:spPr>
          <a:xfrm>
            <a:off x="7223760" y="2651760"/>
            <a:ext cx="1737360" cy="548640"/>
          </a:xfrm>
          <a:prstGeom prst="roundRect">
            <a:avLst>
              <a:gd name="adj" fmla="val 13333"/>
            </a:avLst>
          </a:prstGeom>
          <a:solidFill>
            <a:schemeClr val="accent3"/>
          </a:solidFill>
          <a:ln w="12700">
            <a:solidFill>
              <a:schemeClr val="accent3"/>
            </a:solidFill>
            <a:prstDash val="solid"/>
          </a:ln>
        </p:spPr>
      </p:sp>
      <p:sp>
        <p:nvSpPr>
          <p:cNvPr id="13" name="Text 11"/>
          <p:cNvSpPr txBox="1"/>
          <p:nvPr/>
        </p:nvSpPr>
        <p:spPr>
          <a:xfrm>
            <a:off x="7223760" y="2651760"/>
            <a:ext cx="1737360" cy="54864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"munisipiu"</a:t>
            </a:r>
            <a:endParaRPr lang="en-US" sz="1200" dirty="0"/>
          </a:p>
        </p:txBody>
      </p:sp>
      <p:sp>
        <p:nvSpPr>
          <p:cNvPr id="14" name="kv-seta-1"/>
          <p:cNvSpPr/>
          <p:nvPr/>
        </p:nvSpPr>
        <p:spPr>
          <a:xfrm>
            <a:off x="9006840" y="2926080"/>
            <a:ext cx="320040" cy="914"/>
          </a:xfrm>
          <a:prstGeom prst="line">
            <a:avLst/>
          </a:prstGeom>
          <a:noFill/>
          <a:ln w="15875">
            <a:solidFill>
              <a:srgbClr val="5E6B66"/>
            </a:solidFill>
            <a:prstDash val="solid"/>
            <a:tailEnd type="triangle"/>
          </a:ln>
        </p:spPr>
      </p:sp>
      <p:sp>
        <p:nvSpPr>
          <p:cNvPr id="15" name="valor-1"/>
          <p:cNvSpPr/>
          <p:nvPr/>
        </p:nvSpPr>
        <p:spPr>
          <a:xfrm>
            <a:off x="9372600" y="2651760"/>
            <a:ext cx="2267712" cy="548640"/>
          </a:xfrm>
          <a:prstGeom prst="roundRect">
            <a:avLst>
              <a:gd name="adj" fmla="val 13333"/>
            </a:avLst>
          </a:prstGeom>
          <a:solidFill>
            <a:schemeClr val="bg2"/>
          </a:solidFill>
          <a:ln w="15875">
            <a:solidFill>
              <a:schemeClr val="accent1"/>
            </a:solidFill>
            <a:prstDash val="solid"/>
          </a:ln>
        </p:spPr>
      </p:sp>
      <p:sp>
        <p:nvSpPr>
          <p:cNvPr id="16" name="Text 14"/>
          <p:cNvSpPr txBox="1"/>
          <p:nvPr/>
        </p:nvSpPr>
        <p:spPr>
          <a:xfrm>
            <a:off x="9372600" y="2651760"/>
            <a:ext cx="2267712" cy="548640"/>
          </a:xfrm>
          <a:prstGeom prst="rect">
            <a:avLst/>
          </a:prstGeom>
          <a:noFill/>
          <a:ln/>
        </p:spPr>
        <p:txBody>
          <a:bodyPr wrap="square" lIns="0" tIns="0" rIns="0" bIns="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"Liquiçá"</a:t>
            </a:r>
            <a:endParaRPr lang="en-US" sz="1150" dirty="0"/>
          </a:p>
        </p:txBody>
      </p:sp>
      <p:sp>
        <p:nvSpPr>
          <p:cNvPr id="17" name="xave-2"/>
          <p:cNvSpPr/>
          <p:nvPr/>
        </p:nvSpPr>
        <p:spPr>
          <a:xfrm>
            <a:off x="7223760" y="3429000"/>
            <a:ext cx="1737360" cy="548640"/>
          </a:xfrm>
          <a:prstGeom prst="roundRect">
            <a:avLst>
              <a:gd name="adj" fmla="val 13333"/>
            </a:avLst>
          </a:prstGeom>
          <a:solidFill>
            <a:schemeClr val="accent3"/>
          </a:solidFill>
          <a:ln w="12700">
            <a:solidFill>
              <a:schemeClr val="accent3"/>
            </a:solidFill>
            <a:prstDash val="solid"/>
          </a:ln>
        </p:spPr>
      </p:sp>
      <p:sp>
        <p:nvSpPr>
          <p:cNvPr id="18" name="Text 16"/>
          <p:cNvSpPr txBox="1"/>
          <p:nvPr/>
        </p:nvSpPr>
        <p:spPr>
          <a:xfrm>
            <a:off x="7223760" y="3429000"/>
            <a:ext cx="1737360" cy="54864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"ema"</a:t>
            </a:r>
            <a:endParaRPr lang="en-US" sz="1200" dirty="0"/>
          </a:p>
        </p:txBody>
      </p:sp>
      <p:sp>
        <p:nvSpPr>
          <p:cNvPr id="19" name="kv-seta-2"/>
          <p:cNvSpPr/>
          <p:nvPr/>
        </p:nvSpPr>
        <p:spPr>
          <a:xfrm>
            <a:off x="9006840" y="3703320"/>
            <a:ext cx="320040" cy="914"/>
          </a:xfrm>
          <a:prstGeom prst="line">
            <a:avLst/>
          </a:prstGeom>
          <a:noFill/>
          <a:ln w="15875">
            <a:solidFill>
              <a:srgbClr val="5E6B66"/>
            </a:solidFill>
            <a:prstDash val="solid"/>
            <a:tailEnd type="triangle"/>
          </a:ln>
        </p:spPr>
      </p:sp>
      <p:sp>
        <p:nvSpPr>
          <p:cNvPr id="20" name="valor-2"/>
          <p:cNvSpPr/>
          <p:nvPr/>
        </p:nvSpPr>
        <p:spPr>
          <a:xfrm>
            <a:off x="9372600" y="3429000"/>
            <a:ext cx="2267712" cy="548640"/>
          </a:xfrm>
          <a:prstGeom prst="roundRect">
            <a:avLst>
              <a:gd name="adj" fmla="val 13333"/>
            </a:avLst>
          </a:prstGeom>
          <a:solidFill>
            <a:schemeClr val="bg2"/>
          </a:solidFill>
          <a:ln w="15875">
            <a:solidFill>
              <a:schemeClr val="accent1"/>
            </a:solidFill>
            <a:prstDash val="solid"/>
          </a:ln>
        </p:spPr>
      </p:sp>
      <p:sp>
        <p:nvSpPr>
          <p:cNvPr id="21" name="Text 19"/>
          <p:cNvSpPr txBox="1"/>
          <p:nvPr/>
        </p:nvSpPr>
        <p:spPr>
          <a:xfrm>
            <a:off x="9372600" y="3429000"/>
            <a:ext cx="2267712" cy="548640"/>
          </a:xfrm>
          <a:prstGeom prst="rect">
            <a:avLst/>
          </a:prstGeom>
          <a:noFill/>
          <a:ln/>
        </p:spPr>
        <p:txBody>
          <a:bodyPr wrap="square" lIns="0" tIns="0" rIns="0" bIns="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45</a:t>
            </a:r>
            <a:endParaRPr lang="en-US" sz="1150" dirty="0"/>
          </a:p>
        </p:txBody>
      </p:sp>
      <p:sp>
        <p:nvSpPr>
          <p:cNvPr id="22" name="xave-3"/>
          <p:cNvSpPr/>
          <p:nvPr/>
        </p:nvSpPr>
        <p:spPr>
          <a:xfrm>
            <a:off x="7223760" y="4206240"/>
            <a:ext cx="1737360" cy="548640"/>
          </a:xfrm>
          <a:prstGeom prst="roundRect">
            <a:avLst>
              <a:gd name="adj" fmla="val 13333"/>
            </a:avLst>
          </a:prstGeom>
          <a:solidFill>
            <a:schemeClr val="accent3"/>
          </a:solidFill>
          <a:ln w="12700">
            <a:solidFill>
              <a:schemeClr val="accent3"/>
            </a:solidFill>
            <a:prstDash val="solid"/>
          </a:ln>
        </p:spPr>
      </p:sp>
      <p:sp>
        <p:nvSpPr>
          <p:cNvPr id="23" name="Text 21"/>
          <p:cNvSpPr txBox="1"/>
          <p:nvPr/>
        </p:nvSpPr>
        <p:spPr>
          <a:xfrm>
            <a:off x="7223760" y="4206240"/>
            <a:ext cx="1737360" cy="54864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"urjente"</a:t>
            </a:r>
            <a:endParaRPr lang="en-US" sz="1200" dirty="0"/>
          </a:p>
        </p:txBody>
      </p:sp>
      <p:sp>
        <p:nvSpPr>
          <p:cNvPr id="24" name="kv-seta-3"/>
          <p:cNvSpPr/>
          <p:nvPr/>
        </p:nvSpPr>
        <p:spPr>
          <a:xfrm>
            <a:off x="9006840" y="4480560"/>
            <a:ext cx="320040" cy="914"/>
          </a:xfrm>
          <a:prstGeom prst="line">
            <a:avLst/>
          </a:prstGeom>
          <a:noFill/>
          <a:ln w="15875">
            <a:solidFill>
              <a:srgbClr val="5E6B66"/>
            </a:solidFill>
            <a:prstDash val="solid"/>
            <a:tailEnd type="triangle"/>
          </a:ln>
        </p:spPr>
      </p:sp>
      <p:sp>
        <p:nvSpPr>
          <p:cNvPr id="25" name="valor-3"/>
          <p:cNvSpPr/>
          <p:nvPr/>
        </p:nvSpPr>
        <p:spPr>
          <a:xfrm>
            <a:off x="9372600" y="4206240"/>
            <a:ext cx="2267712" cy="548640"/>
          </a:xfrm>
          <a:prstGeom prst="roundRect">
            <a:avLst>
              <a:gd name="adj" fmla="val 13333"/>
            </a:avLst>
          </a:prstGeom>
          <a:solidFill>
            <a:schemeClr val="bg2"/>
          </a:solidFill>
          <a:ln w="15875">
            <a:solidFill>
              <a:schemeClr val="accent1"/>
            </a:solidFill>
            <a:prstDash val="solid"/>
          </a:ln>
        </p:spPr>
      </p:sp>
      <p:sp>
        <p:nvSpPr>
          <p:cNvPr id="26" name="Text 24"/>
          <p:cNvSpPr txBox="1"/>
          <p:nvPr/>
        </p:nvSpPr>
        <p:spPr>
          <a:xfrm>
            <a:off x="9372600" y="4206240"/>
            <a:ext cx="2267712" cy="548640"/>
          </a:xfrm>
          <a:prstGeom prst="rect">
            <a:avLst/>
          </a:prstGeom>
          <a:noFill/>
          <a:ln/>
        </p:spPr>
        <p:txBody>
          <a:bodyPr wrap="square" lIns="0" tIns="0" rIns="0" bIns="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True</a:t>
            </a:r>
            <a:endParaRPr lang="en-US" sz="1150" dirty="0"/>
          </a:p>
        </p:txBody>
      </p:sp>
      <p:sp>
        <p:nvSpPr>
          <p:cNvPr id="27" name="Text 25"/>
          <p:cNvSpPr txBox="1"/>
          <p:nvPr/>
        </p:nvSpPr>
        <p:spPr>
          <a:xfrm>
            <a:off x="7223760" y="5120640"/>
            <a:ext cx="4419295" cy="914400"/>
          </a:xfrm>
          <a:prstGeom prst="rect">
            <a:avLst/>
          </a:prstGeom>
          <a:noFill/>
          <a:ln/>
        </p:spPr>
        <p:txBody>
          <a:bodyPr wrap="square" lIns="0" tIns="0" rIns="0" bIns="0" rtlCol="0" anchor="t"/>
          <a:lstStyle/>
          <a:p>
            <a:pPr indent="0" marL="0">
              <a:buNone/>
            </a:pPr>
            <a:r>
              <a:rPr lang="en-US" sz="1500" i="1" dirty="0">
                <a:solidFill>
                  <a:srgbClr val="5E6B66"/>
                </a:solidFill>
              </a:rPr>
              <a:t>Hanesan formuláriu kazu: kada pergunta (xave) iha resposta (valór).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Lista kazu: kombina lista + dicionáriu + for</a:t>
            </a:r>
            <a:endParaRPr lang="en-US" sz="3000" dirty="0"/>
          </a:p>
        </p:txBody>
      </p:sp>
      <p:sp>
        <p:nvSpPr>
          <p:cNvPr id="3" name="k16"/>
          <p:cNvSpPr/>
          <p:nvPr/>
        </p:nvSpPr>
        <p:spPr>
          <a:xfrm>
            <a:off x="548640" y="1463040"/>
            <a:ext cx="7863840" cy="4709160"/>
          </a:xfrm>
          <a:prstGeom prst="roundRect">
            <a:avLst>
              <a:gd name="adj" fmla="val 1942"/>
            </a:avLst>
          </a:prstGeom>
          <a:solidFill>
            <a:schemeClr val="tx1"/>
          </a:solidFill>
          <a:ln w="12700">
            <a:solidFill>
              <a:schemeClr val="tx1"/>
            </a:solidFill>
            <a:prstDash val="solid"/>
          </a:ln>
        </p:spPr>
      </p:sp>
      <p:sp>
        <p:nvSpPr>
          <p:cNvPr id="4" name="k16-t"/>
          <p:cNvSpPr txBox="1"/>
          <p:nvPr/>
        </p:nvSpPr>
        <p:spPr>
          <a:xfrm>
            <a:off x="822960" y="1691640"/>
            <a:ext cx="7315200" cy="4251960"/>
          </a:xfrm>
          <a:prstGeom prst="rect">
            <a:avLst/>
          </a:prstGeom>
          <a:noFill/>
          <a:ln/>
        </p:spPr>
        <p:txBody>
          <a:bodyPr wrap="square" lIns="0" tIns="0" rIns="0" bIns="0" rtlCol="0" anchor="t"/>
          <a:lstStyle/>
          <a:p>
            <a:pPr indent="0" marL="0">
              <a:buNone/>
            </a:pPr>
            <a:r>
              <a:rPr lang="en-US" sz="1350" dirty="0">
                <a:solidFill>
                  <a:schemeClr val="bg1"/>
                </a:solidFill>
                <a:latin typeface="Courier New" pitchFamily="34" charset="0"/>
                <a:ea typeface="Courier New" pitchFamily="34" charset="-122"/>
                <a:cs typeface="Courier New" pitchFamily="34" charset="-120"/>
              </a:rPr>
              <a:t>kazu_hotu = [</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{"munisipiu": "Liquiçá", "ema": 45, "urjente": True},</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{"munisipiu": "Dili",    "ema": 12, "urjente": False},</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{"munisipiu": "Baucau",  "ema": 80, "urjente": True},</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total_ema = 0</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n_urjente = 0</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for k in kazu_hotu:</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total_ema = total_ema + k["ema"]</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if k["urjente"]:</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n_urjente = n_urjente + 1</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print(f"Kazu: {len(kazu_hotu)}")</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print(f"Ema: {total_ema}")</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print(f"Urjente: {n_urjente}")</a:t>
            </a:r>
            <a:endParaRPr lang="en-US" sz="1350" dirty="0"/>
          </a:p>
        </p:txBody>
      </p:sp>
      <p:sp>
        <p:nvSpPr>
          <p:cNvPr id="5" name="r16"/>
          <p:cNvSpPr/>
          <p:nvPr/>
        </p:nvSpPr>
        <p:spPr>
          <a:xfrm>
            <a:off x="8641080" y="1463040"/>
            <a:ext cx="3001975" cy="1783080"/>
          </a:xfrm>
          <a:prstGeom prst="roundRect">
            <a:avLst>
              <a:gd name="adj" fmla="val 5128"/>
            </a:avLst>
          </a:prstGeom>
          <a:solidFill>
            <a:schemeClr val="bg2"/>
          </a:solidFill>
          <a:ln w="15875">
            <a:solidFill>
              <a:schemeClr val="accent1"/>
            </a:solidFill>
            <a:prstDash val="solid"/>
          </a:ln>
        </p:spPr>
      </p:sp>
      <p:sp>
        <p:nvSpPr>
          <p:cNvPr id="6" name="r16-l"/>
          <p:cNvSpPr txBox="1"/>
          <p:nvPr/>
        </p:nvSpPr>
        <p:spPr>
          <a:xfrm>
            <a:off x="8915400" y="1627632"/>
            <a:ext cx="2453335" cy="274320"/>
          </a:xfrm>
          <a:prstGeom prst="rect">
            <a:avLst/>
          </a:prstGeom>
          <a:noFill/>
          <a:ln/>
        </p:spPr>
        <p:txBody>
          <a:bodyPr wrap="square" lIns="0" tIns="0" rIns="0" bIns="0" rtlCol="0" anchor="t"/>
          <a:lstStyle/>
          <a:p>
            <a:pPr indent="0" marL="0">
              <a:buNone/>
            </a:pPr>
            <a:r>
              <a:rPr lang="en-US" sz="1200" b="1" dirty="0">
                <a:solidFill>
                  <a:schemeClr val="accent1"/>
                </a:solidFill>
              </a:rPr>
              <a:t>Rezultadu</a:t>
            </a:r>
            <a:endParaRPr lang="en-US" sz="1200" dirty="0"/>
          </a:p>
        </p:txBody>
      </p:sp>
      <p:sp>
        <p:nvSpPr>
          <p:cNvPr id="7" name="r16-t"/>
          <p:cNvSpPr txBox="1"/>
          <p:nvPr/>
        </p:nvSpPr>
        <p:spPr>
          <a:xfrm>
            <a:off x="8915400" y="1920240"/>
            <a:ext cx="2453335" cy="118872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Kazu: 3</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Ema: 137</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Urjente: 2</a:t>
            </a:r>
            <a:endParaRPr lang="en-US" sz="1500" dirty="0"/>
          </a:p>
        </p:txBody>
      </p:sp>
      <p:sp>
        <p:nvSpPr>
          <p:cNvPr id="8" name="Text 6"/>
          <p:cNvSpPr txBox="1"/>
          <p:nvPr/>
        </p:nvSpPr>
        <p:spPr>
          <a:xfrm>
            <a:off x="8641080" y="3520440"/>
            <a:ext cx="3001975"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Variável total kahur kada volta.</a:t>
            </a:r>
            <a:endParaRPr lang="en-US" sz="1500" dirty="0"/>
          </a:p>
          <a:p>
            <a:pPr marL="342900" indent="-342900">
              <a:spcAft>
                <a:spcPts val="1000"/>
              </a:spcAft>
              <a:buSzPct val="100000"/>
              <a:buChar char="•"/>
            </a:pPr>
            <a:r>
              <a:rPr lang="en-US" sz="1500" dirty="0">
                <a:solidFill>
                  <a:schemeClr val="tx1"/>
                </a:solidFill>
              </a:rPr>
              <a:t>if iha laran for: konta de'it kazu urjente.</a:t>
            </a:r>
            <a:endParaRPr lang="en-US" sz="1500" dirty="0"/>
          </a:p>
          <a:p>
            <a:pPr marL="342900" indent="-342900">
              <a:spcAft>
                <a:spcPts val="1000"/>
              </a:spcAft>
              <a:buSzPct val="100000"/>
              <a:buChar char="•"/>
            </a:pPr>
            <a:r>
              <a:rPr lang="en-US" sz="1500" dirty="0">
                <a:solidFill>
                  <a:schemeClr val="tx1"/>
                </a:solidFill>
              </a:rPr>
              <a:t>Ida-ne'e hanesan dashboard SIBAR-RbR kalkula númeru sira.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Ezersísiu 2: Kazu kada munisípiu</a:t>
            </a:r>
            <a:endParaRPr lang="en-US" sz="3000" dirty="0"/>
          </a:p>
        </p:txBody>
      </p:sp>
      <p:sp>
        <p:nvSpPr>
          <p:cNvPr id="3" name="ez-ik-sirkulu"/>
          <p:cNvSpPr/>
          <p:nvPr/>
        </p:nvSpPr>
        <p:spPr>
          <a:xfrm>
            <a:off x="548640" y="1417320"/>
            <a:ext cx="1005840" cy="1005840"/>
          </a:xfrm>
          <a:prstGeom prst="ellipse">
            <a:avLst/>
          </a:prstGeom>
          <a:solidFill>
            <a:schemeClr val="accent3"/>
          </a:solidFill>
          <a:ln w="12700">
            <a:solidFill>
              <a:schemeClr val="accent3"/>
            </a:solidFill>
            <a:prstDash val="solid"/>
          </a:ln>
        </p:spPr>
      </p:sp>
      <p:pic>
        <p:nvPicPr>
          <p:cNvPr id="4" name="ez-ik-ikone" descr="preencoded.png">    </p:cNvPr>
          <p:cNvPicPr>
            <a:picLocks noChangeAspect="1"/>
          </p:cNvPicPr>
          <p:nvPr/>
        </p:nvPicPr>
        <p:blipFill>
          <a:blip r:embed="rId1"/>
          <a:stretch>
            <a:fillRect/>
          </a:stretch>
        </p:blipFill>
        <p:spPr>
          <a:xfrm>
            <a:off x="790042" y="1658722"/>
            <a:ext cx="523037" cy="523037"/>
          </a:xfrm>
          <a:prstGeom prst="rect">
            <a:avLst/>
          </a:prstGeom>
        </p:spPr>
      </p:pic>
      <p:sp>
        <p:nvSpPr>
          <p:cNvPr id="5" name="Text 2"/>
          <p:cNvSpPr txBox="1"/>
          <p:nvPr/>
        </p:nvSpPr>
        <p:spPr>
          <a:xfrm>
            <a:off x="1783080" y="1463040"/>
            <a:ext cx="4572000" cy="365760"/>
          </a:xfrm>
          <a:prstGeom prst="rect">
            <a:avLst/>
          </a:prstGeom>
          <a:noFill/>
          <a:ln/>
        </p:spPr>
        <p:txBody>
          <a:bodyPr wrap="square" lIns="0" tIns="0" rIns="0" bIns="0" rtlCol="0" anchor="t"/>
          <a:lstStyle/>
          <a:p>
            <a:pPr indent="0" marL="0">
              <a:buNone/>
            </a:pPr>
            <a:r>
              <a:rPr lang="en-US" sz="2000" b="1" dirty="0">
                <a:solidFill>
                  <a:schemeClr val="accent3"/>
                </a:solidFill>
              </a:rPr>
              <a:t>Knaar</a:t>
            </a:r>
            <a:endParaRPr lang="en-US" sz="2000" dirty="0"/>
          </a:p>
        </p:txBody>
      </p:sp>
      <p:sp>
        <p:nvSpPr>
          <p:cNvPr id="6" name="Text 3"/>
          <p:cNvSpPr txBox="1"/>
          <p:nvPr/>
        </p:nvSpPr>
        <p:spPr>
          <a:xfrm>
            <a:off x="1783080" y="1874520"/>
            <a:ext cx="4572000" cy="320040"/>
          </a:xfrm>
          <a:prstGeom prst="rect">
            <a:avLst/>
          </a:prstGeom>
          <a:noFill/>
          <a:ln/>
        </p:spPr>
        <p:txBody>
          <a:bodyPr wrap="square" lIns="0" tIns="0" rIns="0" bIns="0" rtlCol="0" anchor="t"/>
          <a:lstStyle/>
          <a:p>
            <a:pPr indent="0" marL="0">
              <a:buNone/>
            </a:pPr>
            <a:r>
              <a:rPr lang="en-US" sz="1300" dirty="0">
                <a:solidFill>
                  <a:srgbClr val="5E6B66"/>
                </a:solidFill>
              </a:rPr>
              <a:t>Tempu: minutu 15 · servisu iha pár</a:t>
            </a:r>
            <a:endParaRPr lang="en-US" sz="1300" dirty="0"/>
          </a:p>
        </p:txBody>
      </p:sp>
      <p:sp>
        <p:nvSpPr>
          <p:cNvPr id="7" name="ez-karta"/>
          <p:cNvSpPr/>
          <p:nvPr/>
        </p:nvSpPr>
        <p:spPr>
          <a:xfrm>
            <a:off x="548640" y="2651760"/>
            <a:ext cx="6035040" cy="3474720"/>
          </a:xfrm>
          <a:prstGeom prst="roundRect">
            <a:avLst>
              <a:gd name="adj" fmla="val 3158"/>
            </a:avLst>
          </a:prstGeom>
          <a:solidFill>
            <a:schemeClr val="bg1"/>
          </a:solidFill>
          <a:ln w="12700">
            <a:solidFill>
              <a:schemeClr val="bg1"/>
            </a:solidFill>
            <a:prstDash val="solid"/>
          </a:ln>
        </p:spPr>
      </p:sp>
      <p:sp>
        <p:nvSpPr>
          <p:cNvPr id="8" name="Text 5"/>
          <p:cNvSpPr txBox="1"/>
          <p:nvPr/>
        </p:nvSpPr>
        <p:spPr>
          <a:xfrm>
            <a:off x="822960" y="2834640"/>
            <a:ext cx="5486400" cy="31089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700" dirty="0">
                <a:solidFill>
                  <a:schemeClr val="tx1"/>
                </a:solidFill>
              </a:rPr>
              <a:t>Kopia lista kazu_hotu husi slide antes, aumenta kazu 2 tan.</a:t>
            </a:r>
            <a:endParaRPr lang="en-US" sz="1700" dirty="0"/>
          </a:p>
          <a:p>
            <a:pPr marL="342900" indent="-342900">
              <a:spcAft>
                <a:spcPts val="1200"/>
              </a:spcAft>
              <a:buSzPct val="100000"/>
              <a:buFont typeface="+mj-lt"/>
              <a:buAutoNum type="arabicPeriod" startAt="1"/>
            </a:pPr>
            <a:r>
              <a:rPr lang="en-US" sz="1700" dirty="0">
                <a:solidFill>
                  <a:schemeClr val="tx1"/>
                </a:solidFill>
              </a:rPr>
              <a:t>Kria dicionáriu mamuk: kada_mun = {}</a:t>
            </a:r>
            <a:endParaRPr lang="en-US" sz="1700" dirty="0"/>
          </a:p>
          <a:p>
            <a:pPr marL="342900" indent="-342900">
              <a:spcAft>
                <a:spcPts val="1200"/>
              </a:spcAft>
              <a:buSzPct val="100000"/>
              <a:buFont typeface="+mj-lt"/>
              <a:buAutoNum type="arabicPeriod" startAt="1"/>
            </a:pPr>
            <a:r>
              <a:rPr lang="en-US" sz="1700" dirty="0">
                <a:solidFill>
                  <a:schemeClr val="tx1"/>
                </a:solidFill>
              </a:rPr>
              <a:t>Uza for atu konta kazu hira iha kada munisípiu.</a:t>
            </a:r>
            <a:endParaRPr lang="en-US" sz="1700" dirty="0"/>
          </a:p>
          <a:p>
            <a:pPr marL="342900" indent="-342900">
              <a:spcAft>
                <a:spcPts val="1200"/>
              </a:spcAft>
              <a:buSzPct val="100000"/>
              <a:buFont typeface="+mj-lt"/>
              <a:buAutoNum type="arabicPeriod" startAt="1"/>
            </a:pPr>
            <a:r>
              <a:rPr lang="en-US" sz="1700" dirty="0">
                <a:solidFill>
                  <a:schemeClr val="tx1"/>
                </a:solidFill>
              </a:rPr>
              <a:t>Imprime munisípiu ida-idak ho nia total.</a:t>
            </a:r>
            <a:endParaRPr lang="en-US" sz="1700" dirty="0"/>
          </a:p>
          <a:p>
            <a:pPr marL="342900" indent="-342900">
              <a:spcAft>
                <a:spcPts val="1200"/>
              </a:spcAft>
              <a:buSzPct val="100000"/>
              <a:buFont typeface="+mj-lt"/>
              <a:buAutoNum type="arabicPeriod" startAt="1"/>
            </a:pPr>
            <a:r>
              <a:rPr lang="en-US" sz="1700" dirty="0">
                <a:solidFill>
                  <a:schemeClr val="tx1"/>
                </a:solidFill>
              </a:rPr>
              <a:t>Bónus: imprime de'it munisípiu ho ema &gt; 50.</a:t>
            </a:r>
            <a:endParaRPr lang="en-US" sz="1700" dirty="0"/>
          </a:p>
        </p:txBody>
      </p:sp>
      <p:sp>
        <p:nvSpPr>
          <p:cNvPr id="9" name="ez-kodigu"/>
          <p:cNvSpPr/>
          <p:nvPr/>
        </p:nvSpPr>
        <p:spPr>
          <a:xfrm>
            <a:off x="6812280" y="1417320"/>
            <a:ext cx="4830775" cy="4709160"/>
          </a:xfrm>
          <a:prstGeom prst="roundRect">
            <a:avLst>
              <a:gd name="adj" fmla="val 1942"/>
            </a:avLst>
          </a:prstGeom>
          <a:solidFill>
            <a:schemeClr val="tx1"/>
          </a:solidFill>
          <a:ln w="12700">
            <a:solidFill>
              <a:schemeClr val="tx1"/>
            </a:solidFill>
            <a:prstDash val="solid"/>
          </a:ln>
        </p:spPr>
      </p:sp>
      <p:sp>
        <p:nvSpPr>
          <p:cNvPr id="10" name="ez-kodigu-t"/>
          <p:cNvSpPr txBox="1"/>
          <p:nvPr/>
        </p:nvSpPr>
        <p:spPr>
          <a:xfrm>
            <a:off x="7086600" y="1645920"/>
            <a:ext cx="4282135" cy="42519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kada_mun =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for k in kazu_hotu:</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 = k["munisipiu"]</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if m in kada_mun:</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kada_mun[m] = kada_mun[m] + 1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else: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kada_mun[m] = 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for m, n in kada_mun.items():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print(f"{m}: {n}")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Funsaun: hakerek dala ida, uza dala barak</a:t>
            </a:r>
            <a:endParaRPr lang="en-US" sz="3000" dirty="0"/>
          </a:p>
        </p:txBody>
      </p:sp>
      <p:sp>
        <p:nvSpPr>
          <p:cNvPr id="3" name="f-tama"/>
          <p:cNvSpPr/>
          <p:nvPr/>
        </p:nvSpPr>
        <p:spPr>
          <a:xfrm>
            <a:off x="548640" y="1874520"/>
            <a:ext cx="1828800" cy="822960"/>
          </a:xfrm>
          <a:prstGeom prst="roundRect">
            <a:avLst>
              <a:gd name="adj" fmla="val 11111"/>
            </a:avLst>
          </a:prstGeom>
          <a:solidFill>
            <a:schemeClr val="bg2"/>
          </a:solidFill>
          <a:ln w="19050">
            <a:solidFill>
              <a:schemeClr val="accent5"/>
            </a:solidFill>
            <a:prstDash val="solid"/>
          </a:ln>
        </p:spPr>
      </p:sp>
      <p:sp>
        <p:nvSpPr>
          <p:cNvPr id="4" name="Text 2"/>
          <p:cNvSpPr txBox="1"/>
          <p:nvPr/>
        </p:nvSpPr>
        <p:spPr>
          <a:xfrm>
            <a:off x="548640" y="1874520"/>
            <a:ext cx="1828800" cy="82296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mane=20</a:t>
            </a:r>
            <a:endParaRPr lang="en-US" sz="1400" dirty="0"/>
          </a:p>
          <a:p>
            <a:pPr algn="ctr" indent="0" marL="0">
              <a:buNone/>
            </a:pPr>
            <a:r>
              <a:rPr lang="en-US" sz="1400" b="1" dirty="0">
                <a:solidFill>
                  <a:schemeClr val="tx1"/>
                </a:solidFill>
                <a:latin typeface="Courier New" pitchFamily="34" charset="0"/>
                <a:ea typeface="Courier New" pitchFamily="34" charset="-122"/>
                <a:cs typeface="Courier New" pitchFamily="34" charset="-120"/>
              </a:rPr>
              <a:t>feto=25</a:t>
            </a:r>
            <a:endParaRPr lang="en-US" sz="1400" dirty="0"/>
          </a:p>
        </p:txBody>
      </p:sp>
      <p:sp>
        <p:nvSpPr>
          <p:cNvPr id="5" name="f-seta1"/>
          <p:cNvSpPr/>
          <p:nvPr/>
        </p:nvSpPr>
        <p:spPr>
          <a:xfrm>
            <a:off x="2423160" y="2286000"/>
            <a:ext cx="640080" cy="914"/>
          </a:xfrm>
          <a:prstGeom prst="line">
            <a:avLst/>
          </a:prstGeom>
          <a:noFill/>
          <a:ln w="22225">
            <a:solidFill>
              <a:schemeClr val="tx2"/>
            </a:solidFill>
            <a:prstDash val="solid"/>
            <a:tailEnd type="triangle"/>
          </a:ln>
        </p:spPr>
      </p:sp>
      <p:sp>
        <p:nvSpPr>
          <p:cNvPr id="6" name="f-maquina"/>
          <p:cNvSpPr/>
          <p:nvPr/>
        </p:nvSpPr>
        <p:spPr>
          <a:xfrm>
            <a:off x="3108960" y="1600200"/>
            <a:ext cx="2286000" cy="1371600"/>
          </a:xfrm>
          <a:prstGeom prst="roundRect">
            <a:avLst>
              <a:gd name="adj" fmla="val 10000"/>
            </a:avLst>
          </a:prstGeom>
          <a:solidFill>
            <a:schemeClr val="accent5"/>
          </a:solidFill>
          <a:ln w="12700">
            <a:solidFill>
              <a:schemeClr val="accent5"/>
            </a:solidFill>
            <a:prstDash val="solid"/>
          </a:ln>
        </p:spPr>
      </p:sp>
      <p:sp>
        <p:nvSpPr>
          <p:cNvPr id="7" name="Text 5"/>
          <p:cNvSpPr txBox="1"/>
          <p:nvPr/>
        </p:nvSpPr>
        <p:spPr>
          <a:xfrm>
            <a:off x="3108960" y="1600200"/>
            <a:ext cx="2286000" cy="1371600"/>
          </a:xfrm>
          <a:prstGeom prst="rect">
            <a:avLst/>
          </a:prstGeom>
          <a:noFill/>
          <a:ln/>
        </p:spPr>
        <p:txBody>
          <a:bodyPr wrap="square" lIns="0" tIns="0" rIns="0" bIns="0" rtlCol="0" anchor="ctr"/>
          <a:lstStyle/>
          <a:p>
            <a:pPr algn="ctr" indent="0" marL="0">
              <a:buNone/>
            </a:pPr>
            <a:r>
              <a:rPr lang="en-US" sz="1700" b="1" dirty="0">
                <a:solidFill>
                  <a:schemeClr val="bg1"/>
                </a:solidFill>
                <a:latin typeface="Courier New" pitchFamily="34" charset="0"/>
                <a:ea typeface="Courier New" pitchFamily="34" charset="-122"/>
                <a:cs typeface="Courier New" pitchFamily="34" charset="-120"/>
              </a:rPr>
              <a:t>total_ema()</a:t>
            </a:r>
            <a:endParaRPr lang="en-US" sz="1700" dirty="0"/>
          </a:p>
          <a:p>
            <a:pPr algn="ctr" indent="0" marL="0">
              <a:buNone/>
            </a:pPr>
            <a:r>
              <a:rPr lang="en-US" sz="1300" b="1" dirty="0">
                <a:solidFill>
                  <a:schemeClr val="bg1"/>
                </a:solidFill>
              </a:rPr>
              <a:t>funsaun</a:t>
            </a:r>
            <a:endParaRPr lang="en-US" sz="1700" dirty="0"/>
          </a:p>
        </p:txBody>
      </p:sp>
      <p:sp>
        <p:nvSpPr>
          <p:cNvPr id="8" name="f-seta2"/>
          <p:cNvSpPr/>
          <p:nvPr/>
        </p:nvSpPr>
        <p:spPr>
          <a:xfrm>
            <a:off x="5440680" y="2286000"/>
            <a:ext cx="640080" cy="914"/>
          </a:xfrm>
          <a:prstGeom prst="line">
            <a:avLst/>
          </a:prstGeom>
          <a:noFill/>
          <a:ln w="22225">
            <a:solidFill>
              <a:schemeClr val="tx2"/>
            </a:solidFill>
            <a:prstDash val="solid"/>
            <a:tailEnd type="triangle"/>
          </a:ln>
        </p:spPr>
      </p:sp>
      <p:sp>
        <p:nvSpPr>
          <p:cNvPr id="9" name="f-sai"/>
          <p:cNvSpPr/>
          <p:nvPr/>
        </p:nvSpPr>
        <p:spPr>
          <a:xfrm>
            <a:off x="6126480" y="1874520"/>
            <a:ext cx="1097280" cy="822960"/>
          </a:xfrm>
          <a:prstGeom prst="roundRect">
            <a:avLst>
              <a:gd name="adj" fmla="val 11111"/>
            </a:avLst>
          </a:prstGeom>
          <a:solidFill>
            <a:schemeClr val="accent1"/>
          </a:solidFill>
          <a:ln w="12700">
            <a:solidFill>
              <a:schemeClr val="accent1"/>
            </a:solidFill>
            <a:prstDash val="solid"/>
          </a:ln>
        </p:spPr>
      </p:sp>
      <p:sp>
        <p:nvSpPr>
          <p:cNvPr id="10" name="Text 8"/>
          <p:cNvSpPr txBox="1"/>
          <p:nvPr/>
        </p:nvSpPr>
        <p:spPr>
          <a:xfrm>
            <a:off x="6126480" y="1874520"/>
            <a:ext cx="1097280" cy="822960"/>
          </a:xfrm>
          <a:prstGeom prst="rect">
            <a:avLst/>
          </a:prstGeom>
          <a:no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45</a:t>
            </a:r>
            <a:endParaRPr lang="en-US" sz="2200" dirty="0"/>
          </a:p>
        </p:txBody>
      </p:sp>
      <p:sp>
        <p:nvSpPr>
          <p:cNvPr id="11" name="k18"/>
          <p:cNvSpPr/>
          <p:nvPr/>
        </p:nvSpPr>
        <p:spPr>
          <a:xfrm>
            <a:off x="548640" y="3337560"/>
            <a:ext cx="6675120" cy="2834640"/>
          </a:xfrm>
          <a:prstGeom prst="roundRect">
            <a:avLst>
              <a:gd name="adj" fmla="val 3226"/>
            </a:avLst>
          </a:prstGeom>
          <a:solidFill>
            <a:schemeClr val="tx1"/>
          </a:solidFill>
          <a:ln w="12700">
            <a:solidFill>
              <a:schemeClr val="tx1"/>
            </a:solidFill>
            <a:prstDash val="solid"/>
          </a:ln>
        </p:spPr>
      </p:sp>
      <p:sp>
        <p:nvSpPr>
          <p:cNvPr id="12" name="k18-t"/>
          <p:cNvSpPr txBox="1"/>
          <p:nvPr/>
        </p:nvSpPr>
        <p:spPr>
          <a:xfrm>
            <a:off x="822960" y="3566160"/>
            <a:ext cx="6126480" cy="237744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def total_ema(mane, feto):</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"""Soma mane no feto."""</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return mane + feto</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print(total_ema(20, 25))</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print(total_ema(8, 11))</a:t>
            </a:r>
            <a:endParaRPr lang="en-US" sz="1500" dirty="0"/>
          </a:p>
        </p:txBody>
      </p:sp>
      <p:sp>
        <p:nvSpPr>
          <p:cNvPr id="13" name="Text 11"/>
          <p:cNvSpPr txBox="1"/>
          <p:nvPr/>
        </p:nvSpPr>
        <p:spPr>
          <a:xfrm>
            <a:off x="7635240" y="1600200"/>
            <a:ext cx="4007815" cy="301752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2"/>
                </a:solidFill>
              </a:rPr>
              <a:t>def</a:t>
            </a:r>
            <a:pPr indent="0" marL="0">
              <a:spcAft>
                <a:spcPts val="1000"/>
              </a:spcAft>
              <a:buNone/>
            </a:pPr>
            <a:r>
              <a:rPr lang="en-US" sz="1600" dirty="0">
                <a:solidFill>
                  <a:schemeClr val="tx1"/>
                </a:solidFill>
              </a:rPr>
              <a:t> kria funsaun foun ho naran.</a:t>
            </a:r>
            <a:endParaRPr lang="en-US" sz="1600" dirty="0"/>
          </a:p>
          <a:p>
            <a:pPr marL="342900" indent="-342900">
              <a:spcAft>
                <a:spcPts val="1000"/>
              </a:spcAft>
              <a:buSzPct val="100000"/>
              <a:buChar char="•"/>
            </a:pPr>
            <a:r>
              <a:rPr lang="en-US" sz="1600" b="1" dirty="0">
                <a:solidFill>
                  <a:schemeClr val="tx2"/>
                </a:solidFill>
              </a:rPr>
              <a:t>Parámetru</a:t>
            </a:r>
            <a:pPr indent="0" marL="0">
              <a:spcAft>
                <a:spcPts val="1000"/>
              </a:spcAft>
              <a:buNone/>
            </a:pPr>
            <a:r>
              <a:rPr lang="en-US" sz="1600" dirty="0">
                <a:solidFill>
                  <a:schemeClr val="tx1"/>
                </a:solidFill>
              </a:rPr>
              <a:t> valór ne'ebé tama (mane, feto).</a:t>
            </a:r>
            <a:endParaRPr lang="en-US" sz="1600" dirty="0"/>
          </a:p>
          <a:p>
            <a:pPr marL="342900" indent="-342900">
              <a:spcAft>
                <a:spcPts val="1000"/>
              </a:spcAft>
              <a:buSzPct val="100000"/>
              <a:buChar char="•"/>
            </a:pPr>
            <a:r>
              <a:rPr lang="en-US" sz="1600" b="1" dirty="0">
                <a:solidFill>
                  <a:schemeClr val="tx2"/>
                </a:solidFill>
              </a:rPr>
              <a:t>return</a:t>
            </a:r>
            <a:pPr indent="0" marL="0">
              <a:spcAft>
                <a:spcPts val="1000"/>
              </a:spcAft>
              <a:buNone/>
            </a:pPr>
            <a:r>
              <a:rPr lang="en-US" sz="1600" dirty="0">
                <a:solidFill>
                  <a:schemeClr val="tx1"/>
                </a:solidFill>
              </a:rPr>
              <a:t> fó rezultadu fila fali.</a:t>
            </a:r>
            <a:endParaRPr lang="en-US" sz="1600" dirty="0"/>
          </a:p>
          <a:p>
            <a:pPr marL="342900" indent="-342900">
              <a:spcAft>
                <a:spcPts val="1000"/>
              </a:spcAft>
              <a:buSzPct val="100000"/>
              <a:buChar char="•"/>
            </a:pPr>
            <a:r>
              <a:rPr lang="en-US" sz="1600" b="1" dirty="0">
                <a:solidFill>
                  <a:schemeClr val="tx2"/>
                </a:solidFill>
              </a:rPr>
              <a:t>Vantajen</a:t>
            </a:r>
            <a:pPr indent="0" marL="0">
              <a:spcAft>
                <a:spcPts val="1000"/>
              </a:spcAft>
              <a:buNone/>
            </a:pPr>
            <a:r>
              <a:rPr lang="en-US" sz="1600" dirty="0">
                <a:solidFill>
                  <a:schemeClr val="tx1"/>
                </a:solidFill>
              </a:rPr>
              <a:t> la repete kódigu; fásil atu hadi'a.</a:t>
            </a:r>
            <a:endParaRPr lang="en-US" sz="1600" dirty="0"/>
          </a:p>
        </p:txBody>
      </p:sp>
      <p:sp>
        <p:nvSpPr>
          <p:cNvPr id="14" name="r18"/>
          <p:cNvSpPr/>
          <p:nvPr/>
        </p:nvSpPr>
        <p:spPr>
          <a:xfrm>
            <a:off x="7635240" y="4892040"/>
            <a:ext cx="4007815" cy="1280160"/>
          </a:xfrm>
          <a:prstGeom prst="roundRect">
            <a:avLst>
              <a:gd name="adj" fmla="val 7143"/>
            </a:avLst>
          </a:prstGeom>
          <a:solidFill>
            <a:schemeClr val="bg2"/>
          </a:solidFill>
          <a:ln w="15875">
            <a:solidFill>
              <a:schemeClr val="accent1"/>
            </a:solidFill>
            <a:prstDash val="solid"/>
          </a:ln>
        </p:spPr>
      </p:sp>
      <p:sp>
        <p:nvSpPr>
          <p:cNvPr id="15" name="r18-l"/>
          <p:cNvSpPr txBox="1"/>
          <p:nvPr/>
        </p:nvSpPr>
        <p:spPr>
          <a:xfrm>
            <a:off x="7909560" y="5056632"/>
            <a:ext cx="3459175" cy="274320"/>
          </a:xfrm>
          <a:prstGeom prst="rect">
            <a:avLst/>
          </a:prstGeom>
          <a:noFill/>
          <a:ln/>
        </p:spPr>
        <p:txBody>
          <a:bodyPr wrap="square" lIns="0" tIns="0" rIns="0" bIns="0" rtlCol="0" anchor="t"/>
          <a:lstStyle/>
          <a:p>
            <a:pPr indent="0" marL="0">
              <a:buNone/>
            </a:pPr>
            <a:r>
              <a:rPr lang="en-US" sz="1200" b="1" dirty="0">
                <a:solidFill>
                  <a:schemeClr val="accent1"/>
                </a:solidFill>
              </a:rPr>
              <a:t>Rezultadu</a:t>
            </a:r>
            <a:endParaRPr lang="en-US" sz="1200" dirty="0"/>
          </a:p>
        </p:txBody>
      </p:sp>
      <p:sp>
        <p:nvSpPr>
          <p:cNvPr id="16" name="r18-t"/>
          <p:cNvSpPr txBox="1"/>
          <p:nvPr/>
        </p:nvSpPr>
        <p:spPr>
          <a:xfrm>
            <a:off x="7909560" y="5349240"/>
            <a:ext cx="3459175" cy="68580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45</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19</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Erru la'ós problema: lee no hadi'a</a:t>
            </a:r>
            <a:endParaRPr lang="en-US" sz="3000" dirty="0"/>
          </a:p>
        </p:txBody>
      </p:sp>
      <p:sp>
        <p:nvSpPr>
          <p:cNvPr id="3" name="erru-0"/>
          <p:cNvSpPr/>
          <p:nvPr/>
        </p:nvSpPr>
        <p:spPr>
          <a:xfrm>
            <a:off x="548640" y="1417320"/>
            <a:ext cx="5410048" cy="1965960"/>
          </a:xfrm>
          <a:prstGeom prst="roundRect">
            <a:avLst>
              <a:gd name="adj" fmla="val 5581"/>
            </a:avLst>
          </a:prstGeom>
          <a:solidFill>
            <a:schemeClr val="bg2"/>
          </a:solidFill>
          <a:ln w="12700">
            <a:solidFill>
              <a:schemeClr val="bg2"/>
            </a:solidFill>
            <a:prstDash val="solid"/>
          </a:ln>
        </p:spPr>
      </p:sp>
      <p:sp>
        <p:nvSpPr>
          <p:cNvPr id="4" name="Text 2"/>
          <p:cNvSpPr txBox="1"/>
          <p:nvPr/>
        </p:nvSpPr>
        <p:spPr>
          <a:xfrm>
            <a:off x="822960" y="1600200"/>
            <a:ext cx="4861408" cy="411480"/>
          </a:xfrm>
          <a:prstGeom prst="rect">
            <a:avLst/>
          </a:prstGeom>
          <a:noFill/>
          <a:ln/>
        </p:spPr>
        <p:txBody>
          <a:bodyPr wrap="square" lIns="0" tIns="0" rIns="0" bIns="0" rtlCol="0" anchor="t"/>
          <a:lstStyle/>
          <a:p>
            <a:pPr indent="0" marL="0">
              <a:buNone/>
            </a:pPr>
            <a:r>
              <a:rPr lang="en-US" sz="1900" b="1" dirty="0">
                <a:solidFill>
                  <a:schemeClr val="accent4"/>
                </a:solidFill>
                <a:latin typeface="Courier New" pitchFamily="34" charset="0"/>
                <a:ea typeface="Courier New" pitchFamily="34" charset="-122"/>
                <a:cs typeface="Courier New" pitchFamily="34" charset="-120"/>
              </a:rPr>
              <a:t>SyntaxError</a:t>
            </a:r>
            <a:endParaRPr lang="en-US" sz="1900" dirty="0"/>
          </a:p>
        </p:txBody>
      </p:sp>
      <p:sp>
        <p:nvSpPr>
          <p:cNvPr id="5" name="Text 3"/>
          <p:cNvSpPr txBox="1"/>
          <p:nvPr/>
        </p:nvSpPr>
        <p:spPr>
          <a:xfrm>
            <a:off x="822960" y="2057400"/>
            <a:ext cx="4861408" cy="457200"/>
          </a:xfrm>
          <a:prstGeom prst="rect">
            <a:avLst/>
          </a:prstGeom>
          <a:noFill/>
          <a:ln/>
        </p:spPr>
        <p:txBody>
          <a:bodyPr wrap="square" lIns="0" tIns="0" rIns="0" bIns="0" rtlCol="0" anchor="t"/>
          <a:lstStyle/>
          <a:p>
            <a:pPr indent="0" marL="0">
              <a:buNone/>
            </a:pPr>
            <a:r>
              <a:rPr lang="en-US" sz="1500" dirty="0">
                <a:solidFill>
                  <a:schemeClr val="tx1"/>
                </a:solidFill>
              </a:rPr>
              <a:t>Hakerek sala: haluha aspas, : ka ( )</a:t>
            </a:r>
            <a:endParaRPr lang="en-US" sz="1500" dirty="0"/>
          </a:p>
        </p:txBody>
      </p:sp>
      <p:sp>
        <p:nvSpPr>
          <p:cNvPr id="6" name="erru-k-0"/>
          <p:cNvSpPr/>
          <p:nvPr/>
        </p:nvSpPr>
        <p:spPr>
          <a:xfrm>
            <a:off x="822960" y="2560320"/>
            <a:ext cx="4861408" cy="658368"/>
          </a:xfrm>
          <a:prstGeom prst="roundRect">
            <a:avLst>
              <a:gd name="adj" fmla="val 8333"/>
            </a:avLst>
          </a:prstGeom>
          <a:solidFill>
            <a:schemeClr val="tx1"/>
          </a:solidFill>
          <a:ln w="12700">
            <a:solidFill>
              <a:schemeClr val="tx1"/>
            </a:solidFill>
            <a:prstDash val="solid"/>
          </a:ln>
        </p:spPr>
      </p:sp>
      <p:sp>
        <p:nvSpPr>
          <p:cNvPr id="7" name="Text 5"/>
          <p:cNvSpPr txBox="1"/>
          <p:nvPr/>
        </p:nvSpPr>
        <p:spPr>
          <a:xfrm>
            <a:off x="960120" y="2560320"/>
            <a:ext cx="4587088" cy="65836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print("Bondia)</a:t>
            </a:r>
            <a:endParaRPr lang="en-US" sz="1300" dirty="0"/>
          </a:p>
        </p:txBody>
      </p:sp>
      <p:sp>
        <p:nvSpPr>
          <p:cNvPr id="8" name="erru-1"/>
          <p:cNvSpPr/>
          <p:nvPr/>
        </p:nvSpPr>
        <p:spPr>
          <a:xfrm>
            <a:off x="6233008" y="1417320"/>
            <a:ext cx="5410048" cy="1965960"/>
          </a:xfrm>
          <a:prstGeom prst="roundRect">
            <a:avLst>
              <a:gd name="adj" fmla="val 5581"/>
            </a:avLst>
          </a:prstGeom>
          <a:solidFill>
            <a:schemeClr val="bg2"/>
          </a:solidFill>
          <a:ln w="12700">
            <a:solidFill>
              <a:schemeClr val="bg2"/>
            </a:solidFill>
            <a:prstDash val="solid"/>
          </a:ln>
        </p:spPr>
      </p:sp>
      <p:sp>
        <p:nvSpPr>
          <p:cNvPr id="9" name="Text 7"/>
          <p:cNvSpPr txBox="1"/>
          <p:nvPr/>
        </p:nvSpPr>
        <p:spPr>
          <a:xfrm>
            <a:off x="6507328" y="1600200"/>
            <a:ext cx="4861408" cy="411480"/>
          </a:xfrm>
          <a:prstGeom prst="rect">
            <a:avLst/>
          </a:prstGeom>
          <a:noFill/>
          <a:ln/>
        </p:spPr>
        <p:txBody>
          <a:bodyPr wrap="square" lIns="0" tIns="0" rIns="0" bIns="0" rtlCol="0" anchor="t"/>
          <a:lstStyle/>
          <a:p>
            <a:pPr indent="0" marL="0">
              <a:buNone/>
            </a:pPr>
            <a:r>
              <a:rPr lang="en-US" sz="1900" b="1" dirty="0">
                <a:solidFill>
                  <a:schemeClr val="accent3"/>
                </a:solidFill>
                <a:latin typeface="Courier New" pitchFamily="34" charset="0"/>
                <a:ea typeface="Courier New" pitchFamily="34" charset="-122"/>
                <a:cs typeface="Courier New" pitchFamily="34" charset="-120"/>
              </a:rPr>
              <a:t>IndentationError</a:t>
            </a:r>
            <a:endParaRPr lang="en-US" sz="1900" dirty="0"/>
          </a:p>
        </p:txBody>
      </p:sp>
      <p:sp>
        <p:nvSpPr>
          <p:cNvPr id="10" name="Text 8"/>
          <p:cNvSpPr txBox="1"/>
          <p:nvPr/>
        </p:nvSpPr>
        <p:spPr>
          <a:xfrm>
            <a:off x="6507328" y="2057400"/>
            <a:ext cx="4861408" cy="457200"/>
          </a:xfrm>
          <a:prstGeom prst="rect">
            <a:avLst/>
          </a:prstGeom>
          <a:noFill/>
          <a:ln/>
        </p:spPr>
        <p:txBody>
          <a:bodyPr wrap="square" lIns="0" tIns="0" rIns="0" bIns="0" rtlCol="0" anchor="t"/>
          <a:lstStyle/>
          <a:p>
            <a:pPr indent="0" marL="0">
              <a:buNone/>
            </a:pPr>
            <a:r>
              <a:rPr lang="en-US" sz="1500" dirty="0">
                <a:solidFill>
                  <a:schemeClr val="tx1"/>
                </a:solidFill>
              </a:rPr>
              <a:t>Espasu la loos iha laran if / for / def</a:t>
            </a:r>
            <a:endParaRPr lang="en-US" sz="1500" dirty="0"/>
          </a:p>
        </p:txBody>
      </p:sp>
      <p:sp>
        <p:nvSpPr>
          <p:cNvPr id="11" name="erru-k-1"/>
          <p:cNvSpPr/>
          <p:nvPr/>
        </p:nvSpPr>
        <p:spPr>
          <a:xfrm>
            <a:off x="6507328" y="2560320"/>
            <a:ext cx="4861408" cy="658368"/>
          </a:xfrm>
          <a:prstGeom prst="roundRect">
            <a:avLst>
              <a:gd name="adj" fmla="val 8333"/>
            </a:avLst>
          </a:prstGeom>
          <a:solidFill>
            <a:schemeClr val="tx1"/>
          </a:solidFill>
          <a:ln w="12700">
            <a:solidFill>
              <a:schemeClr val="tx1"/>
            </a:solidFill>
            <a:prstDash val="solid"/>
          </a:ln>
        </p:spPr>
      </p:sp>
      <p:sp>
        <p:nvSpPr>
          <p:cNvPr id="12" name="Text 10"/>
          <p:cNvSpPr txBox="1"/>
          <p:nvPr/>
        </p:nvSpPr>
        <p:spPr>
          <a:xfrm>
            <a:off x="6644488" y="2560320"/>
            <a:ext cx="4587088" cy="65836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if ema &gt; 10: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print("boot")</a:t>
            </a:r>
            <a:endParaRPr lang="en-US" sz="1300" dirty="0"/>
          </a:p>
        </p:txBody>
      </p:sp>
      <p:sp>
        <p:nvSpPr>
          <p:cNvPr id="13" name="erru-2"/>
          <p:cNvSpPr/>
          <p:nvPr/>
        </p:nvSpPr>
        <p:spPr>
          <a:xfrm>
            <a:off x="548640" y="3566160"/>
            <a:ext cx="5410048" cy="1965960"/>
          </a:xfrm>
          <a:prstGeom prst="roundRect">
            <a:avLst>
              <a:gd name="adj" fmla="val 5581"/>
            </a:avLst>
          </a:prstGeom>
          <a:solidFill>
            <a:schemeClr val="bg2"/>
          </a:solidFill>
          <a:ln w="12700">
            <a:solidFill>
              <a:schemeClr val="bg2"/>
            </a:solidFill>
            <a:prstDash val="solid"/>
          </a:ln>
        </p:spPr>
      </p:sp>
      <p:sp>
        <p:nvSpPr>
          <p:cNvPr id="14" name="Text 12"/>
          <p:cNvSpPr txBox="1"/>
          <p:nvPr/>
        </p:nvSpPr>
        <p:spPr>
          <a:xfrm>
            <a:off x="822960" y="3749040"/>
            <a:ext cx="4861408" cy="411480"/>
          </a:xfrm>
          <a:prstGeom prst="rect">
            <a:avLst/>
          </a:prstGeom>
          <a:noFill/>
          <a:ln/>
        </p:spPr>
        <p:txBody>
          <a:bodyPr wrap="square" lIns="0" tIns="0" rIns="0" bIns="0" rtlCol="0" anchor="t"/>
          <a:lstStyle/>
          <a:p>
            <a:pPr indent="0" marL="0">
              <a:buNone/>
            </a:pPr>
            <a:r>
              <a:rPr lang="en-US" sz="1900" b="1" dirty="0">
                <a:solidFill>
                  <a:schemeClr val="accent6"/>
                </a:solidFill>
                <a:latin typeface="Courier New" pitchFamily="34" charset="0"/>
                <a:ea typeface="Courier New" pitchFamily="34" charset="-122"/>
                <a:cs typeface="Courier New" pitchFamily="34" charset="-120"/>
              </a:rPr>
              <a:t>NameError</a:t>
            </a:r>
            <a:endParaRPr lang="en-US" sz="1900" dirty="0"/>
          </a:p>
        </p:txBody>
      </p:sp>
      <p:sp>
        <p:nvSpPr>
          <p:cNvPr id="15" name="Text 13"/>
          <p:cNvSpPr txBox="1"/>
          <p:nvPr/>
        </p:nvSpPr>
        <p:spPr>
          <a:xfrm>
            <a:off x="822960" y="4206240"/>
            <a:ext cx="4861408" cy="457200"/>
          </a:xfrm>
          <a:prstGeom prst="rect">
            <a:avLst/>
          </a:prstGeom>
          <a:noFill/>
          <a:ln/>
        </p:spPr>
        <p:txBody>
          <a:bodyPr wrap="square" lIns="0" tIns="0" rIns="0" bIns="0" rtlCol="0" anchor="t"/>
          <a:lstStyle/>
          <a:p>
            <a:pPr indent="0" marL="0">
              <a:buNone/>
            </a:pPr>
            <a:r>
              <a:rPr lang="en-US" sz="1500" dirty="0">
                <a:solidFill>
                  <a:schemeClr val="tx1"/>
                </a:solidFill>
              </a:rPr>
              <a:t>Naran variável sala ka seidauk kria</a:t>
            </a:r>
            <a:endParaRPr lang="en-US" sz="1500" dirty="0"/>
          </a:p>
        </p:txBody>
      </p:sp>
      <p:sp>
        <p:nvSpPr>
          <p:cNvPr id="16" name="erru-k-2"/>
          <p:cNvSpPr/>
          <p:nvPr/>
        </p:nvSpPr>
        <p:spPr>
          <a:xfrm>
            <a:off x="822960" y="4709160"/>
            <a:ext cx="4861408" cy="658368"/>
          </a:xfrm>
          <a:prstGeom prst="roundRect">
            <a:avLst>
              <a:gd name="adj" fmla="val 8333"/>
            </a:avLst>
          </a:prstGeom>
          <a:solidFill>
            <a:schemeClr val="tx1"/>
          </a:solidFill>
          <a:ln w="12700">
            <a:solidFill>
              <a:schemeClr val="tx1"/>
            </a:solidFill>
            <a:prstDash val="solid"/>
          </a:ln>
        </p:spPr>
      </p:sp>
      <p:sp>
        <p:nvSpPr>
          <p:cNvPr id="17" name="Text 15"/>
          <p:cNvSpPr txBox="1"/>
          <p:nvPr/>
        </p:nvSpPr>
        <p:spPr>
          <a:xfrm>
            <a:off x="960120" y="4709160"/>
            <a:ext cx="4587088" cy="65836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print(totl)</a:t>
            </a:r>
            <a:endParaRPr lang="en-US" sz="1300" dirty="0"/>
          </a:p>
        </p:txBody>
      </p:sp>
      <p:sp>
        <p:nvSpPr>
          <p:cNvPr id="18" name="erru-3"/>
          <p:cNvSpPr/>
          <p:nvPr/>
        </p:nvSpPr>
        <p:spPr>
          <a:xfrm>
            <a:off x="6233008" y="3566160"/>
            <a:ext cx="5410048" cy="1965960"/>
          </a:xfrm>
          <a:prstGeom prst="roundRect">
            <a:avLst>
              <a:gd name="adj" fmla="val 5581"/>
            </a:avLst>
          </a:prstGeom>
          <a:solidFill>
            <a:schemeClr val="bg2"/>
          </a:solidFill>
          <a:ln w="12700">
            <a:solidFill>
              <a:schemeClr val="bg2"/>
            </a:solidFill>
            <a:prstDash val="solid"/>
          </a:ln>
        </p:spPr>
      </p:sp>
      <p:sp>
        <p:nvSpPr>
          <p:cNvPr id="19" name="Text 17"/>
          <p:cNvSpPr txBox="1"/>
          <p:nvPr/>
        </p:nvSpPr>
        <p:spPr>
          <a:xfrm>
            <a:off x="6507328" y="3749040"/>
            <a:ext cx="4861408" cy="411480"/>
          </a:xfrm>
          <a:prstGeom prst="rect">
            <a:avLst/>
          </a:prstGeom>
          <a:noFill/>
          <a:ln/>
        </p:spPr>
        <p:txBody>
          <a:bodyPr wrap="square" lIns="0" tIns="0" rIns="0" bIns="0" rtlCol="0" anchor="t"/>
          <a:lstStyle/>
          <a:p>
            <a:pPr indent="0" marL="0">
              <a:buNone/>
            </a:pPr>
            <a:r>
              <a:rPr lang="en-US" sz="1900" b="1" dirty="0">
                <a:solidFill>
                  <a:schemeClr val="accent5"/>
                </a:solidFill>
                <a:latin typeface="Courier New" pitchFamily="34" charset="0"/>
                <a:ea typeface="Courier New" pitchFamily="34" charset="-122"/>
                <a:cs typeface="Courier New" pitchFamily="34" charset="-120"/>
              </a:rPr>
              <a:t>TypeError</a:t>
            </a:r>
            <a:endParaRPr lang="en-US" sz="1900" dirty="0"/>
          </a:p>
        </p:txBody>
      </p:sp>
      <p:sp>
        <p:nvSpPr>
          <p:cNvPr id="20" name="Text 18"/>
          <p:cNvSpPr txBox="1"/>
          <p:nvPr/>
        </p:nvSpPr>
        <p:spPr>
          <a:xfrm>
            <a:off x="6507328" y="4206240"/>
            <a:ext cx="4861408" cy="457200"/>
          </a:xfrm>
          <a:prstGeom prst="rect">
            <a:avLst/>
          </a:prstGeom>
          <a:noFill/>
          <a:ln/>
        </p:spPr>
        <p:txBody>
          <a:bodyPr wrap="square" lIns="0" tIns="0" rIns="0" bIns="0" rtlCol="0" anchor="t"/>
          <a:lstStyle/>
          <a:p>
            <a:pPr indent="0" marL="0">
              <a:buNone/>
            </a:pPr>
            <a:r>
              <a:rPr lang="en-US" sz="1500" dirty="0">
                <a:solidFill>
                  <a:schemeClr val="tx1"/>
                </a:solidFill>
              </a:rPr>
              <a:t>Kahur tipu: testu + númeru</a:t>
            </a:r>
            <a:endParaRPr lang="en-US" sz="1500" dirty="0"/>
          </a:p>
        </p:txBody>
      </p:sp>
      <p:sp>
        <p:nvSpPr>
          <p:cNvPr id="21" name="erru-k-3"/>
          <p:cNvSpPr/>
          <p:nvPr/>
        </p:nvSpPr>
        <p:spPr>
          <a:xfrm>
            <a:off x="6507328" y="4709160"/>
            <a:ext cx="4861408" cy="658368"/>
          </a:xfrm>
          <a:prstGeom prst="roundRect">
            <a:avLst>
              <a:gd name="adj" fmla="val 8333"/>
            </a:avLst>
          </a:prstGeom>
          <a:solidFill>
            <a:schemeClr val="tx1"/>
          </a:solidFill>
          <a:ln w="12700">
            <a:solidFill>
              <a:schemeClr val="tx1"/>
            </a:solidFill>
            <a:prstDash val="solid"/>
          </a:ln>
        </p:spPr>
      </p:sp>
      <p:sp>
        <p:nvSpPr>
          <p:cNvPr id="22" name="Text 20"/>
          <p:cNvSpPr txBox="1"/>
          <p:nvPr/>
        </p:nvSpPr>
        <p:spPr>
          <a:xfrm>
            <a:off x="6644488" y="4709160"/>
            <a:ext cx="4587088" cy="65836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"Ema: " + 45</a:t>
            </a:r>
            <a:endParaRPr lang="en-US" sz="1300" dirty="0"/>
          </a:p>
        </p:txBody>
      </p:sp>
      <p:sp>
        <p:nvSpPr>
          <p:cNvPr id="23" name="Text 21"/>
          <p:cNvSpPr txBox="1"/>
          <p:nvPr/>
        </p:nvSpPr>
        <p:spPr>
          <a:xfrm>
            <a:off x="548640" y="5806440"/>
            <a:ext cx="11094415" cy="411480"/>
          </a:xfrm>
          <a:prstGeom prst="rect">
            <a:avLst/>
          </a:prstGeom>
          <a:noFill/>
          <a:ln/>
        </p:spPr>
        <p:txBody>
          <a:bodyPr wrap="square" lIns="0" tIns="0" rIns="0" bIns="0" rtlCol="0" anchor="t"/>
          <a:lstStyle/>
          <a:p>
            <a:pPr indent="0" marL="0">
              <a:buNone/>
            </a:pPr>
            <a:r>
              <a:rPr lang="en-US" sz="1500" b="1" dirty="0">
                <a:solidFill>
                  <a:schemeClr val="tx2"/>
                </a:solidFill>
              </a:rPr>
              <a:t>Lee liña IKUS mensajen erru: naran erru + númeru liña. Hadi'a liña ne'e, run fali.</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Projetu ki'ik</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Dadus loos · rezumu kazu · pasu tuir mai</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05</a:t>
            </a:r>
            <a:endParaRPr lang="en-US" sz="15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Pasu tuir mai: dadus Excel ho pandas</a:t>
            </a:r>
            <a:endParaRPr lang="en-US" sz="3000" dirty="0"/>
          </a:p>
        </p:txBody>
      </p:sp>
      <p:sp>
        <p:nvSpPr>
          <p:cNvPr id="3" name="k20"/>
          <p:cNvSpPr/>
          <p:nvPr/>
        </p:nvSpPr>
        <p:spPr>
          <a:xfrm>
            <a:off x="548640" y="1463040"/>
            <a:ext cx="6309360" cy="4709160"/>
          </a:xfrm>
          <a:prstGeom prst="roundRect">
            <a:avLst>
              <a:gd name="adj" fmla="val 1942"/>
            </a:avLst>
          </a:prstGeom>
          <a:solidFill>
            <a:schemeClr val="tx1"/>
          </a:solidFill>
          <a:ln w="12700">
            <a:solidFill>
              <a:schemeClr val="tx1"/>
            </a:solidFill>
            <a:prstDash val="solid"/>
          </a:ln>
        </p:spPr>
      </p:sp>
      <p:sp>
        <p:nvSpPr>
          <p:cNvPr id="4" name="k20-t"/>
          <p:cNvSpPr txBox="1"/>
          <p:nvPr/>
        </p:nvSpPr>
        <p:spPr>
          <a:xfrm>
            <a:off x="822960" y="1691640"/>
            <a:ext cx="5760720" cy="42519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import pandas as pd</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chemeClr val="accent2"/>
                </a:solidFill>
                <a:latin typeface="Courier New" pitchFamily="34" charset="0"/>
                <a:ea typeface="Courier New" pitchFamily="34" charset="-122"/>
                <a:cs typeface="Courier New" pitchFamily="34" charset="-120"/>
              </a:rPr>
              <a:t># Lee file Excel (ex. export husi SIBAR-RbR)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df = pd.read_excel("kazu.xlsx")</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print(df.head())          # liña 5 dahuluk</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print(len(df))             # total kazu</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chemeClr val="accent2"/>
                </a:solidFill>
                <a:latin typeface="Courier New" pitchFamily="34" charset="0"/>
                <a:ea typeface="Courier New" pitchFamily="34" charset="-122"/>
                <a:cs typeface="Courier New" pitchFamily="34" charset="-120"/>
              </a:rPr>
              <a:t># Kazu kada munisípiu</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kada_mun = df["munisipiu"].value_counts()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kada_mun.plot(kind="bar")</a:t>
            </a:r>
            <a:endParaRPr lang="en-US" sz="1400" dirty="0"/>
          </a:p>
        </p:txBody>
      </p:sp>
      <p:graphicFrame>
        <p:nvGraphicFramePr>
          <p:cNvPr id="5" name="grafiku-mun" descr=""/>
          <p:cNvGraphicFramePr/>
          <p:nvPr/>
        </p:nvGraphicFramePr>
        <p:xfrm>
          <a:off x="7086600" y="1463040"/>
          <a:ext cx="4556455"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086600" y="5669280"/>
            <a:ext cx="4556455" cy="320040"/>
          </a:xfrm>
          <a:prstGeom prst="rect">
            <a:avLst/>
          </a:prstGeom>
          <a:noFill/>
          <a:ln/>
        </p:spPr>
        <p:txBody>
          <a:bodyPr wrap="square" lIns="0" tIns="0" rIns="0" bIns="0" rtlCol="0" anchor="t"/>
          <a:lstStyle/>
          <a:p>
            <a:pPr algn="ctr" indent="0" marL="0">
              <a:buNone/>
            </a:pPr>
            <a:r>
              <a:rPr lang="en-US" sz="1100" i="1" dirty="0">
                <a:solidFill>
                  <a:srgbClr val="5E6B66"/>
                </a:solidFill>
              </a:rPr>
              <a:t>Dadus ezemplu de'it (la'ós dadus loos).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Ezersísiu 3: Programa "Rezumu Kazu"</a:t>
            </a:r>
            <a:endParaRPr lang="en-US" sz="3000" dirty="0"/>
          </a:p>
        </p:txBody>
      </p:sp>
      <p:sp>
        <p:nvSpPr>
          <p:cNvPr id="3" name="ez-ik-sirkulu"/>
          <p:cNvSpPr/>
          <p:nvPr/>
        </p:nvSpPr>
        <p:spPr>
          <a:xfrm>
            <a:off x="548640" y="1417320"/>
            <a:ext cx="1005840" cy="1005840"/>
          </a:xfrm>
          <a:prstGeom prst="ellipse">
            <a:avLst/>
          </a:prstGeom>
          <a:solidFill>
            <a:schemeClr val="accent3"/>
          </a:solidFill>
          <a:ln w="12700">
            <a:solidFill>
              <a:schemeClr val="accent3"/>
            </a:solidFill>
            <a:prstDash val="solid"/>
          </a:ln>
        </p:spPr>
      </p:sp>
      <p:pic>
        <p:nvPicPr>
          <p:cNvPr id="4" name="ez-ik-ikone" descr="preencoded.png">    </p:cNvPr>
          <p:cNvPicPr>
            <a:picLocks noChangeAspect="1"/>
          </p:cNvPicPr>
          <p:nvPr/>
        </p:nvPicPr>
        <p:blipFill>
          <a:blip r:embed="rId1"/>
          <a:stretch>
            <a:fillRect/>
          </a:stretch>
        </p:blipFill>
        <p:spPr>
          <a:xfrm>
            <a:off x="790042" y="1658722"/>
            <a:ext cx="523037" cy="523037"/>
          </a:xfrm>
          <a:prstGeom prst="rect">
            <a:avLst/>
          </a:prstGeom>
        </p:spPr>
      </p:pic>
      <p:sp>
        <p:nvSpPr>
          <p:cNvPr id="5" name="Text 2"/>
          <p:cNvSpPr txBox="1"/>
          <p:nvPr/>
        </p:nvSpPr>
        <p:spPr>
          <a:xfrm>
            <a:off x="1783080" y="1463040"/>
            <a:ext cx="4572000" cy="365760"/>
          </a:xfrm>
          <a:prstGeom prst="rect">
            <a:avLst/>
          </a:prstGeom>
          <a:noFill/>
          <a:ln/>
        </p:spPr>
        <p:txBody>
          <a:bodyPr wrap="square" lIns="0" tIns="0" rIns="0" bIns="0" rtlCol="0" anchor="t"/>
          <a:lstStyle/>
          <a:p>
            <a:pPr indent="0" marL="0">
              <a:buNone/>
            </a:pPr>
            <a:r>
              <a:rPr lang="en-US" sz="2000" b="1" dirty="0">
                <a:solidFill>
                  <a:schemeClr val="accent3"/>
                </a:solidFill>
              </a:rPr>
              <a:t>Knaar</a:t>
            </a:r>
            <a:endParaRPr lang="en-US" sz="2000" dirty="0"/>
          </a:p>
        </p:txBody>
      </p:sp>
      <p:sp>
        <p:nvSpPr>
          <p:cNvPr id="6" name="Text 3"/>
          <p:cNvSpPr txBox="1"/>
          <p:nvPr/>
        </p:nvSpPr>
        <p:spPr>
          <a:xfrm>
            <a:off x="1783080" y="1874520"/>
            <a:ext cx="4572000" cy="320040"/>
          </a:xfrm>
          <a:prstGeom prst="rect">
            <a:avLst/>
          </a:prstGeom>
          <a:noFill/>
          <a:ln/>
        </p:spPr>
        <p:txBody>
          <a:bodyPr wrap="square" lIns="0" tIns="0" rIns="0" bIns="0" rtlCol="0" anchor="t"/>
          <a:lstStyle/>
          <a:p>
            <a:pPr indent="0" marL="0">
              <a:buNone/>
            </a:pPr>
            <a:r>
              <a:rPr lang="en-US" sz="1300" dirty="0">
                <a:solidFill>
                  <a:srgbClr val="5E6B66"/>
                </a:solidFill>
              </a:rPr>
              <a:t>Tempu: minutu 15 · servisu iha pár</a:t>
            </a:r>
            <a:endParaRPr lang="en-US" sz="1300" dirty="0"/>
          </a:p>
        </p:txBody>
      </p:sp>
      <p:sp>
        <p:nvSpPr>
          <p:cNvPr id="7" name="ez-karta"/>
          <p:cNvSpPr/>
          <p:nvPr/>
        </p:nvSpPr>
        <p:spPr>
          <a:xfrm>
            <a:off x="548640" y="2651760"/>
            <a:ext cx="6035040" cy="3474720"/>
          </a:xfrm>
          <a:prstGeom prst="roundRect">
            <a:avLst>
              <a:gd name="adj" fmla="val 3158"/>
            </a:avLst>
          </a:prstGeom>
          <a:solidFill>
            <a:schemeClr val="bg1"/>
          </a:solidFill>
          <a:ln w="12700">
            <a:solidFill>
              <a:schemeClr val="bg1"/>
            </a:solidFill>
            <a:prstDash val="solid"/>
          </a:ln>
        </p:spPr>
      </p:sp>
      <p:sp>
        <p:nvSpPr>
          <p:cNvPr id="8" name="Text 5"/>
          <p:cNvSpPr txBox="1"/>
          <p:nvPr/>
        </p:nvSpPr>
        <p:spPr>
          <a:xfrm>
            <a:off x="822960" y="2834640"/>
            <a:ext cx="5486400" cy="31089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700" dirty="0">
                <a:solidFill>
                  <a:schemeClr val="tx1"/>
                </a:solidFill>
              </a:rPr>
              <a:t>Kria funsaun rezumu(kazu_hotu).</a:t>
            </a:r>
            <a:endParaRPr lang="en-US" sz="1700" dirty="0"/>
          </a:p>
          <a:p>
            <a:pPr marL="342900" indent="-342900">
              <a:spcAft>
                <a:spcPts val="1200"/>
              </a:spcAft>
              <a:buSzPct val="100000"/>
              <a:buFont typeface="+mj-lt"/>
              <a:buAutoNum type="arabicPeriod" startAt="1"/>
            </a:pPr>
            <a:r>
              <a:rPr lang="en-US" sz="1700" dirty="0">
                <a:solidFill>
                  <a:schemeClr val="tx1"/>
                </a:solidFill>
              </a:rPr>
              <a:t>Funsaun fó: total kazu, total ema, kazu urjente.</a:t>
            </a:r>
            <a:endParaRPr lang="en-US" sz="1700" dirty="0"/>
          </a:p>
          <a:p>
            <a:pPr marL="342900" indent="-342900">
              <a:spcAft>
                <a:spcPts val="1200"/>
              </a:spcAft>
              <a:buSzPct val="100000"/>
              <a:buFont typeface="+mj-lt"/>
              <a:buAutoNum type="arabicPeriod" startAt="1"/>
            </a:pPr>
            <a:r>
              <a:rPr lang="en-US" sz="1700" dirty="0">
                <a:solidFill>
                  <a:schemeClr val="tx1"/>
                </a:solidFill>
              </a:rPr>
              <a:t>Hatudu kazu kada munisípiu (Ezersísiu 2).</a:t>
            </a:r>
            <a:endParaRPr lang="en-US" sz="1700" dirty="0"/>
          </a:p>
          <a:p>
            <a:pPr marL="342900" indent="-342900">
              <a:spcAft>
                <a:spcPts val="1200"/>
              </a:spcAft>
              <a:buSzPct val="100000"/>
              <a:buFont typeface="+mj-lt"/>
              <a:buAutoNum type="arabicPeriod" startAt="1"/>
            </a:pPr>
            <a:r>
              <a:rPr lang="en-US" sz="1700" dirty="0">
                <a:solidFill>
                  <a:schemeClr val="tx1"/>
                </a:solidFill>
              </a:rPr>
              <a:t>Imprime relatóriu badak ho f-string.</a:t>
            </a:r>
            <a:endParaRPr lang="en-US" sz="1700" dirty="0"/>
          </a:p>
          <a:p>
            <a:pPr marL="342900" indent="-342900">
              <a:spcAft>
                <a:spcPts val="1200"/>
              </a:spcAft>
              <a:buSzPct val="100000"/>
              <a:buFont typeface="+mj-lt"/>
              <a:buAutoNum type="arabicPeriod" startAt="1"/>
            </a:pPr>
            <a:r>
              <a:rPr lang="en-US" sz="1700" dirty="0">
                <a:solidFill>
                  <a:schemeClr val="tx1"/>
                </a:solidFill>
              </a:rPr>
              <a:t>Aprezenta ba grupu (minutu 2 kada pár).</a:t>
            </a:r>
            <a:endParaRPr lang="en-US" sz="1700" dirty="0"/>
          </a:p>
        </p:txBody>
      </p:sp>
      <p:sp>
        <p:nvSpPr>
          <p:cNvPr id="9" name="ez-kodigu"/>
          <p:cNvSpPr/>
          <p:nvPr/>
        </p:nvSpPr>
        <p:spPr>
          <a:xfrm>
            <a:off x="6812280" y="1417320"/>
            <a:ext cx="4830775" cy="4709160"/>
          </a:xfrm>
          <a:prstGeom prst="roundRect">
            <a:avLst>
              <a:gd name="adj" fmla="val 1942"/>
            </a:avLst>
          </a:prstGeom>
          <a:solidFill>
            <a:schemeClr val="tx1"/>
          </a:solidFill>
          <a:ln w="12700">
            <a:solidFill>
              <a:schemeClr val="tx1"/>
            </a:solidFill>
            <a:prstDash val="solid"/>
          </a:ln>
        </p:spPr>
      </p:sp>
      <p:sp>
        <p:nvSpPr>
          <p:cNvPr id="10" name="ez-kodigu-t"/>
          <p:cNvSpPr txBox="1"/>
          <p:nvPr/>
        </p:nvSpPr>
        <p:spPr>
          <a:xfrm>
            <a:off x="7086600" y="1645920"/>
            <a:ext cx="4282135" cy="42519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def rezumu(kazu_hotu):</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total_ema = 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n_urjente = 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for k in kazu_hotu:</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total_ema, n_urjente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ema, urj = rezumu(kazu_hotu)</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print("=== REZUMU KAZU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print(f"Kazu   : {len(kazu_hotu)}")</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print(f"Ema    : {ema}")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print(f"Urjente: {urj}")</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Rezumu ohin nian</a:t>
            </a:r>
            <a:endParaRPr lang="en-US" sz="3000" dirty="0"/>
          </a:p>
        </p:txBody>
      </p:sp>
      <p:sp>
        <p:nvSpPr>
          <p:cNvPr id="3" name="rez-0"/>
          <p:cNvSpPr/>
          <p:nvPr/>
        </p:nvSpPr>
        <p:spPr>
          <a:xfrm>
            <a:off x="548640" y="1463040"/>
            <a:ext cx="3469538" cy="1234440"/>
          </a:xfrm>
          <a:prstGeom prst="roundRect">
            <a:avLst>
              <a:gd name="adj" fmla="val 8889"/>
            </a:avLst>
          </a:prstGeom>
          <a:solidFill>
            <a:schemeClr val="bg2"/>
          </a:solidFill>
          <a:ln w="12700">
            <a:solidFill>
              <a:schemeClr val="bg2"/>
            </a:solidFill>
            <a:prstDash val="solid"/>
          </a:ln>
        </p:spPr>
      </p:sp>
      <p:sp>
        <p:nvSpPr>
          <p:cNvPr id="4" name="rez-n-0"/>
          <p:cNvSpPr/>
          <p:nvPr/>
        </p:nvSpPr>
        <p:spPr>
          <a:xfrm>
            <a:off x="777240" y="1783080"/>
            <a:ext cx="594360" cy="594360"/>
          </a:xfrm>
          <a:prstGeom prst="ellipse">
            <a:avLst/>
          </a:prstGeom>
          <a:solidFill>
            <a:schemeClr val="accent1"/>
          </a:solidFill>
          <a:ln w="12700">
            <a:solidFill>
              <a:schemeClr val="accent1"/>
            </a:solidFill>
            <a:prstDash val="solid"/>
          </a:ln>
        </p:spPr>
      </p:sp>
      <p:sp>
        <p:nvSpPr>
          <p:cNvPr id="5" name="rez-n-0-n"/>
          <p:cNvSpPr txBox="1"/>
          <p:nvPr/>
        </p:nvSpPr>
        <p:spPr>
          <a:xfrm>
            <a:off x="777240" y="178308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54480" y="169164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print()</a:t>
            </a:r>
            <a:endParaRPr lang="en-US" sz="1600" dirty="0"/>
          </a:p>
        </p:txBody>
      </p:sp>
      <p:sp>
        <p:nvSpPr>
          <p:cNvPr id="7" name="Text 5"/>
          <p:cNvSpPr txBox="1"/>
          <p:nvPr/>
        </p:nvSpPr>
        <p:spPr>
          <a:xfrm>
            <a:off x="1554480" y="2148840"/>
            <a:ext cx="2326538" cy="365760"/>
          </a:xfrm>
          <a:prstGeom prst="rect">
            <a:avLst/>
          </a:prstGeom>
          <a:noFill/>
          <a:ln/>
        </p:spPr>
        <p:txBody>
          <a:bodyPr wrap="square" lIns="0" tIns="0" rIns="0" bIns="0" rtlCol="0" anchor="t"/>
          <a:lstStyle/>
          <a:p>
            <a:pPr indent="0" marL="0">
              <a:buNone/>
            </a:pPr>
            <a:r>
              <a:rPr lang="en-US" sz="1500" dirty="0">
                <a:solidFill>
                  <a:schemeClr val="tx1"/>
                </a:solidFill>
              </a:rPr>
              <a:t>hatudu rezultadu</a:t>
            </a:r>
            <a:endParaRPr lang="en-US" sz="1500" dirty="0"/>
          </a:p>
        </p:txBody>
      </p:sp>
      <p:sp>
        <p:nvSpPr>
          <p:cNvPr id="8" name="rez-1"/>
          <p:cNvSpPr/>
          <p:nvPr/>
        </p:nvSpPr>
        <p:spPr>
          <a:xfrm>
            <a:off x="4246778" y="1463040"/>
            <a:ext cx="3469538" cy="1234440"/>
          </a:xfrm>
          <a:prstGeom prst="roundRect">
            <a:avLst>
              <a:gd name="adj" fmla="val 8889"/>
            </a:avLst>
          </a:prstGeom>
          <a:solidFill>
            <a:schemeClr val="bg2"/>
          </a:solidFill>
          <a:ln w="12700">
            <a:solidFill>
              <a:schemeClr val="bg2"/>
            </a:solidFill>
            <a:prstDash val="solid"/>
          </a:ln>
        </p:spPr>
      </p:sp>
      <p:sp>
        <p:nvSpPr>
          <p:cNvPr id="9" name="rez-n-1"/>
          <p:cNvSpPr/>
          <p:nvPr/>
        </p:nvSpPr>
        <p:spPr>
          <a:xfrm>
            <a:off x="4475378" y="1783080"/>
            <a:ext cx="594360" cy="594360"/>
          </a:xfrm>
          <a:prstGeom prst="ellipse">
            <a:avLst/>
          </a:prstGeom>
          <a:solidFill>
            <a:schemeClr val="accent5"/>
          </a:solidFill>
          <a:ln w="12700">
            <a:solidFill>
              <a:schemeClr val="accent5"/>
            </a:solidFill>
            <a:prstDash val="solid"/>
          </a:ln>
        </p:spPr>
      </p:sp>
      <p:sp>
        <p:nvSpPr>
          <p:cNvPr id="10" name="rez-n-1-n"/>
          <p:cNvSpPr txBox="1"/>
          <p:nvPr/>
        </p:nvSpPr>
        <p:spPr>
          <a:xfrm>
            <a:off x="4475378" y="178308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252618" y="169164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variável</a:t>
            </a:r>
            <a:endParaRPr lang="en-US" sz="1600" dirty="0"/>
          </a:p>
        </p:txBody>
      </p:sp>
      <p:sp>
        <p:nvSpPr>
          <p:cNvPr id="12" name="Text 10"/>
          <p:cNvSpPr txBox="1"/>
          <p:nvPr/>
        </p:nvSpPr>
        <p:spPr>
          <a:xfrm>
            <a:off x="5252618" y="2148840"/>
            <a:ext cx="2326538" cy="365760"/>
          </a:xfrm>
          <a:prstGeom prst="rect">
            <a:avLst/>
          </a:prstGeom>
          <a:noFill/>
          <a:ln/>
        </p:spPr>
        <p:txBody>
          <a:bodyPr wrap="square" lIns="0" tIns="0" rIns="0" bIns="0" rtlCol="0" anchor="t"/>
          <a:lstStyle/>
          <a:p>
            <a:pPr indent="0" marL="0">
              <a:buNone/>
            </a:pPr>
            <a:r>
              <a:rPr lang="en-US" sz="1500" dirty="0">
                <a:solidFill>
                  <a:schemeClr val="tx1"/>
                </a:solidFill>
              </a:rPr>
              <a:t>rai valór</a:t>
            </a:r>
            <a:endParaRPr lang="en-US" sz="1500" dirty="0"/>
          </a:p>
        </p:txBody>
      </p:sp>
      <p:sp>
        <p:nvSpPr>
          <p:cNvPr id="13" name="rez-2"/>
          <p:cNvSpPr/>
          <p:nvPr/>
        </p:nvSpPr>
        <p:spPr>
          <a:xfrm>
            <a:off x="7944917" y="1463040"/>
            <a:ext cx="3469538" cy="1234440"/>
          </a:xfrm>
          <a:prstGeom prst="roundRect">
            <a:avLst>
              <a:gd name="adj" fmla="val 8889"/>
            </a:avLst>
          </a:prstGeom>
          <a:solidFill>
            <a:schemeClr val="bg2"/>
          </a:solidFill>
          <a:ln w="12700">
            <a:solidFill>
              <a:schemeClr val="bg2"/>
            </a:solidFill>
            <a:prstDash val="solid"/>
          </a:ln>
        </p:spPr>
      </p:sp>
      <p:sp>
        <p:nvSpPr>
          <p:cNvPr id="14" name="rez-n-2"/>
          <p:cNvSpPr/>
          <p:nvPr/>
        </p:nvSpPr>
        <p:spPr>
          <a:xfrm>
            <a:off x="8173517" y="1783080"/>
            <a:ext cx="594360" cy="594360"/>
          </a:xfrm>
          <a:prstGeom prst="ellipse">
            <a:avLst/>
          </a:prstGeom>
          <a:solidFill>
            <a:schemeClr val="accent3"/>
          </a:solidFill>
          <a:ln w="12700">
            <a:solidFill>
              <a:schemeClr val="accent3"/>
            </a:solidFill>
            <a:prstDash val="solid"/>
          </a:ln>
        </p:spPr>
      </p:sp>
      <p:sp>
        <p:nvSpPr>
          <p:cNvPr id="15" name="rez-n-2-n"/>
          <p:cNvSpPr txBox="1"/>
          <p:nvPr/>
        </p:nvSpPr>
        <p:spPr>
          <a:xfrm>
            <a:off x="8173517" y="178308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950757" y="169164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type()</a:t>
            </a:r>
            <a:endParaRPr lang="en-US" sz="1600" dirty="0"/>
          </a:p>
        </p:txBody>
      </p:sp>
      <p:sp>
        <p:nvSpPr>
          <p:cNvPr id="17" name="Text 15"/>
          <p:cNvSpPr txBox="1"/>
          <p:nvPr/>
        </p:nvSpPr>
        <p:spPr>
          <a:xfrm>
            <a:off x="8950757" y="2148840"/>
            <a:ext cx="2326538" cy="365760"/>
          </a:xfrm>
          <a:prstGeom prst="rect">
            <a:avLst/>
          </a:prstGeom>
          <a:noFill/>
          <a:ln/>
        </p:spPr>
        <p:txBody>
          <a:bodyPr wrap="square" lIns="0" tIns="0" rIns="0" bIns="0" rtlCol="0" anchor="t"/>
          <a:lstStyle/>
          <a:p>
            <a:pPr indent="0" marL="0">
              <a:buNone/>
            </a:pPr>
            <a:r>
              <a:rPr lang="en-US" sz="1500" dirty="0">
                <a:solidFill>
                  <a:schemeClr val="tx1"/>
                </a:solidFill>
              </a:rPr>
              <a:t>int · float · str · bool</a:t>
            </a:r>
            <a:endParaRPr lang="en-US" sz="1500" dirty="0"/>
          </a:p>
        </p:txBody>
      </p:sp>
      <p:sp>
        <p:nvSpPr>
          <p:cNvPr id="18" name="rez-3"/>
          <p:cNvSpPr/>
          <p:nvPr/>
        </p:nvSpPr>
        <p:spPr>
          <a:xfrm>
            <a:off x="548640" y="2926080"/>
            <a:ext cx="3469538" cy="1234440"/>
          </a:xfrm>
          <a:prstGeom prst="roundRect">
            <a:avLst>
              <a:gd name="adj" fmla="val 8889"/>
            </a:avLst>
          </a:prstGeom>
          <a:solidFill>
            <a:schemeClr val="bg2"/>
          </a:solidFill>
          <a:ln w="12700">
            <a:solidFill>
              <a:schemeClr val="bg2"/>
            </a:solidFill>
            <a:prstDash val="solid"/>
          </a:ln>
        </p:spPr>
      </p:sp>
      <p:sp>
        <p:nvSpPr>
          <p:cNvPr id="19" name="rez-n-3"/>
          <p:cNvSpPr/>
          <p:nvPr/>
        </p:nvSpPr>
        <p:spPr>
          <a:xfrm>
            <a:off x="777240" y="3246120"/>
            <a:ext cx="594360" cy="594360"/>
          </a:xfrm>
          <a:prstGeom prst="ellipse">
            <a:avLst/>
          </a:prstGeom>
          <a:solidFill>
            <a:schemeClr val="accent1"/>
          </a:solidFill>
          <a:ln w="12700">
            <a:solidFill>
              <a:schemeClr val="accent1"/>
            </a:solidFill>
            <a:prstDash val="solid"/>
          </a:ln>
        </p:spPr>
      </p:sp>
      <p:sp>
        <p:nvSpPr>
          <p:cNvPr id="20" name="rez-n-3-n"/>
          <p:cNvSpPr txBox="1"/>
          <p:nvPr/>
        </p:nvSpPr>
        <p:spPr>
          <a:xfrm>
            <a:off x="777240" y="32461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554480" y="315468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if · elif · else</a:t>
            </a:r>
            <a:endParaRPr lang="en-US" sz="1600" dirty="0"/>
          </a:p>
        </p:txBody>
      </p:sp>
      <p:sp>
        <p:nvSpPr>
          <p:cNvPr id="22" name="Text 20"/>
          <p:cNvSpPr txBox="1"/>
          <p:nvPr/>
        </p:nvSpPr>
        <p:spPr>
          <a:xfrm>
            <a:off x="1554480" y="3611880"/>
            <a:ext cx="2326538" cy="365760"/>
          </a:xfrm>
          <a:prstGeom prst="rect">
            <a:avLst/>
          </a:prstGeom>
          <a:noFill/>
          <a:ln/>
        </p:spPr>
        <p:txBody>
          <a:bodyPr wrap="square" lIns="0" tIns="0" rIns="0" bIns="0" rtlCol="0" anchor="t"/>
          <a:lstStyle/>
          <a:p>
            <a:pPr indent="0" marL="0">
              <a:buNone/>
            </a:pPr>
            <a:r>
              <a:rPr lang="en-US" sz="1500" dirty="0">
                <a:solidFill>
                  <a:schemeClr val="tx1"/>
                </a:solidFill>
              </a:rPr>
              <a:t>hili dalan</a:t>
            </a:r>
            <a:endParaRPr lang="en-US" sz="1500" dirty="0"/>
          </a:p>
        </p:txBody>
      </p:sp>
      <p:sp>
        <p:nvSpPr>
          <p:cNvPr id="23" name="rez-4"/>
          <p:cNvSpPr/>
          <p:nvPr/>
        </p:nvSpPr>
        <p:spPr>
          <a:xfrm>
            <a:off x="4246778" y="2926080"/>
            <a:ext cx="3469538" cy="1234440"/>
          </a:xfrm>
          <a:prstGeom prst="roundRect">
            <a:avLst>
              <a:gd name="adj" fmla="val 8889"/>
            </a:avLst>
          </a:prstGeom>
          <a:solidFill>
            <a:schemeClr val="bg2"/>
          </a:solidFill>
          <a:ln w="12700">
            <a:solidFill>
              <a:schemeClr val="bg2"/>
            </a:solidFill>
            <a:prstDash val="solid"/>
          </a:ln>
        </p:spPr>
      </p:sp>
      <p:sp>
        <p:nvSpPr>
          <p:cNvPr id="24" name="rez-n-4"/>
          <p:cNvSpPr/>
          <p:nvPr/>
        </p:nvSpPr>
        <p:spPr>
          <a:xfrm>
            <a:off x="4475378" y="3246120"/>
            <a:ext cx="594360" cy="594360"/>
          </a:xfrm>
          <a:prstGeom prst="ellipse">
            <a:avLst/>
          </a:prstGeom>
          <a:solidFill>
            <a:schemeClr val="accent5"/>
          </a:solidFill>
          <a:ln w="12700">
            <a:solidFill>
              <a:schemeClr val="accent5"/>
            </a:solidFill>
            <a:prstDash val="solid"/>
          </a:ln>
        </p:spPr>
      </p:sp>
      <p:sp>
        <p:nvSpPr>
          <p:cNvPr id="25" name="rez-n-4-n"/>
          <p:cNvSpPr txBox="1"/>
          <p:nvPr/>
        </p:nvSpPr>
        <p:spPr>
          <a:xfrm>
            <a:off x="4475378" y="32461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5252618" y="315468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 lista ]</a:t>
            </a:r>
            <a:endParaRPr lang="en-US" sz="1600" dirty="0"/>
          </a:p>
        </p:txBody>
      </p:sp>
      <p:sp>
        <p:nvSpPr>
          <p:cNvPr id="27" name="Text 25"/>
          <p:cNvSpPr txBox="1"/>
          <p:nvPr/>
        </p:nvSpPr>
        <p:spPr>
          <a:xfrm>
            <a:off x="5252618" y="3611880"/>
            <a:ext cx="2326538" cy="365760"/>
          </a:xfrm>
          <a:prstGeom prst="rect">
            <a:avLst/>
          </a:prstGeom>
          <a:noFill/>
          <a:ln/>
        </p:spPr>
        <p:txBody>
          <a:bodyPr wrap="square" lIns="0" tIns="0" rIns="0" bIns="0" rtlCol="0" anchor="t"/>
          <a:lstStyle/>
          <a:p>
            <a:pPr indent="0" marL="0">
              <a:buNone/>
            </a:pPr>
            <a:r>
              <a:rPr lang="en-US" sz="1500" dirty="0">
                <a:solidFill>
                  <a:schemeClr val="tx1"/>
                </a:solidFill>
              </a:rPr>
              <a:t>valór barak</a:t>
            </a:r>
            <a:endParaRPr lang="en-US" sz="1500" dirty="0"/>
          </a:p>
        </p:txBody>
      </p:sp>
      <p:sp>
        <p:nvSpPr>
          <p:cNvPr id="28" name="rez-5"/>
          <p:cNvSpPr/>
          <p:nvPr/>
        </p:nvSpPr>
        <p:spPr>
          <a:xfrm>
            <a:off x="7944917" y="2926080"/>
            <a:ext cx="3469538" cy="1234440"/>
          </a:xfrm>
          <a:prstGeom prst="roundRect">
            <a:avLst>
              <a:gd name="adj" fmla="val 8889"/>
            </a:avLst>
          </a:prstGeom>
          <a:solidFill>
            <a:schemeClr val="bg2"/>
          </a:solidFill>
          <a:ln w="12700">
            <a:solidFill>
              <a:schemeClr val="bg2"/>
            </a:solidFill>
            <a:prstDash val="solid"/>
          </a:ln>
        </p:spPr>
      </p:sp>
      <p:sp>
        <p:nvSpPr>
          <p:cNvPr id="29" name="rez-n-5"/>
          <p:cNvSpPr/>
          <p:nvPr/>
        </p:nvSpPr>
        <p:spPr>
          <a:xfrm>
            <a:off x="8173517" y="3246120"/>
            <a:ext cx="594360" cy="594360"/>
          </a:xfrm>
          <a:prstGeom prst="ellipse">
            <a:avLst/>
          </a:prstGeom>
          <a:solidFill>
            <a:schemeClr val="accent3"/>
          </a:solidFill>
          <a:ln w="12700">
            <a:solidFill>
              <a:schemeClr val="accent3"/>
            </a:solidFill>
            <a:prstDash val="solid"/>
          </a:ln>
        </p:spPr>
      </p:sp>
      <p:sp>
        <p:nvSpPr>
          <p:cNvPr id="30" name="rez-n-5-n"/>
          <p:cNvSpPr txBox="1"/>
          <p:nvPr/>
        </p:nvSpPr>
        <p:spPr>
          <a:xfrm>
            <a:off x="8173517" y="32461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950757" y="315468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for</a:t>
            </a:r>
            <a:endParaRPr lang="en-US" sz="1600" dirty="0"/>
          </a:p>
        </p:txBody>
      </p:sp>
      <p:sp>
        <p:nvSpPr>
          <p:cNvPr id="32" name="Text 30"/>
          <p:cNvSpPr txBox="1"/>
          <p:nvPr/>
        </p:nvSpPr>
        <p:spPr>
          <a:xfrm>
            <a:off x="8950757" y="3611880"/>
            <a:ext cx="2326538" cy="365760"/>
          </a:xfrm>
          <a:prstGeom prst="rect">
            <a:avLst/>
          </a:prstGeom>
          <a:noFill/>
          <a:ln/>
        </p:spPr>
        <p:txBody>
          <a:bodyPr wrap="square" lIns="0" tIns="0" rIns="0" bIns="0" rtlCol="0" anchor="t"/>
          <a:lstStyle/>
          <a:p>
            <a:pPr indent="0" marL="0">
              <a:buNone/>
            </a:pPr>
            <a:r>
              <a:rPr lang="en-US" sz="1500" dirty="0">
                <a:solidFill>
                  <a:schemeClr val="tx1"/>
                </a:solidFill>
              </a:rPr>
              <a:t>repete</a:t>
            </a:r>
            <a:endParaRPr lang="en-US" sz="1500" dirty="0"/>
          </a:p>
        </p:txBody>
      </p:sp>
      <p:sp>
        <p:nvSpPr>
          <p:cNvPr id="33" name="rez-6"/>
          <p:cNvSpPr/>
          <p:nvPr/>
        </p:nvSpPr>
        <p:spPr>
          <a:xfrm>
            <a:off x="548640" y="4389120"/>
            <a:ext cx="3469538" cy="1234440"/>
          </a:xfrm>
          <a:prstGeom prst="roundRect">
            <a:avLst>
              <a:gd name="adj" fmla="val 8889"/>
            </a:avLst>
          </a:prstGeom>
          <a:solidFill>
            <a:schemeClr val="bg2"/>
          </a:solidFill>
          <a:ln w="12700">
            <a:solidFill>
              <a:schemeClr val="bg2"/>
            </a:solidFill>
            <a:prstDash val="solid"/>
          </a:ln>
        </p:spPr>
      </p:sp>
      <p:sp>
        <p:nvSpPr>
          <p:cNvPr id="34" name="rez-n-6"/>
          <p:cNvSpPr/>
          <p:nvPr/>
        </p:nvSpPr>
        <p:spPr>
          <a:xfrm>
            <a:off x="777240" y="4709160"/>
            <a:ext cx="594360" cy="594360"/>
          </a:xfrm>
          <a:prstGeom prst="ellipse">
            <a:avLst/>
          </a:prstGeom>
          <a:solidFill>
            <a:schemeClr val="accent1"/>
          </a:solidFill>
          <a:ln w="12700">
            <a:solidFill>
              <a:schemeClr val="accent1"/>
            </a:solidFill>
            <a:prstDash val="solid"/>
          </a:ln>
        </p:spPr>
      </p:sp>
      <p:sp>
        <p:nvSpPr>
          <p:cNvPr id="35" name="rez-n-6-n"/>
          <p:cNvSpPr txBox="1"/>
          <p:nvPr/>
        </p:nvSpPr>
        <p:spPr>
          <a:xfrm>
            <a:off x="777240" y="47091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6" name="Text 34"/>
          <p:cNvSpPr txBox="1"/>
          <p:nvPr/>
        </p:nvSpPr>
        <p:spPr>
          <a:xfrm>
            <a:off x="1554480" y="461772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 dicionáriu }</a:t>
            </a:r>
            <a:endParaRPr lang="en-US" sz="1600" dirty="0"/>
          </a:p>
        </p:txBody>
      </p:sp>
      <p:sp>
        <p:nvSpPr>
          <p:cNvPr id="37" name="Text 35"/>
          <p:cNvSpPr txBox="1"/>
          <p:nvPr/>
        </p:nvSpPr>
        <p:spPr>
          <a:xfrm>
            <a:off x="1554480" y="5074920"/>
            <a:ext cx="2326538" cy="365760"/>
          </a:xfrm>
          <a:prstGeom prst="rect">
            <a:avLst/>
          </a:prstGeom>
          <a:noFill/>
          <a:ln/>
        </p:spPr>
        <p:txBody>
          <a:bodyPr wrap="square" lIns="0" tIns="0" rIns="0" bIns="0" rtlCol="0" anchor="t"/>
          <a:lstStyle/>
          <a:p>
            <a:pPr indent="0" marL="0">
              <a:buNone/>
            </a:pPr>
            <a:r>
              <a:rPr lang="en-US" sz="1500" dirty="0">
                <a:solidFill>
                  <a:schemeClr val="tx1"/>
                </a:solidFill>
              </a:rPr>
              <a:t>xave → valór</a:t>
            </a:r>
            <a:endParaRPr lang="en-US" sz="1500" dirty="0"/>
          </a:p>
        </p:txBody>
      </p:sp>
      <p:sp>
        <p:nvSpPr>
          <p:cNvPr id="38" name="rez-7"/>
          <p:cNvSpPr/>
          <p:nvPr/>
        </p:nvSpPr>
        <p:spPr>
          <a:xfrm>
            <a:off x="4246778" y="4389120"/>
            <a:ext cx="3469538" cy="1234440"/>
          </a:xfrm>
          <a:prstGeom prst="roundRect">
            <a:avLst>
              <a:gd name="adj" fmla="val 8889"/>
            </a:avLst>
          </a:prstGeom>
          <a:solidFill>
            <a:schemeClr val="bg2"/>
          </a:solidFill>
          <a:ln w="12700">
            <a:solidFill>
              <a:schemeClr val="bg2"/>
            </a:solidFill>
            <a:prstDash val="solid"/>
          </a:ln>
        </p:spPr>
      </p:sp>
      <p:sp>
        <p:nvSpPr>
          <p:cNvPr id="39" name="rez-n-7"/>
          <p:cNvSpPr/>
          <p:nvPr/>
        </p:nvSpPr>
        <p:spPr>
          <a:xfrm>
            <a:off x="4475378" y="4709160"/>
            <a:ext cx="594360" cy="594360"/>
          </a:xfrm>
          <a:prstGeom prst="ellipse">
            <a:avLst/>
          </a:prstGeom>
          <a:solidFill>
            <a:schemeClr val="accent5"/>
          </a:solidFill>
          <a:ln w="12700">
            <a:solidFill>
              <a:schemeClr val="accent5"/>
            </a:solidFill>
            <a:prstDash val="solid"/>
          </a:ln>
        </p:spPr>
      </p:sp>
      <p:sp>
        <p:nvSpPr>
          <p:cNvPr id="40" name="rez-n-7-n"/>
          <p:cNvSpPr txBox="1"/>
          <p:nvPr/>
        </p:nvSpPr>
        <p:spPr>
          <a:xfrm>
            <a:off x="4475378" y="47091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41" name="Text 39"/>
          <p:cNvSpPr txBox="1"/>
          <p:nvPr/>
        </p:nvSpPr>
        <p:spPr>
          <a:xfrm>
            <a:off x="5252618" y="461772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def · return</a:t>
            </a:r>
            <a:endParaRPr lang="en-US" sz="1600" dirty="0"/>
          </a:p>
        </p:txBody>
      </p:sp>
      <p:sp>
        <p:nvSpPr>
          <p:cNvPr id="42" name="Text 40"/>
          <p:cNvSpPr txBox="1"/>
          <p:nvPr/>
        </p:nvSpPr>
        <p:spPr>
          <a:xfrm>
            <a:off x="5252618" y="5074920"/>
            <a:ext cx="2326538" cy="365760"/>
          </a:xfrm>
          <a:prstGeom prst="rect">
            <a:avLst/>
          </a:prstGeom>
          <a:noFill/>
          <a:ln/>
        </p:spPr>
        <p:txBody>
          <a:bodyPr wrap="square" lIns="0" tIns="0" rIns="0" bIns="0" rtlCol="0" anchor="t"/>
          <a:lstStyle/>
          <a:p>
            <a:pPr indent="0" marL="0">
              <a:buNone/>
            </a:pPr>
            <a:r>
              <a:rPr lang="en-US" sz="1500" dirty="0">
                <a:solidFill>
                  <a:schemeClr val="tx1"/>
                </a:solidFill>
              </a:rPr>
              <a:t>funsaun rasik</a:t>
            </a:r>
            <a:endParaRPr lang="en-US" sz="1500" dirty="0"/>
          </a:p>
        </p:txBody>
      </p:sp>
      <p:sp>
        <p:nvSpPr>
          <p:cNvPr id="43" name="rez-8"/>
          <p:cNvSpPr/>
          <p:nvPr/>
        </p:nvSpPr>
        <p:spPr>
          <a:xfrm>
            <a:off x="7944917" y="4389120"/>
            <a:ext cx="3469538" cy="1234440"/>
          </a:xfrm>
          <a:prstGeom prst="roundRect">
            <a:avLst>
              <a:gd name="adj" fmla="val 8889"/>
            </a:avLst>
          </a:prstGeom>
          <a:solidFill>
            <a:schemeClr val="bg2"/>
          </a:solidFill>
          <a:ln w="12700">
            <a:solidFill>
              <a:schemeClr val="bg2"/>
            </a:solidFill>
            <a:prstDash val="solid"/>
          </a:ln>
        </p:spPr>
      </p:sp>
      <p:sp>
        <p:nvSpPr>
          <p:cNvPr id="44" name="rez-n-8"/>
          <p:cNvSpPr/>
          <p:nvPr/>
        </p:nvSpPr>
        <p:spPr>
          <a:xfrm>
            <a:off x="8173517" y="4709160"/>
            <a:ext cx="594360" cy="594360"/>
          </a:xfrm>
          <a:prstGeom prst="ellipse">
            <a:avLst/>
          </a:prstGeom>
          <a:solidFill>
            <a:schemeClr val="accent3"/>
          </a:solidFill>
          <a:ln w="12700">
            <a:solidFill>
              <a:schemeClr val="accent3"/>
            </a:solidFill>
            <a:prstDash val="solid"/>
          </a:ln>
        </p:spPr>
      </p:sp>
      <p:sp>
        <p:nvSpPr>
          <p:cNvPr id="45" name="rez-n-8-n"/>
          <p:cNvSpPr txBox="1"/>
          <p:nvPr/>
        </p:nvSpPr>
        <p:spPr>
          <a:xfrm>
            <a:off x="8173517" y="47091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46" name="Text 44"/>
          <p:cNvSpPr txBox="1"/>
          <p:nvPr/>
        </p:nvSpPr>
        <p:spPr>
          <a:xfrm>
            <a:off x="8950757" y="4617720"/>
            <a:ext cx="2326538" cy="45720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pandas</a:t>
            </a:r>
            <a:endParaRPr lang="en-US" sz="1600" dirty="0"/>
          </a:p>
        </p:txBody>
      </p:sp>
      <p:sp>
        <p:nvSpPr>
          <p:cNvPr id="47" name="Text 45"/>
          <p:cNvSpPr txBox="1"/>
          <p:nvPr/>
        </p:nvSpPr>
        <p:spPr>
          <a:xfrm>
            <a:off x="8950757" y="5074920"/>
            <a:ext cx="2326538" cy="365760"/>
          </a:xfrm>
          <a:prstGeom prst="rect">
            <a:avLst/>
          </a:prstGeom>
          <a:noFill/>
          <a:ln/>
        </p:spPr>
        <p:txBody>
          <a:bodyPr wrap="square" lIns="0" tIns="0" rIns="0" bIns="0" rtlCol="0" anchor="t"/>
          <a:lstStyle/>
          <a:p>
            <a:pPr indent="0" marL="0">
              <a:buNone/>
            </a:pPr>
            <a:r>
              <a:rPr lang="en-US" sz="1500" dirty="0">
                <a:solidFill>
                  <a:schemeClr val="tx1"/>
                </a:solidFill>
              </a:rPr>
              <a:t>tabela Excel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Kontinua aprende</a:t>
            </a: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Prátika minutu 15 loron-loron iha Google Colab</a:t>
            </a:r>
            <a:endParaRPr lang="en-US" sz="2000" dirty="0"/>
          </a:p>
          <a:p>
            <a:pPr indent="0" marL="0">
              <a:buNone/>
            </a:pPr>
            <a:r>
              <a:rPr lang="en-US" sz="2000" b="1" dirty="0">
                <a:solidFill>
                  <a:schemeClr val="accent2"/>
                </a:solidFill>
              </a:rPr>
              <a:t>Obrigadu barak! Perguntas?</a:t>
            </a:r>
            <a:endParaRPr lang="en-US" sz="2000" dirty="0"/>
          </a:p>
        </p:txBody>
      </p:sp>
      <p:sp>
        <p:nvSpPr>
          <p:cNvPr id="4" name="rec-0-sirkulu"/>
          <p:cNvSpPr/>
          <p:nvPr/>
        </p:nvSpPr>
        <p:spPr>
          <a:xfrm>
            <a:off x="7955280" y="1371600"/>
            <a:ext cx="868680" cy="868680"/>
          </a:xfrm>
          <a:prstGeom prst="ellipse">
            <a:avLst/>
          </a:prstGeom>
          <a:solidFill>
            <a:schemeClr val="accent1"/>
          </a:solidFill>
          <a:ln w="12700">
            <a:solidFill>
              <a:schemeClr val="accent1"/>
            </a:solidFill>
            <a:prstDash val="solid"/>
          </a:ln>
        </p:spPr>
      </p:sp>
      <p:pic>
        <p:nvPicPr>
          <p:cNvPr id="5" name="rec-0-ikone" descr="preencoded.png">    </p:cNvPr>
          <p:cNvPicPr>
            <a:picLocks noChangeAspect="1"/>
          </p:cNvPicPr>
          <p:nvPr/>
        </p:nvPicPr>
        <p:blipFill>
          <a:blip r:embed="rId1"/>
          <a:stretch>
            <a:fillRect/>
          </a:stretch>
        </p:blipFill>
        <p:spPr>
          <a:xfrm>
            <a:off x="8163763" y="1580083"/>
            <a:ext cx="451714" cy="451714"/>
          </a:xfrm>
          <a:prstGeom prst="rect">
            <a:avLst/>
          </a:prstGeom>
        </p:spPr>
      </p:pic>
      <p:sp>
        <p:nvSpPr>
          <p:cNvPr id="6" name="Text 3"/>
          <p:cNvSpPr txBox="1"/>
          <p:nvPr/>
        </p:nvSpPr>
        <p:spPr>
          <a:xfrm>
            <a:off x="8961120" y="1444752"/>
            <a:ext cx="3017520" cy="365760"/>
          </a:xfrm>
          <a:prstGeom prst="rect">
            <a:avLst/>
          </a:prstGeom>
          <a:noFill/>
          <a:ln/>
        </p:spPr>
        <p:txBody>
          <a:bodyPr wrap="square" lIns="0" tIns="0" rIns="0" bIns="0" rtlCol="0" anchor="t"/>
          <a:lstStyle/>
          <a:p>
            <a:pPr indent="0" marL="0">
              <a:buNone/>
            </a:pPr>
            <a:r>
              <a:rPr lang="en-US" sz="1400" b="1" dirty="0">
                <a:solidFill>
                  <a:schemeClr val="bg1"/>
                </a:solidFill>
              </a:rPr>
              <a:t>colab.research.google.com</a:t>
            </a:r>
            <a:endParaRPr lang="en-US" sz="1400" dirty="0"/>
          </a:p>
        </p:txBody>
      </p:sp>
      <p:sp>
        <p:nvSpPr>
          <p:cNvPr id="7" name="Text 4"/>
          <p:cNvSpPr txBox="1"/>
          <p:nvPr/>
        </p:nvSpPr>
        <p:spPr>
          <a:xfrm>
            <a:off x="8961120" y="1847088"/>
            <a:ext cx="3017520" cy="365760"/>
          </a:xfrm>
          <a:prstGeom prst="rect">
            <a:avLst/>
          </a:prstGeom>
          <a:noFill/>
          <a:ln/>
        </p:spPr>
        <p:txBody>
          <a:bodyPr wrap="square" lIns="0" tIns="0" rIns="0" bIns="0" rtlCol="0" anchor="t"/>
          <a:lstStyle/>
          <a:p>
            <a:pPr indent="0" marL="0">
              <a:buNone/>
            </a:pPr>
            <a:r>
              <a:rPr lang="en-US" sz="1300" dirty="0">
                <a:solidFill>
                  <a:schemeClr val="bg2"/>
                </a:solidFill>
              </a:rPr>
              <a:t>Hakerek kódigu iha browser</a:t>
            </a:r>
            <a:endParaRPr lang="en-US" sz="1300" dirty="0"/>
          </a:p>
        </p:txBody>
      </p:sp>
      <p:sp>
        <p:nvSpPr>
          <p:cNvPr id="8" name="rec-1-sirkulu"/>
          <p:cNvSpPr/>
          <p:nvPr/>
        </p:nvSpPr>
        <p:spPr>
          <a:xfrm>
            <a:off x="7955280" y="2834640"/>
            <a:ext cx="868680" cy="868680"/>
          </a:xfrm>
          <a:prstGeom prst="ellipse">
            <a:avLst/>
          </a:prstGeom>
          <a:solidFill>
            <a:schemeClr val="accent5"/>
          </a:solidFill>
          <a:ln w="12700">
            <a:solidFill>
              <a:schemeClr val="accent5"/>
            </a:solidFill>
            <a:prstDash val="solid"/>
          </a:ln>
        </p:spPr>
      </p:sp>
      <p:pic>
        <p:nvPicPr>
          <p:cNvPr id="9" name="rec-1-ikone" descr="preencoded.png">    </p:cNvPr>
          <p:cNvPicPr>
            <a:picLocks noChangeAspect="1"/>
          </p:cNvPicPr>
          <p:nvPr/>
        </p:nvPicPr>
        <p:blipFill>
          <a:blip r:embed="rId2"/>
          <a:stretch>
            <a:fillRect/>
          </a:stretch>
        </p:blipFill>
        <p:spPr>
          <a:xfrm>
            <a:off x="8163763" y="3043123"/>
            <a:ext cx="451714" cy="451714"/>
          </a:xfrm>
          <a:prstGeom prst="rect">
            <a:avLst/>
          </a:prstGeom>
        </p:spPr>
      </p:pic>
      <p:sp>
        <p:nvSpPr>
          <p:cNvPr id="10" name="Text 6"/>
          <p:cNvSpPr txBox="1"/>
          <p:nvPr/>
        </p:nvSpPr>
        <p:spPr>
          <a:xfrm>
            <a:off x="8961120" y="2907792"/>
            <a:ext cx="3017520" cy="365760"/>
          </a:xfrm>
          <a:prstGeom prst="rect">
            <a:avLst/>
          </a:prstGeom>
          <a:noFill/>
          <a:ln/>
        </p:spPr>
        <p:txBody>
          <a:bodyPr wrap="square" lIns="0" tIns="0" rIns="0" bIns="0" rtlCol="0" anchor="t"/>
          <a:lstStyle/>
          <a:p>
            <a:pPr indent="0" marL="0">
              <a:buNone/>
            </a:pPr>
            <a:r>
              <a:rPr lang="en-US" sz="1400" b="1" dirty="0">
                <a:solidFill>
                  <a:schemeClr val="bg1"/>
                </a:solidFill>
              </a:rPr>
              <a:t>w3schools.com/python</a:t>
            </a:r>
            <a:endParaRPr lang="en-US" sz="1400" dirty="0"/>
          </a:p>
        </p:txBody>
      </p:sp>
      <p:sp>
        <p:nvSpPr>
          <p:cNvPr id="11" name="Text 7"/>
          <p:cNvSpPr txBox="1"/>
          <p:nvPr/>
        </p:nvSpPr>
        <p:spPr>
          <a:xfrm>
            <a:off x="8961120" y="3310128"/>
            <a:ext cx="3017520" cy="365760"/>
          </a:xfrm>
          <a:prstGeom prst="rect">
            <a:avLst/>
          </a:prstGeom>
          <a:noFill/>
          <a:ln/>
        </p:spPr>
        <p:txBody>
          <a:bodyPr wrap="square" lIns="0" tIns="0" rIns="0" bIns="0" rtlCol="0" anchor="t"/>
          <a:lstStyle/>
          <a:p>
            <a:pPr indent="0" marL="0">
              <a:buNone/>
            </a:pPr>
            <a:r>
              <a:rPr lang="en-US" sz="1300" dirty="0">
                <a:solidFill>
                  <a:schemeClr val="bg2"/>
                </a:solidFill>
              </a:rPr>
              <a:t>Liña ba liña, ho ezemplu</a:t>
            </a:r>
            <a:endParaRPr lang="en-US" sz="1300" dirty="0"/>
          </a:p>
        </p:txBody>
      </p:sp>
      <p:sp>
        <p:nvSpPr>
          <p:cNvPr id="12" name="rec-2-sirkulu"/>
          <p:cNvSpPr/>
          <p:nvPr/>
        </p:nvSpPr>
        <p:spPr>
          <a:xfrm>
            <a:off x="7955280" y="4297680"/>
            <a:ext cx="868680" cy="868680"/>
          </a:xfrm>
          <a:prstGeom prst="ellipse">
            <a:avLst/>
          </a:prstGeom>
          <a:solidFill>
            <a:schemeClr val="accent3"/>
          </a:solidFill>
          <a:ln w="12700">
            <a:solidFill>
              <a:schemeClr val="accent3"/>
            </a:solidFill>
            <a:prstDash val="solid"/>
          </a:ln>
        </p:spPr>
      </p:sp>
      <p:pic>
        <p:nvPicPr>
          <p:cNvPr id="13" name="rec-2-ikone" descr="preencoded.png">    </p:cNvPr>
          <p:cNvPicPr>
            <a:picLocks noChangeAspect="1"/>
          </p:cNvPicPr>
          <p:nvPr/>
        </p:nvPicPr>
        <p:blipFill>
          <a:blip r:embed="rId3"/>
          <a:stretch>
            <a:fillRect/>
          </a:stretch>
        </p:blipFill>
        <p:spPr>
          <a:xfrm>
            <a:off x="8163763" y="4506163"/>
            <a:ext cx="451714" cy="451714"/>
          </a:xfrm>
          <a:prstGeom prst="rect">
            <a:avLst/>
          </a:prstGeom>
        </p:spPr>
      </p:pic>
      <p:sp>
        <p:nvSpPr>
          <p:cNvPr id="14" name="Text 9"/>
          <p:cNvSpPr txBox="1"/>
          <p:nvPr/>
        </p:nvSpPr>
        <p:spPr>
          <a:xfrm>
            <a:off x="8961120" y="4370832"/>
            <a:ext cx="3017520" cy="365760"/>
          </a:xfrm>
          <a:prstGeom prst="rect">
            <a:avLst/>
          </a:prstGeom>
          <a:noFill/>
          <a:ln/>
        </p:spPr>
        <p:txBody>
          <a:bodyPr wrap="square" lIns="0" tIns="0" rIns="0" bIns="0" rtlCol="0" anchor="t"/>
          <a:lstStyle/>
          <a:p>
            <a:pPr indent="0" marL="0">
              <a:buNone/>
            </a:pPr>
            <a:r>
              <a:rPr lang="en-US" sz="1400" b="1" dirty="0">
                <a:solidFill>
                  <a:schemeClr val="bg1"/>
                </a:solidFill>
              </a:rPr>
              <a:t>Grupu prátika RbR</a:t>
            </a:r>
            <a:endParaRPr lang="en-US" sz="1400" dirty="0"/>
          </a:p>
        </p:txBody>
      </p:sp>
      <p:sp>
        <p:nvSpPr>
          <p:cNvPr id="15" name="Text 10"/>
          <p:cNvSpPr txBox="1"/>
          <p:nvPr/>
        </p:nvSpPr>
        <p:spPr>
          <a:xfrm>
            <a:off x="8961120" y="4773168"/>
            <a:ext cx="3017520" cy="365760"/>
          </a:xfrm>
          <a:prstGeom prst="rect">
            <a:avLst/>
          </a:prstGeom>
          <a:noFill/>
          <a:ln/>
        </p:spPr>
        <p:txBody>
          <a:bodyPr wrap="square" lIns="0" tIns="0" rIns="0" bIns="0" rtlCol="0" anchor="t"/>
          <a:lstStyle/>
          <a:p>
            <a:pPr indent="0" marL="0">
              <a:buNone/>
            </a:pPr>
            <a:r>
              <a:rPr lang="en-US" sz="1300" dirty="0">
                <a:solidFill>
                  <a:schemeClr val="bg2"/>
                </a:solidFill>
              </a:rPr>
              <a:t>Hasoru malu semana-semana</a:t>
            </a:r>
            <a:endParaRPr lang="en-US" sz="1300" dirty="0"/>
          </a:p>
        </p:txBody>
      </p:sp>
    </p:spTree>
  </p:cSld>
  <p:clrMapOvr>
    <a:masterClrMapping/>
  </p:clrMapOvr>
</p:sld>
</file>

<file path=ppt/theme/theme1.xml><?xml version="1.0" encoding="utf-8"?>
<a:theme xmlns:a="http://schemas.openxmlformats.org/drawingml/2006/main" name="Rede ba Rai">
  <a:themeElements>
    <a:clrScheme name="Rede ba Rai">
      <a:dk1>
        <a:srgbClr val="1F2A26"/>
      </a:dk1>
      <a:lt1>
        <a:srgbClr val="FFFFFF"/>
      </a:lt1>
      <a:dk2>
        <a:srgbClr val="0B4F3C"/>
      </a:dk2>
      <a:lt2>
        <a:srgbClr val="EAF5EF"/>
      </a:lt2>
      <a:accent1>
        <a:srgbClr val="0E8A68"/>
      </a:accent1>
      <a:accent2>
        <a:srgbClr val="82DA36"/>
      </a:accent2>
      <a:accent3>
        <a:srgbClr val="E8772E"/>
      </a:accent3>
      <a:accent4>
        <a:srgbClr val="D63C3C"/>
      </a:accent4>
      <a:accent5>
        <a:srgbClr val="2F6AA6"/>
      </a:accent5>
      <a:accent6>
        <a:srgbClr val="C99A06"/>
      </a:accent6>
      <a:hlink>
        <a:srgbClr val="0E8A68"/>
      </a:hlink>
      <a:folHlink>
        <a:srgbClr val="0B6B50"/>
      </a:folHlink>
    </a:clrScheme>
    <a:fontScheme name="Rede ba R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Rede ba Rai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ba Dadus — Formasaun Staf Rede ba Rai</dc:title>
  <dc:subject>PptxGenJS Presentation</dc:subject>
  <dc:creator>Rede ba Rai</dc:creator>
  <cp:lastModifiedBy>Rede ba Rai</cp:lastModifiedBy>
  <cp:revision>1</cp:revision>
  <dcterms:created xsi:type="dcterms:W3CDTF">2026-10-26T02:50:56Z</dcterms:created>
  <dcterms:modified xsi:type="dcterms:W3CDTF">2026-10-26T02:50:56Z</dcterms:modified>
</cp:coreProperties>
</file>