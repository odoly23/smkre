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saun" id="{9a1cb400-12f9-0ae4-8339-2cf6ab0bf3c2}">
          <p14:sldIdLst>
            <p14:sldId id="256"/>
            <p14:sldId id="257"/>
            <p14:sldId id="258"/>
            <p14:sldId id="259"/>
          </p14:sldIdLst>
        </p14:section>
        <p14:section name="Papél no hahú" id="{391c2958-8cb3-3655-e583-a976a6c3e528}">
          <p14:sldIdLst>
            <p14:sldId id="260"/>
            <p14:sldId id="261"/>
            <p14:sldId id="262"/>
          </p14:sldIdLst>
        </p14:section>
        <p14:section name="Fluxu kazu" id="{fcc1c6f0-71f2-b041-28e9-a454b7992cf0}">
          <p14:sldIdLst>
            <p14:sldId id="263"/>
            <p14:sldId id="264"/>
          </p14:sldIdLst>
        </p14:section>
        <p14:section name="Investigadór" id="{2d7d1143-5b57-2c07-4ae1-a5e89db7096b}">
          <p14:sldIdLst>
            <p14:sldId id="265"/>
            <p14:sldId id="266"/>
          </p14:sldIdLst>
        </p14:section>
        <p14:section name="Jestaun" id="{a15df410-3c85-fd4d-ef82-ef0187e45ac4}">
          <p14:sldIdLst>
            <p14:sldId id="267"/>
            <p14:sldId id="268"/>
            <p14:sldId id="269"/>
          </p14:sldIdLst>
        </p14:section>
        <p14:section name="Portal no seguransa" id="{91e23052-a1ed-1a68-6848-bc90bbe5cb4b}">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Bondia hotu. Ohin ita aprende SMKRE: sistema foun Rede ba Rai atu rejista, verifika no akompaña kazu konflitu rai no eviksaun. Formasaun ne'e ba staf hotu; parte ruma ba papél espesífiku. Hafoin aprezentasaun ida-ne'e, ita halo prátika direta iha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iha parte 8. Parte 1 to'o 4 ba ema hotu. Parte 5 no 6 tuir papél. Ita bele husu pergunta iha tempu ruma.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SMKRE iha objetivu 4. Rejista iha terrenu, mós sein sinál. Verifika dala rua atu dadus loos. Analiza ba advokasia no relatóriu. Proteje komunidade: portal hatudu total deit, la iha naran ka 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Imajen ida-ne'e hatudu oinsá parte sira liga. Investigadór haruka dadus husi web ka app offline. Servidór rai dadus no fluxu verifikasaun. Staf ho login haree dashboard, mapa no vault legál. Públiku haree portal ho total deit, kazu aprovadu deit.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Kada utilizador iha papél ida deit. Papél determina menu no butaun. Se ita la haree menu ruma, ne'e la'ós erru: ita-nia papél la iha asesu. Husu Admin se presiza.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ne'e mak referénsia rápida. Importante: Admin verifika, Superadmin aprova — ema ida labele halo rua. Investigadór haree nia kazu rasik deit. Vault konfidensiál: Superadmin no Ofisiál Legál deit.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 login direta. Iha login dahuluk sistema obriga troka password. Hatudu bandeira lian no kampaiña notifikasaun. Lembra: sala password dala 5 konta xave minutu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mak fluxu prinsipál. Investigadór haruka; kazu xave ba nia. Admin verifika ka rejeita ho razaun. Kazu rejeitadu fila ba Investigadór atu hadia no haruka fali. Superadmin aprova; depois kazu mosu iha dashboard no portal. Kansela ba kazu falsu ka duplikadu, no ida-ne'e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ne'e esplika tanbasa butaun ruma xave. Ezemplu: Superadmin haree Aprova xave to'o Admin verifika. Hafoin verifika, Rejeita no Kansela xave atu dadus seguru. Servidór mós bloku — la'ós butaun deit.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 formuláriu online. Sistema rai rascunho; ita bele kontinua depois. Molok haruka, sistema verifika GPS, konsentimentu, tipu, data, postu, suku no deskrisaun. Hafoin haruka kazu xave. Se Admin rejeita, ita simu razaun, hadia no haruka fali; kódigu la muda. Marka La publika se komunidade husu.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Molok ba terrenu: husu izin offline ba Admin, instala app ho Add to Home screen, login dala ida, kria PIN. Iha terrenu, app la presiza internet. Bainhira iha sinál, app sinkron automátiku. Lembra regra PIN: haluha PIN = kazu seidauk sinkron lakon. Sinkron beibeik.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no Superadmin iha papél rua ne'ebé haketak: ema ida verifika, ema seluk aprova. Admin jere utilizador no izin offline. Superadmin deit mak kria Superadmin. Demonstra verifika kazu teste 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Analista uza dashboard ba advokasia. Kada númeru bele klik atu loke lista kazu. Mapa staf hatudu kazu ida-idak; portal la hatudu. Export Excel iha dadus sensível: keta haruka liu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Ofisiál Legál akompaña kazu hafoin verifika. Muda status prosesu iha detalla kazu. Upload dokumentu ba Vault; sistema verifika tipu file no rai hash. Hatama prazu ba nota legál; sistema haruka lembrete loron 3 molok. Dossier ba tribunál ka reuniaun.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Portal mak pájina dahuluk ba ema hotu. Regra privasidade protese komunidade: númeru kiik subar, fatin arredonda ba kilómetru ida, zoom limita. Komunidade bele husu La publika. Demonstra portal: klik pin, Haree Detalla.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Seguransa la'ós sistema deit; ita hotu nia responsabilidade. Sistema enkripta dadus HP, xave konta hafoin sala dala 5 no rejista istória. Maibé se ita fó password ka haruka foto ekran, protesaun hotu lakon.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sira ne'e mosu beibeik. Se la rezolve, kontaktu Admin ho kódigu kazu no foto ekran — maibé nunka haruka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Obrigadu ba atensaun. Agora ita halo prátika: kada ema login, troka password, no halo pasu tuir papél. Modul formasaun kompletu iha dokumentu ne'ebé ita simu.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78638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566160"/>
            <a:ext cx="786384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E6B66"/>
                </a:solidFill>
              </a:rPr>
              <a:t>SMKRE · Formasaun Staf · Rede ba Rai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sirkulu"/>
          <p:cNvSpPr/>
          <p:nvPr/>
        </p:nvSpPr>
        <p:spPr>
          <a:xfrm>
            <a:off x="548640" y="640080"/>
            <a:ext cx="1325880" cy="1325880"/>
          </a:xfrm>
          <a:prstGeom prst="ellipse">
            <a:avLst/>
          </a:prstGeom>
          <a:solidFill>
            <a:schemeClr val="bg1"/>
          </a:solidFill>
          <a:ln w="12700">
            <a:solidFill>
              <a:schemeClr val="bg1"/>
            </a:solidFill>
            <a:prstDash val="solid"/>
          </a:ln>
        </p:spPr>
      </p:sp>
      <p:pic>
        <p:nvPicPr>
          <p:cNvPr id="3" name="logo" descr="/home/user/SMKRE/main/static/main/images/logo.png">    </p:cNvPr>
          <p:cNvPicPr>
            <a:picLocks noChangeAspect="1"/>
          </p:cNvPicPr>
          <p:nvPr/>
        </p:nvPicPr>
        <p:blipFill>
          <a:blip r:embed="rId1"/>
          <a:stretch>
            <a:fillRect/>
          </a:stretch>
        </p:blipFill>
        <p:spPr>
          <a:xfrm>
            <a:off x="731520" y="822960"/>
            <a:ext cx="960120" cy="914400"/>
          </a:xfrm>
          <a:prstGeom prst="rect">
            <a:avLst/>
          </a:prstGeom>
        </p:spPr>
      </p:pic>
      <p:sp>
        <p:nvSpPr>
          <p:cNvPr id="4" name="Text 0"/>
          <p:cNvSpPr/>
          <p:nvPr>
            <p:ph idx="100" type="title" hasCustomPrompt="1"/>
          </p:nvPr>
        </p:nvSpPr>
        <p:spPr>
          <a:xfrm>
            <a:off x="548640" y="2148840"/>
            <a:ext cx="7863840" cy="1280160"/>
          </a:xfrm>
          <a:prstGeom prst="rect">
            <a:avLst/>
          </a:prstGeom>
          <a:noFill/>
          <a:ln/>
        </p:spPr>
        <p:txBody>
          <a:bodyPr wrap="square" lIns="0" tIns="0" rIns="0" bIns="0" rtlCol="0" anchor="b"/>
          <a:lstStyle/>
          <a:p>
            <a:pPr algn="l" indent="0" marL="0">
              <a:buNone/>
            </a:pPr>
            <a:r>
              <a:rPr lang="en-US" sz="5400" b="1" dirty="0">
                <a:solidFill>
                  <a:schemeClr val="bg1"/>
                </a:solidFill>
              </a:rPr>
              <a:t>SMKRE</a:t>
            </a:r>
            <a:endParaRPr lang="en-US" sz="5400" dirty="0"/>
          </a:p>
        </p:txBody>
      </p:sp>
      <p:sp>
        <p:nvSpPr>
          <p:cNvPr id="5" name="Text 0"/>
          <p:cNvSpPr/>
          <p:nvPr>
            <p:ph idx="101" type="body" hasCustomPrompt="1"/>
          </p:nvPr>
        </p:nvSpPr>
        <p:spPr>
          <a:xfrm>
            <a:off x="548640" y="3566160"/>
            <a:ext cx="7863840" cy="1463040"/>
          </a:xfrm>
          <a:prstGeom prst="rect">
            <a:avLst/>
          </a:prstGeom>
          <a:noFill/>
          <a:ln/>
        </p:spPr>
        <p:txBody>
          <a:bodyPr wrap="square" lIns="0" tIns="0" rIns="0" bIns="0" rtlCol="0" anchor="t"/>
          <a:lstStyle/>
          <a:p>
            <a:pPr indent="0" marL="0">
              <a:buNone/>
            </a:pPr>
            <a:r>
              <a:rPr lang="en-US" sz="2000" dirty="0">
                <a:solidFill>
                  <a:schemeClr val="bg2"/>
                </a:solidFill>
              </a:rPr>
              <a:t>Sistema Monitorizasaun Konflitu Rai no Eviksaun</a:t>
            </a:r>
            <a:endParaRPr lang="en-US" sz="2000" dirty="0"/>
          </a:p>
          <a:p>
            <a:pPr indent="0" marL="0">
              <a:buNone/>
            </a:pPr>
            <a:r>
              <a:rPr lang="en-US" sz="2000" b="1" dirty="0">
                <a:solidFill>
                  <a:schemeClr val="accent2"/>
                </a:solidFill>
              </a:rPr>
              <a:t>Formasaun ba staf Rede ba Rai · 2026</a:t>
            </a:r>
            <a:endParaRPr lang="en-US" sz="2000" dirty="0"/>
          </a:p>
        </p:txBody>
      </p:sp>
      <p:sp>
        <p:nvSpPr>
          <p:cNvPr id="6" name="kapa-0-sirkulu"/>
          <p:cNvSpPr/>
          <p:nvPr/>
        </p:nvSpPr>
        <p:spPr>
          <a:xfrm>
            <a:off x="8915400" y="2011680"/>
            <a:ext cx="1188720" cy="1188720"/>
          </a:xfrm>
          <a:prstGeom prst="ellipse">
            <a:avLst/>
          </a:prstGeom>
          <a:solidFill>
            <a:schemeClr val="accent1"/>
          </a:solidFill>
          <a:ln w="12700">
            <a:solidFill>
              <a:schemeClr val="accent1"/>
            </a:solidFill>
            <a:prstDash val="solid"/>
          </a:ln>
        </p:spPr>
      </p:sp>
      <p:pic>
        <p:nvPicPr>
          <p:cNvPr id="7" name="kapa-0-ikone" descr="preencoded.png">    </p:cNvPr>
          <p:cNvPicPr>
            <a:picLocks noChangeAspect="1"/>
          </p:cNvPicPr>
          <p:nvPr/>
        </p:nvPicPr>
        <p:blipFill>
          <a:blip r:embed="rId2"/>
          <a:stretch>
            <a:fillRect/>
          </a:stretch>
        </p:blipFill>
        <p:spPr>
          <a:xfrm>
            <a:off x="9200693" y="2296973"/>
            <a:ext cx="618134" cy="618134"/>
          </a:xfrm>
          <a:prstGeom prst="rect">
            <a:avLst/>
          </a:prstGeom>
        </p:spPr>
      </p:pic>
      <p:sp>
        <p:nvSpPr>
          <p:cNvPr id="8" name="kapa-1-sirkulu"/>
          <p:cNvSpPr/>
          <p:nvPr/>
        </p:nvSpPr>
        <p:spPr>
          <a:xfrm>
            <a:off x="10378440" y="2011680"/>
            <a:ext cx="1188720" cy="1188720"/>
          </a:xfrm>
          <a:prstGeom prst="ellipse">
            <a:avLst/>
          </a:prstGeom>
          <a:solidFill>
            <a:schemeClr val="accent5"/>
          </a:solidFill>
          <a:ln w="12700">
            <a:solidFill>
              <a:schemeClr val="accent5"/>
            </a:solidFill>
            <a:prstDash val="solid"/>
          </a:ln>
        </p:spPr>
      </p:sp>
      <p:pic>
        <p:nvPicPr>
          <p:cNvPr id="9" name="kapa-1-ikone" descr="preencoded.png">    </p:cNvPr>
          <p:cNvPicPr>
            <a:picLocks noChangeAspect="1"/>
          </p:cNvPicPr>
          <p:nvPr/>
        </p:nvPicPr>
        <p:blipFill>
          <a:blip r:embed="rId3"/>
          <a:stretch>
            <a:fillRect/>
          </a:stretch>
        </p:blipFill>
        <p:spPr>
          <a:xfrm>
            <a:off x="10663733" y="2296973"/>
            <a:ext cx="618134" cy="618134"/>
          </a:xfrm>
          <a:prstGeom prst="rect">
            <a:avLst/>
          </a:prstGeom>
        </p:spPr>
      </p:pic>
      <p:sp>
        <p:nvSpPr>
          <p:cNvPr id="10" name="kapa-2-sirkulu"/>
          <p:cNvSpPr/>
          <p:nvPr/>
        </p:nvSpPr>
        <p:spPr>
          <a:xfrm>
            <a:off x="8915400" y="3474720"/>
            <a:ext cx="1188720" cy="1188720"/>
          </a:xfrm>
          <a:prstGeom prst="ellipse">
            <a:avLst/>
          </a:prstGeom>
          <a:solidFill>
            <a:schemeClr val="accent3"/>
          </a:solidFill>
          <a:ln w="12700">
            <a:solidFill>
              <a:schemeClr val="accent3"/>
            </a:solidFill>
            <a:prstDash val="solid"/>
          </a:ln>
        </p:spPr>
      </p:sp>
      <p:pic>
        <p:nvPicPr>
          <p:cNvPr id="11" name="kapa-2-ikone" descr="preencoded.png">    </p:cNvPr>
          <p:cNvPicPr>
            <a:picLocks noChangeAspect="1"/>
          </p:cNvPicPr>
          <p:nvPr/>
        </p:nvPicPr>
        <p:blipFill>
          <a:blip r:embed="rId4"/>
          <a:stretch>
            <a:fillRect/>
          </a:stretch>
        </p:blipFill>
        <p:spPr>
          <a:xfrm>
            <a:off x="9200693" y="3760013"/>
            <a:ext cx="618134" cy="618134"/>
          </a:xfrm>
          <a:prstGeom prst="rect">
            <a:avLst/>
          </a:prstGeom>
        </p:spPr>
      </p:pic>
      <p:sp>
        <p:nvSpPr>
          <p:cNvPr id="12" name="kapa-3-sirkulu"/>
          <p:cNvSpPr/>
          <p:nvPr/>
        </p:nvSpPr>
        <p:spPr>
          <a:xfrm>
            <a:off x="10378440" y="3474720"/>
            <a:ext cx="1188720" cy="1188720"/>
          </a:xfrm>
          <a:prstGeom prst="ellipse">
            <a:avLst/>
          </a:prstGeom>
          <a:solidFill>
            <a:schemeClr val="accent4"/>
          </a:solidFill>
          <a:ln w="12700">
            <a:solidFill>
              <a:schemeClr val="accent4"/>
            </a:solidFill>
            <a:prstDash val="solid"/>
          </a:ln>
        </p:spPr>
      </p:sp>
      <p:pic>
        <p:nvPicPr>
          <p:cNvPr id="13" name="kapa-3-ikone" descr="preencoded.png">    </p:cNvPr>
          <p:cNvPicPr>
            <a:picLocks noChangeAspect="1"/>
          </p:cNvPicPr>
          <p:nvPr/>
        </p:nvPicPr>
        <p:blipFill>
          <a:blip r:embed="rId5"/>
          <a:stretch>
            <a:fillRect/>
          </a:stretch>
        </p:blipFill>
        <p:spPr>
          <a:xfrm>
            <a:off x="10663733" y="3760013"/>
            <a:ext cx="618134" cy="61813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Agenda formasaun</a:t>
            </a:r>
            <a:endParaRPr lang="en-US" sz="2600" dirty="0"/>
          </a:p>
        </p:txBody>
      </p:sp>
      <p:sp>
        <p:nvSpPr>
          <p:cNvPr id="3" name="agenda-0"/>
          <p:cNvSpPr/>
          <p:nvPr/>
        </p:nvSpPr>
        <p:spPr>
          <a:xfrm>
            <a:off x="548640" y="1417320"/>
            <a:ext cx="731520" cy="731520"/>
          </a:xfrm>
          <a:prstGeom prst="ellipse">
            <a:avLst/>
          </a:prstGeom>
          <a:solidFill>
            <a:schemeClr val="accent1"/>
          </a:solidFill>
          <a:ln w="12700">
            <a:solidFill>
              <a:schemeClr val="accent1"/>
            </a:solidFill>
            <a:prstDash val="solid"/>
          </a:ln>
        </p:spPr>
      </p:sp>
      <p:sp>
        <p:nvSpPr>
          <p:cNvPr id="4" name="agenda-0-n"/>
          <p:cNvSpPr txBox="1"/>
          <p:nvPr/>
        </p:nvSpPr>
        <p:spPr>
          <a:xfrm>
            <a:off x="548640" y="1417320"/>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1</a:t>
            </a:r>
            <a:endParaRPr lang="en-US" sz="2080" dirty="0"/>
          </a:p>
        </p:txBody>
      </p:sp>
      <p:sp>
        <p:nvSpPr>
          <p:cNvPr id="5" name="agenda-t-0"/>
          <p:cNvSpPr txBox="1"/>
          <p:nvPr/>
        </p:nvSpPr>
        <p:spPr>
          <a:xfrm>
            <a:off x="1463040" y="1399032"/>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Saida mak SMKRE</a:t>
            </a:r>
            <a:endParaRPr lang="en-US" sz="1400" dirty="0"/>
          </a:p>
          <a:p>
            <a:pPr indent="0" marL="0">
              <a:buNone/>
            </a:pPr>
            <a:r>
              <a:rPr lang="en-US" sz="1300" dirty="0">
                <a:solidFill>
                  <a:schemeClr val="tx1"/>
                </a:solidFill>
              </a:rPr>
              <a:t>Objetivu no oinsá parte sira liga</a:t>
            </a:r>
            <a:endParaRPr lang="en-US" sz="1400" dirty="0"/>
          </a:p>
        </p:txBody>
      </p:sp>
      <p:sp>
        <p:nvSpPr>
          <p:cNvPr id="6" name="agenda-1"/>
          <p:cNvSpPr/>
          <p:nvPr/>
        </p:nvSpPr>
        <p:spPr>
          <a:xfrm>
            <a:off x="548640" y="2624328"/>
            <a:ext cx="731520" cy="731520"/>
          </a:xfrm>
          <a:prstGeom prst="ellipse">
            <a:avLst/>
          </a:prstGeom>
          <a:solidFill>
            <a:schemeClr val="accent5"/>
          </a:solidFill>
          <a:ln w="12700">
            <a:solidFill>
              <a:schemeClr val="accent5"/>
            </a:solidFill>
            <a:prstDash val="solid"/>
          </a:ln>
        </p:spPr>
      </p:sp>
      <p:sp>
        <p:nvSpPr>
          <p:cNvPr id="7" name="agenda-1-n"/>
          <p:cNvSpPr txBox="1"/>
          <p:nvPr/>
        </p:nvSpPr>
        <p:spPr>
          <a:xfrm>
            <a:off x="548640" y="2624328"/>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2</a:t>
            </a:r>
            <a:endParaRPr lang="en-US" sz="2080" dirty="0"/>
          </a:p>
        </p:txBody>
      </p:sp>
      <p:sp>
        <p:nvSpPr>
          <p:cNvPr id="8" name="agenda-t-1"/>
          <p:cNvSpPr txBox="1"/>
          <p:nvPr/>
        </p:nvSpPr>
        <p:spPr>
          <a:xfrm>
            <a:off x="1463040" y="2606040"/>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Papél no asesu</a:t>
            </a:r>
            <a:endParaRPr lang="en-US" sz="1400" dirty="0"/>
          </a:p>
          <a:p>
            <a:pPr indent="0" marL="0">
              <a:buNone/>
            </a:pPr>
            <a:r>
              <a:rPr lang="en-US" sz="1300" dirty="0">
                <a:solidFill>
                  <a:schemeClr val="tx1"/>
                </a:solidFill>
              </a:rPr>
              <a:t>Papél 5 no saida mak kada ida bele halo</a:t>
            </a:r>
            <a:endParaRPr lang="en-US" sz="1400" dirty="0"/>
          </a:p>
        </p:txBody>
      </p:sp>
      <p:sp>
        <p:nvSpPr>
          <p:cNvPr id="9" name="agenda-2"/>
          <p:cNvSpPr/>
          <p:nvPr/>
        </p:nvSpPr>
        <p:spPr>
          <a:xfrm>
            <a:off x="548640" y="3831336"/>
            <a:ext cx="731520" cy="731520"/>
          </a:xfrm>
          <a:prstGeom prst="ellipse">
            <a:avLst/>
          </a:prstGeom>
          <a:solidFill>
            <a:schemeClr val="accent1"/>
          </a:solidFill>
          <a:ln w="12700">
            <a:solidFill>
              <a:schemeClr val="accent1"/>
            </a:solidFill>
            <a:prstDash val="solid"/>
          </a:ln>
        </p:spPr>
      </p:sp>
      <p:sp>
        <p:nvSpPr>
          <p:cNvPr id="10" name="agenda-2-n"/>
          <p:cNvSpPr txBox="1"/>
          <p:nvPr/>
        </p:nvSpPr>
        <p:spPr>
          <a:xfrm>
            <a:off x="548640" y="3831336"/>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3</a:t>
            </a:r>
            <a:endParaRPr lang="en-US" sz="2080" dirty="0"/>
          </a:p>
        </p:txBody>
      </p:sp>
      <p:sp>
        <p:nvSpPr>
          <p:cNvPr id="11" name="agenda-t-2"/>
          <p:cNvSpPr txBox="1"/>
          <p:nvPr/>
        </p:nvSpPr>
        <p:spPr>
          <a:xfrm>
            <a:off x="1463040" y="3813048"/>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Hahú</a:t>
            </a:r>
            <a:endParaRPr lang="en-US" sz="1400" dirty="0"/>
          </a:p>
          <a:p>
            <a:pPr indent="0" marL="0">
              <a:buNone/>
            </a:pPr>
            <a:r>
              <a:rPr lang="en-US" sz="1300" dirty="0">
                <a:solidFill>
                  <a:schemeClr val="tx1"/>
                </a:solidFill>
              </a:rPr>
              <a:t>Login, password, lian, notifikasaun</a:t>
            </a:r>
            <a:endParaRPr lang="en-US" sz="1400" dirty="0"/>
          </a:p>
        </p:txBody>
      </p:sp>
      <p:sp>
        <p:nvSpPr>
          <p:cNvPr id="12" name="agenda-3"/>
          <p:cNvSpPr/>
          <p:nvPr/>
        </p:nvSpPr>
        <p:spPr>
          <a:xfrm>
            <a:off x="548640" y="5038344"/>
            <a:ext cx="731520" cy="731520"/>
          </a:xfrm>
          <a:prstGeom prst="ellipse">
            <a:avLst/>
          </a:prstGeom>
          <a:solidFill>
            <a:schemeClr val="accent5"/>
          </a:solidFill>
          <a:ln w="12700">
            <a:solidFill>
              <a:schemeClr val="accent5"/>
            </a:solidFill>
            <a:prstDash val="solid"/>
          </a:ln>
        </p:spPr>
      </p:sp>
      <p:sp>
        <p:nvSpPr>
          <p:cNvPr id="13" name="agenda-3-n"/>
          <p:cNvSpPr txBox="1"/>
          <p:nvPr/>
        </p:nvSpPr>
        <p:spPr>
          <a:xfrm>
            <a:off x="548640" y="5038344"/>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4</a:t>
            </a:r>
            <a:endParaRPr lang="en-US" sz="2080" dirty="0"/>
          </a:p>
        </p:txBody>
      </p:sp>
      <p:sp>
        <p:nvSpPr>
          <p:cNvPr id="14" name="agenda-t-3"/>
          <p:cNvSpPr txBox="1"/>
          <p:nvPr/>
        </p:nvSpPr>
        <p:spPr>
          <a:xfrm>
            <a:off x="1463040" y="5020056"/>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Fluxu kazu</a:t>
            </a:r>
            <a:endParaRPr lang="en-US" sz="1400" dirty="0"/>
          </a:p>
          <a:p>
            <a:pPr indent="0" marL="0">
              <a:buNone/>
            </a:pPr>
            <a:r>
              <a:rPr lang="en-US" sz="1300" dirty="0">
                <a:solidFill>
                  <a:schemeClr val="tx1"/>
                </a:solidFill>
              </a:rPr>
              <a:t>Status 7 no regra butaun</a:t>
            </a:r>
            <a:endParaRPr lang="en-US" sz="1400" dirty="0"/>
          </a:p>
        </p:txBody>
      </p:sp>
      <p:sp>
        <p:nvSpPr>
          <p:cNvPr id="15" name="agenda-4"/>
          <p:cNvSpPr/>
          <p:nvPr/>
        </p:nvSpPr>
        <p:spPr>
          <a:xfrm>
            <a:off x="6217920" y="1417320"/>
            <a:ext cx="731520" cy="731520"/>
          </a:xfrm>
          <a:prstGeom prst="ellipse">
            <a:avLst/>
          </a:prstGeom>
          <a:solidFill>
            <a:schemeClr val="accent1"/>
          </a:solidFill>
          <a:ln w="12700">
            <a:solidFill>
              <a:schemeClr val="accent1"/>
            </a:solidFill>
            <a:prstDash val="solid"/>
          </a:ln>
        </p:spPr>
      </p:sp>
      <p:sp>
        <p:nvSpPr>
          <p:cNvPr id="16" name="agenda-4-n"/>
          <p:cNvSpPr txBox="1"/>
          <p:nvPr/>
        </p:nvSpPr>
        <p:spPr>
          <a:xfrm>
            <a:off x="6217920" y="1417320"/>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5</a:t>
            </a:r>
            <a:endParaRPr lang="en-US" sz="2080" dirty="0"/>
          </a:p>
        </p:txBody>
      </p:sp>
      <p:sp>
        <p:nvSpPr>
          <p:cNvPr id="17" name="agenda-t-4"/>
          <p:cNvSpPr txBox="1"/>
          <p:nvPr/>
        </p:nvSpPr>
        <p:spPr>
          <a:xfrm>
            <a:off x="7132320" y="1399032"/>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Investigadór</a:t>
            </a:r>
            <a:endParaRPr lang="en-US" sz="1400" dirty="0"/>
          </a:p>
          <a:p>
            <a:pPr indent="0" marL="0">
              <a:buNone/>
            </a:pPr>
            <a:r>
              <a:rPr lang="en-US" sz="1300" dirty="0">
                <a:solidFill>
                  <a:schemeClr val="tx1"/>
                </a:solidFill>
              </a:rPr>
              <a:t>Formuláriu online no app offline</a:t>
            </a:r>
            <a:endParaRPr lang="en-US" sz="1400" dirty="0"/>
          </a:p>
        </p:txBody>
      </p:sp>
      <p:sp>
        <p:nvSpPr>
          <p:cNvPr id="18" name="agenda-5"/>
          <p:cNvSpPr/>
          <p:nvPr/>
        </p:nvSpPr>
        <p:spPr>
          <a:xfrm>
            <a:off x="6217920" y="2624328"/>
            <a:ext cx="731520" cy="731520"/>
          </a:xfrm>
          <a:prstGeom prst="ellipse">
            <a:avLst/>
          </a:prstGeom>
          <a:solidFill>
            <a:schemeClr val="accent5"/>
          </a:solidFill>
          <a:ln w="12700">
            <a:solidFill>
              <a:schemeClr val="accent5"/>
            </a:solidFill>
            <a:prstDash val="solid"/>
          </a:ln>
        </p:spPr>
      </p:sp>
      <p:sp>
        <p:nvSpPr>
          <p:cNvPr id="19" name="agenda-5-n"/>
          <p:cNvSpPr txBox="1"/>
          <p:nvPr/>
        </p:nvSpPr>
        <p:spPr>
          <a:xfrm>
            <a:off x="6217920" y="2624328"/>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6</a:t>
            </a:r>
            <a:endParaRPr lang="en-US" sz="2080" dirty="0"/>
          </a:p>
        </p:txBody>
      </p:sp>
      <p:sp>
        <p:nvSpPr>
          <p:cNvPr id="20" name="agenda-t-5"/>
          <p:cNvSpPr txBox="1"/>
          <p:nvPr/>
        </p:nvSpPr>
        <p:spPr>
          <a:xfrm>
            <a:off x="7132320" y="2606040"/>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Jestaun</a:t>
            </a:r>
            <a:endParaRPr lang="en-US" sz="1400" dirty="0"/>
          </a:p>
          <a:p>
            <a:pPr indent="0" marL="0">
              <a:buNone/>
            </a:pPr>
            <a:r>
              <a:rPr lang="en-US" sz="1300" dirty="0">
                <a:solidFill>
                  <a:schemeClr val="tx1"/>
                </a:solidFill>
              </a:rPr>
              <a:t>Admin, Superadmin, Analista, Ofisiál Legál</a:t>
            </a:r>
            <a:endParaRPr lang="en-US" sz="1400" dirty="0"/>
          </a:p>
        </p:txBody>
      </p:sp>
      <p:sp>
        <p:nvSpPr>
          <p:cNvPr id="21" name="agenda-6"/>
          <p:cNvSpPr/>
          <p:nvPr/>
        </p:nvSpPr>
        <p:spPr>
          <a:xfrm>
            <a:off x="6217920" y="3831336"/>
            <a:ext cx="731520" cy="731520"/>
          </a:xfrm>
          <a:prstGeom prst="ellipse">
            <a:avLst/>
          </a:prstGeom>
          <a:solidFill>
            <a:schemeClr val="accent1"/>
          </a:solidFill>
          <a:ln w="12700">
            <a:solidFill>
              <a:schemeClr val="accent1"/>
            </a:solidFill>
            <a:prstDash val="solid"/>
          </a:ln>
        </p:spPr>
      </p:sp>
      <p:sp>
        <p:nvSpPr>
          <p:cNvPr id="22" name="agenda-6-n"/>
          <p:cNvSpPr txBox="1"/>
          <p:nvPr/>
        </p:nvSpPr>
        <p:spPr>
          <a:xfrm>
            <a:off x="6217920" y="3831336"/>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7</a:t>
            </a:r>
            <a:endParaRPr lang="en-US" sz="2080" dirty="0"/>
          </a:p>
        </p:txBody>
      </p:sp>
      <p:sp>
        <p:nvSpPr>
          <p:cNvPr id="23" name="agenda-t-6"/>
          <p:cNvSpPr txBox="1"/>
          <p:nvPr/>
        </p:nvSpPr>
        <p:spPr>
          <a:xfrm>
            <a:off x="7132320" y="3813048"/>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Portal públiku</a:t>
            </a:r>
            <a:endParaRPr lang="en-US" sz="1400" dirty="0"/>
          </a:p>
          <a:p>
            <a:pPr indent="0" marL="0">
              <a:buNone/>
            </a:pPr>
            <a:r>
              <a:rPr lang="en-US" sz="1300" dirty="0">
                <a:solidFill>
                  <a:schemeClr val="tx1"/>
                </a:solidFill>
              </a:rPr>
              <a:t>Saida mak públiku haree no privasidade</a:t>
            </a:r>
            <a:endParaRPr lang="en-US" sz="1400" dirty="0"/>
          </a:p>
        </p:txBody>
      </p:sp>
      <p:sp>
        <p:nvSpPr>
          <p:cNvPr id="24" name="agenda-7"/>
          <p:cNvSpPr/>
          <p:nvPr/>
        </p:nvSpPr>
        <p:spPr>
          <a:xfrm>
            <a:off x="6217920" y="5038344"/>
            <a:ext cx="731520" cy="731520"/>
          </a:xfrm>
          <a:prstGeom prst="ellipse">
            <a:avLst/>
          </a:prstGeom>
          <a:solidFill>
            <a:schemeClr val="accent5"/>
          </a:solidFill>
          <a:ln w="12700">
            <a:solidFill>
              <a:schemeClr val="accent5"/>
            </a:solidFill>
            <a:prstDash val="solid"/>
          </a:ln>
        </p:spPr>
      </p:sp>
      <p:sp>
        <p:nvSpPr>
          <p:cNvPr id="25" name="agenda-7-n"/>
          <p:cNvSpPr txBox="1"/>
          <p:nvPr/>
        </p:nvSpPr>
        <p:spPr>
          <a:xfrm>
            <a:off x="6217920" y="5038344"/>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8</a:t>
            </a:r>
            <a:endParaRPr lang="en-US" sz="2080" dirty="0"/>
          </a:p>
        </p:txBody>
      </p:sp>
      <p:sp>
        <p:nvSpPr>
          <p:cNvPr id="26" name="agenda-t-7"/>
          <p:cNvSpPr txBox="1"/>
          <p:nvPr/>
        </p:nvSpPr>
        <p:spPr>
          <a:xfrm>
            <a:off x="7132320" y="5020056"/>
            <a:ext cx="4480560" cy="822960"/>
          </a:xfrm>
          <a:prstGeom prst="rect">
            <a:avLst/>
          </a:prstGeom>
          <a:noFill/>
          <a:ln/>
        </p:spPr>
        <p:txBody>
          <a:bodyPr wrap="square" lIns="0" tIns="0" rIns="0" bIns="0" rtlCol="0" anchor="ctr"/>
          <a:lstStyle/>
          <a:p>
            <a:pPr indent="0" marL="0">
              <a:buNone/>
            </a:pPr>
            <a:r>
              <a:rPr lang="en-US" sz="1800" b="1" dirty="0">
                <a:solidFill>
                  <a:schemeClr val="tx2"/>
                </a:solidFill>
              </a:rPr>
              <a:t>Seguransa</a:t>
            </a:r>
            <a:endParaRPr lang="en-US" sz="1400" dirty="0"/>
          </a:p>
          <a:p>
            <a:pPr indent="0" marL="0">
              <a:buNone/>
            </a:pPr>
            <a:r>
              <a:rPr lang="en-US" sz="1300" dirty="0">
                <a:solidFill>
                  <a:schemeClr val="tx1"/>
                </a:solidFill>
              </a:rPr>
              <a:t>Prátika di'ak, problema komun, pergunta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SMKRE: husi terrenu to'o asaun legál, iha sistema ida</a:t>
            </a:r>
            <a:endParaRPr lang="en-US" sz="2600" dirty="0"/>
          </a:p>
        </p:txBody>
      </p:sp>
      <p:sp>
        <p:nvSpPr>
          <p:cNvPr id="3" name="Text 1"/>
          <p:cNvSpPr txBox="1"/>
          <p:nvPr/>
        </p:nvSpPr>
        <p:spPr>
          <a:xfrm>
            <a:off x="548640" y="1188720"/>
            <a:ext cx="10972800" cy="457200"/>
          </a:xfrm>
          <a:prstGeom prst="rect">
            <a:avLst/>
          </a:prstGeom>
          <a:noFill/>
          <a:ln/>
        </p:spPr>
        <p:txBody>
          <a:bodyPr wrap="square" lIns="0" tIns="0" rIns="0" bIns="0" rtlCol="0" anchor="t"/>
          <a:lstStyle/>
          <a:p>
            <a:pPr indent="0" marL="0">
              <a:buNone/>
            </a:pPr>
            <a:r>
              <a:rPr lang="en-US" sz="1600" dirty="0">
                <a:solidFill>
                  <a:schemeClr val="tx1"/>
                </a:solidFill>
              </a:rPr>
              <a:t>Sistema ida atu rejista, verifika no uza dadus konflitu rai no eviksaun iha Timor-Leste — iha lian 4.</a:t>
            </a:r>
            <a:endParaRPr lang="en-US" sz="1600" dirty="0"/>
          </a:p>
        </p:txBody>
      </p:sp>
      <p:sp>
        <p:nvSpPr>
          <p:cNvPr id="4" name="obj-0"/>
          <p:cNvSpPr/>
          <p:nvPr/>
        </p:nvSpPr>
        <p:spPr>
          <a:xfrm>
            <a:off x="548640" y="2011680"/>
            <a:ext cx="2578608" cy="3931920"/>
          </a:xfrm>
          <a:prstGeom prst="roundRect">
            <a:avLst>
              <a:gd name="adj" fmla="val 4255"/>
            </a:avLst>
          </a:prstGeom>
          <a:solidFill>
            <a:schemeClr val="bg2"/>
          </a:solidFill>
          <a:ln w="12700">
            <a:solidFill>
              <a:schemeClr val="bg2"/>
            </a:solidFill>
            <a:prstDash val="solid"/>
          </a:ln>
        </p:spPr>
      </p:sp>
      <p:sp>
        <p:nvSpPr>
          <p:cNvPr id="5" name="obj-ik-0-sirkulu"/>
          <p:cNvSpPr/>
          <p:nvPr/>
        </p:nvSpPr>
        <p:spPr>
          <a:xfrm>
            <a:off x="1335024" y="2377440"/>
            <a:ext cx="1005840" cy="1005840"/>
          </a:xfrm>
          <a:prstGeom prst="ellipse">
            <a:avLst/>
          </a:prstGeom>
          <a:solidFill>
            <a:schemeClr val="accent1"/>
          </a:solidFill>
          <a:ln w="12700">
            <a:solidFill>
              <a:schemeClr val="accent1"/>
            </a:solidFill>
            <a:prstDash val="solid"/>
          </a:ln>
        </p:spPr>
      </p:sp>
      <p:pic>
        <p:nvPicPr>
          <p:cNvPr id="6" name="obj-ik-0-ikone" descr="preencoded.png">    </p:cNvPr>
          <p:cNvPicPr>
            <a:picLocks noChangeAspect="1"/>
          </p:cNvPicPr>
          <p:nvPr/>
        </p:nvPicPr>
        <p:blipFill>
          <a:blip r:embed="rId1"/>
          <a:stretch>
            <a:fillRect/>
          </a:stretch>
        </p:blipFill>
        <p:spPr>
          <a:xfrm>
            <a:off x="1576426" y="2618842"/>
            <a:ext cx="523037" cy="523037"/>
          </a:xfrm>
          <a:prstGeom prst="rect">
            <a:avLst/>
          </a:prstGeom>
        </p:spPr>
      </p:pic>
      <p:sp>
        <p:nvSpPr>
          <p:cNvPr id="7" name="obj-n-0"/>
          <p:cNvSpPr txBox="1"/>
          <p:nvPr/>
        </p:nvSpPr>
        <p:spPr>
          <a:xfrm>
            <a:off x="731520" y="3611880"/>
            <a:ext cx="2212848" cy="457200"/>
          </a:xfrm>
          <a:prstGeom prst="rect">
            <a:avLst/>
          </a:prstGeom>
          <a:noFill/>
          <a:ln/>
        </p:spPr>
        <p:txBody>
          <a:bodyPr wrap="square" lIns="0" tIns="0" rIns="0" bIns="0" rtlCol="0" anchor="t"/>
          <a:lstStyle/>
          <a:p>
            <a:pPr algn="ctr" indent="0" marL="0">
              <a:buNone/>
            </a:pPr>
            <a:r>
              <a:rPr lang="en-US" sz="2000" b="1" dirty="0">
                <a:solidFill>
                  <a:schemeClr val="tx2"/>
                </a:solidFill>
              </a:rPr>
              <a:t>Rejista</a:t>
            </a:r>
            <a:endParaRPr lang="en-US" sz="2000" dirty="0"/>
          </a:p>
        </p:txBody>
      </p:sp>
      <p:sp>
        <p:nvSpPr>
          <p:cNvPr id="8" name="obj-d-0"/>
          <p:cNvSpPr txBox="1"/>
          <p:nvPr/>
        </p:nvSpPr>
        <p:spPr>
          <a:xfrm>
            <a:off x="777240" y="4160520"/>
            <a:ext cx="2121408" cy="1554480"/>
          </a:xfrm>
          <a:prstGeom prst="rect">
            <a:avLst/>
          </a:prstGeom>
          <a:noFill/>
          <a:ln/>
        </p:spPr>
        <p:txBody>
          <a:bodyPr wrap="square" lIns="0" tIns="0" rIns="0" bIns="0" rtlCol="0" anchor="t"/>
          <a:lstStyle/>
          <a:p>
            <a:pPr indent="0" marL="0">
              <a:buNone/>
            </a:pPr>
            <a:r>
              <a:rPr lang="en-US" sz="1400" dirty="0">
                <a:solidFill>
                  <a:schemeClr val="tx1"/>
                </a:solidFill>
              </a:rPr>
              <a:t>Iha fatin akontesimentu ho GPS, foto no konsentimentu — mós sein internet.</a:t>
            </a:r>
            <a:endParaRPr lang="en-US" sz="1400" dirty="0"/>
          </a:p>
        </p:txBody>
      </p:sp>
      <p:sp>
        <p:nvSpPr>
          <p:cNvPr id="9" name="obj-1"/>
          <p:cNvSpPr/>
          <p:nvPr/>
        </p:nvSpPr>
        <p:spPr>
          <a:xfrm>
            <a:off x="3355848" y="2011680"/>
            <a:ext cx="2578608" cy="3931920"/>
          </a:xfrm>
          <a:prstGeom prst="roundRect">
            <a:avLst>
              <a:gd name="adj" fmla="val 4255"/>
            </a:avLst>
          </a:prstGeom>
          <a:solidFill>
            <a:schemeClr val="bg2"/>
          </a:solidFill>
          <a:ln w="12700">
            <a:solidFill>
              <a:schemeClr val="bg2"/>
            </a:solidFill>
            <a:prstDash val="solid"/>
          </a:ln>
        </p:spPr>
      </p:sp>
      <p:sp>
        <p:nvSpPr>
          <p:cNvPr id="10" name="obj-ik-1-sirkulu"/>
          <p:cNvSpPr/>
          <p:nvPr/>
        </p:nvSpPr>
        <p:spPr>
          <a:xfrm>
            <a:off x="4142232" y="2377440"/>
            <a:ext cx="1005840" cy="1005840"/>
          </a:xfrm>
          <a:prstGeom prst="ellipse">
            <a:avLst/>
          </a:prstGeom>
          <a:solidFill>
            <a:schemeClr val="accent5"/>
          </a:solidFill>
          <a:ln w="12700">
            <a:solidFill>
              <a:schemeClr val="accent5"/>
            </a:solidFill>
            <a:prstDash val="solid"/>
          </a:ln>
        </p:spPr>
      </p:sp>
      <p:pic>
        <p:nvPicPr>
          <p:cNvPr id="11" name="obj-ik-1-ikone" descr="preencoded.png">    </p:cNvPr>
          <p:cNvPicPr>
            <a:picLocks noChangeAspect="1"/>
          </p:cNvPicPr>
          <p:nvPr/>
        </p:nvPicPr>
        <p:blipFill>
          <a:blip r:embed="rId2"/>
          <a:stretch>
            <a:fillRect/>
          </a:stretch>
        </p:blipFill>
        <p:spPr>
          <a:xfrm>
            <a:off x="4383634" y="2618842"/>
            <a:ext cx="523037" cy="523037"/>
          </a:xfrm>
          <a:prstGeom prst="rect">
            <a:avLst/>
          </a:prstGeom>
        </p:spPr>
      </p:pic>
      <p:sp>
        <p:nvSpPr>
          <p:cNvPr id="12" name="obj-n-1"/>
          <p:cNvSpPr txBox="1"/>
          <p:nvPr/>
        </p:nvSpPr>
        <p:spPr>
          <a:xfrm>
            <a:off x="3538728" y="3611880"/>
            <a:ext cx="2212848" cy="457200"/>
          </a:xfrm>
          <a:prstGeom prst="rect">
            <a:avLst/>
          </a:prstGeom>
          <a:noFill/>
          <a:ln/>
        </p:spPr>
        <p:txBody>
          <a:bodyPr wrap="square" lIns="0" tIns="0" rIns="0" bIns="0" rtlCol="0" anchor="t"/>
          <a:lstStyle/>
          <a:p>
            <a:pPr algn="ctr" indent="0" marL="0">
              <a:buNone/>
            </a:pPr>
            <a:r>
              <a:rPr lang="en-US" sz="2000" b="1" dirty="0">
                <a:solidFill>
                  <a:schemeClr val="tx2"/>
                </a:solidFill>
              </a:rPr>
              <a:t>Verifika</a:t>
            </a:r>
            <a:endParaRPr lang="en-US" sz="2000" dirty="0"/>
          </a:p>
        </p:txBody>
      </p:sp>
      <p:sp>
        <p:nvSpPr>
          <p:cNvPr id="13" name="obj-d-1"/>
          <p:cNvSpPr txBox="1"/>
          <p:nvPr/>
        </p:nvSpPr>
        <p:spPr>
          <a:xfrm>
            <a:off x="3584448" y="4160520"/>
            <a:ext cx="2121408" cy="1554480"/>
          </a:xfrm>
          <a:prstGeom prst="rect">
            <a:avLst/>
          </a:prstGeom>
          <a:noFill/>
          <a:ln/>
        </p:spPr>
        <p:txBody>
          <a:bodyPr wrap="square" lIns="0" tIns="0" rIns="0" bIns="0" rtlCol="0" anchor="t"/>
          <a:lstStyle/>
          <a:p>
            <a:pPr indent="0" marL="0">
              <a:buNone/>
            </a:pPr>
            <a:r>
              <a:rPr lang="en-US" sz="1400" dirty="0">
                <a:solidFill>
                  <a:schemeClr val="tx1"/>
                </a:solidFill>
              </a:rPr>
              <a:t>Dala rua: Admin verifika, Superadmin aprova molok dadus konta.</a:t>
            </a:r>
            <a:endParaRPr lang="en-US" sz="1400" dirty="0"/>
          </a:p>
        </p:txBody>
      </p:sp>
      <p:sp>
        <p:nvSpPr>
          <p:cNvPr id="14" name="obj-2"/>
          <p:cNvSpPr/>
          <p:nvPr/>
        </p:nvSpPr>
        <p:spPr>
          <a:xfrm>
            <a:off x="6163056" y="2011680"/>
            <a:ext cx="2578608" cy="3931920"/>
          </a:xfrm>
          <a:prstGeom prst="roundRect">
            <a:avLst>
              <a:gd name="adj" fmla="val 4255"/>
            </a:avLst>
          </a:prstGeom>
          <a:solidFill>
            <a:schemeClr val="bg2"/>
          </a:solidFill>
          <a:ln w="12700">
            <a:solidFill>
              <a:schemeClr val="bg2"/>
            </a:solidFill>
            <a:prstDash val="solid"/>
          </a:ln>
        </p:spPr>
      </p:sp>
      <p:sp>
        <p:nvSpPr>
          <p:cNvPr id="15" name="obj-ik-2-sirkulu"/>
          <p:cNvSpPr/>
          <p:nvPr/>
        </p:nvSpPr>
        <p:spPr>
          <a:xfrm>
            <a:off x="6949440" y="2377440"/>
            <a:ext cx="1005840" cy="1005840"/>
          </a:xfrm>
          <a:prstGeom prst="ellipse">
            <a:avLst/>
          </a:prstGeom>
          <a:solidFill>
            <a:schemeClr val="accent3"/>
          </a:solidFill>
          <a:ln w="12700">
            <a:solidFill>
              <a:schemeClr val="accent3"/>
            </a:solidFill>
            <a:prstDash val="solid"/>
          </a:ln>
        </p:spPr>
      </p:sp>
      <p:pic>
        <p:nvPicPr>
          <p:cNvPr id="16" name="obj-ik-2-ikone" descr="preencoded.png">    </p:cNvPr>
          <p:cNvPicPr>
            <a:picLocks noChangeAspect="1"/>
          </p:cNvPicPr>
          <p:nvPr/>
        </p:nvPicPr>
        <p:blipFill>
          <a:blip r:embed="rId3"/>
          <a:stretch>
            <a:fillRect/>
          </a:stretch>
        </p:blipFill>
        <p:spPr>
          <a:xfrm>
            <a:off x="7190842" y="2618842"/>
            <a:ext cx="523037" cy="523037"/>
          </a:xfrm>
          <a:prstGeom prst="rect">
            <a:avLst/>
          </a:prstGeom>
        </p:spPr>
      </p:pic>
      <p:sp>
        <p:nvSpPr>
          <p:cNvPr id="17" name="obj-n-2"/>
          <p:cNvSpPr txBox="1"/>
          <p:nvPr/>
        </p:nvSpPr>
        <p:spPr>
          <a:xfrm>
            <a:off x="6345936" y="3611880"/>
            <a:ext cx="2212848" cy="457200"/>
          </a:xfrm>
          <a:prstGeom prst="rect">
            <a:avLst/>
          </a:prstGeom>
          <a:noFill/>
          <a:ln/>
        </p:spPr>
        <p:txBody>
          <a:bodyPr wrap="square" lIns="0" tIns="0" rIns="0" bIns="0" rtlCol="0" anchor="t"/>
          <a:lstStyle/>
          <a:p>
            <a:pPr algn="ctr" indent="0" marL="0">
              <a:buNone/>
            </a:pPr>
            <a:r>
              <a:rPr lang="en-US" sz="2000" b="1" dirty="0">
                <a:solidFill>
                  <a:schemeClr val="tx2"/>
                </a:solidFill>
              </a:rPr>
              <a:t>Analiza</a:t>
            </a:r>
            <a:endParaRPr lang="en-US" sz="2000" dirty="0"/>
          </a:p>
        </p:txBody>
      </p:sp>
      <p:sp>
        <p:nvSpPr>
          <p:cNvPr id="18" name="obj-d-2"/>
          <p:cNvSpPr txBox="1"/>
          <p:nvPr/>
        </p:nvSpPr>
        <p:spPr>
          <a:xfrm>
            <a:off x="6391656" y="4160520"/>
            <a:ext cx="2121408" cy="1554480"/>
          </a:xfrm>
          <a:prstGeom prst="rect">
            <a:avLst/>
          </a:prstGeom>
          <a:noFill/>
          <a:ln/>
        </p:spPr>
        <p:txBody>
          <a:bodyPr wrap="square" lIns="0" tIns="0" rIns="0" bIns="0" rtlCol="0" anchor="t"/>
          <a:lstStyle/>
          <a:p>
            <a:pPr indent="0" marL="0">
              <a:buNone/>
            </a:pPr>
            <a:r>
              <a:rPr lang="en-US" sz="1400" dirty="0">
                <a:solidFill>
                  <a:schemeClr val="tx1"/>
                </a:solidFill>
              </a:rPr>
              <a:t>Dashboard, mapa, relatóriu no export PDF / Excel ba advokasia.</a:t>
            </a:r>
            <a:endParaRPr lang="en-US" sz="1400" dirty="0"/>
          </a:p>
        </p:txBody>
      </p:sp>
      <p:sp>
        <p:nvSpPr>
          <p:cNvPr id="19" name="obj-3"/>
          <p:cNvSpPr/>
          <p:nvPr/>
        </p:nvSpPr>
        <p:spPr>
          <a:xfrm>
            <a:off x="8970264" y="2011680"/>
            <a:ext cx="2578608" cy="3931920"/>
          </a:xfrm>
          <a:prstGeom prst="roundRect">
            <a:avLst>
              <a:gd name="adj" fmla="val 4255"/>
            </a:avLst>
          </a:prstGeom>
          <a:solidFill>
            <a:schemeClr val="bg2"/>
          </a:solidFill>
          <a:ln w="12700">
            <a:solidFill>
              <a:schemeClr val="bg2"/>
            </a:solidFill>
            <a:prstDash val="solid"/>
          </a:ln>
        </p:spPr>
      </p:sp>
      <p:sp>
        <p:nvSpPr>
          <p:cNvPr id="20" name="obj-ik-3-sirkulu"/>
          <p:cNvSpPr/>
          <p:nvPr/>
        </p:nvSpPr>
        <p:spPr>
          <a:xfrm>
            <a:off x="9756648" y="2377440"/>
            <a:ext cx="1005840" cy="1005840"/>
          </a:xfrm>
          <a:prstGeom prst="ellipse">
            <a:avLst/>
          </a:prstGeom>
          <a:solidFill>
            <a:schemeClr val="accent4"/>
          </a:solidFill>
          <a:ln w="12700">
            <a:solidFill>
              <a:schemeClr val="accent4"/>
            </a:solidFill>
            <a:prstDash val="solid"/>
          </a:ln>
        </p:spPr>
      </p:sp>
      <p:pic>
        <p:nvPicPr>
          <p:cNvPr id="21" name="obj-ik-3-ikone" descr="preencoded.png">    </p:cNvPr>
          <p:cNvPicPr>
            <a:picLocks noChangeAspect="1"/>
          </p:cNvPicPr>
          <p:nvPr/>
        </p:nvPicPr>
        <p:blipFill>
          <a:blip r:embed="rId4"/>
          <a:stretch>
            <a:fillRect/>
          </a:stretch>
        </p:blipFill>
        <p:spPr>
          <a:xfrm>
            <a:off x="9998050" y="2618842"/>
            <a:ext cx="523037" cy="523037"/>
          </a:xfrm>
          <a:prstGeom prst="rect">
            <a:avLst/>
          </a:prstGeom>
        </p:spPr>
      </p:pic>
      <p:sp>
        <p:nvSpPr>
          <p:cNvPr id="22" name="obj-n-3"/>
          <p:cNvSpPr txBox="1"/>
          <p:nvPr/>
        </p:nvSpPr>
        <p:spPr>
          <a:xfrm>
            <a:off x="9153144" y="3611880"/>
            <a:ext cx="2212848" cy="457200"/>
          </a:xfrm>
          <a:prstGeom prst="rect">
            <a:avLst/>
          </a:prstGeom>
          <a:noFill/>
          <a:ln/>
        </p:spPr>
        <p:txBody>
          <a:bodyPr wrap="square" lIns="0" tIns="0" rIns="0" bIns="0" rtlCol="0" anchor="t"/>
          <a:lstStyle/>
          <a:p>
            <a:pPr algn="ctr" indent="0" marL="0">
              <a:buNone/>
            </a:pPr>
            <a:r>
              <a:rPr lang="en-US" sz="2000" b="1" dirty="0">
                <a:solidFill>
                  <a:schemeClr val="tx2"/>
                </a:solidFill>
              </a:rPr>
              <a:t>Proteje</a:t>
            </a:r>
            <a:endParaRPr lang="en-US" sz="2000" dirty="0"/>
          </a:p>
        </p:txBody>
      </p:sp>
      <p:sp>
        <p:nvSpPr>
          <p:cNvPr id="23" name="obj-d-3"/>
          <p:cNvSpPr txBox="1"/>
          <p:nvPr/>
        </p:nvSpPr>
        <p:spPr>
          <a:xfrm>
            <a:off x="9198864" y="4160520"/>
            <a:ext cx="2121408" cy="1554480"/>
          </a:xfrm>
          <a:prstGeom prst="rect">
            <a:avLst/>
          </a:prstGeom>
          <a:noFill/>
          <a:ln/>
        </p:spPr>
        <p:txBody>
          <a:bodyPr wrap="square" lIns="0" tIns="0" rIns="0" bIns="0" rtlCol="0" anchor="t"/>
          <a:lstStyle/>
          <a:p>
            <a:pPr indent="0" marL="0">
              <a:buNone/>
            </a:pPr>
            <a:r>
              <a:rPr lang="en-US" sz="1400" dirty="0">
                <a:solidFill>
                  <a:schemeClr val="tx1"/>
                </a:solidFill>
              </a:rPr>
              <a:t>Portal públiku hatudu dadus agregadu deit; Vault ba dokumentu legál.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Dadus hotu liu servidór ida, depois ba staf no públiku</a:t>
            </a:r>
            <a:endParaRPr lang="en-US" sz="2600" dirty="0"/>
          </a:p>
        </p:txBody>
      </p:sp>
      <p:sp>
        <p:nvSpPr>
          <p:cNvPr id="3" name="ark-web"/>
          <p:cNvSpPr/>
          <p:nvPr/>
        </p:nvSpPr>
        <p:spPr>
          <a:xfrm>
            <a:off x="548640" y="1737360"/>
            <a:ext cx="2926080" cy="1143000"/>
          </a:xfrm>
          <a:prstGeom prst="roundRect">
            <a:avLst>
              <a:gd name="adj" fmla="val 8000"/>
            </a:avLst>
          </a:prstGeom>
          <a:solidFill>
            <a:schemeClr val="bg1"/>
          </a:solidFill>
          <a:ln w="19050">
            <a:solidFill>
              <a:schemeClr val="accent1"/>
            </a:solidFill>
            <a:prstDash val="solid"/>
          </a:ln>
        </p:spPr>
      </p:sp>
      <p:sp>
        <p:nvSpPr>
          <p:cNvPr id="4" name="ark-web-t"/>
          <p:cNvSpPr txBox="1"/>
          <p:nvPr/>
        </p:nvSpPr>
        <p:spPr>
          <a:xfrm>
            <a:off x="621792" y="1737360"/>
            <a:ext cx="2779776" cy="1143000"/>
          </a:xfrm>
          <a:prstGeom prst="rect">
            <a:avLst/>
          </a:prstGeom>
          <a:noFill/>
          <a:ln/>
        </p:spPr>
        <p:txBody>
          <a:bodyPr wrap="square" lIns="0" tIns="0" rIns="0" bIns="0" rtlCol="0" anchor="ctr"/>
          <a:lstStyle/>
          <a:p>
            <a:pPr algn="ctr" indent="0" marL="0">
              <a:buNone/>
            </a:pPr>
            <a:r>
              <a:rPr lang="en-US" sz="1500" b="1" dirty="0">
                <a:solidFill>
                  <a:schemeClr val="tx2"/>
                </a:solidFill>
              </a:rPr>
              <a:t>Investigadór · Web</a:t>
            </a:r>
            <a:endParaRPr lang="en-US" sz="1400" dirty="0"/>
          </a:p>
          <a:p>
            <a:pPr algn="ctr" indent="0" marL="0">
              <a:buNone/>
            </a:pPr>
            <a:r>
              <a:rPr lang="en-US" sz="1150" dirty="0">
                <a:solidFill>
                  <a:schemeClr val="tx1"/>
                </a:solidFill>
              </a:rPr>
              <a:t>Formuláriu pasu 6 iha komputadór ka HP</a:t>
            </a:r>
            <a:endParaRPr lang="en-US" sz="1400" dirty="0"/>
          </a:p>
        </p:txBody>
      </p:sp>
      <p:sp>
        <p:nvSpPr>
          <p:cNvPr id="5" name="ark-off"/>
          <p:cNvSpPr/>
          <p:nvPr/>
        </p:nvSpPr>
        <p:spPr>
          <a:xfrm>
            <a:off x="548640" y="3520440"/>
            <a:ext cx="2926080" cy="1143000"/>
          </a:xfrm>
          <a:prstGeom prst="roundRect">
            <a:avLst>
              <a:gd name="adj" fmla="val 8000"/>
            </a:avLst>
          </a:prstGeom>
          <a:solidFill>
            <a:schemeClr val="bg1"/>
          </a:solidFill>
          <a:ln w="19050">
            <a:solidFill>
              <a:schemeClr val="accent1"/>
            </a:solidFill>
            <a:prstDash val="solid"/>
          </a:ln>
        </p:spPr>
      </p:sp>
      <p:sp>
        <p:nvSpPr>
          <p:cNvPr id="6" name="ark-off-t"/>
          <p:cNvSpPr txBox="1"/>
          <p:nvPr/>
        </p:nvSpPr>
        <p:spPr>
          <a:xfrm>
            <a:off x="621792" y="3520440"/>
            <a:ext cx="2779776" cy="1143000"/>
          </a:xfrm>
          <a:prstGeom prst="rect">
            <a:avLst/>
          </a:prstGeom>
          <a:noFill/>
          <a:ln/>
        </p:spPr>
        <p:txBody>
          <a:bodyPr wrap="square" lIns="0" tIns="0" rIns="0" bIns="0" rtlCol="0" anchor="ctr"/>
          <a:lstStyle/>
          <a:p>
            <a:pPr algn="ctr" indent="0" marL="0">
              <a:buNone/>
            </a:pPr>
            <a:r>
              <a:rPr lang="en-US" sz="1500" b="1" dirty="0">
                <a:solidFill>
                  <a:schemeClr val="tx2"/>
                </a:solidFill>
              </a:rPr>
              <a:t>Investigadór · App offline</a:t>
            </a:r>
            <a:endParaRPr lang="en-US" sz="1400" dirty="0"/>
          </a:p>
          <a:p>
            <a:pPr algn="ctr" indent="0" marL="0">
              <a:buNone/>
            </a:pPr>
            <a:r>
              <a:rPr lang="en-US" sz="1150" dirty="0">
                <a:solidFill>
                  <a:schemeClr val="tx1"/>
                </a:solidFill>
              </a:rPr>
              <a:t>HP sein sinál; enkripta ho PIN</a:t>
            </a:r>
            <a:endParaRPr lang="en-US" sz="1400" dirty="0"/>
          </a:p>
        </p:txBody>
      </p:sp>
      <p:sp>
        <p:nvSpPr>
          <p:cNvPr id="7" name="ark-srv"/>
          <p:cNvSpPr/>
          <p:nvPr/>
        </p:nvSpPr>
        <p:spPr>
          <a:xfrm>
            <a:off x="4526280" y="2148840"/>
            <a:ext cx="3017520" cy="2103120"/>
          </a:xfrm>
          <a:prstGeom prst="roundRect">
            <a:avLst>
              <a:gd name="adj" fmla="val 4348"/>
            </a:avLst>
          </a:prstGeom>
          <a:solidFill>
            <a:schemeClr val="tx2"/>
          </a:solidFill>
          <a:ln w="19050">
            <a:solidFill>
              <a:schemeClr val="tx2"/>
            </a:solidFill>
            <a:prstDash val="solid"/>
          </a:ln>
        </p:spPr>
      </p:sp>
      <p:sp>
        <p:nvSpPr>
          <p:cNvPr id="8" name="ark-srv-t"/>
          <p:cNvSpPr txBox="1"/>
          <p:nvPr/>
        </p:nvSpPr>
        <p:spPr>
          <a:xfrm>
            <a:off x="4599432" y="2148840"/>
            <a:ext cx="2871216" cy="2103120"/>
          </a:xfrm>
          <a:prstGeom prst="rect">
            <a:avLst/>
          </a:prstGeom>
          <a:noFill/>
          <a:ln/>
        </p:spPr>
        <p:txBody>
          <a:bodyPr wrap="square" lIns="0" tIns="0" rIns="0" bIns="0" rtlCol="0" anchor="ctr"/>
          <a:lstStyle/>
          <a:p>
            <a:pPr algn="ctr" indent="0" marL="0">
              <a:buNone/>
            </a:pPr>
            <a:r>
              <a:rPr lang="en-US" sz="2000" b="1" dirty="0">
                <a:solidFill>
                  <a:schemeClr val="bg1"/>
                </a:solidFill>
              </a:rPr>
              <a:t>Servidór SMKRE</a:t>
            </a:r>
            <a:endParaRPr lang="en-US" sz="1400" dirty="0"/>
          </a:p>
          <a:p>
            <a:pPr algn="ctr" indent="0" marL="0">
              <a:buNone/>
            </a:pPr>
            <a:r>
              <a:rPr lang="en-US" sz="1300" dirty="0">
                <a:solidFill>
                  <a:schemeClr val="bg2"/>
                </a:solidFill>
              </a:rPr>
              <a:t>Verifika (Admin) · Aprova (Superadmin) · Istória kada mudansa · Notifikasaun</a:t>
            </a:r>
            <a:endParaRPr lang="en-US" sz="1400" dirty="0"/>
          </a:p>
        </p:txBody>
      </p:sp>
      <p:sp>
        <p:nvSpPr>
          <p:cNvPr id="9" name="ark-dash"/>
          <p:cNvSpPr/>
          <p:nvPr/>
        </p:nvSpPr>
        <p:spPr>
          <a:xfrm>
            <a:off x="8549640" y="1417320"/>
            <a:ext cx="3090672" cy="1051560"/>
          </a:xfrm>
          <a:prstGeom prst="roundRect">
            <a:avLst>
              <a:gd name="adj" fmla="val 8696"/>
            </a:avLst>
          </a:prstGeom>
          <a:solidFill>
            <a:schemeClr val="bg1"/>
          </a:solidFill>
          <a:ln w="19050">
            <a:solidFill>
              <a:schemeClr val="accent1"/>
            </a:solidFill>
            <a:prstDash val="solid"/>
          </a:ln>
        </p:spPr>
      </p:sp>
      <p:sp>
        <p:nvSpPr>
          <p:cNvPr id="10" name="ark-dash-t"/>
          <p:cNvSpPr txBox="1"/>
          <p:nvPr/>
        </p:nvSpPr>
        <p:spPr>
          <a:xfrm>
            <a:off x="8622792" y="1417320"/>
            <a:ext cx="2944368" cy="1051560"/>
          </a:xfrm>
          <a:prstGeom prst="rect">
            <a:avLst/>
          </a:prstGeom>
          <a:noFill/>
          <a:ln/>
        </p:spPr>
        <p:txBody>
          <a:bodyPr wrap="square" lIns="0" tIns="0" rIns="0" bIns="0" rtlCol="0" anchor="ctr"/>
          <a:lstStyle/>
          <a:p>
            <a:pPr algn="ctr" indent="0" marL="0">
              <a:buNone/>
            </a:pPr>
            <a:r>
              <a:rPr lang="en-US" sz="1500" b="1" dirty="0">
                <a:solidFill>
                  <a:schemeClr val="tx2"/>
                </a:solidFill>
              </a:rPr>
              <a:t>Dashboard · Mapa · Relatóriu</a:t>
            </a:r>
            <a:endParaRPr lang="en-US" sz="1400" dirty="0"/>
          </a:p>
          <a:p>
            <a:pPr algn="ctr" indent="0" marL="0">
              <a:buNone/>
            </a:pPr>
            <a:r>
              <a:rPr lang="en-US" sz="1150" dirty="0">
                <a:solidFill>
                  <a:schemeClr val="tx1"/>
                </a:solidFill>
              </a:rPr>
              <a:t>Staf (login)</a:t>
            </a:r>
            <a:endParaRPr lang="en-US" sz="1400" dirty="0"/>
          </a:p>
        </p:txBody>
      </p:sp>
      <p:sp>
        <p:nvSpPr>
          <p:cNvPr id="11" name="ark-vault"/>
          <p:cNvSpPr/>
          <p:nvPr/>
        </p:nvSpPr>
        <p:spPr>
          <a:xfrm>
            <a:off x="8549640" y="2697480"/>
            <a:ext cx="3090672" cy="1051560"/>
          </a:xfrm>
          <a:prstGeom prst="roundRect">
            <a:avLst>
              <a:gd name="adj" fmla="val 8696"/>
            </a:avLst>
          </a:prstGeom>
          <a:solidFill>
            <a:schemeClr val="bg1"/>
          </a:solidFill>
          <a:ln w="19050">
            <a:solidFill>
              <a:schemeClr val="accent1"/>
            </a:solidFill>
            <a:prstDash val="solid"/>
          </a:ln>
        </p:spPr>
      </p:sp>
      <p:sp>
        <p:nvSpPr>
          <p:cNvPr id="12" name="ark-vault-t"/>
          <p:cNvSpPr txBox="1"/>
          <p:nvPr/>
        </p:nvSpPr>
        <p:spPr>
          <a:xfrm>
            <a:off x="8622792" y="2697480"/>
            <a:ext cx="2944368" cy="1051560"/>
          </a:xfrm>
          <a:prstGeom prst="rect">
            <a:avLst/>
          </a:prstGeom>
          <a:noFill/>
          <a:ln/>
        </p:spPr>
        <p:txBody>
          <a:bodyPr wrap="square" lIns="0" tIns="0" rIns="0" bIns="0" rtlCol="0" anchor="ctr"/>
          <a:lstStyle/>
          <a:p>
            <a:pPr algn="ctr" indent="0" marL="0">
              <a:buNone/>
            </a:pPr>
            <a:r>
              <a:rPr lang="en-US" sz="1500" b="1" dirty="0">
                <a:solidFill>
                  <a:schemeClr val="tx2"/>
                </a:solidFill>
              </a:rPr>
              <a:t>Vault Legál</a:t>
            </a:r>
            <a:endParaRPr lang="en-US" sz="1400" dirty="0"/>
          </a:p>
          <a:p>
            <a:pPr algn="ctr" indent="0" marL="0">
              <a:buNone/>
            </a:pPr>
            <a:r>
              <a:rPr lang="en-US" sz="1150" dirty="0">
                <a:solidFill>
                  <a:schemeClr val="tx1"/>
                </a:solidFill>
              </a:rPr>
              <a:t>Dokumentu, nota, prazu, dossier</a:t>
            </a:r>
            <a:endParaRPr lang="en-US" sz="1400" dirty="0"/>
          </a:p>
        </p:txBody>
      </p:sp>
      <p:sp>
        <p:nvSpPr>
          <p:cNvPr id="13" name="ark-portal"/>
          <p:cNvSpPr/>
          <p:nvPr/>
        </p:nvSpPr>
        <p:spPr>
          <a:xfrm>
            <a:off x="8549640" y="3977640"/>
            <a:ext cx="3090672" cy="1051560"/>
          </a:xfrm>
          <a:prstGeom prst="roundRect">
            <a:avLst>
              <a:gd name="adj" fmla="val 8696"/>
            </a:avLst>
          </a:prstGeom>
          <a:solidFill>
            <a:schemeClr val="bg2"/>
          </a:solidFill>
          <a:ln w="19050">
            <a:solidFill>
              <a:schemeClr val="accent1"/>
            </a:solidFill>
            <a:prstDash val="solid"/>
          </a:ln>
        </p:spPr>
      </p:sp>
      <p:sp>
        <p:nvSpPr>
          <p:cNvPr id="14" name="ark-portal-t"/>
          <p:cNvSpPr txBox="1"/>
          <p:nvPr/>
        </p:nvSpPr>
        <p:spPr>
          <a:xfrm>
            <a:off x="8622792" y="3977640"/>
            <a:ext cx="2944368" cy="1051560"/>
          </a:xfrm>
          <a:prstGeom prst="rect">
            <a:avLst/>
          </a:prstGeom>
          <a:noFill/>
          <a:ln/>
        </p:spPr>
        <p:txBody>
          <a:bodyPr wrap="square" lIns="0" tIns="0" rIns="0" bIns="0" rtlCol="0" anchor="ctr"/>
          <a:lstStyle/>
          <a:p>
            <a:pPr algn="ctr" indent="0" marL="0">
              <a:buNone/>
            </a:pPr>
            <a:r>
              <a:rPr lang="en-US" sz="1500" b="1" dirty="0">
                <a:solidFill>
                  <a:schemeClr val="tx2"/>
                </a:solidFill>
              </a:rPr>
              <a:t>Portal Públiku</a:t>
            </a:r>
            <a:endParaRPr lang="en-US" sz="1400" dirty="0"/>
          </a:p>
          <a:p>
            <a:pPr algn="ctr" indent="0" marL="0">
              <a:buNone/>
            </a:pPr>
            <a:r>
              <a:rPr lang="en-US" sz="1150" dirty="0">
                <a:solidFill>
                  <a:schemeClr val="tx1"/>
                </a:solidFill>
              </a:rPr>
              <a:t>Ema hotu · dadus agregadu deit</a:t>
            </a:r>
            <a:endParaRPr lang="en-US" sz="1400" dirty="0"/>
          </a:p>
        </p:txBody>
      </p:sp>
      <p:sp>
        <p:nvSpPr>
          <p:cNvPr id="15" name="ark-a1"/>
          <p:cNvSpPr/>
          <p:nvPr/>
        </p:nvSpPr>
        <p:spPr>
          <a:xfrm>
            <a:off x="3474720" y="2304288"/>
            <a:ext cx="1051560" cy="621792"/>
          </a:xfrm>
          <a:prstGeom prst="line">
            <a:avLst/>
          </a:prstGeom>
          <a:noFill/>
          <a:ln w="22225">
            <a:solidFill>
              <a:schemeClr val="tx2"/>
            </a:solidFill>
            <a:prstDash val="solid"/>
            <a:tailEnd type="triangle"/>
          </a:ln>
        </p:spPr>
      </p:sp>
      <p:sp>
        <p:nvSpPr>
          <p:cNvPr id="16" name="ark-a2"/>
          <p:cNvSpPr/>
          <p:nvPr/>
        </p:nvSpPr>
        <p:spPr>
          <a:xfrm flipV="1">
            <a:off x="3474720" y="3474720"/>
            <a:ext cx="1051560" cy="612648"/>
          </a:xfrm>
          <a:prstGeom prst="line">
            <a:avLst/>
          </a:prstGeom>
          <a:noFill/>
          <a:ln w="22225">
            <a:solidFill>
              <a:schemeClr val="tx2"/>
            </a:solidFill>
            <a:prstDash val="solid"/>
            <a:tailEnd type="triangle"/>
          </a:ln>
        </p:spPr>
      </p:sp>
      <p:sp>
        <p:nvSpPr>
          <p:cNvPr id="17" name="ark-l2"/>
          <p:cNvSpPr txBox="1"/>
          <p:nvPr/>
        </p:nvSpPr>
        <p:spPr>
          <a:xfrm>
            <a:off x="2743200" y="4754880"/>
            <a:ext cx="2377440" cy="320040"/>
          </a:xfrm>
          <a:prstGeom prst="rect">
            <a:avLst/>
          </a:prstGeom>
          <a:noFill/>
          <a:ln/>
        </p:spPr>
        <p:txBody>
          <a:bodyPr wrap="square" lIns="0" tIns="0" rIns="0" bIns="0" rtlCol="0" anchor="t"/>
          <a:lstStyle/>
          <a:p>
            <a:pPr indent="0" marL="0">
              <a:buNone/>
            </a:pPr>
            <a:r>
              <a:rPr lang="en-US" sz="1150" i="1" dirty="0">
                <a:solidFill>
                  <a:srgbClr val="5E6B66"/>
                </a:solidFill>
              </a:rPr>
              <a:t>sinkron bainhira iha sinál</a:t>
            </a:r>
            <a:endParaRPr lang="en-US" sz="1150" dirty="0"/>
          </a:p>
        </p:txBody>
      </p:sp>
      <p:sp>
        <p:nvSpPr>
          <p:cNvPr id="18" name="ark-a3"/>
          <p:cNvSpPr/>
          <p:nvPr/>
        </p:nvSpPr>
        <p:spPr>
          <a:xfrm flipV="1">
            <a:off x="7543800" y="1938528"/>
            <a:ext cx="1005840" cy="896112"/>
          </a:xfrm>
          <a:prstGeom prst="line">
            <a:avLst/>
          </a:prstGeom>
          <a:noFill/>
          <a:ln w="22225">
            <a:solidFill>
              <a:schemeClr val="tx2"/>
            </a:solidFill>
            <a:prstDash val="solid"/>
            <a:tailEnd type="triangle"/>
          </a:ln>
        </p:spPr>
      </p:sp>
      <p:sp>
        <p:nvSpPr>
          <p:cNvPr id="19" name="ark-a4"/>
          <p:cNvSpPr/>
          <p:nvPr/>
        </p:nvSpPr>
        <p:spPr>
          <a:xfrm>
            <a:off x="7543800" y="3200400"/>
            <a:ext cx="1005840" cy="18288"/>
          </a:xfrm>
          <a:prstGeom prst="line">
            <a:avLst/>
          </a:prstGeom>
          <a:noFill/>
          <a:ln w="22225">
            <a:solidFill>
              <a:schemeClr val="tx2"/>
            </a:solidFill>
            <a:prstDash val="solid"/>
            <a:tailEnd type="triangle"/>
          </a:ln>
        </p:spPr>
      </p:sp>
      <p:sp>
        <p:nvSpPr>
          <p:cNvPr id="20" name="ark-a5"/>
          <p:cNvSpPr/>
          <p:nvPr/>
        </p:nvSpPr>
        <p:spPr>
          <a:xfrm>
            <a:off x="7543800" y="3566160"/>
            <a:ext cx="1005840" cy="932688"/>
          </a:xfrm>
          <a:prstGeom prst="line">
            <a:avLst/>
          </a:prstGeom>
          <a:noFill/>
          <a:ln w="22225">
            <a:solidFill>
              <a:schemeClr val="tx2"/>
            </a:solidFill>
            <a:prstDash val="solid"/>
            <a:tailEnd type="triangle"/>
          </a:ln>
        </p:spPr>
      </p:sp>
      <p:sp>
        <p:nvSpPr>
          <p:cNvPr id="21" name="ark-l3"/>
          <p:cNvSpPr txBox="1"/>
          <p:nvPr/>
        </p:nvSpPr>
        <p:spPr>
          <a:xfrm>
            <a:off x="7406640" y="5212080"/>
            <a:ext cx="4206240" cy="365760"/>
          </a:xfrm>
          <a:prstGeom prst="rect">
            <a:avLst/>
          </a:prstGeom>
          <a:noFill/>
          <a:ln/>
        </p:spPr>
        <p:txBody>
          <a:bodyPr wrap="square" lIns="0" tIns="0" rIns="0" bIns="0" rtlCol="0" anchor="t"/>
          <a:lstStyle/>
          <a:p>
            <a:pPr algn="r" indent="0" marL="0">
              <a:buNone/>
            </a:pPr>
            <a:r>
              <a:rPr lang="en-US" sz="1200" i="1" dirty="0">
                <a:solidFill>
                  <a:srgbClr val="5E6B66"/>
                </a:solidFill>
              </a:rPr>
              <a:t>Kazu aprovadu deit mak tama portal</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Papél 5: kada ema haree saida mak nia servisu presiza</a:t>
            </a:r>
            <a:endParaRPr lang="en-US" sz="2600" dirty="0"/>
          </a:p>
        </p:txBody>
      </p:sp>
      <p:sp>
        <p:nvSpPr>
          <p:cNvPr id="3" name="papel-0"/>
          <p:cNvSpPr/>
          <p:nvPr/>
        </p:nvSpPr>
        <p:spPr>
          <a:xfrm>
            <a:off x="548640" y="1417320"/>
            <a:ext cx="2066544" cy="4663440"/>
          </a:xfrm>
          <a:prstGeom prst="roundRect">
            <a:avLst>
              <a:gd name="adj" fmla="val 5310"/>
            </a:avLst>
          </a:prstGeom>
          <a:solidFill>
            <a:schemeClr val="bg2"/>
          </a:solidFill>
          <a:ln w="12700">
            <a:solidFill>
              <a:schemeClr val="bg2"/>
            </a:solidFill>
            <a:prstDash val="solid"/>
          </a:ln>
        </p:spPr>
      </p:sp>
      <p:sp>
        <p:nvSpPr>
          <p:cNvPr id="4" name="papel-ik-0-sirkulu"/>
          <p:cNvSpPr/>
          <p:nvPr/>
        </p:nvSpPr>
        <p:spPr>
          <a:xfrm>
            <a:off x="1124712" y="1737360"/>
            <a:ext cx="914400" cy="914400"/>
          </a:xfrm>
          <a:prstGeom prst="ellipse">
            <a:avLst/>
          </a:prstGeom>
          <a:solidFill>
            <a:schemeClr val="accent4"/>
          </a:solidFill>
          <a:ln w="12700">
            <a:solidFill>
              <a:schemeClr val="accent4"/>
            </a:solidFill>
            <a:prstDash val="solid"/>
          </a:ln>
        </p:spPr>
      </p:sp>
      <p:pic>
        <p:nvPicPr>
          <p:cNvPr id="5" name="papel-ik-0-ikone" descr="preencoded.png">    </p:cNvPr>
          <p:cNvPicPr>
            <a:picLocks noChangeAspect="1"/>
          </p:cNvPicPr>
          <p:nvPr/>
        </p:nvPicPr>
        <p:blipFill>
          <a:blip r:embed="rId1"/>
          <a:stretch>
            <a:fillRect/>
          </a:stretch>
        </p:blipFill>
        <p:spPr>
          <a:xfrm>
            <a:off x="1344168" y="1956816"/>
            <a:ext cx="475488" cy="475488"/>
          </a:xfrm>
          <a:prstGeom prst="rect">
            <a:avLst/>
          </a:prstGeom>
        </p:spPr>
      </p:pic>
      <p:sp>
        <p:nvSpPr>
          <p:cNvPr id="6" name="papel-n-0"/>
          <p:cNvSpPr txBox="1"/>
          <p:nvPr/>
        </p:nvSpPr>
        <p:spPr>
          <a:xfrm>
            <a:off x="640080" y="2834640"/>
            <a:ext cx="1883664" cy="411480"/>
          </a:xfrm>
          <a:prstGeom prst="rect">
            <a:avLst/>
          </a:prstGeom>
          <a:noFill/>
          <a:ln/>
        </p:spPr>
        <p:txBody>
          <a:bodyPr wrap="square" lIns="0" tIns="0" rIns="0" bIns="0" rtlCol="0" anchor="t"/>
          <a:lstStyle/>
          <a:p>
            <a:pPr algn="ctr" indent="0" marL="0">
              <a:buNone/>
            </a:pPr>
            <a:r>
              <a:rPr lang="en-US" sz="1800" b="1" dirty="0">
                <a:solidFill>
                  <a:schemeClr val="tx2"/>
                </a:solidFill>
              </a:rPr>
              <a:t>Superadmin</a:t>
            </a:r>
            <a:endParaRPr lang="en-US" sz="1800" dirty="0"/>
          </a:p>
        </p:txBody>
      </p:sp>
      <p:sp>
        <p:nvSpPr>
          <p:cNvPr id="7" name="papel-s-0"/>
          <p:cNvSpPr txBox="1"/>
          <p:nvPr/>
        </p:nvSpPr>
        <p:spPr>
          <a:xfrm>
            <a:off x="685800" y="3246120"/>
            <a:ext cx="1792224" cy="548640"/>
          </a:xfrm>
          <a:prstGeom prst="rect">
            <a:avLst/>
          </a:prstGeom>
          <a:noFill/>
          <a:ln/>
        </p:spPr>
        <p:txBody>
          <a:bodyPr wrap="square" lIns="0" tIns="0" rIns="0" bIns="0" rtlCol="0" anchor="t"/>
          <a:lstStyle/>
          <a:p>
            <a:pPr algn="ctr" indent="0" marL="0">
              <a:buNone/>
            </a:pPr>
            <a:r>
              <a:rPr lang="en-US" sz="1200" i="1" dirty="0">
                <a:solidFill>
                  <a:srgbClr val="5E6B66"/>
                </a:solidFill>
              </a:rPr>
              <a:t>Diretor / koordenador jerál</a:t>
            </a:r>
            <a:endParaRPr lang="en-US" sz="1200" dirty="0"/>
          </a:p>
        </p:txBody>
      </p:sp>
      <p:sp>
        <p:nvSpPr>
          <p:cNvPr id="8" name="papel-d-0"/>
          <p:cNvSpPr txBox="1"/>
          <p:nvPr/>
        </p:nvSpPr>
        <p:spPr>
          <a:xfrm>
            <a:off x="685800" y="3886200"/>
            <a:ext cx="1792224"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Aprova kazu (nivel 2)</a:t>
            </a:r>
            <a:endParaRPr lang="en-US" sz="1300" dirty="0"/>
          </a:p>
          <a:p>
            <a:pPr marL="342900" indent="-342900">
              <a:spcAft>
                <a:spcPts val="600"/>
              </a:spcAft>
              <a:buSzPct val="100000"/>
              <a:buChar char="•"/>
            </a:pPr>
            <a:r>
              <a:rPr lang="en-US" sz="1300" dirty="0">
                <a:solidFill>
                  <a:schemeClr val="tx1"/>
                </a:solidFill>
              </a:rPr>
              <a:t>jere utilizador hotu</a:t>
            </a:r>
            <a:endParaRPr lang="en-US" sz="1300" dirty="0"/>
          </a:p>
          <a:p>
            <a:pPr marL="342900" indent="-342900">
              <a:spcAft>
                <a:spcPts val="600"/>
              </a:spcAft>
              <a:buSzPct val="100000"/>
              <a:buChar char="•"/>
            </a:pPr>
            <a:r>
              <a:rPr lang="en-US" sz="1300" dirty="0">
                <a:solidFill>
                  <a:schemeClr val="tx1"/>
                </a:solidFill>
              </a:rPr>
              <a:t>publika portal</a:t>
            </a:r>
            <a:endParaRPr lang="en-US" sz="1300" dirty="0"/>
          </a:p>
        </p:txBody>
      </p:sp>
      <p:sp>
        <p:nvSpPr>
          <p:cNvPr id="9" name="papel-1"/>
          <p:cNvSpPr/>
          <p:nvPr/>
        </p:nvSpPr>
        <p:spPr>
          <a:xfrm>
            <a:off x="2798064" y="1417320"/>
            <a:ext cx="2066544" cy="4663440"/>
          </a:xfrm>
          <a:prstGeom prst="roundRect">
            <a:avLst>
              <a:gd name="adj" fmla="val 5310"/>
            </a:avLst>
          </a:prstGeom>
          <a:solidFill>
            <a:schemeClr val="bg2"/>
          </a:solidFill>
          <a:ln w="12700">
            <a:solidFill>
              <a:schemeClr val="bg2"/>
            </a:solidFill>
            <a:prstDash val="solid"/>
          </a:ln>
        </p:spPr>
      </p:sp>
      <p:sp>
        <p:nvSpPr>
          <p:cNvPr id="10" name="papel-ik-1-sirkulu"/>
          <p:cNvSpPr/>
          <p:nvPr/>
        </p:nvSpPr>
        <p:spPr>
          <a:xfrm>
            <a:off x="3374136" y="1737360"/>
            <a:ext cx="914400" cy="914400"/>
          </a:xfrm>
          <a:prstGeom prst="ellipse">
            <a:avLst/>
          </a:prstGeom>
          <a:solidFill>
            <a:schemeClr val="accent5"/>
          </a:solidFill>
          <a:ln w="12700">
            <a:solidFill>
              <a:schemeClr val="accent5"/>
            </a:solidFill>
            <a:prstDash val="solid"/>
          </a:ln>
        </p:spPr>
      </p:sp>
      <p:pic>
        <p:nvPicPr>
          <p:cNvPr id="11" name="papel-ik-1-ikone" descr="preencoded.png">    </p:cNvPr>
          <p:cNvPicPr>
            <a:picLocks noChangeAspect="1"/>
          </p:cNvPicPr>
          <p:nvPr/>
        </p:nvPicPr>
        <p:blipFill>
          <a:blip r:embed="rId2"/>
          <a:stretch>
            <a:fillRect/>
          </a:stretch>
        </p:blipFill>
        <p:spPr>
          <a:xfrm>
            <a:off x="3593592" y="1956816"/>
            <a:ext cx="475488" cy="475488"/>
          </a:xfrm>
          <a:prstGeom prst="rect">
            <a:avLst/>
          </a:prstGeom>
        </p:spPr>
      </p:pic>
      <p:sp>
        <p:nvSpPr>
          <p:cNvPr id="12" name="papel-n-1"/>
          <p:cNvSpPr txBox="1"/>
          <p:nvPr/>
        </p:nvSpPr>
        <p:spPr>
          <a:xfrm>
            <a:off x="2889504" y="2834640"/>
            <a:ext cx="1883664" cy="411480"/>
          </a:xfrm>
          <a:prstGeom prst="rect">
            <a:avLst/>
          </a:prstGeom>
          <a:noFill/>
          <a:ln/>
        </p:spPr>
        <p:txBody>
          <a:bodyPr wrap="square" lIns="0" tIns="0" rIns="0" bIns="0" rtlCol="0" anchor="t"/>
          <a:lstStyle/>
          <a:p>
            <a:pPr algn="ctr" indent="0" marL="0">
              <a:buNone/>
            </a:pPr>
            <a:r>
              <a:rPr lang="en-US" sz="1800" b="1" dirty="0">
                <a:solidFill>
                  <a:schemeClr val="tx2"/>
                </a:solidFill>
              </a:rPr>
              <a:t>Admin</a:t>
            </a:r>
            <a:endParaRPr lang="en-US" sz="1800" dirty="0"/>
          </a:p>
        </p:txBody>
      </p:sp>
      <p:sp>
        <p:nvSpPr>
          <p:cNvPr id="13" name="papel-s-1"/>
          <p:cNvSpPr txBox="1"/>
          <p:nvPr/>
        </p:nvSpPr>
        <p:spPr>
          <a:xfrm>
            <a:off x="2935224" y="3246120"/>
            <a:ext cx="1792224" cy="548640"/>
          </a:xfrm>
          <a:prstGeom prst="rect">
            <a:avLst/>
          </a:prstGeom>
          <a:noFill/>
          <a:ln/>
        </p:spPr>
        <p:txBody>
          <a:bodyPr wrap="square" lIns="0" tIns="0" rIns="0" bIns="0" rtlCol="0" anchor="t"/>
          <a:lstStyle/>
          <a:p>
            <a:pPr algn="ctr" indent="0" marL="0">
              <a:buNone/>
            </a:pPr>
            <a:r>
              <a:rPr lang="en-US" sz="1200" i="1" dirty="0">
                <a:solidFill>
                  <a:srgbClr val="5E6B66"/>
                </a:solidFill>
              </a:rPr>
              <a:t>Koordenador programa</a:t>
            </a:r>
            <a:endParaRPr lang="en-US" sz="1200" dirty="0"/>
          </a:p>
        </p:txBody>
      </p:sp>
      <p:sp>
        <p:nvSpPr>
          <p:cNvPr id="14" name="papel-d-1"/>
          <p:cNvSpPr txBox="1"/>
          <p:nvPr/>
        </p:nvSpPr>
        <p:spPr>
          <a:xfrm>
            <a:off x="2935224" y="3886200"/>
            <a:ext cx="1792224"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Verifika (nivel 1)</a:t>
            </a:r>
            <a:endParaRPr lang="en-US" sz="1300" dirty="0"/>
          </a:p>
          <a:p>
            <a:pPr marL="342900" indent="-342900">
              <a:spcAft>
                <a:spcPts val="600"/>
              </a:spcAft>
              <a:buSzPct val="100000"/>
              <a:buChar char="•"/>
            </a:pPr>
            <a:r>
              <a:rPr lang="en-US" sz="1300" dirty="0">
                <a:solidFill>
                  <a:schemeClr val="tx1"/>
                </a:solidFill>
              </a:rPr>
              <a:t>rejeita / kansela</a:t>
            </a:r>
            <a:endParaRPr lang="en-US" sz="1300" dirty="0"/>
          </a:p>
          <a:p>
            <a:pPr marL="342900" indent="-342900">
              <a:spcAft>
                <a:spcPts val="600"/>
              </a:spcAft>
              <a:buSzPct val="100000"/>
              <a:buChar char="•"/>
            </a:pPr>
            <a:r>
              <a:rPr lang="en-US" sz="1300" dirty="0">
                <a:solidFill>
                  <a:schemeClr val="tx1"/>
                </a:solidFill>
              </a:rPr>
              <a:t>utilizador</a:t>
            </a:r>
            <a:endParaRPr lang="en-US" sz="1300" dirty="0"/>
          </a:p>
          <a:p>
            <a:pPr marL="342900" indent="-342900">
              <a:spcAft>
                <a:spcPts val="600"/>
              </a:spcAft>
              <a:buSzPct val="100000"/>
              <a:buChar char="•"/>
            </a:pPr>
            <a:r>
              <a:rPr lang="en-US" sz="1300" dirty="0">
                <a:solidFill>
                  <a:schemeClr val="tx1"/>
                </a:solidFill>
              </a:rPr>
              <a:t>izin offline</a:t>
            </a:r>
            <a:endParaRPr lang="en-US" sz="1300" dirty="0"/>
          </a:p>
        </p:txBody>
      </p:sp>
      <p:sp>
        <p:nvSpPr>
          <p:cNvPr id="15" name="papel-2"/>
          <p:cNvSpPr/>
          <p:nvPr/>
        </p:nvSpPr>
        <p:spPr>
          <a:xfrm>
            <a:off x="5047488" y="1417320"/>
            <a:ext cx="2066544" cy="4663440"/>
          </a:xfrm>
          <a:prstGeom prst="roundRect">
            <a:avLst>
              <a:gd name="adj" fmla="val 5310"/>
            </a:avLst>
          </a:prstGeom>
          <a:solidFill>
            <a:schemeClr val="bg2"/>
          </a:solidFill>
          <a:ln w="12700">
            <a:solidFill>
              <a:schemeClr val="bg2"/>
            </a:solidFill>
            <a:prstDash val="solid"/>
          </a:ln>
        </p:spPr>
      </p:sp>
      <p:sp>
        <p:nvSpPr>
          <p:cNvPr id="16" name="papel-ik-2-sirkulu"/>
          <p:cNvSpPr/>
          <p:nvPr/>
        </p:nvSpPr>
        <p:spPr>
          <a:xfrm>
            <a:off x="5623560" y="1737360"/>
            <a:ext cx="914400" cy="914400"/>
          </a:xfrm>
          <a:prstGeom prst="ellipse">
            <a:avLst/>
          </a:prstGeom>
          <a:solidFill>
            <a:schemeClr val="accent3"/>
          </a:solidFill>
          <a:ln w="12700">
            <a:solidFill>
              <a:schemeClr val="accent3"/>
            </a:solidFill>
            <a:prstDash val="solid"/>
          </a:ln>
        </p:spPr>
      </p:sp>
      <p:pic>
        <p:nvPicPr>
          <p:cNvPr id="17" name="papel-ik-2-ikone" descr="preencoded.png">    </p:cNvPr>
          <p:cNvPicPr>
            <a:picLocks noChangeAspect="1"/>
          </p:cNvPicPr>
          <p:nvPr/>
        </p:nvPicPr>
        <p:blipFill>
          <a:blip r:embed="rId3"/>
          <a:stretch>
            <a:fillRect/>
          </a:stretch>
        </p:blipFill>
        <p:spPr>
          <a:xfrm>
            <a:off x="5843016" y="1956816"/>
            <a:ext cx="475488" cy="475488"/>
          </a:xfrm>
          <a:prstGeom prst="rect">
            <a:avLst/>
          </a:prstGeom>
        </p:spPr>
      </p:pic>
      <p:sp>
        <p:nvSpPr>
          <p:cNvPr id="18" name="papel-n-2"/>
          <p:cNvSpPr txBox="1"/>
          <p:nvPr/>
        </p:nvSpPr>
        <p:spPr>
          <a:xfrm>
            <a:off x="5138928" y="2834640"/>
            <a:ext cx="1883664" cy="411480"/>
          </a:xfrm>
          <a:prstGeom prst="rect">
            <a:avLst/>
          </a:prstGeom>
          <a:noFill/>
          <a:ln/>
        </p:spPr>
        <p:txBody>
          <a:bodyPr wrap="square" lIns="0" tIns="0" rIns="0" bIns="0" rtlCol="0" anchor="t"/>
          <a:lstStyle/>
          <a:p>
            <a:pPr algn="ctr" indent="0" marL="0">
              <a:buNone/>
            </a:pPr>
            <a:r>
              <a:rPr lang="en-US" sz="1800" b="1" dirty="0">
                <a:solidFill>
                  <a:schemeClr val="tx2"/>
                </a:solidFill>
              </a:rPr>
              <a:t>Analista</a:t>
            </a:r>
            <a:endParaRPr lang="en-US" sz="1800" dirty="0"/>
          </a:p>
        </p:txBody>
      </p:sp>
      <p:sp>
        <p:nvSpPr>
          <p:cNvPr id="19" name="papel-s-2"/>
          <p:cNvSpPr txBox="1"/>
          <p:nvPr/>
        </p:nvSpPr>
        <p:spPr>
          <a:xfrm>
            <a:off x="5184648" y="3246120"/>
            <a:ext cx="1792224" cy="548640"/>
          </a:xfrm>
          <a:prstGeom prst="rect">
            <a:avLst/>
          </a:prstGeom>
          <a:noFill/>
          <a:ln/>
        </p:spPr>
        <p:txBody>
          <a:bodyPr wrap="square" lIns="0" tIns="0" rIns="0" bIns="0" rtlCol="0" anchor="t"/>
          <a:lstStyle/>
          <a:p>
            <a:pPr algn="ctr" indent="0" marL="0">
              <a:buNone/>
            </a:pPr>
            <a:r>
              <a:rPr lang="en-US" sz="1200" i="1" dirty="0">
                <a:solidFill>
                  <a:srgbClr val="5E6B66"/>
                </a:solidFill>
              </a:rPr>
              <a:t>Koordenador advokasia</a:t>
            </a:r>
            <a:endParaRPr lang="en-US" sz="1200" dirty="0"/>
          </a:p>
        </p:txBody>
      </p:sp>
      <p:sp>
        <p:nvSpPr>
          <p:cNvPr id="20" name="papel-d-2"/>
          <p:cNvSpPr txBox="1"/>
          <p:nvPr/>
        </p:nvSpPr>
        <p:spPr>
          <a:xfrm>
            <a:off x="5184648" y="3886200"/>
            <a:ext cx="1792224"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Dashboard</a:t>
            </a:r>
            <a:endParaRPr lang="en-US" sz="1300" dirty="0"/>
          </a:p>
          <a:p>
            <a:pPr marL="342900" indent="-342900">
              <a:spcAft>
                <a:spcPts val="600"/>
              </a:spcAft>
              <a:buSzPct val="100000"/>
              <a:buChar char="•"/>
            </a:pPr>
            <a:r>
              <a:rPr lang="en-US" sz="1300" dirty="0">
                <a:solidFill>
                  <a:schemeClr val="tx1"/>
                </a:solidFill>
              </a:rPr>
              <a:t>mapa</a:t>
            </a:r>
            <a:endParaRPr lang="en-US" sz="1300" dirty="0"/>
          </a:p>
          <a:p>
            <a:pPr marL="342900" indent="-342900">
              <a:spcAft>
                <a:spcPts val="600"/>
              </a:spcAft>
              <a:buSzPct val="100000"/>
              <a:buChar char="•"/>
            </a:pPr>
            <a:r>
              <a:rPr lang="en-US" sz="1300" dirty="0">
                <a:solidFill>
                  <a:schemeClr val="tx1"/>
                </a:solidFill>
              </a:rPr>
              <a:t>relatóriu</a:t>
            </a:r>
            <a:endParaRPr lang="en-US" sz="1300" dirty="0"/>
          </a:p>
          <a:p>
            <a:pPr marL="342900" indent="-342900">
              <a:spcAft>
                <a:spcPts val="600"/>
              </a:spcAft>
              <a:buSzPct val="100000"/>
              <a:buChar char="•"/>
            </a:pPr>
            <a:r>
              <a:rPr lang="en-US" sz="1300" dirty="0">
                <a:solidFill>
                  <a:schemeClr val="tx1"/>
                </a:solidFill>
              </a:rPr>
              <a:t>export</a:t>
            </a:r>
            <a:endParaRPr lang="en-US" sz="1300" dirty="0"/>
          </a:p>
          <a:p>
            <a:pPr marL="342900" indent="-342900">
              <a:spcAft>
                <a:spcPts val="600"/>
              </a:spcAft>
              <a:buSzPct val="100000"/>
              <a:buChar char="•"/>
            </a:pPr>
            <a:r>
              <a:rPr lang="en-US" sz="1300" dirty="0">
                <a:solidFill>
                  <a:schemeClr val="tx1"/>
                </a:solidFill>
              </a:rPr>
              <a:t>publikasaun</a:t>
            </a:r>
            <a:endParaRPr lang="en-US" sz="1300" dirty="0"/>
          </a:p>
        </p:txBody>
      </p:sp>
      <p:sp>
        <p:nvSpPr>
          <p:cNvPr id="21" name="papel-3"/>
          <p:cNvSpPr/>
          <p:nvPr/>
        </p:nvSpPr>
        <p:spPr>
          <a:xfrm>
            <a:off x="7296912" y="1417320"/>
            <a:ext cx="2066544" cy="4663440"/>
          </a:xfrm>
          <a:prstGeom prst="roundRect">
            <a:avLst>
              <a:gd name="adj" fmla="val 5310"/>
            </a:avLst>
          </a:prstGeom>
          <a:solidFill>
            <a:schemeClr val="bg2"/>
          </a:solidFill>
          <a:ln w="12700">
            <a:solidFill>
              <a:schemeClr val="bg2"/>
            </a:solidFill>
            <a:prstDash val="solid"/>
          </a:ln>
        </p:spPr>
      </p:sp>
      <p:sp>
        <p:nvSpPr>
          <p:cNvPr id="22" name="papel-ik-3-sirkulu"/>
          <p:cNvSpPr/>
          <p:nvPr/>
        </p:nvSpPr>
        <p:spPr>
          <a:xfrm>
            <a:off x="7872984" y="1737360"/>
            <a:ext cx="914400" cy="914400"/>
          </a:xfrm>
          <a:prstGeom prst="ellipse">
            <a:avLst/>
          </a:prstGeom>
          <a:solidFill>
            <a:schemeClr val="accent6"/>
          </a:solidFill>
          <a:ln w="12700">
            <a:solidFill>
              <a:schemeClr val="accent6"/>
            </a:solidFill>
            <a:prstDash val="solid"/>
          </a:ln>
        </p:spPr>
      </p:sp>
      <p:pic>
        <p:nvPicPr>
          <p:cNvPr id="23" name="papel-ik-3-ikone" descr="preencoded.png">    </p:cNvPr>
          <p:cNvPicPr>
            <a:picLocks noChangeAspect="1"/>
          </p:cNvPicPr>
          <p:nvPr/>
        </p:nvPicPr>
        <p:blipFill>
          <a:blip r:embed="rId4"/>
          <a:stretch>
            <a:fillRect/>
          </a:stretch>
        </p:blipFill>
        <p:spPr>
          <a:xfrm>
            <a:off x="8092440" y="1956816"/>
            <a:ext cx="475488" cy="475488"/>
          </a:xfrm>
          <a:prstGeom prst="rect">
            <a:avLst/>
          </a:prstGeom>
        </p:spPr>
      </p:pic>
      <p:sp>
        <p:nvSpPr>
          <p:cNvPr id="24" name="papel-n-3"/>
          <p:cNvSpPr txBox="1"/>
          <p:nvPr/>
        </p:nvSpPr>
        <p:spPr>
          <a:xfrm>
            <a:off x="7388352" y="2834640"/>
            <a:ext cx="1883664" cy="411480"/>
          </a:xfrm>
          <a:prstGeom prst="rect">
            <a:avLst/>
          </a:prstGeom>
          <a:noFill/>
          <a:ln/>
        </p:spPr>
        <p:txBody>
          <a:bodyPr wrap="square" lIns="0" tIns="0" rIns="0" bIns="0" rtlCol="0" anchor="t"/>
          <a:lstStyle/>
          <a:p>
            <a:pPr algn="ctr" indent="0" marL="0">
              <a:buNone/>
            </a:pPr>
            <a:r>
              <a:rPr lang="en-US" sz="1800" b="1" dirty="0">
                <a:solidFill>
                  <a:schemeClr val="tx2"/>
                </a:solidFill>
              </a:rPr>
              <a:t>Ofisiál Legál</a:t>
            </a:r>
            <a:endParaRPr lang="en-US" sz="1800" dirty="0"/>
          </a:p>
        </p:txBody>
      </p:sp>
      <p:sp>
        <p:nvSpPr>
          <p:cNvPr id="25" name="papel-s-3"/>
          <p:cNvSpPr txBox="1"/>
          <p:nvPr/>
        </p:nvSpPr>
        <p:spPr>
          <a:xfrm>
            <a:off x="7434072" y="3246120"/>
            <a:ext cx="1792224" cy="548640"/>
          </a:xfrm>
          <a:prstGeom prst="rect">
            <a:avLst/>
          </a:prstGeom>
          <a:noFill/>
          <a:ln/>
        </p:spPr>
        <p:txBody>
          <a:bodyPr wrap="square" lIns="0" tIns="0" rIns="0" bIns="0" rtlCol="0" anchor="t"/>
          <a:lstStyle/>
          <a:p>
            <a:pPr algn="ctr" indent="0" marL="0">
              <a:buNone/>
            </a:pPr>
            <a:r>
              <a:rPr lang="en-US" sz="1200" i="1" dirty="0">
                <a:solidFill>
                  <a:srgbClr val="5E6B66"/>
                </a:solidFill>
              </a:rPr>
              <a:t>Assessor legál</a:t>
            </a:r>
            <a:endParaRPr lang="en-US" sz="1200" dirty="0"/>
          </a:p>
        </p:txBody>
      </p:sp>
      <p:sp>
        <p:nvSpPr>
          <p:cNvPr id="26" name="papel-d-3"/>
          <p:cNvSpPr txBox="1"/>
          <p:nvPr/>
        </p:nvSpPr>
        <p:spPr>
          <a:xfrm>
            <a:off x="7434072" y="3886200"/>
            <a:ext cx="1792224"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Status kazu</a:t>
            </a:r>
            <a:endParaRPr lang="en-US" sz="1300" dirty="0"/>
          </a:p>
          <a:p>
            <a:pPr marL="342900" indent="-342900">
              <a:spcAft>
                <a:spcPts val="600"/>
              </a:spcAft>
              <a:buSzPct val="100000"/>
              <a:buChar char="•"/>
            </a:pPr>
            <a:r>
              <a:rPr lang="en-US" sz="1300" dirty="0">
                <a:solidFill>
                  <a:schemeClr val="tx1"/>
                </a:solidFill>
              </a:rPr>
              <a:t>Vault dokumentu</a:t>
            </a:r>
            <a:endParaRPr lang="en-US" sz="1300" dirty="0"/>
          </a:p>
          <a:p>
            <a:pPr marL="342900" indent="-342900">
              <a:spcAft>
                <a:spcPts val="600"/>
              </a:spcAft>
              <a:buSzPct val="100000"/>
              <a:buChar char="•"/>
            </a:pPr>
            <a:r>
              <a:rPr lang="en-US" sz="1300" dirty="0">
                <a:solidFill>
                  <a:schemeClr val="tx1"/>
                </a:solidFill>
              </a:rPr>
              <a:t>nota no prazu</a:t>
            </a:r>
            <a:endParaRPr lang="en-US" sz="1300" dirty="0"/>
          </a:p>
          <a:p>
            <a:pPr marL="342900" indent="-342900">
              <a:spcAft>
                <a:spcPts val="600"/>
              </a:spcAft>
              <a:buSzPct val="100000"/>
              <a:buChar char="•"/>
            </a:pPr>
            <a:r>
              <a:rPr lang="en-US" sz="1300" dirty="0">
                <a:solidFill>
                  <a:schemeClr val="tx1"/>
                </a:solidFill>
              </a:rPr>
              <a:t>dossier</a:t>
            </a:r>
            <a:endParaRPr lang="en-US" sz="1300" dirty="0"/>
          </a:p>
        </p:txBody>
      </p:sp>
      <p:sp>
        <p:nvSpPr>
          <p:cNvPr id="27" name="papel-4"/>
          <p:cNvSpPr/>
          <p:nvPr/>
        </p:nvSpPr>
        <p:spPr>
          <a:xfrm>
            <a:off x="9546336" y="1417320"/>
            <a:ext cx="2066544" cy="4663440"/>
          </a:xfrm>
          <a:prstGeom prst="roundRect">
            <a:avLst>
              <a:gd name="adj" fmla="val 5310"/>
            </a:avLst>
          </a:prstGeom>
          <a:solidFill>
            <a:schemeClr val="bg2"/>
          </a:solidFill>
          <a:ln w="12700">
            <a:solidFill>
              <a:schemeClr val="bg2"/>
            </a:solidFill>
            <a:prstDash val="solid"/>
          </a:ln>
        </p:spPr>
      </p:sp>
      <p:sp>
        <p:nvSpPr>
          <p:cNvPr id="28" name="papel-ik-4-sirkulu"/>
          <p:cNvSpPr/>
          <p:nvPr/>
        </p:nvSpPr>
        <p:spPr>
          <a:xfrm>
            <a:off x="10122408" y="1737360"/>
            <a:ext cx="914400" cy="914400"/>
          </a:xfrm>
          <a:prstGeom prst="ellipse">
            <a:avLst/>
          </a:prstGeom>
          <a:solidFill>
            <a:schemeClr val="accent1"/>
          </a:solidFill>
          <a:ln w="12700">
            <a:solidFill>
              <a:schemeClr val="accent1"/>
            </a:solidFill>
            <a:prstDash val="solid"/>
          </a:ln>
        </p:spPr>
      </p:sp>
      <p:pic>
        <p:nvPicPr>
          <p:cNvPr id="29" name="papel-ik-4-ikone" descr="preencoded.png">    </p:cNvPr>
          <p:cNvPicPr>
            <a:picLocks noChangeAspect="1"/>
          </p:cNvPicPr>
          <p:nvPr/>
        </p:nvPicPr>
        <p:blipFill>
          <a:blip r:embed="rId5"/>
          <a:stretch>
            <a:fillRect/>
          </a:stretch>
        </p:blipFill>
        <p:spPr>
          <a:xfrm>
            <a:off x="10341864" y="1956816"/>
            <a:ext cx="475488" cy="475488"/>
          </a:xfrm>
          <a:prstGeom prst="rect">
            <a:avLst/>
          </a:prstGeom>
        </p:spPr>
      </p:pic>
      <p:sp>
        <p:nvSpPr>
          <p:cNvPr id="30" name="papel-n-4"/>
          <p:cNvSpPr txBox="1"/>
          <p:nvPr/>
        </p:nvSpPr>
        <p:spPr>
          <a:xfrm>
            <a:off x="9637776" y="2834640"/>
            <a:ext cx="1883664" cy="411480"/>
          </a:xfrm>
          <a:prstGeom prst="rect">
            <a:avLst/>
          </a:prstGeom>
          <a:noFill/>
          <a:ln/>
        </p:spPr>
        <p:txBody>
          <a:bodyPr wrap="square" lIns="0" tIns="0" rIns="0" bIns="0" rtlCol="0" anchor="t"/>
          <a:lstStyle/>
          <a:p>
            <a:pPr algn="ctr" indent="0" marL="0">
              <a:buNone/>
            </a:pPr>
            <a:r>
              <a:rPr lang="en-US" sz="1800" b="1" dirty="0">
                <a:solidFill>
                  <a:schemeClr val="tx2"/>
                </a:solidFill>
              </a:rPr>
              <a:t>Investigadór</a:t>
            </a:r>
            <a:endParaRPr lang="en-US" sz="1800" dirty="0"/>
          </a:p>
        </p:txBody>
      </p:sp>
      <p:sp>
        <p:nvSpPr>
          <p:cNvPr id="31" name="papel-s-4"/>
          <p:cNvSpPr txBox="1"/>
          <p:nvPr/>
        </p:nvSpPr>
        <p:spPr>
          <a:xfrm>
            <a:off x="9683496" y="3246120"/>
            <a:ext cx="1792224" cy="548640"/>
          </a:xfrm>
          <a:prstGeom prst="rect">
            <a:avLst/>
          </a:prstGeom>
          <a:noFill/>
          <a:ln/>
        </p:spPr>
        <p:txBody>
          <a:bodyPr wrap="square" lIns="0" tIns="0" rIns="0" bIns="0" rtlCol="0" anchor="t"/>
          <a:lstStyle/>
          <a:p>
            <a:pPr algn="ctr" indent="0" marL="0">
              <a:buNone/>
            </a:pPr>
            <a:r>
              <a:rPr lang="en-US" sz="1200" i="1" dirty="0">
                <a:solidFill>
                  <a:srgbClr val="5E6B66"/>
                </a:solidFill>
              </a:rPr>
              <a:t>Staf terrenu</a:t>
            </a:r>
            <a:endParaRPr lang="en-US" sz="1200" dirty="0"/>
          </a:p>
        </p:txBody>
      </p:sp>
      <p:sp>
        <p:nvSpPr>
          <p:cNvPr id="32" name="papel-d-4"/>
          <p:cNvSpPr txBox="1"/>
          <p:nvPr/>
        </p:nvSpPr>
        <p:spPr>
          <a:xfrm>
            <a:off x="9683496" y="3886200"/>
            <a:ext cx="1792224"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Rejista kazu online ka offline</a:t>
            </a:r>
            <a:endParaRPr lang="en-US" sz="1300" dirty="0"/>
          </a:p>
          <a:p>
            <a:pPr marL="342900" indent="-342900">
              <a:spcAft>
                <a:spcPts val="600"/>
              </a:spcAft>
              <a:buSzPct val="100000"/>
              <a:buChar char="•"/>
            </a:pPr>
            <a:r>
              <a:rPr lang="en-US" sz="1300" dirty="0">
                <a:solidFill>
                  <a:schemeClr val="tx1"/>
                </a:solidFill>
              </a:rPr>
              <a:t>evidénsia</a:t>
            </a:r>
            <a:endParaRPr lang="en-US" sz="1300" dirty="0"/>
          </a:p>
          <a:p>
            <a:pPr marL="342900" indent="-342900">
              <a:spcAft>
                <a:spcPts val="600"/>
              </a:spcAft>
              <a:buSzPct val="100000"/>
              <a:buChar char="•"/>
            </a:pPr>
            <a:r>
              <a:rPr lang="en-US" sz="1300" dirty="0">
                <a:solidFill>
                  <a:schemeClr val="tx1"/>
                </a:solidFill>
              </a:rPr>
              <a:t>haruka</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Matriz asesu: se mak bele halo saida</a:t>
            </a:r>
            <a:endParaRPr lang="en-US" sz="2600" dirty="0"/>
          </a:p>
        </p:txBody>
      </p:sp>
      <p:graphicFrame>
        <p:nvGraphicFramePr>
          <p:cNvPr id="7" name="matriz"/>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566160"/>
                <a:gridCol w="1499616"/>
                <a:gridCol w="1499616"/>
                <a:gridCol w="1499616"/>
                <a:gridCol w="1499616"/>
                <a:gridCol w="1527048"/>
              </a:tblGrid>
              <a:tr h="429768">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Asaun</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Superadmin</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Admin</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Analista</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Ofisiál Legál</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Investigadór</a:t>
                      </a:r>
                      <a:endParaRPr lang="en-US" sz="13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Rejista kazu / app offline</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Haree kazu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Hotu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Hotu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Hotu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Hotu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Nia rasik</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Verifika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Aprova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Rejeita · Kansela · Remata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Muda status kazu (Abertu → Taka)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Dashboard · Mapa · Relatóriu · Export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Vault: upload, nota, konfidensiál</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Sin</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Publikasaun: kria / publika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Publika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Publika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Kria</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429768">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Jere utilizador · izin offline</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Utilizador</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tx2"/>
                          </a:solidFill>
                          <a:latin typeface="Calibri" pitchFamily="34" charset="0"/>
                          <a:ea typeface="Calibri" pitchFamily="34" charset="-122"/>
                          <a:cs typeface="Calibri" pitchFamily="34" charset="-120"/>
                        </a:rPr>
                        <a:t>Hotu</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250" dirty="0">
                          <a:solidFill>
                            <a:srgbClr val="5E6B6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Login dahuluk iha pasu 4</a:t>
            </a:r>
            <a:endParaRPr lang="en-US" sz="2600" dirty="0"/>
          </a:p>
        </p:txBody>
      </p:sp>
      <p:sp>
        <p:nvSpPr>
          <p:cNvPr id="3" name="pasu-0"/>
          <p:cNvSpPr/>
          <p:nvPr/>
        </p:nvSpPr>
        <p:spPr>
          <a:xfrm>
            <a:off x="1463040" y="1371600"/>
            <a:ext cx="777240" cy="777240"/>
          </a:xfrm>
          <a:prstGeom prst="ellipse">
            <a:avLst/>
          </a:prstGeom>
          <a:solidFill>
            <a:schemeClr val="accent1"/>
          </a:solidFill>
          <a:ln w="12700">
            <a:solidFill>
              <a:schemeClr val="accent1"/>
            </a:solidFill>
            <a:prstDash val="solid"/>
          </a:ln>
        </p:spPr>
      </p:sp>
      <p:sp>
        <p:nvSpPr>
          <p:cNvPr id="4" name="pasu-0-n"/>
          <p:cNvSpPr txBox="1"/>
          <p:nvPr/>
        </p:nvSpPr>
        <p:spPr>
          <a:xfrm>
            <a:off x="1463040" y="1371600"/>
            <a:ext cx="777240" cy="777240"/>
          </a:xfrm>
          <a:prstGeom prst="rect">
            <a:avLst/>
          </a:prstGeom>
          <a:noFill/>
          <a:ln/>
        </p:spPr>
        <p:txBody>
          <a:bodyPr wrap="square" lIns="0" tIns="0" rIns="0" bIns="0" rtlCol="0" anchor="ctr"/>
          <a:lstStyle/>
          <a:p>
            <a:pPr algn="ctr" indent="0" marL="0">
              <a:buNone/>
            </a:pPr>
            <a:r>
              <a:rPr lang="en-US" sz="2210" b="1" dirty="0">
                <a:solidFill>
                  <a:schemeClr val="bg1"/>
                </a:solidFill>
              </a:rPr>
              <a:t>1</a:t>
            </a:r>
            <a:endParaRPr lang="en-US" sz="2210" dirty="0"/>
          </a:p>
        </p:txBody>
      </p:sp>
      <p:sp>
        <p:nvSpPr>
          <p:cNvPr id="5" name="pasu-a0"/>
          <p:cNvSpPr/>
          <p:nvPr/>
        </p:nvSpPr>
        <p:spPr>
          <a:xfrm>
            <a:off x="2331720" y="1760220"/>
            <a:ext cx="978408" cy="914"/>
          </a:xfrm>
          <a:prstGeom prst="line">
            <a:avLst/>
          </a:prstGeom>
          <a:noFill/>
          <a:ln w="22225">
            <a:solidFill>
              <a:schemeClr val="accent1"/>
            </a:solidFill>
            <a:prstDash val="solid"/>
            <a:tailEnd type="triangle"/>
          </a:ln>
        </p:spPr>
      </p:sp>
      <p:sp>
        <p:nvSpPr>
          <p:cNvPr id="6" name="pasu-t-0"/>
          <p:cNvSpPr txBox="1"/>
          <p:nvPr/>
        </p:nvSpPr>
        <p:spPr>
          <a:xfrm>
            <a:off x="548640" y="2286000"/>
            <a:ext cx="2606040" cy="822960"/>
          </a:xfrm>
          <a:prstGeom prst="rect">
            <a:avLst/>
          </a:prstGeom>
          <a:noFill/>
          <a:ln/>
        </p:spPr>
        <p:txBody>
          <a:bodyPr wrap="square" lIns="0" tIns="0" rIns="0" bIns="0" rtlCol="0" anchor="t"/>
          <a:lstStyle/>
          <a:p>
            <a:pPr algn="ctr" indent="0" marL="0">
              <a:buNone/>
            </a:pPr>
            <a:r>
              <a:rPr lang="en-US" sz="1700" b="1" dirty="0">
                <a:solidFill>
                  <a:schemeClr val="tx2"/>
                </a:solidFill>
              </a:rPr>
              <a:t>Loke sistema</a:t>
            </a:r>
            <a:endParaRPr lang="en-US" sz="1400" dirty="0"/>
          </a:p>
          <a:p>
            <a:pPr algn="ctr" indent="0" marL="0">
              <a:buNone/>
            </a:pPr>
            <a:r>
              <a:rPr lang="en-US" sz="1300" dirty="0">
                <a:solidFill>
                  <a:schemeClr val="tx1"/>
                </a:solidFill>
              </a:rPr>
              <a:t>Portal Públiku mosu; klik Login Staf</a:t>
            </a:r>
            <a:endParaRPr lang="en-US" sz="1400" dirty="0"/>
          </a:p>
        </p:txBody>
      </p:sp>
      <p:sp>
        <p:nvSpPr>
          <p:cNvPr id="7" name="pasu-1"/>
          <p:cNvSpPr/>
          <p:nvPr/>
        </p:nvSpPr>
        <p:spPr>
          <a:xfrm>
            <a:off x="4315968" y="1371600"/>
            <a:ext cx="777240" cy="777240"/>
          </a:xfrm>
          <a:prstGeom prst="ellipse">
            <a:avLst/>
          </a:prstGeom>
          <a:solidFill>
            <a:schemeClr val="accent1"/>
          </a:solidFill>
          <a:ln w="12700">
            <a:solidFill>
              <a:schemeClr val="accent1"/>
            </a:solidFill>
            <a:prstDash val="solid"/>
          </a:ln>
        </p:spPr>
      </p:sp>
      <p:sp>
        <p:nvSpPr>
          <p:cNvPr id="8" name="pasu-1-n"/>
          <p:cNvSpPr txBox="1"/>
          <p:nvPr/>
        </p:nvSpPr>
        <p:spPr>
          <a:xfrm>
            <a:off x="4315968" y="1371600"/>
            <a:ext cx="777240" cy="777240"/>
          </a:xfrm>
          <a:prstGeom prst="rect">
            <a:avLst/>
          </a:prstGeom>
          <a:noFill/>
          <a:ln/>
        </p:spPr>
        <p:txBody>
          <a:bodyPr wrap="square" lIns="0" tIns="0" rIns="0" bIns="0" rtlCol="0" anchor="ctr"/>
          <a:lstStyle/>
          <a:p>
            <a:pPr algn="ctr" indent="0" marL="0">
              <a:buNone/>
            </a:pPr>
            <a:r>
              <a:rPr lang="en-US" sz="2210" b="1" dirty="0">
                <a:solidFill>
                  <a:schemeClr val="bg1"/>
                </a:solidFill>
              </a:rPr>
              <a:t>2</a:t>
            </a:r>
            <a:endParaRPr lang="en-US" sz="2210" dirty="0"/>
          </a:p>
        </p:txBody>
      </p:sp>
      <p:sp>
        <p:nvSpPr>
          <p:cNvPr id="9" name="pasu-a1"/>
          <p:cNvSpPr/>
          <p:nvPr/>
        </p:nvSpPr>
        <p:spPr>
          <a:xfrm>
            <a:off x="5184648" y="1760220"/>
            <a:ext cx="978408" cy="914"/>
          </a:xfrm>
          <a:prstGeom prst="line">
            <a:avLst/>
          </a:prstGeom>
          <a:noFill/>
          <a:ln w="22225">
            <a:solidFill>
              <a:schemeClr val="accent1"/>
            </a:solidFill>
            <a:prstDash val="solid"/>
            <a:tailEnd type="triangle"/>
          </a:ln>
        </p:spPr>
      </p:sp>
      <p:sp>
        <p:nvSpPr>
          <p:cNvPr id="10" name="pasu-t-1"/>
          <p:cNvSpPr txBox="1"/>
          <p:nvPr/>
        </p:nvSpPr>
        <p:spPr>
          <a:xfrm>
            <a:off x="3401568" y="2286000"/>
            <a:ext cx="2606040" cy="822960"/>
          </a:xfrm>
          <a:prstGeom prst="rect">
            <a:avLst/>
          </a:prstGeom>
          <a:noFill/>
          <a:ln/>
        </p:spPr>
        <p:txBody>
          <a:bodyPr wrap="square" lIns="0" tIns="0" rIns="0" bIns="0" rtlCol="0" anchor="t"/>
          <a:lstStyle/>
          <a:p>
            <a:pPr algn="ctr" indent="0" marL="0">
              <a:buNone/>
            </a:pPr>
            <a:r>
              <a:rPr lang="en-US" sz="1700" b="1" dirty="0">
                <a:solidFill>
                  <a:schemeClr val="tx2"/>
                </a:solidFill>
              </a:rPr>
              <a:t>Email + password</a:t>
            </a:r>
            <a:endParaRPr lang="en-US" sz="1400" dirty="0"/>
          </a:p>
          <a:p>
            <a:pPr algn="ctr" indent="0" marL="0">
              <a:buNone/>
            </a:pPr>
            <a:r>
              <a:rPr lang="en-US" sz="1300" dirty="0">
                <a:solidFill>
                  <a:schemeClr val="tx1"/>
                </a:solidFill>
              </a:rPr>
              <a:t>Password dahuluk husi Admin</a:t>
            </a:r>
            <a:endParaRPr lang="en-US" sz="1400" dirty="0"/>
          </a:p>
        </p:txBody>
      </p:sp>
      <p:sp>
        <p:nvSpPr>
          <p:cNvPr id="11" name="pasu-2"/>
          <p:cNvSpPr/>
          <p:nvPr/>
        </p:nvSpPr>
        <p:spPr>
          <a:xfrm>
            <a:off x="7168896" y="1371600"/>
            <a:ext cx="777240" cy="777240"/>
          </a:xfrm>
          <a:prstGeom prst="ellipse">
            <a:avLst/>
          </a:prstGeom>
          <a:solidFill>
            <a:schemeClr val="accent1"/>
          </a:solidFill>
          <a:ln w="12700">
            <a:solidFill>
              <a:schemeClr val="accent1"/>
            </a:solidFill>
            <a:prstDash val="solid"/>
          </a:ln>
        </p:spPr>
      </p:sp>
      <p:sp>
        <p:nvSpPr>
          <p:cNvPr id="12" name="pasu-2-n"/>
          <p:cNvSpPr txBox="1"/>
          <p:nvPr/>
        </p:nvSpPr>
        <p:spPr>
          <a:xfrm>
            <a:off x="7168896" y="1371600"/>
            <a:ext cx="777240" cy="777240"/>
          </a:xfrm>
          <a:prstGeom prst="rect">
            <a:avLst/>
          </a:prstGeom>
          <a:noFill/>
          <a:ln/>
        </p:spPr>
        <p:txBody>
          <a:bodyPr wrap="square" lIns="0" tIns="0" rIns="0" bIns="0" rtlCol="0" anchor="ctr"/>
          <a:lstStyle/>
          <a:p>
            <a:pPr algn="ctr" indent="0" marL="0">
              <a:buNone/>
            </a:pPr>
            <a:r>
              <a:rPr lang="en-US" sz="2210" b="1" dirty="0">
                <a:solidFill>
                  <a:schemeClr val="bg1"/>
                </a:solidFill>
              </a:rPr>
              <a:t>3</a:t>
            </a:r>
            <a:endParaRPr lang="en-US" sz="2210" dirty="0"/>
          </a:p>
        </p:txBody>
      </p:sp>
      <p:sp>
        <p:nvSpPr>
          <p:cNvPr id="13" name="pasu-a2"/>
          <p:cNvSpPr/>
          <p:nvPr/>
        </p:nvSpPr>
        <p:spPr>
          <a:xfrm>
            <a:off x="8037576" y="1760220"/>
            <a:ext cx="978408" cy="914"/>
          </a:xfrm>
          <a:prstGeom prst="line">
            <a:avLst/>
          </a:prstGeom>
          <a:noFill/>
          <a:ln w="22225">
            <a:solidFill>
              <a:schemeClr val="accent1"/>
            </a:solidFill>
            <a:prstDash val="solid"/>
            <a:tailEnd type="triangle"/>
          </a:ln>
        </p:spPr>
      </p:sp>
      <p:sp>
        <p:nvSpPr>
          <p:cNvPr id="14" name="pasu-t-2"/>
          <p:cNvSpPr txBox="1"/>
          <p:nvPr/>
        </p:nvSpPr>
        <p:spPr>
          <a:xfrm>
            <a:off x="6254496" y="2286000"/>
            <a:ext cx="2606040" cy="822960"/>
          </a:xfrm>
          <a:prstGeom prst="rect">
            <a:avLst/>
          </a:prstGeom>
          <a:noFill/>
          <a:ln/>
        </p:spPr>
        <p:txBody>
          <a:bodyPr wrap="square" lIns="0" tIns="0" rIns="0" bIns="0" rtlCol="0" anchor="t"/>
          <a:lstStyle/>
          <a:p>
            <a:pPr algn="ctr" indent="0" marL="0">
              <a:buNone/>
            </a:pPr>
            <a:r>
              <a:rPr lang="en-US" sz="1700" b="1" dirty="0">
                <a:solidFill>
                  <a:schemeClr val="tx2"/>
                </a:solidFill>
              </a:rPr>
              <a:t>Troka password</a:t>
            </a:r>
            <a:endParaRPr lang="en-US" sz="1400" dirty="0"/>
          </a:p>
          <a:p>
            <a:pPr algn="ctr" indent="0" marL="0">
              <a:buNone/>
            </a:pPr>
            <a:r>
              <a:rPr lang="en-US" sz="1300" dirty="0">
                <a:solidFill>
                  <a:schemeClr val="tx1"/>
                </a:solidFill>
              </a:rPr>
              <a:t>Obrigatóriu; minimu karakter 8</a:t>
            </a:r>
            <a:endParaRPr lang="en-US" sz="1400" dirty="0"/>
          </a:p>
        </p:txBody>
      </p:sp>
      <p:sp>
        <p:nvSpPr>
          <p:cNvPr id="15" name="pasu-3"/>
          <p:cNvSpPr/>
          <p:nvPr/>
        </p:nvSpPr>
        <p:spPr>
          <a:xfrm>
            <a:off x="10021824" y="1371600"/>
            <a:ext cx="777240" cy="777240"/>
          </a:xfrm>
          <a:prstGeom prst="ellipse">
            <a:avLst/>
          </a:prstGeom>
          <a:solidFill>
            <a:schemeClr val="accent1"/>
          </a:solidFill>
          <a:ln w="12700">
            <a:solidFill>
              <a:schemeClr val="accent1"/>
            </a:solidFill>
            <a:prstDash val="solid"/>
          </a:ln>
        </p:spPr>
      </p:sp>
      <p:sp>
        <p:nvSpPr>
          <p:cNvPr id="16" name="pasu-3-n"/>
          <p:cNvSpPr txBox="1"/>
          <p:nvPr/>
        </p:nvSpPr>
        <p:spPr>
          <a:xfrm>
            <a:off x="10021824" y="1371600"/>
            <a:ext cx="777240" cy="777240"/>
          </a:xfrm>
          <a:prstGeom prst="rect">
            <a:avLst/>
          </a:prstGeom>
          <a:noFill/>
          <a:ln/>
        </p:spPr>
        <p:txBody>
          <a:bodyPr wrap="square" lIns="0" tIns="0" rIns="0" bIns="0" rtlCol="0" anchor="ctr"/>
          <a:lstStyle/>
          <a:p>
            <a:pPr algn="ctr" indent="0" marL="0">
              <a:buNone/>
            </a:pPr>
            <a:r>
              <a:rPr lang="en-US" sz="2210" b="1" dirty="0">
                <a:solidFill>
                  <a:schemeClr val="bg1"/>
                </a:solidFill>
              </a:rPr>
              <a:t>4</a:t>
            </a:r>
            <a:endParaRPr lang="en-US" sz="2210" dirty="0"/>
          </a:p>
        </p:txBody>
      </p:sp>
      <p:sp>
        <p:nvSpPr>
          <p:cNvPr id="17" name="pasu-t-3"/>
          <p:cNvSpPr txBox="1"/>
          <p:nvPr/>
        </p:nvSpPr>
        <p:spPr>
          <a:xfrm>
            <a:off x="9107424" y="2286000"/>
            <a:ext cx="2606040" cy="822960"/>
          </a:xfrm>
          <a:prstGeom prst="rect">
            <a:avLst/>
          </a:prstGeom>
          <a:noFill/>
          <a:ln/>
        </p:spPr>
        <p:txBody>
          <a:bodyPr wrap="square" lIns="0" tIns="0" rIns="0" bIns="0" rtlCol="0" anchor="t"/>
          <a:lstStyle/>
          <a:p>
            <a:pPr algn="ctr" indent="0" marL="0">
              <a:buNone/>
            </a:pPr>
            <a:r>
              <a:rPr lang="en-US" sz="1700" b="1" dirty="0">
                <a:solidFill>
                  <a:schemeClr val="tx2"/>
                </a:solidFill>
              </a:rPr>
              <a:t>Varanda</a:t>
            </a:r>
            <a:endParaRPr lang="en-US" sz="1400" dirty="0"/>
          </a:p>
          <a:p>
            <a:pPr algn="ctr" indent="0" marL="0">
              <a:buNone/>
            </a:pPr>
            <a:r>
              <a:rPr lang="en-US" sz="1300" dirty="0">
                <a:solidFill>
                  <a:schemeClr val="tx1"/>
                </a:solidFill>
              </a:rPr>
              <a:t>Pájina prinsipál tuir papél</a:t>
            </a:r>
            <a:endParaRPr lang="en-US" sz="1400" dirty="0"/>
          </a:p>
        </p:txBody>
      </p:sp>
      <p:sp>
        <p:nvSpPr>
          <p:cNvPr id="18" name="tip-0"/>
          <p:cNvSpPr/>
          <p:nvPr/>
        </p:nvSpPr>
        <p:spPr>
          <a:xfrm>
            <a:off x="548640" y="3611880"/>
            <a:ext cx="3520440" cy="2423160"/>
          </a:xfrm>
          <a:prstGeom prst="roundRect">
            <a:avLst>
              <a:gd name="adj" fmla="val 4528"/>
            </a:avLst>
          </a:prstGeom>
          <a:solidFill>
            <a:schemeClr val="bg2"/>
          </a:solidFill>
          <a:ln w="12700">
            <a:solidFill>
              <a:schemeClr val="bg2"/>
            </a:solidFill>
            <a:prstDash val="solid"/>
          </a:ln>
        </p:spPr>
      </p:sp>
      <p:sp>
        <p:nvSpPr>
          <p:cNvPr id="19" name="tip-ik-0-sirkulu"/>
          <p:cNvSpPr/>
          <p:nvPr/>
        </p:nvSpPr>
        <p:spPr>
          <a:xfrm>
            <a:off x="822960" y="3886200"/>
            <a:ext cx="731520" cy="731520"/>
          </a:xfrm>
          <a:prstGeom prst="ellipse">
            <a:avLst/>
          </a:prstGeom>
          <a:solidFill>
            <a:schemeClr val="accent5"/>
          </a:solidFill>
          <a:ln w="12700">
            <a:solidFill>
              <a:schemeClr val="accent5"/>
            </a:solidFill>
            <a:prstDash val="solid"/>
          </a:ln>
        </p:spPr>
      </p:sp>
      <p:pic>
        <p:nvPicPr>
          <p:cNvPr id="20" name="tip-ik-0-ikone" descr="preencoded.png">    </p:cNvPr>
          <p:cNvPicPr>
            <a:picLocks noChangeAspect="1"/>
          </p:cNvPicPr>
          <p:nvPr/>
        </p:nvPicPr>
        <p:blipFill>
          <a:blip r:embed="rId1"/>
          <a:stretch>
            <a:fillRect/>
          </a:stretch>
        </p:blipFill>
        <p:spPr>
          <a:xfrm>
            <a:off x="998525" y="4061765"/>
            <a:ext cx="380390" cy="380390"/>
          </a:xfrm>
          <a:prstGeom prst="rect">
            <a:avLst/>
          </a:prstGeom>
        </p:spPr>
      </p:pic>
      <p:sp>
        <p:nvSpPr>
          <p:cNvPr id="21" name="tip-n-0"/>
          <p:cNvSpPr txBox="1"/>
          <p:nvPr/>
        </p:nvSpPr>
        <p:spPr>
          <a:xfrm>
            <a:off x="1737360" y="3959352"/>
            <a:ext cx="2148840" cy="548640"/>
          </a:xfrm>
          <a:prstGeom prst="rect">
            <a:avLst/>
          </a:prstGeom>
          <a:noFill/>
          <a:ln/>
        </p:spPr>
        <p:txBody>
          <a:bodyPr wrap="square" lIns="0" tIns="0" rIns="0" bIns="0" rtlCol="0" anchor="ctr"/>
          <a:lstStyle/>
          <a:p>
            <a:pPr indent="0" marL="0">
              <a:buNone/>
            </a:pPr>
            <a:r>
              <a:rPr lang="en-US" sz="1800" b="1" dirty="0">
                <a:solidFill>
                  <a:schemeClr val="tx2"/>
                </a:solidFill>
              </a:rPr>
              <a:t>Lian 4</a:t>
            </a:r>
            <a:endParaRPr lang="en-US" sz="1800" dirty="0"/>
          </a:p>
        </p:txBody>
      </p:sp>
      <p:sp>
        <p:nvSpPr>
          <p:cNvPr id="22" name="tip-d-0"/>
          <p:cNvSpPr txBox="1"/>
          <p:nvPr/>
        </p:nvSpPr>
        <p:spPr>
          <a:xfrm>
            <a:off x="822960" y="4800600"/>
            <a:ext cx="2971800" cy="1097280"/>
          </a:xfrm>
          <a:prstGeom prst="rect">
            <a:avLst/>
          </a:prstGeom>
          <a:noFill/>
          <a:ln/>
        </p:spPr>
        <p:txBody>
          <a:bodyPr wrap="square" lIns="0" tIns="0" rIns="0" bIns="0" rtlCol="0" anchor="t"/>
          <a:lstStyle/>
          <a:p>
            <a:pPr indent="0" marL="0">
              <a:buNone/>
            </a:pPr>
            <a:r>
              <a:rPr lang="en-US" sz="1400" dirty="0">
                <a:solidFill>
                  <a:schemeClr val="tx1"/>
                </a:solidFill>
              </a:rPr>
              <a:t>Klik bandeira iha leten: Tetun, Português, English, Indonesia.</a:t>
            </a:r>
            <a:endParaRPr lang="en-US" sz="1400" dirty="0"/>
          </a:p>
        </p:txBody>
      </p:sp>
      <p:sp>
        <p:nvSpPr>
          <p:cNvPr id="23" name="tip-1"/>
          <p:cNvSpPr/>
          <p:nvPr/>
        </p:nvSpPr>
        <p:spPr>
          <a:xfrm>
            <a:off x="4297680" y="3611880"/>
            <a:ext cx="3520440" cy="2423160"/>
          </a:xfrm>
          <a:prstGeom prst="roundRect">
            <a:avLst>
              <a:gd name="adj" fmla="val 4528"/>
            </a:avLst>
          </a:prstGeom>
          <a:solidFill>
            <a:schemeClr val="bg2"/>
          </a:solidFill>
          <a:ln w="12700">
            <a:solidFill>
              <a:schemeClr val="bg2"/>
            </a:solidFill>
            <a:prstDash val="solid"/>
          </a:ln>
        </p:spPr>
      </p:sp>
      <p:sp>
        <p:nvSpPr>
          <p:cNvPr id="24" name="tip-ik-1-sirkulu"/>
          <p:cNvSpPr/>
          <p:nvPr/>
        </p:nvSpPr>
        <p:spPr>
          <a:xfrm>
            <a:off x="4572000" y="3886200"/>
            <a:ext cx="731520" cy="731520"/>
          </a:xfrm>
          <a:prstGeom prst="ellipse">
            <a:avLst/>
          </a:prstGeom>
          <a:solidFill>
            <a:schemeClr val="accent3"/>
          </a:solidFill>
          <a:ln w="12700">
            <a:solidFill>
              <a:schemeClr val="accent3"/>
            </a:solidFill>
            <a:prstDash val="solid"/>
          </a:ln>
        </p:spPr>
      </p:sp>
      <p:pic>
        <p:nvPicPr>
          <p:cNvPr id="25" name="tip-ik-1-ikone" descr="preencoded.png">    </p:cNvPr>
          <p:cNvPicPr>
            <a:picLocks noChangeAspect="1"/>
          </p:cNvPicPr>
          <p:nvPr/>
        </p:nvPicPr>
        <p:blipFill>
          <a:blip r:embed="rId2"/>
          <a:stretch>
            <a:fillRect/>
          </a:stretch>
        </p:blipFill>
        <p:spPr>
          <a:xfrm>
            <a:off x="4747565" y="4061765"/>
            <a:ext cx="380390" cy="380390"/>
          </a:xfrm>
          <a:prstGeom prst="rect">
            <a:avLst/>
          </a:prstGeom>
        </p:spPr>
      </p:pic>
      <p:sp>
        <p:nvSpPr>
          <p:cNvPr id="26" name="tip-n-1"/>
          <p:cNvSpPr txBox="1"/>
          <p:nvPr/>
        </p:nvSpPr>
        <p:spPr>
          <a:xfrm>
            <a:off x="5486400" y="3959352"/>
            <a:ext cx="2148840" cy="548640"/>
          </a:xfrm>
          <a:prstGeom prst="rect">
            <a:avLst/>
          </a:prstGeom>
          <a:noFill/>
          <a:ln/>
        </p:spPr>
        <p:txBody>
          <a:bodyPr wrap="square" lIns="0" tIns="0" rIns="0" bIns="0" rtlCol="0" anchor="ctr"/>
          <a:lstStyle/>
          <a:p>
            <a:pPr indent="0" marL="0">
              <a:buNone/>
            </a:pPr>
            <a:r>
              <a:rPr lang="en-US" sz="1800" b="1" dirty="0">
                <a:solidFill>
                  <a:schemeClr val="tx2"/>
                </a:solidFill>
              </a:rPr>
              <a:t>Notifikasaun</a:t>
            </a:r>
            <a:endParaRPr lang="en-US" sz="1800" dirty="0"/>
          </a:p>
        </p:txBody>
      </p:sp>
      <p:sp>
        <p:nvSpPr>
          <p:cNvPr id="27" name="tip-d-1"/>
          <p:cNvSpPr txBox="1"/>
          <p:nvPr/>
        </p:nvSpPr>
        <p:spPr>
          <a:xfrm>
            <a:off x="4572000" y="4800600"/>
            <a:ext cx="2971800" cy="1097280"/>
          </a:xfrm>
          <a:prstGeom prst="rect">
            <a:avLst/>
          </a:prstGeom>
          <a:noFill/>
          <a:ln/>
        </p:spPr>
        <p:txBody>
          <a:bodyPr wrap="square" lIns="0" tIns="0" rIns="0" bIns="0" rtlCol="0" anchor="t"/>
          <a:lstStyle/>
          <a:p>
            <a:pPr indent="0" marL="0">
              <a:buNone/>
            </a:pPr>
            <a:r>
              <a:rPr lang="en-US" sz="1400" dirty="0">
                <a:solidFill>
                  <a:schemeClr val="tx1"/>
                </a:solidFill>
              </a:rPr>
              <a:t>Kampaiña: kazu foun, rejeitadu, aprova, prazu legál. Urjente mós ba email.</a:t>
            </a:r>
            <a:endParaRPr lang="en-US" sz="1400" dirty="0"/>
          </a:p>
        </p:txBody>
      </p:sp>
      <p:sp>
        <p:nvSpPr>
          <p:cNvPr id="28" name="tip-2"/>
          <p:cNvSpPr/>
          <p:nvPr/>
        </p:nvSpPr>
        <p:spPr>
          <a:xfrm>
            <a:off x="8046720" y="3611880"/>
            <a:ext cx="3520440" cy="2423160"/>
          </a:xfrm>
          <a:prstGeom prst="roundRect">
            <a:avLst>
              <a:gd name="adj" fmla="val 4528"/>
            </a:avLst>
          </a:prstGeom>
          <a:solidFill>
            <a:schemeClr val="bg2"/>
          </a:solidFill>
          <a:ln w="12700">
            <a:solidFill>
              <a:schemeClr val="bg2"/>
            </a:solidFill>
            <a:prstDash val="solid"/>
          </a:ln>
        </p:spPr>
      </p:sp>
      <p:sp>
        <p:nvSpPr>
          <p:cNvPr id="29" name="tip-ik-2-sirkulu"/>
          <p:cNvSpPr/>
          <p:nvPr/>
        </p:nvSpPr>
        <p:spPr>
          <a:xfrm>
            <a:off x="8321040" y="3886200"/>
            <a:ext cx="731520" cy="731520"/>
          </a:xfrm>
          <a:prstGeom prst="ellipse">
            <a:avLst/>
          </a:prstGeom>
          <a:solidFill>
            <a:schemeClr val="accent4"/>
          </a:solidFill>
          <a:ln w="12700">
            <a:solidFill>
              <a:schemeClr val="accent4"/>
            </a:solidFill>
            <a:prstDash val="solid"/>
          </a:ln>
        </p:spPr>
      </p:sp>
      <p:pic>
        <p:nvPicPr>
          <p:cNvPr id="30" name="tip-ik-2-ikone" descr="preencoded.png">    </p:cNvPr>
          <p:cNvPicPr>
            <a:picLocks noChangeAspect="1"/>
          </p:cNvPicPr>
          <p:nvPr/>
        </p:nvPicPr>
        <p:blipFill>
          <a:blip r:embed="rId3"/>
          <a:stretch>
            <a:fillRect/>
          </a:stretch>
        </p:blipFill>
        <p:spPr>
          <a:xfrm>
            <a:off x="8496605" y="4061765"/>
            <a:ext cx="380390" cy="380390"/>
          </a:xfrm>
          <a:prstGeom prst="rect">
            <a:avLst/>
          </a:prstGeom>
        </p:spPr>
      </p:pic>
      <p:sp>
        <p:nvSpPr>
          <p:cNvPr id="31" name="tip-n-2"/>
          <p:cNvSpPr txBox="1"/>
          <p:nvPr/>
        </p:nvSpPr>
        <p:spPr>
          <a:xfrm>
            <a:off x="9235440" y="3959352"/>
            <a:ext cx="2148840" cy="548640"/>
          </a:xfrm>
          <a:prstGeom prst="rect">
            <a:avLst/>
          </a:prstGeom>
          <a:noFill/>
          <a:ln/>
        </p:spPr>
        <p:txBody>
          <a:bodyPr wrap="square" lIns="0" tIns="0" rIns="0" bIns="0" rtlCol="0" anchor="ctr"/>
          <a:lstStyle/>
          <a:p>
            <a:pPr indent="0" marL="0">
              <a:buNone/>
            </a:pPr>
            <a:r>
              <a:rPr lang="en-US" sz="1800" b="1" dirty="0">
                <a:solidFill>
                  <a:schemeClr val="tx2"/>
                </a:solidFill>
              </a:rPr>
              <a:t>Seguransa login</a:t>
            </a:r>
            <a:endParaRPr lang="en-US" sz="1800" dirty="0"/>
          </a:p>
        </p:txBody>
      </p:sp>
      <p:sp>
        <p:nvSpPr>
          <p:cNvPr id="32" name="tip-d-2"/>
          <p:cNvSpPr txBox="1"/>
          <p:nvPr/>
        </p:nvSpPr>
        <p:spPr>
          <a:xfrm>
            <a:off x="8321040" y="4800600"/>
            <a:ext cx="2971800" cy="1097280"/>
          </a:xfrm>
          <a:prstGeom prst="rect">
            <a:avLst/>
          </a:prstGeom>
          <a:noFill/>
          <a:ln/>
        </p:spPr>
        <p:txBody>
          <a:bodyPr wrap="square" lIns="0" tIns="0" rIns="0" bIns="0" rtlCol="0" anchor="t"/>
          <a:lstStyle/>
          <a:p>
            <a:pPr indent="0" marL="0">
              <a:buNone/>
            </a:pPr>
            <a:r>
              <a:rPr lang="en-US" sz="1400" dirty="0">
                <a:solidFill>
                  <a:schemeClr val="tx1"/>
                </a:solidFill>
              </a:rPr>
              <a:t>Sala dala 5 = xave minutu 30. Sesaun remata oras 8. Klik Sai.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Kazu tama portal deit hafoin Admin verifika no Superadmin aprova</a:t>
            </a:r>
            <a:endParaRPr lang="en-US" sz="2600" dirty="0"/>
          </a:p>
        </p:txBody>
      </p:sp>
      <p:sp>
        <p:nvSpPr>
          <p:cNvPr id="3" name="st-0"/>
          <p:cNvSpPr/>
          <p:nvPr/>
        </p:nvSpPr>
        <p:spPr>
          <a:xfrm>
            <a:off x="548640" y="2148840"/>
            <a:ext cx="1810512" cy="1051560"/>
          </a:xfrm>
          <a:prstGeom prst="roundRect">
            <a:avLst>
              <a:gd name="adj" fmla="val 8696"/>
            </a:avLst>
          </a:prstGeom>
          <a:solidFill>
            <a:schemeClr val="bg1"/>
          </a:solidFill>
          <a:ln w="19050">
            <a:solidFill>
              <a:schemeClr val="accent1"/>
            </a:solidFill>
            <a:prstDash val="solid"/>
          </a:ln>
        </p:spPr>
      </p:sp>
      <p:sp>
        <p:nvSpPr>
          <p:cNvPr id="4" name="st-0-t"/>
          <p:cNvSpPr txBox="1"/>
          <p:nvPr/>
        </p:nvSpPr>
        <p:spPr>
          <a:xfrm>
            <a:off x="621792" y="2148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Rascunho</a:t>
            </a:r>
            <a:endParaRPr lang="en-US" sz="1400" dirty="0"/>
          </a:p>
          <a:p>
            <a:pPr algn="ctr" indent="0" marL="0">
              <a:buNone/>
            </a:pPr>
            <a:r>
              <a:rPr lang="en-US" sz="1100" dirty="0">
                <a:solidFill>
                  <a:schemeClr val="tx1"/>
                </a:solidFill>
              </a:rPr>
              <a:t>Iha Terrenu · Hein Sinál</a:t>
            </a:r>
            <a:endParaRPr lang="en-US" sz="1400" dirty="0"/>
          </a:p>
        </p:txBody>
      </p:sp>
      <p:sp>
        <p:nvSpPr>
          <p:cNvPr id="5" name="st-1"/>
          <p:cNvSpPr/>
          <p:nvPr/>
        </p:nvSpPr>
        <p:spPr>
          <a:xfrm>
            <a:off x="2862072" y="2148840"/>
            <a:ext cx="1810512" cy="1051560"/>
          </a:xfrm>
          <a:prstGeom prst="roundRect">
            <a:avLst>
              <a:gd name="adj" fmla="val 8696"/>
            </a:avLst>
          </a:prstGeom>
          <a:solidFill>
            <a:schemeClr val="bg1"/>
          </a:solidFill>
          <a:ln w="19050">
            <a:solidFill>
              <a:schemeClr val="accent1"/>
            </a:solidFill>
            <a:prstDash val="solid"/>
          </a:ln>
        </p:spPr>
      </p:sp>
      <p:sp>
        <p:nvSpPr>
          <p:cNvPr id="6" name="st-1-t"/>
          <p:cNvSpPr txBox="1"/>
          <p:nvPr/>
        </p:nvSpPr>
        <p:spPr>
          <a:xfrm>
            <a:off x="2935224" y="2148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Hein Verifikasaun</a:t>
            </a:r>
            <a:endParaRPr lang="en-US" sz="1400" dirty="0"/>
          </a:p>
          <a:p>
            <a:pPr algn="ctr" indent="0" marL="0">
              <a:buNone/>
            </a:pPr>
            <a:r>
              <a:rPr lang="en-US" sz="1100" dirty="0">
                <a:solidFill>
                  <a:schemeClr val="tx1"/>
                </a:solidFill>
              </a:rPr>
              <a:t>Kazu xave ba Investigadór</a:t>
            </a:r>
            <a:endParaRPr lang="en-US" sz="1400" dirty="0"/>
          </a:p>
        </p:txBody>
      </p:sp>
      <p:sp>
        <p:nvSpPr>
          <p:cNvPr id="7" name="st-2"/>
          <p:cNvSpPr/>
          <p:nvPr/>
        </p:nvSpPr>
        <p:spPr>
          <a:xfrm>
            <a:off x="5175504" y="2148840"/>
            <a:ext cx="1810512" cy="1051560"/>
          </a:xfrm>
          <a:prstGeom prst="roundRect">
            <a:avLst>
              <a:gd name="adj" fmla="val 8696"/>
            </a:avLst>
          </a:prstGeom>
          <a:solidFill>
            <a:schemeClr val="bg1"/>
          </a:solidFill>
          <a:ln w="19050">
            <a:solidFill>
              <a:schemeClr val="accent1"/>
            </a:solidFill>
            <a:prstDash val="solid"/>
          </a:ln>
        </p:spPr>
      </p:sp>
      <p:sp>
        <p:nvSpPr>
          <p:cNvPr id="8" name="st-2-t"/>
          <p:cNvSpPr txBox="1"/>
          <p:nvPr/>
        </p:nvSpPr>
        <p:spPr>
          <a:xfrm>
            <a:off x="5248656" y="2148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Verifikadu</a:t>
            </a:r>
            <a:endParaRPr lang="en-US" sz="1400" dirty="0"/>
          </a:p>
          <a:p>
            <a:pPr algn="ctr" indent="0" marL="0">
              <a:buNone/>
            </a:pPr>
            <a:r>
              <a:rPr lang="en-US" sz="1100" dirty="0">
                <a:solidFill>
                  <a:schemeClr val="tx1"/>
                </a:solidFill>
              </a:rPr>
              <a:t>Rejeita · Kansela xave</a:t>
            </a:r>
            <a:endParaRPr lang="en-US" sz="1400" dirty="0"/>
          </a:p>
        </p:txBody>
      </p:sp>
      <p:sp>
        <p:nvSpPr>
          <p:cNvPr id="9" name="st-3"/>
          <p:cNvSpPr/>
          <p:nvPr/>
        </p:nvSpPr>
        <p:spPr>
          <a:xfrm>
            <a:off x="7488936" y="2148840"/>
            <a:ext cx="1810512" cy="1051560"/>
          </a:xfrm>
          <a:prstGeom prst="roundRect">
            <a:avLst>
              <a:gd name="adj" fmla="val 8696"/>
            </a:avLst>
          </a:prstGeom>
          <a:solidFill>
            <a:schemeClr val="bg2"/>
          </a:solidFill>
          <a:ln w="31750">
            <a:solidFill>
              <a:schemeClr val="accent1"/>
            </a:solidFill>
            <a:prstDash val="solid"/>
          </a:ln>
        </p:spPr>
      </p:sp>
      <p:sp>
        <p:nvSpPr>
          <p:cNvPr id="10" name="st-3-t"/>
          <p:cNvSpPr txBox="1"/>
          <p:nvPr/>
        </p:nvSpPr>
        <p:spPr>
          <a:xfrm>
            <a:off x="7562088" y="2148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Aprovadu</a:t>
            </a:r>
            <a:endParaRPr lang="en-US" sz="1400" dirty="0"/>
          </a:p>
          <a:p>
            <a:pPr algn="ctr" indent="0" marL="0">
              <a:buNone/>
            </a:pPr>
            <a:r>
              <a:rPr lang="en-US" sz="1100" dirty="0">
                <a:solidFill>
                  <a:schemeClr val="tx1"/>
                </a:solidFill>
              </a:rPr>
              <a:t>Mosu iha dashboard no portal</a:t>
            </a:r>
            <a:endParaRPr lang="en-US" sz="1400" dirty="0"/>
          </a:p>
        </p:txBody>
      </p:sp>
      <p:sp>
        <p:nvSpPr>
          <p:cNvPr id="11" name="st-4"/>
          <p:cNvSpPr/>
          <p:nvPr/>
        </p:nvSpPr>
        <p:spPr>
          <a:xfrm>
            <a:off x="9802368" y="2148840"/>
            <a:ext cx="1810512" cy="1051560"/>
          </a:xfrm>
          <a:prstGeom prst="roundRect">
            <a:avLst>
              <a:gd name="adj" fmla="val 8696"/>
            </a:avLst>
          </a:prstGeom>
          <a:solidFill>
            <a:schemeClr val="bg1"/>
          </a:solidFill>
          <a:ln w="19050">
            <a:solidFill>
              <a:schemeClr val="accent1"/>
            </a:solidFill>
            <a:prstDash val="solid"/>
          </a:ln>
        </p:spPr>
      </p:sp>
      <p:sp>
        <p:nvSpPr>
          <p:cNvPr id="12" name="st-4-t"/>
          <p:cNvSpPr txBox="1"/>
          <p:nvPr/>
        </p:nvSpPr>
        <p:spPr>
          <a:xfrm>
            <a:off x="9875520" y="2148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Remata</a:t>
            </a:r>
            <a:endParaRPr lang="en-US" sz="1400" dirty="0"/>
          </a:p>
          <a:p>
            <a:pPr algn="ctr" indent="0" marL="0">
              <a:buNone/>
            </a:pPr>
            <a:r>
              <a:rPr lang="en-US" sz="1100" dirty="0">
                <a:solidFill>
                  <a:schemeClr val="tx1"/>
                </a:solidFill>
              </a:rPr>
              <a:t>Final</a:t>
            </a:r>
            <a:endParaRPr lang="en-US" sz="1400" dirty="0"/>
          </a:p>
        </p:txBody>
      </p:sp>
      <p:sp>
        <p:nvSpPr>
          <p:cNvPr id="13" name="st-a0"/>
          <p:cNvSpPr/>
          <p:nvPr/>
        </p:nvSpPr>
        <p:spPr>
          <a:xfrm>
            <a:off x="2359152" y="2674620"/>
            <a:ext cx="502920" cy="914"/>
          </a:xfrm>
          <a:prstGeom prst="line">
            <a:avLst/>
          </a:prstGeom>
          <a:noFill/>
          <a:ln w="22225">
            <a:solidFill>
              <a:schemeClr val="tx2"/>
            </a:solidFill>
            <a:prstDash val="solid"/>
            <a:tailEnd type="triangle"/>
          </a:ln>
        </p:spPr>
      </p:sp>
      <p:sp>
        <p:nvSpPr>
          <p:cNvPr id="14" name="st-l0"/>
          <p:cNvSpPr txBox="1"/>
          <p:nvPr/>
        </p:nvSpPr>
        <p:spPr>
          <a:xfrm>
            <a:off x="1810512" y="1490472"/>
            <a:ext cx="1600200" cy="566928"/>
          </a:xfrm>
          <a:prstGeom prst="rect">
            <a:avLst/>
          </a:prstGeom>
          <a:noFill/>
          <a:ln/>
        </p:spPr>
        <p:txBody>
          <a:bodyPr wrap="square" lIns="0" tIns="0" rIns="0" bIns="0" rtlCol="0" anchor="b"/>
          <a:lstStyle/>
          <a:p>
            <a:pPr algn="ctr" indent="0" marL="0">
              <a:buNone/>
            </a:pPr>
            <a:r>
              <a:rPr lang="en-US" sz="1250" b="1" dirty="0">
                <a:solidFill>
                  <a:schemeClr val="accent1"/>
                </a:solidFill>
              </a:rPr>
              <a:t>Haruka</a:t>
            </a:r>
            <a:endParaRPr lang="en-US" sz="1400" dirty="0"/>
          </a:p>
          <a:p>
            <a:pPr algn="ctr" indent="0" marL="0">
              <a:buNone/>
            </a:pPr>
            <a:r>
              <a:rPr lang="en-US" sz="1050" dirty="0">
                <a:solidFill>
                  <a:srgbClr val="5E6B66"/>
                </a:solidFill>
              </a:rPr>
              <a:t>Investigadór</a:t>
            </a:r>
            <a:endParaRPr lang="en-US" sz="1400" dirty="0"/>
          </a:p>
        </p:txBody>
      </p:sp>
      <p:sp>
        <p:nvSpPr>
          <p:cNvPr id="15" name="st-a1"/>
          <p:cNvSpPr/>
          <p:nvPr/>
        </p:nvSpPr>
        <p:spPr>
          <a:xfrm>
            <a:off x="4672584" y="2674620"/>
            <a:ext cx="502920" cy="914"/>
          </a:xfrm>
          <a:prstGeom prst="line">
            <a:avLst/>
          </a:prstGeom>
          <a:noFill/>
          <a:ln w="22225">
            <a:solidFill>
              <a:schemeClr val="tx2"/>
            </a:solidFill>
            <a:prstDash val="solid"/>
            <a:tailEnd type="triangle"/>
          </a:ln>
        </p:spPr>
      </p:sp>
      <p:sp>
        <p:nvSpPr>
          <p:cNvPr id="16" name="st-l1"/>
          <p:cNvSpPr txBox="1"/>
          <p:nvPr/>
        </p:nvSpPr>
        <p:spPr>
          <a:xfrm>
            <a:off x="4123944" y="1490472"/>
            <a:ext cx="1600200" cy="566928"/>
          </a:xfrm>
          <a:prstGeom prst="rect">
            <a:avLst/>
          </a:prstGeom>
          <a:noFill/>
          <a:ln/>
        </p:spPr>
        <p:txBody>
          <a:bodyPr wrap="square" lIns="0" tIns="0" rIns="0" bIns="0" rtlCol="0" anchor="b"/>
          <a:lstStyle/>
          <a:p>
            <a:pPr algn="ctr" indent="0" marL="0">
              <a:buNone/>
            </a:pPr>
            <a:r>
              <a:rPr lang="en-US" sz="1250" b="1" dirty="0">
                <a:solidFill>
                  <a:schemeClr val="accent1"/>
                </a:solidFill>
              </a:rPr>
              <a:t>Verifika</a:t>
            </a:r>
            <a:endParaRPr lang="en-US" sz="1400" dirty="0"/>
          </a:p>
          <a:p>
            <a:pPr algn="ctr" indent="0" marL="0">
              <a:buNone/>
            </a:pPr>
            <a:r>
              <a:rPr lang="en-US" sz="1050" dirty="0">
                <a:solidFill>
                  <a:srgbClr val="5E6B66"/>
                </a:solidFill>
              </a:rPr>
              <a:t>Admin</a:t>
            </a:r>
            <a:endParaRPr lang="en-US" sz="1400" dirty="0"/>
          </a:p>
        </p:txBody>
      </p:sp>
      <p:sp>
        <p:nvSpPr>
          <p:cNvPr id="17" name="st-a2"/>
          <p:cNvSpPr/>
          <p:nvPr/>
        </p:nvSpPr>
        <p:spPr>
          <a:xfrm>
            <a:off x="6986016" y="2674620"/>
            <a:ext cx="502920" cy="914"/>
          </a:xfrm>
          <a:prstGeom prst="line">
            <a:avLst/>
          </a:prstGeom>
          <a:noFill/>
          <a:ln w="22225">
            <a:solidFill>
              <a:schemeClr val="tx2"/>
            </a:solidFill>
            <a:prstDash val="solid"/>
            <a:tailEnd type="triangle"/>
          </a:ln>
        </p:spPr>
      </p:sp>
      <p:sp>
        <p:nvSpPr>
          <p:cNvPr id="18" name="st-l2"/>
          <p:cNvSpPr txBox="1"/>
          <p:nvPr/>
        </p:nvSpPr>
        <p:spPr>
          <a:xfrm>
            <a:off x="6437376" y="1490472"/>
            <a:ext cx="1600200" cy="566928"/>
          </a:xfrm>
          <a:prstGeom prst="rect">
            <a:avLst/>
          </a:prstGeom>
          <a:noFill/>
          <a:ln/>
        </p:spPr>
        <p:txBody>
          <a:bodyPr wrap="square" lIns="0" tIns="0" rIns="0" bIns="0" rtlCol="0" anchor="b"/>
          <a:lstStyle/>
          <a:p>
            <a:pPr algn="ctr" indent="0" marL="0">
              <a:buNone/>
            </a:pPr>
            <a:r>
              <a:rPr lang="en-US" sz="1250" b="1" dirty="0">
                <a:solidFill>
                  <a:schemeClr val="accent1"/>
                </a:solidFill>
              </a:rPr>
              <a:t>Aprova</a:t>
            </a:r>
            <a:endParaRPr lang="en-US" sz="1400" dirty="0"/>
          </a:p>
          <a:p>
            <a:pPr algn="ctr" indent="0" marL="0">
              <a:buNone/>
            </a:pPr>
            <a:r>
              <a:rPr lang="en-US" sz="1050" dirty="0">
                <a:solidFill>
                  <a:srgbClr val="5E6B66"/>
                </a:solidFill>
              </a:rPr>
              <a:t>Superadmin</a:t>
            </a:r>
            <a:endParaRPr lang="en-US" sz="1400" dirty="0"/>
          </a:p>
        </p:txBody>
      </p:sp>
      <p:sp>
        <p:nvSpPr>
          <p:cNvPr id="19" name="st-a3"/>
          <p:cNvSpPr/>
          <p:nvPr/>
        </p:nvSpPr>
        <p:spPr>
          <a:xfrm>
            <a:off x="9299448" y="2674620"/>
            <a:ext cx="502920" cy="914"/>
          </a:xfrm>
          <a:prstGeom prst="line">
            <a:avLst/>
          </a:prstGeom>
          <a:noFill/>
          <a:ln w="22225">
            <a:solidFill>
              <a:schemeClr val="tx2"/>
            </a:solidFill>
            <a:prstDash val="solid"/>
            <a:tailEnd type="triangle"/>
          </a:ln>
        </p:spPr>
      </p:sp>
      <p:sp>
        <p:nvSpPr>
          <p:cNvPr id="20" name="st-l3"/>
          <p:cNvSpPr txBox="1"/>
          <p:nvPr/>
        </p:nvSpPr>
        <p:spPr>
          <a:xfrm>
            <a:off x="8750808" y="1490472"/>
            <a:ext cx="1600200" cy="566928"/>
          </a:xfrm>
          <a:prstGeom prst="rect">
            <a:avLst/>
          </a:prstGeom>
          <a:noFill/>
          <a:ln/>
        </p:spPr>
        <p:txBody>
          <a:bodyPr wrap="square" lIns="0" tIns="0" rIns="0" bIns="0" rtlCol="0" anchor="b"/>
          <a:lstStyle/>
          <a:p>
            <a:pPr algn="ctr" indent="0" marL="0">
              <a:buNone/>
            </a:pPr>
            <a:r>
              <a:rPr lang="en-US" sz="1250" b="1" dirty="0">
                <a:solidFill>
                  <a:schemeClr val="accent1"/>
                </a:solidFill>
              </a:rPr>
              <a:t>Remata</a:t>
            </a:r>
            <a:endParaRPr lang="en-US" sz="1400" dirty="0"/>
          </a:p>
          <a:p>
            <a:pPr algn="ctr" indent="0" marL="0">
              <a:buNone/>
            </a:pPr>
            <a:r>
              <a:rPr lang="en-US" sz="1050" dirty="0">
                <a:solidFill>
                  <a:srgbClr val="5E6B66"/>
                </a:solidFill>
              </a:rPr>
              <a:t>Admin · Superadmin</a:t>
            </a:r>
            <a:endParaRPr lang="en-US" sz="1400" dirty="0"/>
          </a:p>
        </p:txBody>
      </p:sp>
      <p:sp>
        <p:nvSpPr>
          <p:cNvPr id="21" name="st-rej"/>
          <p:cNvSpPr/>
          <p:nvPr/>
        </p:nvSpPr>
        <p:spPr>
          <a:xfrm>
            <a:off x="2862072" y="4434840"/>
            <a:ext cx="1810512" cy="1051560"/>
          </a:xfrm>
          <a:prstGeom prst="roundRect">
            <a:avLst>
              <a:gd name="adj" fmla="val 8696"/>
            </a:avLst>
          </a:prstGeom>
          <a:solidFill>
            <a:schemeClr val="bg1"/>
          </a:solidFill>
          <a:ln w="31750">
            <a:solidFill>
              <a:schemeClr val="accent6"/>
            </a:solidFill>
            <a:prstDash val="solid"/>
          </a:ln>
        </p:spPr>
      </p:sp>
      <p:sp>
        <p:nvSpPr>
          <p:cNvPr id="22" name="st-rej-t"/>
          <p:cNvSpPr txBox="1"/>
          <p:nvPr/>
        </p:nvSpPr>
        <p:spPr>
          <a:xfrm>
            <a:off x="2935224" y="4434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Rejeitadu</a:t>
            </a:r>
            <a:endParaRPr lang="en-US" sz="1400" dirty="0"/>
          </a:p>
          <a:p>
            <a:pPr algn="ctr" indent="0" marL="0">
              <a:buNone/>
            </a:pPr>
            <a:r>
              <a:rPr lang="en-US" sz="1100" dirty="0">
                <a:solidFill>
                  <a:schemeClr val="tx1"/>
                </a:solidFill>
              </a:rPr>
              <a:t>Verifika xave to'o haruka fali</a:t>
            </a:r>
            <a:endParaRPr lang="en-US" sz="1400" dirty="0"/>
          </a:p>
        </p:txBody>
      </p:sp>
      <p:sp>
        <p:nvSpPr>
          <p:cNvPr id="23" name="st-kan"/>
          <p:cNvSpPr/>
          <p:nvPr/>
        </p:nvSpPr>
        <p:spPr>
          <a:xfrm>
            <a:off x="7488936" y="4434840"/>
            <a:ext cx="1810512" cy="1051560"/>
          </a:xfrm>
          <a:prstGeom prst="roundRect">
            <a:avLst>
              <a:gd name="adj" fmla="val 8696"/>
            </a:avLst>
          </a:prstGeom>
          <a:solidFill>
            <a:schemeClr val="bg1"/>
          </a:solidFill>
          <a:ln w="31750">
            <a:solidFill>
              <a:schemeClr val="accent4"/>
            </a:solidFill>
            <a:prstDash val="solid"/>
          </a:ln>
        </p:spPr>
      </p:sp>
      <p:sp>
        <p:nvSpPr>
          <p:cNvPr id="24" name="st-kan-t"/>
          <p:cNvSpPr txBox="1"/>
          <p:nvPr/>
        </p:nvSpPr>
        <p:spPr>
          <a:xfrm>
            <a:off x="7562088" y="4434840"/>
            <a:ext cx="1664208" cy="1051560"/>
          </a:xfrm>
          <a:prstGeom prst="rect">
            <a:avLst/>
          </a:prstGeom>
          <a:noFill/>
          <a:ln/>
        </p:spPr>
        <p:txBody>
          <a:bodyPr wrap="square" lIns="0" tIns="0" rIns="0" bIns="0" rtlCol="0" anchor="ctr"/>
          <a:lstStyle/>
          <a:p>
            <a:pPr algn="ctr" indent="0" marL="0">
              <a:buNone/>
            </a:pPr>
            <a:r>
              <a:rPr lang="en-US" sz="1400" b="1" dirty="0">
                <a:solidFill>
                  <a:schemeClr val="tx2"/>
                </a:solidFill>
              </a:rPr>
              <a:t>Kanseladu</a:t>
            </a:r>
            <a:endParaRPr lang="en-US" sz="1400" dirty="0"/>
          </a:p>
          <a:p>
            <a:pPr algn="ctr" indent="0" marL="0">
              <a:buNone/>
            </a:pPr>
            <a:r>
              <a:rPr lang="en-US" sz="1100" dirty="0">
                <a:solidFill>
                  <a:schemeClr val="tx1"/>
                </a:solidFill>
              </a:rPr>
              <a:t>Final: butaun hotu xave</a:t>
            </a:r>
            <a:endParaRPr lang="en-US" sz="1400" dirty="0"/>
          </a:p>
        </p:txBody>
      </p:sp>
      <p:sp>
        <p:nvSpPr>
          <p:cNvPr id="25" name="st-rej-a"/>
          <p:cNvSpPr/>
          <p:nvPr/>
        </p:nvSpPr>
        <p:spPr>
          <a:xfrm>
            <a:off x="3410712" y="3200400"/>
            <a:ext cx="914" cy="1234440"/>
          </a:xfrm>
          <a:prstGeom prst="line">
            <a:avLst/>
          </a:prstGeom>
          <a:noFill/>
          <a:ln w="22225">
            <a:solidFill>
              <a:schemeClr val="accent6"/>
            </a:solidFill>
            <a:prstDash val="solid"/>
            <a:tailEnd type="triangle"/>
          </a:ln>
        </p:spPr>
      </p:sp>
      <p:sp>
        <p:nvSpPr>
          <p:cNvPr id="26" name="st-fali-a"/>
          <p:cNvSpPr/>
          <p:nvPr/>
        </p:nvSpPr>
        <p:spPr>
          <a:xfrm flipV="1">
            <a:off x="4123944" y="3200400"/>
            <a:ext cx="914" cy="1234440"/>
          </a:xfrm>
          <a:prstGeom prst="line">
            <a:avLst/>
          </a:prstGeom>
          <a:noFill/>
          <a:ln w="22225">
            <a:solidFill>
              <a:schemeClr val="accent1"/>
            </a:solidFill>
            <a:prstDash val="solid"/>
            <a:tailEnd type="triangle"/>
          </a:ln>
        </p:spPr>
      </p:sp>
      <p:sp>
        <p:nvSpPr>
          <p:cNvPr id="27" name="st-rej-l"/>
          <p:cNvSpPr txBox="1"/>
          <p:nvPr/>
        </p:nvSpPr>
        <p:spPr>
          <a:xfrm>
            <a:off x="1627632" y="3611880"/>
            <a:ext cx="1719072" cy="320040"/>
          </a:xfrm>
          <a:prstGeom prst="rect">
            <a:avLst/>
          </a:prstGeom>
          <a:noFill/>
          <a:ln/>
        </p:spPr>
        <p:txBody>
          <a:bodyPr wrap="square" lIns="0" tIns="0" rIns="0" bIns="0" rtlCol="0" anchor="t"/>
          <a:lstStyle/>
          <a:p>
            <a:pPr algn="r" indent="0" marL="0">
              <a:buNone/>
            </a:pPr>
            <a:r>
              <a:rPr lang="en-US" sz="1150" dirty="0">
                <a:solidFill>
                  <a:schemeClr val="tx1"/>
                </a:solidFill>
              </a:rPr>
              <a:t>Rejeita (razaun)</a:t>
            </a:r>
            <a:endParaRPr lang="en-US" sz="1150" dirty="0"/>
          </a:p>
        </p:txBody>
      </p:sp>
      <p:sp>
        <p:nvSpPr>
          <p:cNvPr id="28" name="st-fali-l"/>
          <p:cNvSpPr txBox="1"/>
          <p:nvPr/>
        </p:nvSpPr>
        <p:spPr>
          <a:xfrm>
            <a:off x="4215384" y="3611880"/>
            <a:ext cx="1737360" cy="320040"/>
          </a:xfrm>
          <a:prstGeom prst="rect">
            <a:avLst/>
          </a:prstGeom>
          <a:noFill/>
          <a:ln/>
        </p:spPr>
        <p:txBody>
          <a:bodyPr wrap="square" lIns="0" tIns="0" rIns="0" bIns="0" rtlCol="0" anchor="t"/>
          <a:lstStyle/>
          <a:p>
            <a:pPr indent="0" marL="0">
              <a:buNone/>
            </a:pPr>
            <a:r>
              <a:rPr lang="en-US" sz="1150" dirty="0">
                <a:solidFill>
                  <a:schemeClr val="tx1"/>
                </a:solidFill>
              </a:rPr>
              <a:t>Hadia, haruka fali</a:t>
            </a:r>
            <a:endParaRPr lang="en-US" sz="1150" dirty="0"/>
          </a:p>
        </p:txBody>
      </p:sp>
      <p:sp>
        <p:nvSpPr>
          <p:cNvPr id="29" name="st-kan-a1"/>
          <p:cNvSpPr/>
          <p:nvPr/>
        </p:nvSpPr>
        <p:spPr>
          <a:xfrm>
            <a:off x="4672584" y="4960620"/>
            <a:ext cx="2816352" cy="914"/>
          </a:xfrm>
          <a:prstGeom prst="line">
            <a:avLst/>
          </a:prstGeom>
          <a:noFill/>
          <a:ln w="22225">
            <a:solidFill>
              <a:schemeClr val="accent4"/>
            </a:solidFill>
            <a:prstDash val="solid"/>
            <a:tailEnd type="triangle"/>
          </a:ln>
        </p:spPr>
      </p:sp>
      <p:sp>
        <p:nvSpPr>
          <p:cNvPr id="30" name="st-kan-l"/>
          <p:cNvSpPr txBox="1"/>
          <p:nvPr/>
        </p:nvSpPr>
        <p:spPr>
          <a:xfrm>
            <a:off x="5175504" y="5006340"/>
            <a:ext cx="1810512" cy="320040"/>
          </a:xfrm>
          <a:prstGeom prst="rect">
            <a:avLst/>
          </a:prstGeom>
          <a:noFill/>
          <a:ln/>
        </p:spPr>
        <p:txBody>
          <a:bodyPr wrap="square" lIns="0" tIns="0" rIns="0" bIns="0" rtlCol="0" anchor="t"/>
          <a:lstStyle/>
          <a:p>
            <a:pPr algn="ctr" indent="0" marL="0">
              <a:buNone/>
            </a:pPr>
            <a:r>
              <a:rPr lang="en-US" sz="1150" dirty="0">
                <a:solidFill>
                  <a:schemeClr val="tx1"/>
                </a:solidFill>
              </a:rPr>
              <a:t>Kansela (razaun)</a:t>
            </a:r>
            <a:endParaRPr lang="en-US" sz="1150" dirty="0"/>
          </a:p>
        </p:txBody>
      </p:sp>
      <p:sp>
        <p:nvSpPr>
          <p:cNvPr id="31" name="st-kan-a2"/>
          <p:cNvSpPr/>
          <p:nvPr/>
        </p:nvSpPr>
        <p:spPr>
          <a:xfrm>
            <a:off x="4581144" y="3200400"/>
            <a:ext cx="3227832" cy="1234440"/>
          </a:xfrm>
          <a:prstGeom prst="line">
            <a:avLst/>
          </a:prstGeom>
          <a:noFill/>
          <a:ln w="22225">
            <a:solidFill>
              <a:schemeClr val="accent4"/>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Butaun xave protese fluxu — la'ós erru</a:t>
            </a:r>
            <a:endParaRPr lang="en-US" sz="2600" dirty="0"/>
          </a:p>
        </p:txBody>
      </p:sp>
      <p:graphicFrame>
        <p:nvGraphicFramePr>
          <p:cNvPr id="10" name="regra"/>
          <p:cNvGraphicFramePr>
            <a:graphicFrameLocks noGrp="1"/>
          </p:cNvGraphicFramePr>
          <p:nvPr>
            <p:extLst>
              <p:ext uri="{D42A27DB-BD31-4B8C-83A1-F6EECF244321}">
                <p14:modId xmlns:p14="http://schemas.microsoft.com/office/powerpoint/2010/main" val="1579011935"/>
              </p:ext>
            </p:extLst>
          </p:nvPr>
        </p:nvGraphicFramePr>
        <p:xfrm>
          <a:off x="548640" y="1325880"/>
          <a:ext cx="7498080" cy="914400"/>
        </p:xfrm>
        <a:graphic>
          <a:graphicData uri="http://schemas.openxmlformats.org/drawingml/2006/table">
            <a:tbl>
              <a:tblPr/>
              <a:tblGrid>
                <a:gridCol w="2240280"/>
                <a:gridCol w="1051560"/>
                <a:gridCol w="1051560"/>
                <a:gridCol w="1051560"/>
                <a:gridCol w="1051560"/>
                <a:gridCol w="1051560"/>
              </a:tblGrid>
              <a:tr h="566928">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Status kazu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Verifika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Aprova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Rejeita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Kansela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Remata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Hein Verifikasaun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Verifikadu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Rejeitadu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Aprovadu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Kanseladu · Remata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algn="ctr" indent="0" marL="0">
                        <a:buNone/>
                      </a:pPr>
                      <a:r>
                        <a:rPr lang="en-US" sz="1400" dirty="0">
                          <a:solidFill>
                            <a:srgbClr val="5E6B66"/>
                          </a:solidFill>
                          <a:latin typeface="Calibri" pitchFamily="34" charset="0"/>
                          <a:ea typeface="Calibri" pitchFamily="34" charset="-122"/>
                          <a:cs typeface="Calibri" pitchFamily="34" charset="-120"/>
                        </a:rPr>
                        <a:t>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bl>
          </a:graphicData>
        </a:graphic>
      </p:graphicFrame>
      <p:sp>
        <p:nvSpPr>
          <p:cNvPr id="4" name="nota-ik-0-sirkulu"/>
          <p:cNvSpPr/>
          <p:nvPr/>
        </p:nvSpPr>
        <p:spPr>
          <a:xfrm>
            <a:off x="8366760" y="1325880"/>
            <a:ext cx="685800" cy="685800"/>
          </a:xfrm>
          <a:prstGeom prst="ellipse">
            <a:avLst/>
          </a:prstGeom>
          <a:solidFill>
            <a:schemeClr val="tx2"/>
          </a:solidFill>
          <a:ln w="12700">
            <a:solidFill>
              <a:schemeClr val="tx2"/>
            </a:solidFill>
            <a:prstDash val="solid"/>
          </a:ln>
        </p:spPr>
      </p:sp>
      <p:pic>
        <p:nvPicPr>
          <p:cNvPr id="5" name="nota-ik-0-ikone" descr="preencoded.png">    </p:cNvPr>
          <p:cNvPicPr>
            <a:picLocks noChangeAspect="1"/>
          </p:cNvPicPr>
          <p:nvPr/>
        </p:nvPicPr>
        <p:blipFill>
          <a:blip r:embed="rId1"/>
          <a:stretch>
            <a:fillRect/>
          </a:stretch>
        </p:blipFill>
        <p:spPr>
          <a:xfrm>
            <a:off x="8531352" y="1490472"/>
            <a:ext cx="356616" cy="356616"/>
          </a:xfrm>
          <a:prstGeom prst="rect">
            <a:avLst/>
          </a:prstGeom>
        </p:spPr>
      </p:pic>
      <p:sp>
        <p:nvSpPr>
          <p:cNvPr id="6" name="nota-t-0"/>
          <p:cNvSpPr txBox="1"/>
          <p:nvPr/>
        </p:nvSpPr>
        <p:spPr>
          <a:xfrm>
            <a:off x="9235440" y="1280160"/>
            <a:ext cx="2450592" cy="1417320"/>
          </a:xfrm>
          <a:prstGeom prst="rect">
            <a:avLst/>
          </a:prstGeom>
          <a:noFill/>
          <a:ln/>
        </p:spPr>
        <p:txBody>
          <a:bodyPr wrap="square" lIns="0" tIns="0" rIns="0" bIns="0" rtlCol="0" anchor="t"/>
          <a:lstStyle/>
          <a:p>
            <a:pPr indent="0" marL="0">
              <a:buNone/>
            </a:pPr>
            <a:r>
              <a:rPr lang="en-US" sz="1500" b="1" dirty="0">
                <a:solidFill>
                  <a:schemeClr val="tx2"/>
                </a:solidFill>
              </a:rPr>
              <a:t>Butaun xave</a:t>
            </a:r>
            <a:endParaRPr lang="en-US" sz="1400" dirty="0"/>
          </a:p>
          <a:p>
            <a:pPr indent="0" marL="0">
              <a:buNone/>
            </a:pPr>
            <a:r>
              <a:rPr lang="en-US" sz="1250" dirty="0">
                <a:solidFill>
                  <a:schemeClr val="tx1"/>
                </a:solidFill>
              </a:rPr>
              <a:t>Mosu ho ikone xave no razaun iha okos (ex. "Hein Admin verifika uluk").</a:t>
            </a:r>
            <a:endParaRPr lang="en-US" sz="1400" dirty="0"/>
          </a:p>
        </p:txBody>
      </p:sp>
      <p:sp>
        <p:nvSpPr>
          <p:cNvPr id="7" name="nota-ik-1-sirkulu"/>
          <p:cNvSpPr/>
          <p:nvPr/>
        </p:nvSpPr>
        <p:spPr>
          <a:xfrm>
            <a:off x="8366760" y="2926080"/>
            <a:ext cx="685800" cy="685800"/>
          </a:xfrm>
          <a:prstGeom prst="ellipse">
            <a:avLst/>
          </a:prstGeom>
          <a:solidFill>
            <a:schemeClr val="accent5"/>
          </a:solidFill>
          <a:ln w="12700">
            <a:solidFill>
              <a:schemeClr val="accent5"/>
            </a:solidFill>
            <a:prstDash val="solid"/>
          </a:ln>
        </p:spPr>
      </p:sp>
      <p:pic>
        <p:nvPicPr>
          <p:cNvPr id="8" name="nota-ik-1-ikone" descr="preencoded.png">    </p:cNvPr>
          <p:cNvPicPr>
            <a:picLocks noChangeAspect="1"/>
          </p:cNvPicPr>
          <p:nvPr/>
        </p:nvPicPr>
        <p:blipFill>
          <a:blip r:embed="rId2"/>
          <a:stretch>
            <a:fillRect/>
          </a:stretch>
        </p:blipFill>
        <p:spPr>
          <a:xfrm>
            <a:off x="8531352" y="3090672"/>
            <a:ext cx="356616" cy="356616"/>
          </a:xfrm>
          <a:prstGeom prst="rect">
            <a:avLst/>
          </a:prstGeom>
        </p:spPr>
      </p:pic>
      <p:sp>
        <p:nvSpPr>
          <p:cNvPr id="9" name="nota-t-1"/>
          <p:cNvSpPr txBox="1"/>
          <p:nvPr/>
        </p:nvSpPr>
        <p:spPr>
          <a:xfrm>
            <a:off x="9235440" y="2880360"/>
            <a:ext cx="2450592" cy="1417320"/>
          </a:xfrm>
          <a:prstGeom prst="rect">
            <a:avLst/>
          </a:prstGeom>
          <a:noFill/>
          <a:ln/>
        </p:spPr>
        <p:txBody>
          <a:bodyPr wrap="square" lIns="0" tIns="0" rIns="0" bIns="0" rtlCol="0" anchor="t"/>
          <a:lstStyle/>
          <a:p>
            <a:pPr indent="0" marL="0">
              <a:buNone/>
            </a:pPr>
            <a:r>
              <a:rPr lang="en-US" sz="1500" b="1" dirty="0">
                <a:solidFill>
                  <a:schemeClr val="tx2"/>
                </a:solidFill>
              </a:rPr>
              <a:t>Modal konfirmasaun</a:t>
            </a:r>
            <a:endParaRPr lang="en-US" sz="1400" dirty="0"/>
          </a:p>
          <a:p>
            <a:pPr indent="0" marL="0">
              <a:buNone/>
            </a:pPr>
            <a:r>
              <a:rPr lang="en-US" sz="1250" dirty="0">
                <a:solidFill>
                  <a:schemeClr val="tx1"/>
                </a:solidFill>
              </a:rPr>
              <a:t>Kada asaun loke modal; Rejeita no Kansela obriga razaun (min. 5).</a:t>
            </a:r>
            <a:endParaRPr lang="en-US" sz="1400" dirty="0"/>
          </a:p>
        </p:txBody>
      </p:sp>
      <p:sp>
        <p:nvSpPr>
          <p:cNvPr id="10" name="nota-ik-2-sirkulu"/>
          <p:cNvSpPr/>
          <p:nvPr/>
        </p:nvSpPr>
        <p:spPr>
          <a:xfrm>
            <a:off x="8366760" y="4526280"/>
            <a:ext cx="685800" cy="685800"/>
          </a:xfrm>
          <a:prstGeom prst="ellipse">
            <a:avLst/>
          </a:prstGeom>
          <a:solidFill>
            <a:schemeClr val="accent3"/>
          </a:solidFill>
          <a:ln w="12700">
            <a:solidFill>
              <a:schemeClr val="accent3"/>
            </a:solidFill>
            <a:prstDash val="solid"/>
          </a:ln>
        </p:spPr>
      </p:sp>
      <p:pic>
        <p:nvPicPr>
          <p:cNvPr id="11" name="nota-ik-2-ikone" descr="preencoded.png">    </p:cNvPr>
          <p:cNvPicPr>
            <a:picLocks noChangeAspect="1"/>
          </p:cNvPicPr>
          <p:nvPr/>
        </p:nvPicPr>
        <p:blipFill>
          <a:blip r:embed="rId3"/>
          <a:stretch>
            <a:fillRect/>
          </a:stretch>
        </p:blipFill>
        <p:spPr>
          <a:xfrm>
            <a:off x="8531352" y="4690872"/>
            <a:ext cx="356616" cy="356616"/>
          </a:xfrm>
          <a:prstGeom prst="rect">
            <a:avLst/>
          </a:prstGeom>
        </p:spPr>
      </p:pic>
      <p:sp>
        <p:nvSpPr>
          <p:cNvPr id="12" name="nota-t-2"/>
          <p:cNvSpPr txBox="1"/>
          <p:nvPr/>
        </p:nvSpPr>
        <p:spPr>
          <a:xfrm>
            <a:off x="9235440" y="4480560"/>
            <a:ext cx="2450592" cy="1417320"/>
          </a:xfrm>
          <a:prstGeom prst="rect">
            <a:avLst/>
          </a:prstGeom>
          <a:noFill/>
          <a:ln/>
        </p:spPr>
        <p:txBody>
          <a:bodyPr wrap="square" lIns="0" tIns="0" rIns="0" bIns="0" rtlCol="0" anchor="t"/>
          <a:lstStyle/>
          <a:p>
            <a:pPr indent="0" marL="0">
              <a:buNone/>
            </a:pPr>
            <a:r>
              <a:rPr lang="en-US" sz="1500" b="1" dirty="0">
                <a:solidFill>
                  <a:schemeClr val="tx2"/>
                </a:solidFill>
              </a:rPr>
              <a:t>Istória</a:t>
            </a:r>
            <a:endParaRPr lang="en-US" sz="1400" dirty="0"/>
          </a:p>
          <a:p>
            <a:pPr indent="0" marL="0">
              <a:buNone/>
            </a:pPr>
            <a:r>
              <a:rPr lang="en-US" sz="1250" dirty="0">
                <a:solidFill>
                  <a:schemeClr val="tx1"/>
                </a:solidFill>
              </a:rPr>
              <a:t>Kada mudansa rai: se, bainhira, razaun.</a:t>
            </a:r>
            <a:endParaRPr lang="en-US" sz="1400" dirty="0"/>
          </a:p>
        </p:txBody>
      </p:sp>
      <p:sp>
        <p:nvSpPr>
          <p:cNvPr id="13" name="regra-nota"/>
          <p:cNvSpPr txBox="1"/>
          <p:nvPr/>
        </p:nvSpPr>
        <p:spPr>
          <a:xfrm>
            <a:off x="548640" y="4983480"/>
            <a:ext cx="7498080" cy="822960"/>
          </a:xfrm>
          <a:prstGeom prst="rect">
            <a:avLst/>
          </a:prstGeom>
          <a:noFill/>
          <a:ln/>
        </p:spPr>
        <p:txBody>
          <a:bodyPr wrap="square" lIns="0" tIns="0" rIns="0" bIns="0" rtlCol="0" anchor="t"/>
          <a:lstStyle/>
          <a:p>
            <a:pPr indent="0" marL="0">
              <a:buNone/>
            </a:pPr>
            <a:r>
              <a:rPr lang="en-US" sz="1500" i="1" dirty="0">
                <a:solidFill>
                  <a:schemeClr val="tx2"/>
                </a:solidFill>
              </a:rPr>
              <a:t>Regra prinsipál: Rejeita no Kansela permite deit molok verifika. Hafoin verifika, dalan ida deit: Aprova.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Investigadór: rejista kazu iha pasu 6</a:t>
            </a:r>
            <a:endParaRPr lang="en-US" sz="2600" dirty="0"/>
          </a:p>
        </p:txBody>
      </p:sp>
      <p:sp>
        <p:nvSpPr>
          <p:cNvPr id="3" name="p6-0"/>
          <p:cNvSpPr/>
          <p:nvPr/>
        </p:nvSpPr>
        <p:spPr>
          <a:xfrm>
            <a:off x="548640" y="1325880"/>
            <a:ext cx="3520440" cy="1371600"/>
          </a:xfrm>
          <a:prstGeom prst="roundRect">
            <a:avLst>
              <a:gd name="adj" fmla="val 8000"/>
            </a:avLst>
          </a:prstGeom>
          <a:solidFill>
            <a:schemeClr val="bg2"/>
          </a:solidFill>
          <a:ln w="12700">
            <a:solidFill>
              <a:schemeClr val="bg2"/>
            </a:solidFill>
            <a:prstDash val="solid"/>
          </a:ln>
        </p:spPr>
      </p:sp>
      <p:sp>
        <p:nvSpPr>
          <p:cNvPr id="4" name="p6-n-0"/>
          <p:cNvSpPr/>
          <p:nvPr/>
        </p:nvSpPr>
        <p:spPr>
          <a:xfrm>
            <a:off x="777240" y="1627632"/>
            <a:ext cx="731520" cy="731520"/>
          </a:xfrm>
          <a:prstGeom prst="ellipse">
            <a:avLst/>
          </a:prstGeom>
          <a:solidFill>
            <a:schemeClr val="accent1"/>
          </a:solidFill>
          <a:ln w="12700">
            <a:solidFill>
              <a:schemeClr val="accent1"/>
            </a:solidFill>
            <a:prstDash val="solid"/>
          </a:ln>
        </p:spPr>
      </p:sp>
      <p:sp>
        <p:nvSpPr>
          <p:cNvPr id="5" name="p6-n-0-n"/>
          <p:cNvSpPr txBox="1"/>
          <p:nvPr/>
        </p:nvSpPr>
        <p:spPr>
          <a:xfrm>
            <a:off x="777240" y="16276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1</a:t>
            </a:r>
            <a:endParaRPr lang="en-US" sz="2080" dirty="0"/>
          </a:p>
        </p:txBody>
      </p:sp>
      <p:sp>
        <p:nvSpPr>
          <p:cNvPr id="6" name="p6-t-0"/>
          <p:cNvSpPr txBox="1"/>
          <p:nvPr/>
        </p:nvSpPr>
        <p:spPr>
          <a:xfrm>
            <a:off x="1691640" y="14904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Identifikasaun no fatin</a:t>
            </a:r>
            <a:endParaRPr lang="en-US" sz="1400" dirty="0"/>
          </a:p>
          <a:p>
            <a:pPr indent="0" marL="0">
              <a:buNone/>
            </a:pPr>
            <a:r>
              <a:rPr lang="en-US" sz="1250" dirty="0">
                <a:solidFill>
                  <a:schemeClr val="tx1"/>
                </a:solidFill>
              </a:rPr>
              <a:t>Munisípiu, postu, suku, aldeia, GPS</a:t>
            </a:r>
            <a:endParaRPr lang="en-US" sz="1400" dirty="0"/>
          </a:p>
        </p:txBody>
      </p:sp>
      <p:sp>
        <p:nvSpPr>
          <p:cNvPr id="7" name="p6-1"/>
          <p:cNvSpPr/>
          <p:nvPr/>
        </p:nvSpPr>
        <p:spPr>
          <a:xfrm>
            <a:off x="4297680" y="1325880"/>
            <a:ext cx="3520440" cy="1371600"/>
          </a:xfrm>
          <a:prstGeom prst="roundRect">
            <a:avLst>
              <a:gd name="adj" fmla="val 8000"/>
            </a:avLst>
          </a:prstGeom>
          <a:solidFill>
            <a:schemeClr val="bg2"/>
          </a:solidFill>
          <a:ln w="12700">
            <a:solidFill>
              <a:schemeClr val="bg2"/>
            </a:solidFill>
            <a:prstDash val="solid"/>
          </a:ln>
        </p:spPr>
      </p:sp>
      <p:sp>
        <p:nvSpPr>
          <p:cNvPr id="8" name="p6-n-1"/>
          <p:cNvSpPr/>
          <p:nvPr/>
        </p:nvSpPr>
        <p:spPr>
          <a:xfrm>
            <a:off x="4526280" y="1627632"/>
            <a:ext cx="731520" cy="731520"/>
          </a:xfrm>
          <a:prstGeom prst="ellipse">
            <a:avLst/>
          </a:prstGeom>
          <a:solidFill>
            <a:schemeClr val="accent1"/>
          </a:solidFill>
          <a:ln w="12700">
            <a:solidFill>
              <a:schemeClr val="accent1"/>
            </a:solidFill>
            <a:prstDash val="solid"/>
          </a:ln>
        </p:spPr>
      </p:sp>
      <p:sp>
        <p:nvSpPr>
          <p:cNvPr id="9" name="p6-n-1-n"/>
          <p:cNvSpPr txBox="1"/>
          <p:nvPr/>
        </p:nvSpPr>
        <p:spPr>
          <a:xfrm>
            <a:off x="4526280" y="16276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2</a:t>
            </a:r>
            <a:endParaRPr lang="en-US" sz="2080" dirty="0"/>
          </a:p>
        </p:txBody>
      </p:sp>
      <p:sp>
        <p:nvSpPr>
          <p:cNvPr id="10" name="p6-t-1"/>
          <p:cNvSpPr txBox="1"/>
          <p:nvPr/>
        </p:nvSpPr>
        <p:spPr>
          <a:xfrm>
            <a:off x="5440680" y="14904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Insidente</a:t>
            </a:r>
            <a:endParaRPr lang="en-US" sz="1400" dirty="0"/>
          </a:p>
          <a:p>
            <a:pPr indent="0" marL="0">
              <a:buNone/>
            </a:pPr>
            <a:r>
              <a:rPr lang="en-US" sz="1250" dirty="0">
                <a:solidFill>
                  <a:schemeClr val="tx1"/>
                </a:solidFill>
              </a:rPr>
              <a:t>Data, tipu konflitu, deskrisaun</a:t>
            </a:r>
            <a:endParaRPr lang="en-US" sz="1400" dirty="0"/>
          </a:p>
        </p:txBody>
      </p:sp>
      <p:sp>
        <p:nvSpPr>
          <p:cNvPr id="11" name="p6-2"/>
          <p:cNvSpPr/>
          <p:nvPr/>
        </p:nvSpPr>
        <p:spPr>
          <a:xfrm>
            <a:off x="8046720" y="1325880"/>
            <a:ext cx="3520440" cy="1371600"/>
          </a:xfrm>
          <a:prstGeom prst="roundRect">
            <a:avLst>
              <a:gd name="adj" fmla="val 8000"/>
            </a:avLst>
          </a:prstGeom>
          <a:solidFill>
            <a:schemeClr val="bg2"/>
          </a:solidFill>
          <a:ln w="12700">
            <a:solidFill>
              <a:schemeClr val="bg2"/>
            </a:solidFill>
            <a:prstDash val="solid"/>
          </a:ln>
        </p:spPr>
      </p:sp>
      <p:sp>
        <p:nvSpPr>
          <p:cNvPr id="12" name="p6-n-2"/>
          <p:cNvSpPr/>
          <p:nvPr/>
        </p:nvSpPr>
        <p:spPr>
          <a:xfrm>
            <a:off x="8275320" y="1627632"/>
            <a:ext cx="731520" cy="731520"/>
          </a:xfrm>
          <a:prstGeom prst="ellipse">
            <a:avLst/>
          </a:prstGeom>
          <a:solidFill>
            <a:schemeClr val="accent1"/>
          </a:solidFill>
          <a:ln w="12700">
            <a:solidFill>
              <a:schemeClr val="accent1"/>
            </a:solidFill>
            <a:prstDash val="solid"/>
          </a:ln>
        </p:spPr>
      </p:sp>
      <p:sp>
        <p:nvSpPr>
          <p:cNvPr id="13" name="p6-n-2-n"/>
          <p:cNvSpPr txBox="1"/>
          <p:nvPr/>
        </p:nvSpPr>
        <p:spPr>
          <a:xfrm>
            <a:off x="8275320" y="16276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3</a:t>
            </a:r>
            <a:endParaRPr lang="en-US" sz="2080" dirty="0"/>
          </a:p>
        </p:txBody>
      </p:sp>
      <p:sp>
        <p:nvSpPr>
          <p:cNvPr id="14" name="p6-t-2"/>
          <p:cNvSpPr txBox="1"/>
          <p:nvPr/>
        </p:nvSpPr>
        <p:spPr>
          <a:xfrm>
            <a:off x="9189720" y="14904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Populasaun afetada</a:t>
            </a:r>
            <a:endParaRPr lang="en-US" sz="1400" dirty="0"/>
          </a:p>
          <a:p>
            <a:pPr indent="0" marL="0">
              <a:buNone/>
            </a:pPr>
            <a:r>
              <a:rPr lang="en-US" sz="1250" dirty="0">
                <a:solidFill>
                  <a:schemeClr val="tx1"/>
                </a:solidFill>
              </a:rPr>
              <a:t>Uma-kain, mane, feto, labarik, atór</a:t>
            </a:r>
            <a:endParaRPr lang="en-US" sz="1400" dirty="0"/>
          </a:p>
        </p:txBody>
      </p:sp>
      <p:sp>
        <p:nvSpPr>
          <p:cNvPr id="15" name="p6-3"/>
          <p:cNvSpPr/>
          <p:nvPr/>
        </p:nvSpPr>
        <p:spPr>
          <a:xfrm>
            <a:off x="548640" y="2926080"/>
            <a:ext cx="3520440" cy="1371600"/>
          </a:xfrm>
          <a:prstGeom prst="roundRect">
            <a:avLst>
              <a:gd name="adj" fmla="val 8000"/>
            </a:avLst>
          </a:prstGeom>
          <a:solidFill>
            <a:schemeClr val="bg2"/>
          </a:solidFill>
          <a:ln w="12700">
            <a:solidFill>
              <a:schemeClr val="bg2"/>
            </a:solidFill>
            <a:prstDash val="solid"/>
          </a:ln>
        </p:spPr>
      </p:sp>
      <p:sp>
        <p:nvSpPr>
          <p:cNvPr id="16" name="p6-n-3"/>
          <p:cNvSpPr/>
          <p:nvPr/>
        </p:nvSpPr>
        <p:spPr>
          <a:xfrm>
            <a:off x="777240" y="3227832"/>
            <a:ext cx="731520" cy="731520"/>
          </a:xfrm>
          <a:prstGeom prst="ellipse">
            <a:avLst/>
          </a:prstGeom>
          <a:solidFill>
            <a:schemeClr val="accent1"/>
          </a:solidFill>
          <a:ln w="12700">
            <a:solidFill>
              <a:schemeClr val="accent1"/>
            </a:solidFill>
            <a:prstDash val="solid"/>
          </a:ln>
        </p:spPr>
      </p:sp>
      <p:sp>
        <p:nvSpPr>
          <p:cNvPr id="17" name="p6-n-3-n"/>
          <p:cNvSpPr txBox="1"/>
          <p:nvPr/>
        </p:nvSpPr>
        <p:spPr>
          <a:xfrm>
            <a:off x="777240" y="32278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4</a:t>
            </a:r>
            <a:endParaRPr lang="en-US" sz="2080" dirty="0"/>
          </a:p>
        </p:txBody>
      </p:sp>
      <p:sp>
        <p:nvSpPr>
          <p:cNvPr id="18" name="p6-t-3"/>
          <p:cNvSpPr txBox="1"/>
          <p:nvPr/>
        </p:nvSpPr>
        <p:spPr>
          <a:xfrm>
            <a:off x="1691640" y="30906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Estragu patrimóniu</a:t>
            </a:r>
            <a:endParaRPr lang="en-US" sz="1400" dirty="0"/>
          </a:p>
          <a:p>
            <a:pPr indent="0" marL="0">
              <a:buNone/>
            </a:pPr>
            <a:r>
              <a:rPr lang="en-US" sz="1250" dirty="0">
                <a:solidFill>
                  <a:schemeClr val="tx1"/>
                </a:solidFill>
              </a:rPr>
              <a:t>Uma, to'os, animal, seluk</a:t>
            </a:r>
            <a:endParaRPr lang="en-US" sz="1400" dirty="0"/>
          </a:p>
        </p:txBody>
      </p:sp>
      <p:sp>
        <p:nvSpPr>
          <p:cNvPr id="19" name="p6-4"/>
          <p:cNvSpPr/>
          <p:nvPr/>
        </p:nvSpPr>
        <p:spPr>
          <a:xfrm>
            <a:off x="4297680" y="2926080"/>
            <a:ext cx="3520440" cy="1371600"/>
          </a:xfrm>
          <a:prstGeom prst="roundRect">
            <a:avLst>
              <a:gd name="adj" fmla="val 8000"/>
            </a:avLst>
          </a:prstGeom>
          <a:solidFill>
            <a:schemeClr val="bg2"/>
          </a:solidFill>
          <a:ln w="12700">
            <a:solidFill>
              <a:schemeClr val="bg2"/>
            </a:solidFill>
            <a:prstDash val="solid"/>
          </a:ln>
        </p:spPr>
      </p:sp>
      <p:sp>
        <p:nvSpPr>
          <p:cNvPr id="20" name="p6-n-4"/>
          <p:cNvSpPr/>
          <p:nvPr/>
        </p:nvSpPr>
        <p:spPr>
          <a:xfrm>
            <a:off x="4526280" y="3227832"/>
            <a:ext cx="731520" cy="731520"/>
          </a:xfrm>
          <a:prstGeom prst="ellipse">
            <a:avLst/>
          </a:prstGeom>
          <a:solidFill>
            <a:schemeClr val="accent1"/>
          </a:solidFill>
          <a:ln w="12700">
            <a:solidFill>
              <a:schemeClr val="accent1"/>
            </a:solidFill>
            <a:prstDash val="solid"/>
          </a:ln>
        </p:spPr>
      </p:sp>
      <p:sp>
        <p:nvSpPr>
          <p:cNvPr id="21" name="p6-n-4-n"/>
          <p:cNvSpPr txBox="1"/>
          <p:nvPr/>
        </p:nvSpPr>
        <p:spPr>
          <a:xfrm>
            <a:off x="4526280" y="32278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5</a:t>
            </a:r>
            <a:endParaRPr lang="en-US" sz="2080" dirty="0"/>
          </a:p>
        </p:txBody>
      </p:sp>
      <p:sp>
        <p:nvSpPr>
          <p:cNvPr id="22" name="p6-t-4"/>
          <p:cNvSpPr txBox="1"/>
          <p:nvPr/>
        </p:nvSpPr>
        <p:spPr>
          <a:xfrm>
            <a:off x="5440680" y="30906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Evidénsia</a:t>
            </a:r>
            <a:endParaRPr lang="en-US" sz="1400" dirty="0"/>
          </a:p>
          <a:p>
            <a:pPr indent="0" marL="0">
              <a:buNone/>
            </a:pPr>
            <a:r>
              <a:rPr lang="en-US" sz="1250" dirty="0">
                <a:solidFill>
                  <a:schemeClr val="tx1"/>
                </a:solidFill>
              </a:rPr>
              <a:t>Foto husi kámera</a:t>
            </a:r>
            <a:endParaRPr lang="en-US" sz="1400" dirty="0"/>
          </a:p>
        </p:txBody>
      </p:sp>
      <p:sp>
        <p:nvSpPr>
          <p:cNvPr id="23" name="p6-5"/>
          <p:cNvSpPr/>
          <p:nvPr/>
        </p:nvSpPr>
        <p:spPr>
          <a:xfrm>
            <a:off x="8046720" y="2926080"/>
            <a:ext cx="3520440" cy="1371600"/>
          </a:xfrm>
          <a:prstGeom prst="roundRect">
            <a:avLst>
              <a:gd name="adj" fmla="val 8000"/>
            </a:avLst>
          </a:prstGeom>
          <a:solidFill>
            <a:schemeClr val="bg2"/>
          </a:solidFill>
          <a:ln w="12700">
            <a:solidFill>
              <a:schemeClr val="bg2"/>
            </a:solidFill>
            <a:prstDash val="solid"/>
          </a:ln>
        </p:spPr>
      </p:sp>
      <p:sp>
        <p:nvSpPr>
          <p:cNvPr id="24" name="p6-n-5"/>
          <p:cNvSpPr/>
          <p:nvPr/>
        </p:nvSpPr>
        <p:spPr>
          <a:xfrm>
            <a:off x="8275320" y="3227832"/>
            <a:ext cx="731520" cy="731520"/>
          </a:xfrm>
          <a:prstGeom prst="ellipse">
            <a:avLst/>
          </a:prstGeom>
          <a:solidFill>
            <a:schemeClr val="accent1"/>
          </a:solidFill>
          <a:ln w="12700">
            <a:solidFill>
              <a:schemeClr val="accent1"/>
            </a:solidFill>
            <a:prstDash val="solid"/>
          </a:ln>
        </p:spPr>
      </p:sp>
      <p:sp>
        <p:nvSpPr>
          <p:cNvPr id="25" name="p6-n-5-n"/>
          <p:cNvSpPr txBox="1"/>
          <p:nvPr/>
        </p:nvSpPr>
        <p:spPr>
          <a:xfrm>
            <a:off x="8275320" y="3227832"/>
            <a:ext cx="731520" cy="731520"/>
          </a:xfrm>
          <a:prstGeom prst="rect">
            <a:avLst/>
          </a:prstGeom>
          <a:noFill/>
          <a:ln/>
        </p:spPr>
        <p:txBody>
          <a:bodyPr wrap="square" lIns="0" tIns="0" rIns="0" bIns="0" rtlCol="0" anchor="ctr"/>
          <a:lstStyle/>
          <a:p>
            <a:pPr algn="ctr" indent="0" marL="0">
              <a:buNone/>
            </a:pPr>
            <a:r>
              <a:rPr lang="en-US" sz="2080" b="1" dirty="0">
                <a:solidFill>
                  <a:schemeClr val="bg1"/>
                </a:solidFill>
              </a:rPr>
              <a:t>6</a:t>
            </a:r>
            <a:endParaRPr lang="en-US" sz="2080" dirty="0"/>
          </a:p>
        </p:txBody>
      </p:sp>
      <p:sp>
        <p:nvSpPr>
          <p:cNvPr id="26" name="p6-t-5"/>
          <p:cNvSpPr txBox="1"/>
          <p:nvPr/>
        </p:nvSpPr>
        <p:spPr>
          <a:xfrm>
            <a:off x="9189720" y="3090672"/>
            <a:ext cx="2240280" cy="1051560"/>
          </a:xfrm>
          <a:prstGeom prst="rect">
            <a:avLst/>
          </a:prstGeom>
          <a:noFill/>
          <a:ln/>
        </p:spPr>
        <p:txBody>
          <a:bodyPr wrap="square" lIns="0" tIns="0" rIns="0" bIns="0" rtlCol="0" anchor="ctr"/>
          <a:lstStyle/>
          <a:p>
            <a:pPr indent="0" marL="0">
              <a:buNone/>
            </a:pPr>
            <a:r>
              <a:rPr lang="en-US" sz="1550" b="1" dirty="0">
                <a:solidFill>
                  <a:schemeClr val="tx2"/>
                </a:solidFill>
              </a:rPr>
              <a:t>Nesesidade no konsentimentu</a:t>
            </a:r>
            <a:endParaRPr lang="en-US" sz="1400" dirty="0"/>
          </a:p>
          <a:p>
            <a:pPr indent="0" marL="0">
              <a:buNone/>
            </a:pPr>
            <a:r>
              <a:rPr lang="en-US" sz="1250" dirty="0">
                <a:solidFill>
                  <a:schemeClr val="tx1"/>
                </a:solidFill>
              </a:rPr>
              <a:t>Konsentimentu obrigatóriu · La publika (opsionál)</a:t>
            </a:r>
            <a:endParaRPr lang="en-US" sz="1400" dirty="0"/>
          </a:p>
        </p:txBody>
      </p:sp>
      <p:sp>
        <p:nvSpPr>
          <p:cNvPr id="27" name="fim-0"/>
          <p:cNvSpPr/>
          <p:nvPr/>
        </p:nvSpPr>
        <p:spPr>
          <a:xfrm>
            <a:off x="548640" y="4754880"/>
            <a:ext cx="2468880" cy="914400"/>
          </a:xfrm>
          <a:prstGeom prst="roundRect">
            <a:avLst>
              <a:gd name="adj" fmla="val 10000"/>
            </a:avLst>
          </a:prstGeom>
          <a:solidFill>
            <a:schemeClr val="bg1"/>
          </a:solidFill>
          <a:ln w="19050">
            <a:solidFill>
              <a:schemeClr val="accent1"/>
            </a:solidFill>
            <a:prstDash val="solid"/>
          </a:ln>
        </p:spPr>
      </p:sp>
      <p:sp>
        <p:nvSpPr>
          <p:cNvPr id="28" name="fim-0-t"/>
          <p:cNvSpPr txBox="1"/>
          <p:nvPr/>
        </p:nvSpPr>
        <p:spPr>
          <a:xfrm>
            <a:off x="621792" y="4754880"/>
            <a:ext cx="2322576" cy="914400"/>
          </a:xfrm>
          <a:prstGeom prst="rect">
            <a:avLst/>
          </a:prstGeom>
          <a:noFill/>
          <a:ln/>
        </p:spPr>
        <p:txBody>
          <a:bodyPr wrap="square" lIns="0" tIns="0" rIns="0" bIns="0" rtlCol="0" anchor="ctr"/>
          <a:lstStyle/>
          <a:p>
            <a:pPr algn="ctr" indent="0" marL="0">
              <a:buNone/>
            </a:pPr>
            <a:r>
              <a:rPr lang="en-US" sz="1400" b="1" dirty="0">
                <a:solidFill>
                  <a:schemeClr val="tx2"/>
                </a:solidFill>
              </a:rPr>
              <a:t>Rai</a:t>
            </a:r>
            <a:endParaRPr lang="en-US" sz="1400" dirty="0"/>
          </a:p>
          <a:p>
            <a:pPr algn="ctr" indent="0" marL="0">
              <a:buNone/>
            </a:pPr>
            <a:r>
              <a:rPr lang="en-US" sz="1200" dirty="0">
                <a:solidFill>
                  <a:schemeClr val="tx1"/>
                </a:solidFill>
              </a:rPr>
              <a:t>Rascunho</a:t>
            </a:r>
            <a:endParaRPr lang="en-US" sz="1400" dirty="0"/>
          </a:p>
        </p:txBody>
      </p:sp>
      <p:sp>
        <p:nvSpPr>
          <p:cNvPr id="29" name="fim-a0"/>
          <p:cNvSpPr/>
          <p:nvPr/>
        </p:nvSpPr>
        <p:spPr>
          <a:xfrm>
            <a:off x="3017520" y="5212080"/>
            <a:ext cx="384048" cy="914"/>
          </a:xfrm>
          <a:prstGeom prst="line">
            <a:avLst/>
          </a:prstGeom>
          <a:noFill/>
          <a:ln w="22225">
            <a:solidFill>
              <a:schemeClr val="tx2"/>
            </a:solidFill>
            <a:prstDash val="solid"/>
            <a:tailEnd type="triangle"/>
          </a:ln>
        </p:spPr>
      </p:sp>
      <p:sp>
        <p:nvSpPr>
          <p:cNvPr id="30" name="fim-1"/>
          <p:cNvSpPr/>
          <p:nvPr/>
        </p:nvSpPr>
        <p:spPr>
          <a:xfrm>
            <a:off x="3401568" y="4754880"/>
            <a:ext cx="2468880" cy="914400"/>
          </a:xfrm>
          <a:prstGeom prst="roundRect">
            <a:avLst>
              <a:gd name="adj" fmla="val 10000"/>
            </a:avLst>
          </a:prstGeom>
          <a:solidFill>
            <a:schemeClr val="bg1"/>
          </a:solidFill>
          <a:ln w="19050">
            <a:solidFill>
              <a:schemeClr val="accent1"/>
            </a:solidFill>
            <a:prstDash val="solid"/>
          </a:ln>
        </p:spPr>
      </p:sp>
      <p:sp>
        <p:nvSpPr>
          <p:cNvPr id="31" name="fim-1-t"/>
          <p:cNvSpPr txBox="1"/>
          <p:nvPr/>
        </p:nvSpPr>
        <p:spPr>
          <a:xfrm>
            <a:off x="3474720" y="4754880"/>
            <a:ext cx="2322576" cy="914400"/>
          </a:xfrm>
          <a:prstGeom prst="rect">
            <a:avLst/>
          </a:prstGeom>
          <a:noFill/>
          <a:ln/>
        </p:spPr>
        <p:txBody>
          <a:bodyPr wrap="square" lIns="0" tIns="0" rIns="0" bIns="0" rtlCol="0" anchor="ctr"/>
          <a:lstStyle/>
          <a:p>
            <a:pPr algn="ctr" indent="0" marL="0">
              <a:buNone/>
            </a:pPr>
            <a:r>
              <a:rPr lang="en-US" sz="1400" b="1" dirty="0">
                <a:solidFill>
                  <a:schemeClr val="tx2"/>
                </a:solidFill>
              </a:rPr>
              <a:t>Haruka ba Verifikasaun</a:t>
            </a:r>
            <a:endParaRPr lang="en-US" sz="1400" dirty="0"/>
          </a:p>
          <a:p>
            <a:pPr algn="ctr" indent="0" marL="0">
              <a:buNone/>
            </a:pPr>
            <a:r>
              <a:rPr lang="en-US" sz="1200" dirty="0">
                <a:solidFill>
                  <a:schemeClr val="tx1"/>
                </a:solidFill>
              </a:rPr>
              <a:t>Modal konfirma</a:t>
            </a:r>
            <a:endParaRPr lang="en-US" sz="1400" dirty="0"/>
          </a:p>
        </p:txBody>
      </p:sp>
      <p:sp>
        <p:nvSpPr>
          <p:cNvPr id="32" name="fim-a1"/>
          <p:cNvSpPr/>
          <p:nvPr/>
        </p:nvSpPr>
        <p:spPr>
          <a:xfrm>
            <a:off x="5870448" y="5212080"/>
            <a:ext cx="384048" cy="914"/>
          </a:xfrm>
          <a:prstGeom prst="line">
            <a:avLst/>
          </a:prstGeom>
          <a:noFill/>
          <a:ln w="22225">
            <a:solidFill>
              <a:schemeClr val="tx2"/>
            </a:solidFill>
            <a:prstDash val="solid"/>
            <a:tailEnd type="triangle"/>
          </a:ln>
        </p:spPr>
      </p:sp>
      <p:sp>
        <p:nvSpPr>
          <p:cNvPr id="33" name="fim-2"/>
          <p:cNvSpPr/>
          <p:nvPr/>
        </p:nvSpPr>
        <p:spPr>
          <a:xfrm>
            <a:off x="6254496" y="4754880"/>
            <a:ext cx="2468880" cy="914400"/>
          </a:xfrm>
          <a:prstGeom prst="roundRect">
            <a:avLst>
              <a:gd name="adj" fmla="val 10000"/>
            </a:avLst>
          </a:prstGeom>
          <a:solidFill>
            <a:schemeClr val="bg2"/>
          </a:solidFill>
          <a:ln w="19050">
            <a:solidFill>
              <a:schemeClr val="accent1"/>
            </a:solidFill>
            <a:prstDash val="solid"/>
          </a:ln>
        </p:spPr>
      </p:sp>
      <p:sp>
        <p:nvSpPr>
          <p:cNvPr id="34" name="fim-2-t"/>
          <p:cNvSpPr txBox="1"/>
          <p:nvPr/>
        </p:nvSpPr>
        <p:spPr>
          <a:xfrm>
            <a:off x="6327648" y="4754880"/>
            <a:ext cx="2322576" cy="914400"/>
          </a:xfrm>
          <a:prstGeom prst="rect">
            <a:avLst/>
          </a:prstGeom>
          <a:noFill/>
          <a:ln/>
        </p:spPr>
        <p:txBody>
          <a:bodyPr wrap="square" lIns="0" tIns="0" rIns="0" bIns="0" rtlCol="0" anchor="ctr"/>
          <a:lstStyle/>
          <a:p>
            <a:pPr algn="ctr" indent="0" marL="0">
              <a:buNone/>
            </a:pPr>
            <a:r>
              <a:rPr lang="en-US" sz="1400" b="1" dirty="0">
                <a:solidFill>
                  <a:schemeClr val="tx2"/>
                </a:solidFill>
              </a:rPr>
              <a:t>Kódigu kazu</a:t>
            </a:r>
            <a:endParaRPr lang="en-US" sz="1400" dirty="0"/>
          </a:p>
          <a:p>
            <a:pPr algn="ctr" indent="0" marL="0">
              <a:buNone/>
            </a:pPr>
            <a:r>
              <a:rPr lang="en-US" sz="1200" dirty="0">
                <a:solidFill>
                  <a:schemeClr val="tx1"/>
                </a:solidFill>
              </a:rPr>
              <a:t>SMKRE-LIQ-2026-00014</a:t>
            </a:r>
            <a:endParaRPr lang="en-US" sz="1400" dirty="0"/>
          </a:p>
        </p:txBody>
      </p:sp>
      <p:sp>
        <p:nvSpPr>
          <p:cNvPr id="35" name="fim-a2"/>
          <p:cNvSpPr/>
          <p:nvPr/>
        </p:nvSpPr>
        <p:spPr>
          <a:xfrm>
            <a:off x="8723376" y="5212080"/>
            <a:ext cx="384048" cy="914"/>
          </a:xfrm>
          <a:prstGeom prst="line">
            <a:avLst/>
          </a:prstGeom>
          <a:noFill/>
          <a:ln w="22225">
            <a:solidFill>
              <a:schemeClr val="tx2"/>
            </a:solidFill>
            <a:prstDash val="solid"/>
            <a:tailEnd type="triangle"/>
          </a:ln>
        </p:spPr>
      </p:sp>
      <p:sp>
        <p:nvSpPr>
          <p:cNvPr id="36" name="fim-3"/>
          <p:cNvSpPr/>
          <p:nvPr/>
        </p:nvSpPr>
        <p:spPr>
          <a:xfrm>
            <a:off x="9107424" y="4754880"/>
            <a:ext cx="2468880" cy="914400"/>
          </a:xfrm>
          <a:prstGeom prst="roundRect">
            <a:avLst>
              <a:gd name="adj" fmla="val 10000"/>
            </a:avLst>
          </a:prstGeom>
          <a:solidFill>
            <a:schemeClr val="bg1"/>
          </a:solidFill>
          <a:ln w="19050">
            <a:solidFill>
              <a:schemeClr val="accent1"/>
            </a:solidFill>
            <a:prstDash val="solid"/>
          </a:ln>
        </p:spPr>
      </p:sp>
      <p:sp>
        <p:nvSpPr>
          <p:cNvPr id="37" name="fim-3-t"/>
          <p:cNvSpPr txBox="1"/>
          <p:nvPr/>
        </p:nvSpPr>
        <p:spPr>
          <a:xfrm>
            <a:off x="9180576" y="4754880"/>
            <a:ext cx="2322576" cy="914400"/>
          </a:xfrm>
          <a:prstGeom prst="rect">
            <a:avLst/>
          </a:prstGeom>
          <a:noFill/>
          <a:ln/>
        </p:spPr>
        <p:txBody>
          <a:bodyPr wrap="square" lIns="0" tIns="0" rIns="0" bIns="0" rtlCol="0" anchor="ctr"/>
          <a:lstStyle/>
          <a:p>
            <a:pPr algn="ctr" indent="0" marL="0">
              <a:buNone/>
            </a:pPr>
            <a:r>
              <a:rPr lang="en-US" sz="1400" b="1" dirty="0">
                <a:solidFill>
                  <a:schemeClr val="tx2"/>
                </a:solidFill>
              </a:rPr>
              <a:t>Admin</a:t>
            </a:r>
            <a:endParaRPr lang="en-US" sz="1400" dirty="0"/>
          </a:p>
          <a:p>
            <a:pPr algn="ctr" indent="0" marL="0">
              <a:buNone/>
            </a:pPr>
            <a:r>
              <a:rPr lang="en-US" sz="1200" dirty="0">
                <a:solidFill>
                  <a:schemeClr val="tx1"/>
                </a:solidFill>
              </a:rPr>
              <a:t>Simu notifikasaun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App offline: kazu hela enkripta iha HP to'o iha sinál</a:t>
            </a:r>
            <a:endParaRPr lang="en-US" sz="2600" dirty="0"/>
          </a:p>
        </p:txBody>
      </p:sp>
      <p:sp>
        <p:nvSpPr>
          <p:cNvPr id="3" name="off-0"/>
          <p:cNvSpPr/>
          <p:nvPr/>
        </p:nvSpPr>
        <p:spPr>
          <a:xfrm>
            <a:off x="548640" y="1371600"/>
            <a:ext cx="1920240" cy="1051560"/>
          </a:xfrm>
          <a:prstGeom prst="roundRect">
            <a:avLst>
              <a:gd name="adj" fmla="val 8696"/>
            </a:avLst>
          </a:prstGeom>
          <a:solidFill>
            <a:schemeClr val="bg1"/>
          </a:solidFill>
          <a:ln w="19050">
            <a:solidFill>
              <a:schemeClr val="accent1"/>
            </a:solidFill>
            <a:prstDash val="solid"/>
          </a:ln>
        </p:spPr>
      </p:sp>
      <p:sp>
        <p:nvSpPr>
          <p:cNvPr id="4" name="off-0-t"/>
          <p:cNvSpPr txBox="1"/>
          <p:nvPr/>
        </p:nvSpPr>
        <p:spPr>
          <a:xfrm>
            <a:off x="621792" y="1371600"/>
            <a:ext cx="1773936" cy="1051560"/>
          </a:xfrm>
          <a:prstGeom prst="rect">
            <a:avLst/>
          </a:prstGeom>
          <a:noFill/>
          <a:ln/>
        </p:spPr>
        <p:txBody>
          <a:bodyPr wrap="square" lIns="0" tIns="0" rIns="0" bIns="0" rtlCol="0" anchor="ctr"/>
          <a:lstStyle/>
          <a:p>
            <a:pPr algn="ctr" indent="0" marL="0">
              <a:buNone/>
            </a:pPr>
            <a:r>
              <a:rPr lang="en-US" sz="1500" b="1" dirty="0">
                <a:solidFill>
                  <a:schemeClr val="tx2"/>
                </a:solidFill>
              </a:rPr>
              <a:t>Eskritóriu</a:t>
            </a:r>
            <a:endParaRPr lang="en-US" sz="1400" dirty="0"/>
          </a:p>
          <a:p>
            <a:pPr algn="ctr" indent="0" marL="0">
              <a:buNone/>
            </a:pPr>
            <a:r>
              <a:rPr lang="en-US" sz="1200" dirty="0">
                <a:solidFill>
                  <a:schemeClr val="tx1"/>
                </a:solidFill>
              </a:rPr>
              <a:t>Admin fó izin; kria PIN</a:t>
            </a:r>
            <a:endParaRPr lang="en-US" sz="1400" dirty="0"/>
          </a:p>
        </p:txBody>
      </p:sp>
      <p:sp>
        <p:nvSpPr>
          <p:cNvPr id="5" name="off-a0"/>
          <p:cNvSpPr/>
          <p:nvPr/>
        </p:nvSpPr>
        <p:spPr>
          <a:xfrm>
            <a:off x="2468880" y="1897380"/>
            <a:ext cx="347472" cy="914"/>
          </a:xfrm>
          <a:prstGeom prst="line">
            <a:avLst/>
          </a:prstGeom>
          <a:noFill/>
          <a:ln w="22225">
            <a:solidFill>
              <a:schemeClr val="tx2"/>
            </a:solidFill>
            <a:prstDash val="solid"/>
            <a:tailEnd type="triangle"/>
          </a:ln>
        </p:spPr>
      </p:sp>
      <p:sp>
        <p:nvSpPr>
          <p:cNvPr id="6" name="off-1"/>
          <p:cNvSpPr/>
          <p:nvPr/>
        </p:nvSpPr>
        <p:spPr>
          <a:xfrm>
            <a:off x="2816352" y="1371600"/>
            <a:ext cx="1920240" cy="1051560"/>
          </a:xfrm>
          <a:prstGeom prst="roundRect">
            <a:avLst>
              <a:gd name="adj" fmla="val 8696"/>
            </a:avLst>
          </a:prstGeom>
          <a:solidFill>
            <a:schemeClr val="bg1"/>
          </a:solidFill>
          <a:ln w="19050">
            <a:solidFill>
              <a:schemeClr val="accent1"/>
            </a:solidFill>
            <a:prstDash val="solid"/>
          </a:ln>
        </p:spPr>
      </p:sp>
      <p:sp>
        <p:nvSpPr>
          <p:cNvPr id="7" name="off-1-t"/>
          <p:cNvSpPr txBox="1"/>
          <p:nvPr/>
        </p:nvSpPr>
        <p:spPr>
          <a:xfrm>
            <a:off x="2889504" y="1371600"/>
            <a:ext cx="1773936" cy="1051560"/>
          </a:xfrm>
          <a:prstGeom prst="rect">
            <a:avLst/>
          </a:prstGeom>
          <a:noFill/>
          <a:ln/>
        </p:spPr>
        <p:txBody>
          <a:bodyPr wrap="square" lIns="0" tIns="0" rIns="0" bIns="0" rtlCol="0" anchor="ctr"/>
          <a:lstStyle/>
          <a:p>
            <a:pPr algn="ctr" indent="0" marL="0">
              <a:buNone/>
            </a:pPr>
            <a:r>
              <a:rPr lang="en-US" sz="1500" b="1" dirty="0">
                <a:solidFill>
                  <a:schemeClr val="tx2"/>
                </a:solidFill>
              </a:rPr>
              <a:t>Terrenu</a:t>
            </a:r>
            <a:endParaRPr lang="en-US" sz="1400" dirty="0"/>
          </a:p>
          <a:p>
            <a:pPr algn="ctr" indent="0" marL="0">
              <a:buNone/>
            </a:pPr>
            <a:r>
              <a:rPr lang="en-US" sz="1200" dirty="0">
                <a:solidFill>
                  <a:schemeClr val="tx1"/>
                </a:solidFill>
              </a:rPr>
              <a:t>Rejista sein internet</a:t>
            </a:r>
            <a:endParaRPr lang="en-US" sz="1400" dirty="0"/>
          </a:p>
        </p:txBody>
      </p:sp>
      <p:sp>
        <p:nvSpPr>
          <p:cNvPr id="8" name="off-a1"/>
          <p:cNvSpPr/>
          <p:nvPr/>
        </p:nvSpPr>
        <p:spPr>
          <a:xfrm>
            <a:off x="4736592" y="1897380"/>
            <a:ext cx="347472" cy="914"/>
          </a:xfrm>
          <a:prstGeom prst="line">
            <a:avLst/>
          </a:prstGeom>
          <a:noFill/>
          <a:ln w="22225">
            <a:solidFill>
              <a:schemeClr val="tx2"/>
            </a:solidFill>
            <a:prstDash val="solid"/>
            <a:tailEnd type="triangle"/>
          </a:ln>
        </p:spPr>
      </p:sp>
      <p:sp>
        <p:nvSpPr>
          <p:cNvPr id="9" name="off-2"/>
          <p:cNvSpPr/>
          <p:nvPr/>
        </p:nvSpPr>
        <p:spPr>
          <a:xfrm>
            <a:off x="5084064" y="1371600"/>
            <a:ext cx="1920240" cy="1051560"/>
          </a:xfrm>
          <a:prstGeom prst="roundRect">
            <a:avLst>
              <a:gd name="adj" fmla="val 8696"/>
            </a:avLst>
          </a:prstGeom>
          <a:solidFill>
            <a:schemeClr val="bg2"/>
          </a:solidFill>
          <a:ln w="19050">
            <a:solidFill>
              <a:schemeClr val="accent1"/>
            </a:solidFill>
            <a:prstDash val="solid"/>
          </a:ln>
        </p:spPr>
      </p:sp>
      <p:sp>
        <p:nvSpPr>
          <p:cNvPr id="10" name="off-2-t"/>
          <p:cNvSpPr txBox="1"/>
          <p:nvPr/>
        </p:nvSpPr>
        <p:spPr>
          <a:xfrm>
            <a:off x="5157216" y="1371600"/>
            <a:ext cx="1773936" cy="1051560"/>
          </a:xfrm>
          <a:prstGeom prst="rect">
            <a:avLst/>
          </a:prstGeom>
          <a:noFill/>
          <a:ln/>
        </p:spPr>
        <p:txBody>
          <a:bodyPr wrap="square" lIns="0" tIns="0" rIns="0" bIns="0" rtlCol="0" anchor="ctr"/>
          <a:lstStyle/>
          <a:p>
            <a:pPr algn="ctr" indent="0" marL="0">
              <a:buNone/>
            </a:pPr>
            <a:r>
              <a:rPr lang="en-US" sz="1500" b="1" dirty="0">
                <a:solidFill>
                  <a:schemeClr val="tx2"/>
                </a:solidFill>
              </a:rPr>
              <a:t>Iha HP</a:t>
            </a:r>
            <a:endParaRPr lang="en-US" sz="1400" dirty="0"/>
          </a:p>
          <a:p>
            <a:pPr algn="ctr" indent="0" marL="0">
              <a:buNone/>
            </a:pPr>
            <a:r>
              <a:rPr lang="en-US" sz="1200" dirty="0">
                <a:solidFill>
                  <a:schemeClr val="tx1"/>
                </a:solidFill>
              </a:rPr>
              <a:t>Rai enkripta ho PIN</a:t>
            </a:r>
            <a:endParaRPr lang="en-US" sz="1400" dirty="0"/>
          </a:p>
        </p:txBody>
      </p:sp>
      <p:sp>
        <p:nvSpPr>
          <p:cNvPr id="11" name="off-a2"/>
          <p:cNvSpPr/>
          <p:nvPr/>
        </p:nvSpPr>
        <p:spPr>
          <a:xfrm>
            <a:off x="7004304" y="1897380"/>
            <a:ext cx="347472" cy="914"/>
          </a:xfrm>
          <a:prstGeom prst="line">
            <a:avLst/>
          </a:prstGeom>
          <a:noFill/>
          <a:ln w="22225">
            <a:solidFill>
              <a:schemeClr val="tx2"/>
            </a:solidFill>
            <a:prstDash val="solid"/>
            <a:tailEnd type="triangle"/>
          </a:ln>
        </p:spPr>
      </p:sp>
      <p:sp>
        <p:nvSpPr>
          <p:cNvPr id="12" name="off-3"/>
          <p:cNvSpPr/>
          <p:nvPr/>
        </p:nvSpPr>
        <p:spPr>
          <a:xfrm>
            <a:off x="7351776" y="1371600"/>
            <a:ext cx="1920240" cy="1051560"/>
          </a:xfrm>
          <a:prstGeom prst="roundRect">
            <a:avLst>
              <a:gd name="adj" fmla="val 8696"/>
            </a:avLst>
          </a:prstGeom>
          <a:solidFill>
            <a:schemeClr val="bg1"/>
          </a:solidFill>
          <a:ln w="19050">
            <a:solidFill>
              <a:schemeClr val="accent1"/>
            </a:solidFill>
            <a:prstDash val="solid"/>
          </a:ln>
        </p:spPr>
      </p:sp>
      <p:sp>
        <p:nvSpPr>
          <p:cNvPr id="13" name="off-3-t"/>
          <p:cNvSpPr txBox="1"/>
          <p:nvPr/>
        </p:nvSpPr>
        <p:spPr>
          <a:xfrm>
            <a:off x="7424928" y="1371600"/>
            <a:ext cx="1773936" cy="1051560"/>
          </a:xfrm>
          <a:prstGeom prst="rect">
            <a:avLst/>
          </a:prstGeom>
          <a:noFill/>
          <a:ln/>
        </p:spPr>
        <p:txBody>
          <a:bodyPr wrap="square" lIns="0" tIns="0" rIns="0" bIns="0" rtlCol="0" anchor="ctr"/>
          <a:lstStyle/>
          <a:p>
            <a:pPr algn="ctr" indent="0" marL="0">
              <a:buNone/>
            </a:pPr>
            <a:r>
              <a:rPr lang="en-US" sz="1500" b="1" dirty="0">
                <a:solidFill>
                  <a:schemeClr val="tx2"/>
                </a:solidFill>
              </a:rPr>
              <a:t>Iha sinál</a:t>
            </a:r>
            <a:endParaRPr lang="en-US" sz="1400" dirty="0"/>
          </a:p>
          <a:p>
            <a:pPr algn="ctr" indent="0" marL="0">
              <a:buNone/>
            </a:pPr>
            <a:r>
              <a:rPr lang="en-US" sz="1200" dirty="0">
                <a:solidFill>
                  <a:schemeClr val="tx1"/>
                </a:solidFill>
              </a:rPr>
              <a:t>Sinkron automátiku</a:t>
            </a:r>
            <a:endParaRPr lang="en-US" sz="1400" dirty="0"/>
          </a:p>
        </p:txBody>
      </p:sp>
      <p:sp>
        <p:nvSpPr>
          <p:cNvPr id="14" name="off-a3"/>
          <p:cNvSpPr/>
          <p:nvPr/>
        </p:nvSpPr>
        <p:spPr>
          <a:xfrm>
            <a:off x="9272016" y="1897380"/>
            <a:ext cx="347472" cy="914"/>
          </a:xfrm>
          <a:prstGeom prst="line">
            <a:avLst/>
          </a:prstGeom>
          <a:noFill/>
          <a:ln w="22225">
            <a:solidFill>
              <a:schemeClr val="tx2"/>
            </a:solidFill>
            <a:prstDash val="solid"/>
            <a:tailEnd type="triangle"/>
          </a:ln>
        </p:spPr>
      </p:sp>
      <p:sp>
        <p:nvSpPr>
          <p:cNvPr id="15" name="off-4"/>
          <p:cNvSpPr/>
          <p:nvPr/>
        </p:nvSpPr>
        <p:spPr>
          <a:xfrm>
            <a:off x="9619488" y="1371600"/>
            <a:ext cx="1920240" cy="1051560"/>
          </a:xfrm>
          <a:prstGeom prst="roundRect">
            <a:avLst>
              <a:gd name="adj" fmla="val 8696"/>
            </a:avLst>
          </a:prstGeom>
          <a:solidFill>
            <a:schemeClr val="bg1"/>
          </a:solidFill>
          <a:ln w="19050">
            <a:solidFill>
              <a:schemeClr val="accent1"/>
            </a:solidFill>
            <a:prstDash val="solid"/>
          </a:ln>
        </p:spPr>
      </p:sp>
      <p:sp>
        <p:nvSpPr>
          <p:cNvPr id="16" name="off-4-t"/>
          <p:cNvSpPr txBox="1"/>
          <p:nvPr/>
        </p:nvSpPr>
        <p:spPr>
          <a:xfrm>
            <a:off x="9692640" y="1371600"/>
            <a:ext cx="1773936" cy="1051560"/>
          </a:xfrm>
          <a:prstGeom prst="rect">
            <a:avLst/>
          </a:prstGeom>
          <a:noFill/>
          <a:ln/>
        </p:spPr>
        <p:txBody>
          <a:bodyPr wrap="square" lIns="0" tIns="0" rIns="0" bIns="0" rtlCol="0" anchor="ctr"/>
          <a:lstStyle/>
          <a:p>
            <a:pPr algn="ctr" indent="0" marL="0">
              <a:buNone/>
            </a:pPr>
            <a:r>
              <a:rPr lang="en-US" sz="1500" b="1" dirty="0">
                <a:solidFill>
                  <a:schemeClr val="tx2"/>
                </a:solidFill>
              </a:rPr>
              <a:t>Admin</a:t>
            </a:r>
            <a:endParaRPr lang="en-US" sz="1400" dirty="0"/>
          </a:p>
          <a:p>
            <a:pPr algn="ctr" indent="0" marL="0">
              <a:buNone/>
            </a:pPr>
            <a:r>
              <a:rPr lang="en-US" sz="1200" dirty="0">
                <a:solidFill>
                  <a:schemeClr val="tx1"/>
                </a:solidFill>
              </a:rPr>
              <a:t>Notifikasaun</a:t>
            </a:r>
            <a:endParaRPr lang="en-US" sz="1400" dirty="0"/>
          </a:p>
        </p:txBody>
      </p:sp>
      <p:sp>
        <p:nvSpPr>
          <p:cNvPr id="17" name="stat-0"/>
          <p:cNvSpPr/>
          <p:nvPr/>
        </p:nvSpPr>
        <p:spPr>
          <a:xfrm>
            <a:off x="548640" y="2880360"/>
            <a:ext cx="2606040" cy="2240280"/>
          </a:xfrm>
          <a:prstGeom prst="roundRect">
            <a:avLst>
              <a:gd name="adj" fmla="val 4898"/>
            </a:avLst>
          </a:prstGeom>
          <a:solidFill>
            <a:schemeClr val="bg2"/>
          </a:solidFill>
          <a:ln w="12700">
            <a:solidFill>
              <a:schemeClr val="bg2"/>
            </a:solidFill>
            <a:prstDash val="solid"/>
          </a:ln>
        </p:spPr>
      </p:sp>
      <p:sp>
        <p:nvSpPr>
          <p:cNvPr id="18" name="stat-n-0"/>
          <p:cNvSpPr txBox="1"/>
          <p:nvPr/>
        </p:nvSpPr>
        <p:spPr>
          <a:xfrm>
            <a:off x="777240" y="3063240"/>
            <a:ext cx="2148840"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7</a:t>
            </a:r>
            <a:pPr indent="0" marL="0">
              <a:buNone/>
            </a:pPr>
            <a:r>
              <a:rPr lang="en-US" sz="1800" b="1" dirty="0">
                <a:solidFill>
                  <a:schemeClr val="tx2"/>
                </a:solidFill>
                <a:latin typeface="Cambria" pitchFamily="34" charset="0"/>
                <a:ea typeface="Cambria" pitchFamily="34" charset="-122"/>
                <a:cs typeface="Cambria" pitchFamily="34" charset="-120"/>
              </a:rPr>
              <a:t> loron</a:t>
            </a:r>
            <a:endParaRPr lang="en-US" sz="1400" dirty="0"/>
          </a:p>
        </p:txBody>
      </p:sp>
      <p:sp>
        <p:nvSpPr>
          <p:cNvPr id="19" name="stat-d-0"/>
          <p:cNvSpPr txBox="1"/>
          <p:nvPr/>
        </p:nvSpPr>
        <p:spPr>
          <a:xfrm>
            <a:off x="777240" y="4206240"/>
            <a:ext cx="2148840" cy="777240"/>
          </a:xfrm>
          <a:prstGeom prst="rect">
            <a:avLst/>
          </a:prstGeom>
          <a:noFill/>
          <a:ln/>
        </p:spPr>
        <p:txBody>
          <a:bodyPr wrap="square" lIns="0" tIns="0" rIns="0" bIns="0" rtlCol="0" anchor="t"/>
          <a:lstStyle/>
          <a:p>
            <a:pPr indent="0" marL="0">
              <a:buNone/>
            </a:pPr>
            <a:r>
              <a:rPr lang="en-US" sz="1350" dirty="0">
                <a:solidFill>
                  <a:schemeClr val="tx1"/>
                </a:solidFill>
              </a:rPr>
              <a:t>Izin offline husi Admin (bele renova)</a:t>
            </a:r>
            <a:endParaRPr lang="en-US" sz="1350" dirty="0"/>
          </a:p>
        </p:txBody>
      </p:sp>
      <p:sp>
        <p:nvSpPr>
          <p:cNvPr id="20" name="stat-1"/>
          <p:cNvSpPr/>
          <p:nvPr/>
        </p:nvSpPr>
        <p:spPr>
          <a:xfrm>
            <a:off x="3383280" y="2880360"/>
            <a:ext cx="2606040" cy="2240280"/>
          </a:xfrm>
          <a:prstGeom prst="roundRect">
            <a:avLst>
              <a:gd name="adj" fmla="val 4898"/>
            </a:avLst>
          </a:prstGeom>
          <a:solidFill>
            <a:schemeClr val="bg2"/>
          </a:solidFill>
          <a:ln w="12700">
            <a:solidFill>
              <a:schemeClr val="bg2"/>
            </a:solidFill>
            <a:prstDash val="solid"/>
          </a:ln>
        </p:spPr>
      </p:sp>
      <p:sp>
        <p:nvSpPr>
          <p:cNvPr id="21" name="stat-n-1"/>
          <p:cNvSpPr txBox="1"/>
          <p:nvPr/>
        </p:nvSpPr>
        <p:spPr>
          <a:xfrm>
            <a:off x="3611880" y="3063240"/>
            <a:ext cx="2148840"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6</a:t>
            </a:r>
            <a:pPr indent="0" marL="0">
              <a:buNone/>
            </a:pPr>
            <a:r>
              <a:rPr lang="en-US" sz="1800" b="1" dirty="0">
                <a:solidFill>
                  <a:schemeClr val="tx2"/>
                </a:solidFill>
                <a:latin typeface="Cambria" pitchFamily="34" charset="0"/>
                <a:ea typeface="Cambria" pitchFamily="34" charset="-122"/>
                <a:cs typeface="Cambria" pitchFamily="34" charset="-120"/>
              </a:rPr>
              <a:t> númeru</a:t>
            </a:r>
            <a:endParaRPr lang="en-US" sz="1400" dirty="0"/>
          </a:p>
        </p:txBody>
      </p:sp>
      <p:sp>
        <p:nvSpPr>
          <p:cNvPr id="22" name="stat-d-1"/>
          <p:cNvSpPr txBox="1"/>
          <p:nvPr/>
        </p:nvSpPr>
        <p:spPr>
          <a:xfrm>
            <a:off x="3611880" y="4206240"/>
            <a:ext cx="2148840" cy="777240"/>
          </a:xfrm>
          <a:prstGeom prst="rect">
            <a:avLst/>
          </a:prstGeom>
          <a:noFill/>
          <a:ln/>
        </p:spPr>
        <p:txBody>
          <a:bodyPr wrap="square" lIns="0" tIns="0" rIns="0" bIns="0" rtlCol="0" anchor="t"/>
          <a:lstStyle/>
          <a:p>
            <a:pPr indent="0" marL="0">
              <a:buNone/>
            </a:pPr>
            <a:r>
              <a:rPr lang="en-US" sz="1350" dirty="0">
                <a:solidFill>
                  <a:schemeClr val="tx1"/>
                </a:solidFill>
              </a:rPr>
              <a:t>PIN — la'ós fásil (111111, 123456)</a:t>
            </a:r>
            <a:endParaRPr lang="en-US" sz="1350" dirty="0"/>
          </a:p>
        </p:txBody>
      </p:sp>
      <p:sp>
        <p:nvSpPr>
          <p:cNvPr id="23" name="stat-2"/>
          <p:cNvSpPr/>
          <p:nvPr/>
        </p:nvSpPr>
        <p:spPr>
          <a:xfrm>
            <a:off x="6217920" y="2880360"/>
            <a:ext cx="2606040" cy="2240280"/>
          </a:xfrm>
          <a:prstGeom prst="roundRect">
            <a:avLst>
              <a:gd name="adj" fmla="val 4898"/>
            </a:avLst>
          </a:prstGeom>
          <a:solidFill>
            <a:schemeClr val="bg2"/>
          </a:solidFill>
          <a:ln w="12700">
            <a:solidFill>
              <a:schemeClr val="bg2"/>
            </a:solidFill>
            <a:prstDash val="solid"/>
          </a:ln>
        </p:spPr>
      </p:sp>
      <p:sp>
        <p:nvSpPr>
          <p:cNvPr id="24" name="stat-n-2"/>
          <p:cNvSpPr txBox="1"/>
          <p:nvPr/>
        </p:nvSpPr>
        <p:spPr>
          <a:xfrm>
            <a:off x="6446520" y="3063240"/>
            <a:ext cx="2148840" cy="1051560"/>
          </a:xfrm>
          <a:prstGeom prst="rect">
            <a:avLst/>
          </a:prstGeom>
          <a:noFill/>
          <a:ln/>
        </p:spPr>
        <p:txBody>
          <a:bodyPr wrap="square" lIns="0" tIns="0" rIns="0" bIns="0" rtlCol="0" anchor="b"/>
          <a:lstStyle/>
          <a:p>
            <a:pPr indent="0" marL="0">
              <a:buNone/>
            </a:pPr>
            <a:r>
              <a:rPr lang="en-US" sz="5400" b="1" dirty="0">
                <a:solidFill>
                  <a:schemeClr val="accent1"/>
                </a:solidFill>
                <a:latin typeface="Cambria" pitchFamily="34" charset="0"/>
                <a:ea typeface="Cambria" pitchFamily="34" charset="-122"/>
                <a:cs typeface="Cambria" pitchFamily="34" charset="-120"/>
              </a:rPr>
              <a:t>5</a:t>
            </a:r>
            <a:pPr indent="0" marL="0">
              <a:buNone/>
            </a:pPr>
            <a:r>
              <a:rPr lang="en-US" sz="1800" b="1" dirty="0">
                <a:solidFill>
                  <a:schemeClr val="tx2"/>
                </a:solidFill>
                <a:latin typeface="Cambria" pitchFamily="34" charset="0"/>
                <a:ea typeface="Cambria" pitchFamily="34" charset="-122"/>
                <a:cs typeface="Cambria" pitchFamily="34" charset="-120"/>
              </a:rPr>
              <a:t> minutu</a:t>
            </a:r>
            <a:endParaRPr lang="en-US" sz="1400" dirty="0"/>
          </a:p>
        </p:txBody>
      </p:sp>
      <p:sp>
        <p:nvSpPr>
          <p:cNvPr id="25" name="stat-d-2"/>
          <p:cNvSpPr txBox="1"/>
          <p:nvPr/>
        </p:nvSpPr>
        <p:spPr>
          <a:xfrm>
            <a:off x="6446520" y="4206240"/>
            <a:ext cx="2148840" cy="777240"/>
          </a:xfrm>
          <a:prstGeom prst="rect">
            <a:avLst/>
          </a:prstGeom>
          <a:noFill/>
          <a:ln/>
        </p:spPr>
        <p:txBody>
          <a:bodyPr wrap="square" lIns="0" tIns="0" rIns="0" bIns="0" rtlCol="0" anchor="t"/>
          <a:lstStyle/>
          <a:p>
            <a:pPr indent="0" marL="0">
              <a:buNone/>
            </a:pPr>
            <a:r>
              <a:rPr lang="en-US" sz="1350" dirty="0">
                <a:solidFill>
                  <a:schemeClr val="tx1"/>
                </a:solidFill>
              </a:rPr>
              <a:t>La uza → app xave, hakerek PIN fali</a:t>
            </a:r>
            <a:endParaRPr lang="en-US" sz="1350" dirty="0"/>
          </a:p>
        </p:txBody>
      </p:sp>
      <p:sp>
        <p:nvSpPr>
          <p:cNvPr id="26" name="stat-3"/>
          <p:cNvSpPr/>
          <p:nvPr/>
        </p:nvSpPr>
        <p:spPr>
          <a:xfrm>
            <a:off x="9052560" y="2880360"/>
            <a:ext cx="2606040" cy="2240280"/>
          </a:xfrm>
          <a:prstGeom prst="roundRect">
            <a:avLst>
              <a:gd name="adj" fmla="val 4898"/>
            </a:avLst>
          </a:prstGeom>
          <a:solidFill>
            <a:schemeClr val="bg2"/>
          </a:solidFill>
          <a:ln w="12700">
            <a:solidFill>
              <a:schemeClr val="bg2"/>
            </a:solidFill>
            <a:prstDash val="solid"/>
          </a:ln>
        </p:spPr>
      </p:sp>
      <p:sp>
        <p:nvSpPr>
          <p:cNvPr id="27" name="stat-n-3"/>
          <p:cNvSpPr txBox="1"/>
          <p:nvPr/>
        </p:nvSpPr>
        <p:spPr>
          <a:xfrm>
            <a:off x="9281160" y="3063240"/>
            <a:ext cx="2148840" cy="1051560"/>
          </a:xfrm>
          <a:prstGeom prst="rect">
            <a:avLst/>
          </a:prstGeom>
          <a:noFill/>
          <a:ln/>
        </p:spPr>
        <p:txBody>
          <a:bodyPr wrap="square" lIns="0" tIns="0" rIns="0" bIns="0" rtlCol="0" anchor="b"/>
          <a:lstStyle/>
          <a:p>
            <a:pPr indent="0" marL="0">
              <a:buNone/>
            </a:pPr>
            <a:r>
              <a:rPr lang="en-US" sz="5400" b="1" dirty="0">
                <a:solidFill>
                  <a:schemeClr val="accent4"/>
                </a:solidFill>
                <a:latin typeface="Cambria" pitchFamily="34" charset="0"/>
                <a:ea typeface="Cambria" pitchFamily="34" charset="-122"/>
                <a:cs typeface="Cambria" pitchFamily="34" charset="-120"/>
              </a:rPr>
              <a:t>5×</a:t>
            </a:r>
            <a:pPr indent="0" marL="0">
              <a:buNone/>
            </a:pPr>
            <a:r>
              <a:rPr lang="en-US" sz="1800" b="1" dirty="0">
                <a:solidFill>
                  <a:schemeClr val="tx2"/>
                </a:solidFill>
                <a:latin typeface="Cambria" pitchFamily="34" charset="0"/>
                <a:ea typeface="Cambria" pitchFamily="34" charset="-122"/>
                <a:cs typeface="Cambria" pitchFamily="34" charset="-120"/>
              </a:rPr>
              <a:t> sala</a:t>
            </a:r>
            <a:endParaRPr lang="en-US" sz="1400" dirty="0"/>
          </a:p>
        </p:txBody>
      </p:sp>
      <p:sp>
        <p:nvSpPr>
          <p:cNvPr id="28" name="stat-d-3"/>
          <p:cNvSpPr txBox="1"/>
          <p:nvPr/>
        </p:nvSpPr>
        <p:spPr>
          <a:xfrm>
            <a:off x="9281160" y="4206240"/>
            <a:ext cx="2148840" cy="777240"/>
          </a:xfrm>
          <a:prstGeom prst="rect">
            <a:avLst/>
          </a:prstGeom>
          <a:noFill/>
          <a:ln/>
        </p:spPr>
        <p:txBody>
          <a:bodyPr wrap="square" lIns="0" tIns="0" rIns="0" bIns="0" rtlCol="0" anchor="t"/>
          <a:lstStyle/>
          <a:p>
            <a:pPr indent="0" marL="0">
              <a:buNone/>
            </a:pPr>
            <a:r>
              <a:rPr lang="en-US" sz="1350" dirty="0">
                <a:solidFill>
                  <a:schemeClr val="tx1"/>
                </a:solidFill>
              </a:rPr>
              <a:t>PIN sala dala 5 → dadus iha HP hamoos</a:t>
            </a:r>
            <a:endParaRPr lang="en-US" sz="1350" dirty="0"/>
          </a:p>
        </p:txBody>
      </p:sp>
      <p:sp>
        <p:nvSpPr>
          <p:cNvPr id="29" name="off-limite"/>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400" b="1" dirty="0">
                <a:solidFill>
                  <a:schemeClr val="tx2"/>
                </a:solidFill>
              </a:rPr>
              <a:t>Limite: </a:t>
            </a:r>
            <a:pPr indent="0" marL="0">
              <a:buNone/>
            </a:pPr>
            <a:r>
              <a:rPr lang="en-US" sz="1400" dirty="0">
                <a:solidFill>
                  <a:schemeClr val="tx1"/>
                </a:solidFill>
              </a:rPr>
              <a:t>foto 5 · vídeo 1 (máximu 60 segundu) · HP lakon → informa Admin kedas (kansela izin no token).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Admin verifika, Superadmin aprova</a:t>
            </a:r>
            <a:endParaRPr lang="en-US" sz="2600" dirty="0"/>
          </a:p>
        </p:txBody>
      </p:sp>
      <p:sp>
        <p:nvSpPr>
          <p:cNvPr id="3" name="adm-0"/>
          <p:cNvSpPr/>
          <p:nvPr/>
        </p:nvSpPr>
        <p:spPr>
          <a:xfrm>
            <a:off x="548640" y="1325880"/>
            <a:ext cx="5394960" cy="4754880"/>
          </a:xfrm>
          <a:prstGeom prst="roundRect">
            <a:avLst>
              <a:gd name="adj" fmla="val 2308"/>
            </a:avLst>
          </a:prstGeom>
          <a:solidFill>
            <a:schemeClr val="bg2"/>
          </a:solidFill>
          <a:ln w="12700">
            <a:solidFill>
              <a:schemeClr val="bg2"/>
            </a:solidFill>
            <a:prstDash val="solid"/>
          </a:ln>
        </p:spPr>
      </p:sp>
      <p:sp>
        <p:nvSpPr>
          <p:cNvPr id="4" name="adm-ik-0-sirkulu"/>
          <p:cNvSpPr/>
          <p:nvPr/>
        </p:nvSpPr>
        <p:spPr>
          <a:xfrm>
            <a:off x="868680" y="1645920"/>
            <a:ext cx="868680" cy="868680"/>
          </a:xfrm>
          <a:prstGeom prst="ellipse">
            <a:avLst/>
          </a:prstGeom>
          <a:solidFill>
            <a:schemeClr val="accent5"/>
          </a:solidFill>
          <a:ln w="12700">
            <a:solidFill>
              <a:schemeClr val="accent5"/>
            </a:solidFill>
            <a:prstDash val="solid"/>
          </a:ln>
        </p:spPr>
      </p:sp>
      <p:pic>
        <p:nvPicPr>
          <p:cNvPr id="5" name="adm-ik-0-ikone" descr="preencoded.png">    </p:cNvPr>
          <p:cNvPicPr>
            <a:picLocks noChangeAspect="1"/>
          </p:cNvPicPr>
          <p:nvPr/>
        </p:nvPicPr>
        <p:blipFill>
          <a:blip r:embed="rId1"/>
          <a:stretch>
            <a:fillRect/>
          </a:stretch>
        </p:blipFill>
        <p:spPr>
          <a:xfrm>
            <a:off x="1077163" y="1854403"/>
            <a:ext cx="451714" cy="451714"/>
          </a:xfrm>
          <a:prstGeom prst="rect">
            <a:avLst/>
          </a:prstGeom>
        </p:spPr>
      </p:pic>
      <p:sp>
        <p:nvSpPr>
          <p:cNvPr id="6" name="adm-n-0"/>
          <p:cNvSpPr txBox="1"/>
          <p:nvPr/>
        </p:nvSpPr>
        <p:spPr>
          <a:xfrm>
            <a:off x="1920240" y="1737360"/>
            <a:ext cx="3200400" cy="685800"/>
          </a:xfrm>
          <a:prstGeom prst="rect">
            <a:avLst/>
          </a:prstGeom>
          <a:noFill/>
          <a:ln/>
        </p:spPr>
        <p:txBody>
          <a:bodyPr wrap="square" lIns="0" tIns="0" rIns="0" bIns="0" rtlCol="0" anchor="ctr"/>
          <a:lstStyle/>
          <a:p>
            <a:pPr indent="0" marL="0">
              <a:buNone/>
            </a:pPr>
            <a:r>
              <a:rPr lang="en-US" sz="2400" b="1" dirty="0">
                <a:solidFill>
                  <a:schemeClr val="tx2"/>
                </a:solidFill>
              </a:rPr>
              <a:t>Admin</a:t>
            </a:r>
            <a:endParaRPr lang="en-US" sz="2400" dirty="0"/>
          </a:p>
        </p:txBody>
      </p:sp>
      <p:sp>
        <p:nvSpPr>
          <p:cNvPr id="7" name="adm-0-n0"/>
          <p:cNvSpPr/>
          <p:nvPr/>
        </p:nvSpPr>
        <p:spPr>
          <a:xfrm>
            <a:off x="914400" y="2788920"/>
            <a:ext cx="384048" cy="384048"/>
          </a:xfrm>
          <a:prstGeom prst="ellipse">
            <a:avLst/>
          </a:prstGeom>
          <a:solidFill>
            <a:schemeClr val="accent5"/>
          </a:solidFill>
          <a:ln w="12700">
            <a:solidFill>
              <a:schemeClr val="accent5"/>
            </a:solidFill>
            <a:prstDash val="solid"/>
          </a:ln>
        </p:spPr>
      </p:sp>
      <p:sp>
        <p:nvSpPr>
          <p:cNvPr id="8" name="adm-0-n0-n"/>
          <p:cNvSpPr txBox="1"/>
          <p:nvPr/>
        </p:nvSpPr>
        <p:spPr>
          <a:xfrm>
            <a:off x="914400" y="278892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1</a:t>
            </a:r>
            <a:endParaRPr lang="en-US" sz="1092" dirty="0"/>
          </a:p>
        </p:txBody>
      </p:sp>
      <p:sp>
        <p:nvSpPr>
          <p:cNvPr id="9" name="adm-0-t0"/>
          <p:cNvSpPr txBox="1"/>
          <p:nvPr/>
        </p:nvSpPr>
        <p:spPr>
          <a:xfrm>
            <a:off x="1463040" y="2788920"/>
            <a:ext cx="4251960" cy="384048"/>
          </a:xfrm>
          <a:prstGeom prst="rect">
            <a:avLst/>
          </a:prstGeom>
          <a:noFill/>
          <a:ln/>
        </p:spPr>
        <p:txBody>
          <a:bodyPr wrap="square" lIns="0" tIns="0" rIns="0" bIns="0" rtlCol="0" anchor="ctr"/>
          <a:lstStyle/>
          <a:p>
            <a:pPr indent="0" marL="0">
              <a:buNone/>
            </a:pPr>
            <a:r>
              <a:rPr lang="en-US" sz="1450" dirty="0">
                <a:solidFill>
                  <a:schemeClr val="tx1"/>
                </a:solidFill>
              </a:rPr>
              <a:t>Notifikasaun "Kazu foun" → loke kazu</a:t>
            </a:r>
            <a:endParaRPr lang="en-US" sz="1450" dirty="0"/>
          </a:p>
        </p:txBody>
      </p:sp>
      <p:sp>
        <p:nvSpPr>
          <p:cNvPr id="10" name="adm-0-n1"/>
          <p:cNvSpPr/>
          <p:nvPr/>
        </p:nvSpPr>
        <p:spPr>
          <a:xfrm>
            <a:off x="914400" y="3429000"/>
            <a:ext cx="384048" cy="384048"/>
          </a:xfrm>
          <a:prstGeom prst="ellipse">
            <a:avLst/>
          </a:prstGeom>
          <a:solidFill>
            <a:schemeClr val="accent5"/>
          </a:solidFill>
          <a:ln w="12700">
            <a:solidFill>
              <a:schemeClr val="accent5"/>
            </a:solidFill>
            <a:prstDash val="solid"/>
          </a:ln>
        </p:spPr>
      </p:sp>
      <p:sp>
        <p:nvSpPr>
          <p:cNvPr id="11" name="adm-0-n1-n"/>
          <p:cNvSpPr txBox="1"/>
          <p:nvPr/>
        </p:nvSpPr>
        <p:spPr>
          <a:xfrm>
            <a:off x="914400" y="342900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2</a:t>
            </a:r>
            <a:endParaRPr lang="en-US" sz="1092" dirty="0"/>
          </a:p>
        </p:txBody>
      </p:sp>
      <p:sp>
        <p:nvSpPr>
          <p:cNvPr id="12" name="adm-0-t1"/>
          <p:cNvSpPr txBox="1"/>
          <p:nvPr/>
        </p:nvSpPr>
        <p:spPr>
          <a:xfrm>
            <a:off x="1463040" y="3429000"/>
            <a:ext cx="4251960" cy="384048"/>
          </a:xfrm>
          <a:prstGeom prst="rect">
            <a:avLst/>
          </a:prstGeom>
          <a:noFill/>
          <a:ln/>
        </p:spPr>
        <p:txBody>
          <a:bodyPr wrap="square" lIns="0" tIns="0" rIns="0" bIns="0" rtlCol="0" anchor="ctr"/>
          <a:lstStyle/>
          <a:p>
            <a:pPr indent="0" marL="0">
              <a:buNone/>
            </a:pPr>
            <a:r>
              <a:rPr lang="en-US" sz="1450" dirty="0">
                <a:solidFill>
                  <a:schemeClr val="tx1"/>
                </a:solidFill>
              </a:rPr>
              <a:t>Haree dadus, foto, Haree iha mapa</a:t>
            </a:r>
            <a:endParaRPr lang="en-US" sz="1450" dirty="0"/>
          </a:p>
        </p:txBody>
      </p:sp>
      <p:sp>
        <p:nvSpPr>
          <p:cNvPr id="13" name="adm-0-n2"/>
          <p:cNvSpPr/>
          <p:nvPr/>
        </p:nvSpPr>
        <p:spPr>
          <a:xfrm>
            <a:off x="914400" y="4069080"/>
            <a:ext cx="384048" cy="384048"/>
          </a:xfrm>
          <a:prstGeom prst="ellipse">
            <a:avLst/>
          </a:prstGeom>
          <a:solidFill>
            <a:schemeClr val="accent5"/>
          </a:solidFill>
          <a:ln w="12700">
            <a:solidFill>
              <a:schemeClr val="accent5"/>
            </a:solidFill>
            <a:prstDash val="solid"/>
          </a:ln>
        </p:spPr>
      </p:sp>
      <p:sp>
        <p:nvSpPr>
          <p:cNvPr id="14" name="adm-0-n2-n"/>
          <p:cNvSpPr txBox="1"/>
          <p:nvPr/>
        </p:nvSpPr>
        <p:spPr>
          <a:xfrm>
            <a:off x="914400" y="406908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3</a:t>
            </a:r>
            <a:endParaRPr lang="en-US" sz="1092" dirty="0"/>
          </a:p>
        </p:txBody>
      </p:sp>
      <p:sp>
        <p:nvSpPr>
          <p:cNvPr id="15" name="adm-0-t2"/>
          <p:cNvSpPr txBox="1"/>
          <p:nvPr/>
        </p:nvSpPr>
        <p:spPr>
          <a:xfrm>
            <a:off x="1463040" y="4069080"/>
            <a:ext cx="4251960" cy="384048"/>
          </a:xfrm>
          <a:prstGeom prst="rect">
            <a:avLst/>
          </a:prstGeom>
          <a:noFill/>
          <a:ln/>
        </p:spPr>
        <p:txBody>
          <a:bodyPr wrap="square" lIns="0" tIns="0" rIns="0" bIns="0" rtlCol="0" anchor="ctr"/>
          <a:lstStyle/>
          <a:p>
            <a:pPr indent="0" marL="0">
              <a:buNone/>
            </a:pPr>
            <a:r>
              <a:rPr lang="en-US" sz="1450" dirty="0">
                <a:solidFill>
                  <a:schemeClr val="tx1"/>
                </a:solidFill>
              </a:rPr>
              <a:t>Verifika · ka Rejeita / Kansela ho razaun</a:t>
            </a:r>
            <a:endParaRPr lang="en-US" sz="1450" dirty="0"/>
          </a:p>
        </p:txBody>
      </p:sp>
      <p:sp>
        <p:nvSpPr>
          <p:cNvPr id="16" name="adm-0-n3"/>
          <p:cNvSpPr/>
          <p:nvPr/>
        </p:nvSpPr>
        <p:spPr>
          <a:xfrm>
            <a:off x="914400" y="4709160"/>
            <a:ext cx="384048" cy="384048"/>
          </a:xfrm>
          <a:prstGeom prst="ellipse">
            <a:avLst/>
          </a:prstGeom>
          <a:solidFill>
            <a:schemeClr val="accent5"/>
          </a:solidFill>
          <a:ln w="12700">
            <a:solidFill>
              <a:schemeClr val="accent5"/>
            </a:solidFill>
            <a:prstDash val="solid"/>
          </a:ln>
        </p:spPr>
      </p:sp>
      <p:sp>
        <p:nvSpPr>
          <p:cNvPr id="17" name="adm-0-n3-n"/>
          <p:cNvSpPr txBox="1"/>
          <p:nvPr/>
        </p:nvSpPr>
        <p:spPr>
          <a:xfrm>
            <a:off x="914400" y="470916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4</a:t>
            </a:r>
            <a:endParaRPr lang="en-US" sz="1092" dirty="0"/>
          </a:p>
        </p:txBody>
      </p:sp>
      <p:sp>
        <p:nvSpPr>
          <p:cNvPr id="18" name="adm-0-t3"/>
          <p:cNvSpPr txBox="1"/>
          <p:nvPr/>
        </p:nvSpPr>
        <p:spPr>
          <a:xfrm>
            <a:off x="1463040" y="4709160"/>
            <a:ext cx="4251960" cy="384048"/>
          </a:xfrm>
          <a:prstGeom prst="rect">
            <a:avLst/>
          </a:prstGeom>
          <a:noFill/>
          <a:ln/>
        </p:spPr>
        <p:txBody>
          <a:bodyPr wrap="square" lIns="0" tIns="0" rIns="0" bIns="0" rtlCol="0" anchor="ctr"/>
          <a:lstStyle/>
          <a:p>
            <a:pPr indent="0" marL="0">
              <a:buNone/>
            </a:pPr>
            <a:r>
              <a:rPr lang="en-US" sz="1450" dirty="0">
                <a:solidFill>
                  <a:schemeClr val="tx1"/>
                </a:solidFill>
              </a:rPr>
              <a:t>Utilizador: kria, reset password, hapara</a:t>
            </a:r>
            <a:endParaRPr lang="en-US" sz="1450" dirty="0"/>
          </a:p>
        </p:txBody>
      </p:sp>
      <p:sp>
        <p:nvSpPr>
          <p:cNvPr id="19" name="adm-0-n4"/>
          <p:cNvSpPr/>
          <p:nvPr/>
        </p:nvSpPr>
        <p:spPr>
          <a:xfrm>
            <a:off x="914400" y="5349240"/>
            <a:ext cx="384048" cy="384048"/>
          </a:xfrm>
          <a:prstGeom prst="ellipse">
            <a:avLst/>
          </a:prstGeom>
          <a:solidFill>
            <a:schemeClr val="accent5"/>
          </a:solidFill>
          <a:ln w="12700">
            <a:solidFill>
              <a:schemeClr val="accent5"/>
            </a:solidFill>
            <a:prstDash val="solid"/>
          </a:ln>
        </p:spPr>
      </p:sp>
      <p:sp>
        <p:nvSpPr>
          <p:cNvPr id="20" name="adm-0-n4-n"/>
          <p:cNvSpPr txBox="1"/>
          <p:nvPr/>
        </p:nvSpPr>
        <p:spPr>
          <a:xfrm>
            <a:off x="914400" y="534924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5</a:t>
            </a:r>
            <a:endParaRPr lang="en-US" sz="1092" dirty="0"/>
          </a:p>
        </p:txBody>
      </p:sp>
      <p:sp>
        <p:nvSpPr>
          <p:cNvPr id="21" name="adm-0-t4"/>
          <p:cNvSpPr txBox="1"/>
          <p:nvPr/>
        </p:nvSpPr>
        <p:spPr>
          <a:xfrm>
            <a:off x="1463040" y="5349240"/>
            <a:ext cx="4251960" cy="384048"/>
          </a:xfrm>
          <a:prstGeom prst="rect">
            <a:avLst/>
          </a:prstGeom>
          <a:noFill/>
          <a:ln/>
        </p:spPr>
        <p:txBody>
          <a:bodyPr wrap="square" lIns="0" tIns="0" rIns="0" bIns="0" rtlCol="0" anchor="ctr"/>
          <a:lstStyle/>
          <a:p>
            <a:pPr indent="0" marL="0">
              <a:buNone/>
            </a:pPr>
            <a:r>
              <a:rPr lang="en-US" sz="1450" dirty="0">
                <a:solidFill>
                  <a:schemeClr val="tx1"/>
                </a:solidFill>
              </a:rPr>
              <a:t>Izin offline: fó, renova, kansela</a:t>
            </a:r>
            <a:endParaRPr lang="en-US" sz="1450" dirty="0"/>
          </a:p>
        </p:txBody>
      </p:sp>
      <p:sp>
        <p:nvSpPr>
          <p:cNvPr id="22" name="adm-1"/>
          <p:cNvSpPr/>
          <p:nvPr/>
        </p:nvSpPr>
        <p:spPr>
          <a:xfrm>
            <a:off x="6172200" y="1325880"/>
            <a:ext cx="5394960" cy="4754880"/>
          </a:xfrm>
          <a:prstGeom prst="roundRect">
            <a:avLst>
              <a:gd name="adj" fmla="val 2308"/>
            </a:avLst>
          </a:prstGeom>
          <a:solidFill>
            <a:schemeClr val="bg2"/>
          </a:solidFill>
          <a:ln w="12700">
            <a:solidFill>
              <a:schemeClr val="bg2"/>
            </a:solidFill>
            <a:prstDash val="solid"/>
          </a:ln>
        </p:spPr>
      </p:sp>
      <p:sp>
        <p:nvSpPr>
          <p:cNvPr id="23" name="adm-ik-1-sirkulu"/>
          <p:cNvSpPr/>
          <p:nvPr/>
        </p:nvSpPr>
        <p:spPr>
          <a:xfrm>
            <a:off x="6492240" y="1645920"/>
            <a:ext cx="868680" cy="868680"/>
          </a:xfrm>
          <a:prstGeom prst="ellipse">
            <a:avLst/>
          </a:prstGeom>
          <a:solidFill>
            <a:schemeClr val="accent4"/>
          </a:solidFill>
          <a:ln w="12700">
            <a:solidFill>
              <a:schemeClr val="accent4"/>
            </a:solidFill>
            <a:prstDash val="solid"/>
          </a:ln>
        </p:spPr>
      </p:sp>
      <p:pic>
        <p:nvPicPr>
          <p:cNvPr id="24" name="adm-ik-1-ikone" descr="preencoded.png">    </p:cNvPr>
          <p:cNvPicPr>
            <a:picLocks noChangeAspect="1"/>
          </p:cNvPicPr>
          <p:nvPr/>
        </p:nvPicPr>
        <p:blipFill>
          <a:blip r:embed="rId2"/>
          <a:stretch>
            <a:fillRect/>
          </a:stretch>
        </p:blipFill>
        <p:spPr>
          <a:xfrm>
            <a:off x="6700723" y="1854403"/>
            <a:ext cx="451714" cy="451714"/>
          </a:xfrm>
          <a:prstGeom prst="rect">
            <a:avLst/>
          </a:prstGeom>
        </p:spPr>
      </p:pic>
      <p:sp>
        <p:nvSpPr>
          <p:cNvPr id="25" name="adm-n-1"/>
          <p:cNvSpPr txBox="1"/>
          <p:nvPr/>
        </p:nvSpPr>
        <p:spPr>
          <a:xfrm>
            <a:off x="7543800" y="1737360"/>
            <a:ext cx="3200400" cy="685800"/>
          </a:xfrm>
          <a:prstGeom prst="rect">
            <a:avLst/>
          </a:prstGeom>
          <a:noFill/>
          <a:ln/>
        </p:spPr>
        <p:txBody>
          <a:bodyPr wrap="square" lIns="0" tIns="0" rIns="0" bIns="0" rtlCol="0" anchor="ctr"/>
          <a:lstStyle/>
          <a:p>
            <a:pPr indent="0" marL="0">
              <a:buNone/>
            </a:pPr>
            <a:r>
              <a:rPr lang="en-US" sz="2400" b="1" dirty="0">
                <a:solidFill>
                  <a:schemeClr val="tx2"/>
                </a:solidFill>
              </a:rPr>
              <a:t>Superadmin</a:t>
            </a:r>
            <a:endParaRPr lang="en-US" sz="2400" dirty="0"/>
          </a:p>
        </p:txBody>
      </p:sp>
      <p:sp>
        <p:nvSpPr>
          <p:cNvPr id="26" name="adm-1-n0"/>
          <p:cNvSpPr/>
          <p:nvPr/>
        </p:nvSpPr>
        <p:spPr>
          <a:xfrm>
            <a:off x="6537960" y="2788920"/>
            <a:ext cx="384048" cy="384048"/>
          </a:xfrm>
          <a:prstGeom prst="ellipse">
            <a:avLst/>
          </a:prstGeom>
          <a:solidFill>
            <a:schemeClr val="accent4"/>
          </a:solidFill>
          <a:ln w="12700">
            <a:solidFill>
              <a:schemeClr val="accent4"/>
            </a:solidFill>
            <a:prstDash val="solid"/>
          </a:ln>
        </p:spPr>
      </p:sp>
      <p:sp>
        <p:nvSpPr>
          <p:cNvPr id="27" name="adm-1-n0-n"/>
          <p:cNvSpPr txBox="1"/>
          <p:nvPr/>
        </p:nvSpPr>
        <p:spPr>
          <a:xfrm>
            <a:off x="6537960" y="278892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1</a:t>
            </a:r>
            <a:endParaRPr lang="en-US" sz="1092" dirty="0"/>
          </a:p>
        </p:txBody>
      </p:sp>
      <p:sp>
        <p:nvSpPr>
          <p:cNvPr id="28" name="adm-1-t0"/>
          <p:cNvSpPr txBox="1"/>
          <p:nvPr/>
        </p:nvSpPr>
        <p:spPr>
          <a:xfrm>
            <a:off x="7086600" y="2788920"/>
            <a:ext cx="4251960" cy="384048"/>
          </a:xfrm>
          <a:prstGeom prst="rect">
            <a:avLst/>
          </a:prstGeom>
          <a:noFill/>
          <a:ln/>
        </p:spPr>
        <p:txBody>
          <a:bodyPr wrap="square" lIns="0" tIns="0" rIns="0" bIns="0" rtlCol="0" anchor="ctr"/>
          <a:lstStyle/>
          <a:p>
            <a:pPr indent="0" marL="0">
              <a:buNone/>
            </a:pPr>
            <a:r>
              <a:rPr lang="en-US" sz="1450" dirty="0">
                <a:solidFill>
                  <a:schemeClr val="tx1"/>
                </a:solidFill>
              </a:rPr>
              <a:t>Notifikasaun "verifika ona" → loke kazu</a:t>
            </a:r>
            <a:endParaRPr lang="en-US" sz="1450" dirty="0"/>
          </a:p>
        </p:txBody>
      </p:sp>
      <p:sp>
        <p:nvSpPr>
          <p:cNvPr id="29" name="adm-1-n1"/>
          <p:cNvSpPr/>
          <p:nvPr/>
        </p:nvSpPr>
        <p:spPr>
          <a:xfrm>
            <a:off x="6537960" y="3429000"/>
            <a:ext cx="384048" cy="384048"/>
          </a:xfrm>
          <a:prstGeom prst="ellipse">
            <a:avLst/>
          </a:prstGeom>
          <a:solidFill>
            <a:schemeClr val="accent4"/>
          </a:solidFill>
          <a:ln w="12700">
            <a:solidFill>
              <a:schemeClr val="accent4"/>
            </a:solidFill>
            <a:prstDash val="solid"/>
          </a:ln>
        </p:spPr>
      </p:sp>
      <p:sp>
        <p:nvSpPr>
          <p:cNvPr id="30" name="adm-1-n1-n"/>
          <p:cNvSpPr txBox="1"/>
          <p:nvPr/>
        </p:nvSpPr>
        <p:spPr>
          <a:xfrm>
            <a:off x="6537960" y="342900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2</a:t>
            </a:r>
            <a:endParaRPr lang="en-US" sz="1092" dirty="0"/>
          </a:p>
        </p:txBody>
      </p:sp>
      <p:sp>
        <p:nvSpPr>
          <p:cNvPr id="31" name="adm-1-t1"/>
          <p:cNvSpPr txBox="1"/>
          <p:nvPr/>
        </p:nvSpPr>
        <p:spPr>
          <a:xfrm>
            <a:off x="7086600" y="3429000"/>
            <a:ext cx="4251960" cy="384048"/>
          </a:xfrm>
          <a:prstGeom prst="rect">
            <a:avLst/>
          </a:prstGeom>
          <a:noFill/>
          <a:ln/>
        </p:spPr>
        <p:txBody>
          <a:bodyPr wrap="square" lIns="0" tIns="0" rIns="0" bIns="0" rtlCol="0" anchor="ctr"/>
          <a:lstStyle/>
          <a:p>
            <a:pPr indent="0" marL="0">
              <a:buNone/>
            </a:pPr>
            <a:r>
              <a:rPr lang="en-US" sz="1450" dirty="0">
                <a:solidFill>
                  <a:schemeClr val="tx1"/>
                </a:solidFill>
              </a:rPr>
              <a:t>Aprova → kazu konta iha dashboard no portal</a:t>
            </a:r>
            <a:endParaRPr lang="en-US" sz="1450" dirty="0"/>
          </a:p>
        </p:txBody>
      </p:sp>
      <p:sp>
        <p:nvSpPr>
          <p:cNvPr id="32" name="adm-1-n2"/>
          <p:cNvSpPr/>
          <p:nvPr/>
        </p:nvSpPr>
        <p:spPr>
          <a:xfrm>
            <a:off x="6537960" y="4069080"/>
            <a:ext cx="384048" cy="384048"/>
          </a:xfrm>
          <a:prstGeom prst="ellipse">
            <a:avLst/>
          </a:prstGeom>
          <a:solidFill>
            <a:schemeClr val="accent4"/>
          </a:solidFill>
          <a:ln w="12700">
            <a:solidFill>
              <a:schemeClr val="accent4"/>
            </a:solidFill>
            <a:prstDash val="solid"/>
          </a:ln>
        </p:spPr>
      </p:sp>
      <p:sp>
        <p:nvSpPr>
          <p:cNvPr id="33" name="adm-1-n2-n"/>
          <p:cNvSpPr txBox="1"/>
          <p:nvPr/>
        </p:nvSpPr>
        <p:spPr>
          <a:xfrm>
            <a:off x="6537960" y="406908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3</a:t>
            </a:r>
            <a:endParaRPr lang="en-US" sz="1092" dirty="0"/>
          </a:p>
        </p:txBody>
      </p:sp>
      <p:sp>
        <p:nvSpPr>
          <p:cNvPr id="34" name="adm-1-t2"/>
          <p:cNvSpPr txBox="1"/>
          <p:nvPr/>
        </p:nvSpPr>
        <p:spPr>
          <a:xfrm>
            <a:off x="7086600" y="4069080"/>
            <a:ext cx="4251960" cy="384048"/>
          </a:xfrm>
          <a:prstGeom prst="rect">
            <a:avLst/>
          </a:prstGeom>
          <a:noFill/>
          <a:ln/>
        </p:spPr>
        <p:txBody>
          <a:bodyPr wrap="square" lIns="0" tIns="0" rIns="0" bIns="0" rtlCol="0" anchor="ctr"/>
          <a:lstStyle/>
          <a:p>
            <a:pPr indent="0" marL="0">
              <a:buNone/>
            </a:pPr>
            <a:r>
              <a:rPr lang="en-US" sz="1450" dirty="0">
                <a:solidFill>
                  <a:schemeClr val="tx1"/>
                </a:solidFill>
              </a:rPr>
              <a:t>Remata bainhira kazu rezolve</a:t>
            </a:r>
            <a:endParaRPr lang="en-US" sz="1450" dirty="0"/>
          </a:p>
        </p:txBody>
      </p:sp>
      <p:sp>
        <p:nvSpPr>
          <p:cNvPr id="35" name="adm-1-n3"/>
          <p:cNvSpPr/>
          <p:nvPr/>
        </p:nvSpPr>
        <p:spPr>
          <a:xfrm>
            <a:off x="6537960" y="4709160"/>
            <a:ext cx="384048" cy="384048"/>
          </a:xfrm>
          <a:prstGeom prst="ellipse">
            <a:avLst/>
          </a:prstGeom>
          <a:solidFill>
            <a:schemeClr val="accent4"/>
          </a:solidFill>
          <a:ln w="12700">
            <a:solidFill>
              <a:schemeClr val="accent4"/>
            </a:solidFill>
            <a:prstDash val="solid"/>
          </a:ln>
        </p:spPr>
      </p:sp>
      <p:sp>
        <p:nvSpPr>
          <p:cNvPr id="36" name="adm-1-n3-n"/>
          <p:cNvSpPr txBox="1"/>
          <p:nvPr/>
        </p:nvSpPr>
        <p:spPr>
          <a:xfrm>
            <a:off x="6537960" y="470916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4</a:t>
            </a:r>
            <a:endParaRPr lang="en-US" sz="1092" dirty="0"/>
          </a:p>
        </p:txBody>
      </p:sp>
      <p:sp>
        <p:nvSpPr>
          <p:cNvPr id="37" name="adm-1-t3"/>
          <p:cNvSpPr txBox="1"/>
          <p:nvPr/>
        </p:nvSpPr>
        <p:spPr>
          <a:xfrm>
            <a:off x="7086600" y="4709160"/>
            <a:ext cx="4251960" cy="384048"/>
          </a:xfrm>
          <a:prstGeom prst="rect">
            <a:avLst/>
          </a:prstGeom>
          <a:noFill/>
          <a:ln/>
        </p:spPr>
        <p:txBody>
          <a:bodyPr wrap="square" lIns="0" tIns="0" rIns="0" bIns="0" rtlCol="0" anchor="ctr"/>
          <a:lstStyle/>
          <a:p>
            <a:pPr indent="0" marL="0">
              <a:buNone/>
            </a:pPr>
            <a:r>
              <a:rPr lang="en-US" sz="1450" dirty="0">
                <a:solidFill>
                  <a:schemeClr val="tx1"/>
                </a:solidFill>
              </a:rPr>
              <a:t>Kria Superadmin no papél hotu</a:t>
            </a:r>
            <a:endParaRPr lang="en-US" sz="1450" dirty="0"/>
          </a:p>
        </p:txBody>
      </p:sp>
      <p:sp>
        <p:nvSpPr>
          <p:cNvPr id="38" name="adm-1-n4"/>
          <p:cNvSpPr/>
          <p:nvPr/>
        </p:nvSpPr>
        <p:spPr>
          <a:xfrm>
            <a:off x="6537960" y="5349240"/>
            <a:ext cx="384048" cy="384048"/>
          </a:xfrm>
          <a:prstGeom prst="ellipse">
            <a:avLst/>
          </a:prstGeom>
          <a:solidFill>
            <a:schemeClr val="accent4"/>
          </a:solidFill>
          <a:ln w="12700">
            <a:solidFill>
              <a:schemeClr val="accent4"/>
            </a:solidFill>
            <a:prstDash val="solid"/>
          </a:ln>
        </p:spPr>
      </p:sp>
      <p:sp>
        <p:nvSpPr>
          <p:cNvPr id="39" name="adm-1-n4-n"/>
          <p:cNvSpPr txBox="1"/>
          <p:nvPr/>
        </p:nvSpPr>
        <p:spPr>
          <a:xfrm>
            <a:off x="6537960" y="5349240"/>
            <a:ext cx="384048" cy="384048"/>
          </a:xfrm>
          <a:prstGeom prst="rect">
            <a:avLst/>
          </a:prstGeom>
          <a:noFill/>
          <a:ln/>
        </p:spPr>
        <p:txBody>
          <a:bodyPr wrap="square" lIns="0" tIns="0" rIns="0" bIns="0" rtlCol="0" anchor="ctr"/>
          <a:lstStyle/>
          <a:p>
            <a:pPr algn="ctr" indent="0" marL="0">
              <a:buNone/>
            </a:pPr>
            <a:r>
              <a:rPr lang="en-US" sz="1092" b="1" dirty="0">
                <a:solidFill>
                  <a:schemeClr val="bg1"/>
                </a:solidFill>
              </a:rPr>
              <a:t>5</a:t>
            </a:r>
            <a:endParaRPr lang="en-US" sz="1092" dirty="0"/>
          </a:p>
        </p:txBody>
      </p:sp>
      <p:sp>
        <p:nvSpPr>
          <p:cNvPr id="40" name="adm-1-t4"/>
          <p:cNvSpPr txBox="1"/>
          <p:nvPr/>
        </p:nvSpPr>
        <p:spPr>
          <a:xfrm>
            <a:off x="7086600" y="5349240"/>
            <a:ext cx="4251960" cy="384048"/>
          </a:xfrm>
          <a:prstGeom prst="rect">
            <a:avLst/>
          </a:prstGeom>
          <a:noFill/>
          <a:ln/>
        </p:spPr>
        <p:txBody>
          <a:bodyPr wrap="square" lIns="0" tIns="0" rIns="0" bIns="0" rtlCol="0" anchor="ctr"/>
          <a:lstStyle/>
          <a:p>
            <a:pPr indent="0" marL="0">
              <a:buNone/>
            </a:pPr>
            <a:r>
              <a:rPr lang="en-US" sz="1450" dirty="0">
                <a:solidFill>
                  <a:schemeClr val="tx1"/>
                </a:solidFill>
              </a:rPr>
              <a:t>Publika ka subar publikasaun iha portal</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Analista: klik númeru ruma atu haree nia kazu sira</a:t>
            </a:r>
            <a:endParaRPr lang="en-US" sz="2600" dirty="0"/>
          </a:p>
        </p:txBody>
      </p:sp>
      <p:sp>
        <p:nvSpPr>
          <p:cNvPr id="3" name="ana-0"/>
          <p:cNvSpPr/>
          <p:nvPr/>
        </p:nvSpPr>
        <p:spPr>
          <a:xfrm>
            <a:off x="548640" y="1325880"/>
            <a:ext cx="3520440" cy="4709160"/>
          </a:xfrm>
          <a:prstGeom prst="roundRect">
            <a:avLst>
              <a:gd name="adj" fmla="val 3117"/>
            </a:avLst>
          </a:prstGeom>
          <a:solidFill>
            <a:schemeClr val="bg2"/>
          </a:solidFill>
          <a:ln w="12700">
            <a:solidFill>
              <a:schemeClr val="bg2"/>
            </a:solidFill>
            <a:prstDash val="solid"/>
          </a:ln>
        </p:spPr>
      </p:sp>
      <p:sp>
        <p:nvSpPr>
          <p:cNvPr id="4" name="ana-ik-0-sirkulu"/>
          <p:cNvSpPr/>
          <p:nvPr/>
        </p:nvSpPr>
        <p:spPr>
          <a:xfrm>
            <a:off x="1805940" y="1691640"/>
            <a:ext cx="1005840" cy="1005840"/>
          </a:xfrm>
          <a:prstGeom prst="ellipse">
            <a:avLst/>
          </a:prstGeom>
          <a:solidFill>
            <a:schemeClr val="accent1"/>
          </a:solidFill>
          <a:ln w="12700">
            <a:solidFill>
              <a:schemeClr val="accent1"/>
            </a:solidFill>
            <a:prstDash val="solid"/>
          </a:ln>
        </p:spPr>
      </p:sp>
      <p:pic>
        <p:nvPicPr>
          <p:cNvPr id="5" name="ana-ik-0-ikone" descr="preencoded.png">    </p:cNvPr>
          <p:cNvPicPr>
            <a:picLocks noChangeAspect="1"/>
          </p:cNvPicPr>
          <p:nvPr/>
        </p:nvPicPr>
        <p:blipFill>
          <a:blip r:embed="rId1"/>
          <a:stretch>
            <a:fillRect/>
          </a:stretch>
        </p:blipFill>
        <p:spPr>
          <a:xfrm>
            <a:off x="2047342" y="1933042"/>
            <a:ext cx="523037" cy="523037"/>
          </a:xfrm>
          <a:prstGeom prst="rect">
            <a:avLst/>
          </a:prstGeom>
        </p:spPr>
      </p:pic>
      <p:sp>
        <p:nvSpPr>
          <p:cNvPr id="6" name="ana-n-0"/>
          <p:cNvSpPr txBox="1"/>
          <p:nvPr/>
        </p:nvSpPr>
        <p:spPr>
          <a:xfrm>
            <a:off x="731520" y="2880360"/>
            <a:ext cx="3154680" cy="502920"/>
          </a:xfrm>
          <a:prstGeom prst="rect">
            <a:avLst/>
          </a:prstGeom>
          <a:noFill/>
          <a:ln/>
        </p:spPr>
        <p:txBody>
          <a:bodyPr wrap="square" lIns="0" tIns="0" rIns="0" bIns="0" rtlCol="0" anchor="t"/>
          <a:lstStyle/>
          <a:p>
            <a:pPr algn="ctr" indent="0" marL="0">
              <a:buNone/>
            </a:pPr>
            <a:r>
              <a:rPr lang="en-US" sz="2100" b="1" dirty="0">
                <a:solidFill>
                  <a:schemeClr val="tx2"/>
                </a:solidFill>
              </a:rPr>
              <a:t>Dashboard</a:t>
            </a:r>
            <a:endParaRPr lang="en-US" sz="2100" dirty="0"/>
          </a:p>
        </p:txBody>
      </p:sp>
      <p:sp>
        <p:nvSpPr>
          <p:cNvPr id="7" name="ana-d-0"/>
          <p:cNvSpPr txBox="1"/>
          <p:nvPr/>
        </p:nvSpPr>
        <p:spPr>
          <a:xfrm>
            <a:off x="822960" y="361188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Total, ativu, urjente, kada status</a:t>
            </a:r>
            <a:endParaRPr lang="en-US" sz="1450" dirty="0"/>
          </a:p>
          <a:p>
            <a:pPr marL="342900" indent="-342900">
              <a:spcAft>
                <a:spcPts val="1000"/>
              </a:spcAft>
              <a:buSzPct val="100000"/>
              <a:buChar char="•"/>
            </a:pPr>
            <a:r>
              <a:rPr lang="en-US" sz="1450" dirty="0">
                <a:solidFill>
                  <a:schemeClr val="tx1"/>
                </a:solidFill>
              </a:rPr>
              <a:t>Gráfiku munisípiu, tipu, tinan, investigadór</a:t>
            </a:r>
            <a:endParaRPr lang="en-US" sz="1450" dirty="0"/>
          </a:p>
          <a:p>
            <a:pPr marL="342900" indent="-342900">
              <a:spcAft>
                <a:spcPts val="1000"/>
              </a:spcAft>
              <a:buSzPct val="100000"/>
              <a:buChar char="•"/>
            </a:pPr>
            <a:r>
              <a:rPr lang="en-US" sz="1450" dirty="0">
                <a:solidFill>
                  <a:schemeClr val="tx1"/>
                </a:solidFill>
              </a:rPr>
              <a:t>Klik barra → lista kazu</a:t>
            </a:r>
            <a:endParaRPr lang="en-US" sz="1450" dirty="0"/>
          </a:p>
        </p:txBody>
      </p:sp>
      <p:sp>
        <p:nvSpPr>
          <p:cNvPr id="8" name="ana-1"/>
          <p:cNvSpPr/>
          <p:nvPr/>
        </p:nvSpPr>
        <p:spPr>
          <a:xfrm>
            <a:off x="4297680" y="1325880"/>
            <a:ext cx="3520440" cy="4709160"/>
          </a:xfrm>
          <a:prstGeom prst="roundRect">
            <a:avLst>
              <a:gd name="adj" fmla="val 3117"/>
            </a:avLst>
          </a:prstGeom>
          <a:solidFill>
            <a:schemeClr val="bg2"/>
          </a:solidFill>
          <a:ln w="12700">
            <a:solidFill>
              <a:schemeClr val="bg2"/>
            </a:solidFill>
            <a:prstDash val="solid"/>
          </a:ln>
        </p:spPr>
      </p:sp>
      <p:sp>
        <p:nvSpPr>
          <p:cNvPr id="9" name="ana-ik-1-sirkulu"/>
          <p:cNvSpPr/>
          <p:nvPr/>
        </p:nvSpPr>
        <p:spPr>
          <a:xfrm>
            <a:off x="5554980" y="1691640"/>
            <a:ext cx="1005840" cy="1005840"/>
          </a:xfrm>
          <a:prstGeom prst="ellipse">
            <a:avLst/>
          </a:prstGeom>
          <a:solidFill>
            <a:schemeClr val="accent5"/>
          </a:solidFill>
          <a:ln w="12700">
            <a:solidFill>
              <a:schemeClr val="accent5"/>
            </a:solidFill>
            <a:prstDash val="solid"/>
          </a:ln>
        </p:spPr>
      </p:sp>
      <p:pic>
        <p:nvPicPr>
          <p:cNvPr id="10" name="ana-ik-1-ikone" descr="preencoded.png">    </p:cNvPr>
          <p:cNvPicPr>
            <a:picLocks noChangeAspect="1"/>
          </p:cNvPicPr>
          <p:nvPr/>
        </p:nvPicPr>
        <p:blipFill>
          <a:blip r:embed="rId2"/>
          <a:stretch>
            <a:fillRect/>
          </a:stretch>
        </p:blipFill>
        <p:spPr>
          <a:xfrm>
            <a:off x="5796382" y="1933042"/>
            <a:ext cx="523037" cy="523037"/>
          </a:xfrm>
          <a:prstGeom prst="rect">
            <a:avLst/>
          </a:prstGeom>
        </p:spPr>
      </p:pic>
      <p:sp>
        <p:nvSpPr>
          <p:cNvPr id="11" name="ana-n-1"/>
          <p:cNvSpPr txBox="1"/>
          <p:nvPr/>
        </p:nvSpPr>
        <p:spPr>
          <a:xfrm>
            <a:off x="4480560" y="2880360"/>
            <a:ext cx="3154680" cy="502920"/>
          </a:xfrm>
          <a:prstGeom prst="rect">
            <a:avLst/>
          </a:prstGeom>
          <a:noFill/>
          <a:ln/>
        </p:spPr>
        <p:txBody>
          <a:bodyPr wrap="square" lIns="0" tIns="0" rIns="0" bIns="0" rtlCol="0" anchor="t"/>
          <a:lstStyle/>
          <a:p>
            <a:pPr algn="ctr" indent="0" marL="0">
              <a:buNone/>
            </a:pPr>
            <a:r>
              <a:rPr lang="en-US" sz="2100" b="1" dirty="0">
                <a:solidFill>
                  <a:schemeClr val="tx2"/>
                </a:solidFill>
              </a:rPr>
              <a:t>Mapa (staf)</a:t>
            </a:r>
            <a:endParaRPr lang="en-US" sz="2100" dirty="0"/>
          </a:p>
        </p:txBody>
      </p:sp>
      <p:sp>
        <p:nvSpPr>
          <p:cNvPr id="12" name="ana-d-1"/>
          <p:cNvSpPr txBox="1"/>
          <p:nvPr/>
        </p:nvSpPr>
        <p:spPr>
          <a:xfrm>
            <a:off x="4572000" y="361188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Marka kada kazu; mean = urjente</a:t>
            </a:r>
            <a:endParaRPr lang="en-US" sz="1450" dirty="0"/>
          </a:p>
          <a:p>
            <a:pPr marL="342900" indent="-342900">
              <a:spcAft>
                <a:spcPts val="1000"/>
              </a:spcAft>
              <a:buSzPct val="100000"/>
              <a:buChar char="•"/>
            </a:pPr>
            <a:r>
              <a:rPr lang="en-US" sz="1450" dirty="0">
                <a:solidFill>
                  <a:schemeClr val="tx1"/>
                </a:solidFill>
              </a:rPr>
              <a:t>Haree uma besik (satélite)</a:t>
            </a:r>
            <a:endParaRPr lang="en-US" sz="1450" dirty="0"/>
          </a:p>
          <a:p>
            <a:pPr marL="342900" indent="-342900">
              <a:spcAft>
                <a:spcPts val="1000"/>
              </a:spcAft>
              <a:buSzPct val="100000"/>
              <a:buChar char="•"/>
            </a:pPr>
            <a:r>
              <a:rPr lang="en-US" sz="1450" dirty="0">
                <a:solidFill>
                  <a:schemeClr val="tx1"/>
                </a:solidFill>
              </a:rPr>
              <a:t>Ha'u-nia fatin: kazu iha 1 km</a:t>
            </a:r>
            <a:endParaRPr lang="en-US" sz="1450" dirty="0"/>
          </a:p>
        </p:txBody>
      </p:sp>
      <p:sp>
        <p:nvSpPr>
          <p:cNvPr id="13" name="ana-2"/>
          <p:cNvSpPr/>
          <p:nvPr/>
        </p:nvSpPr>
        <p:spPr>
          <a:xfrm>
            <a:off x="8046720" y="1325880"/>
            <a:ext cx="3520440" cy="4709160"/>
          </a:xfrm>
          <a:prstGeom prst="roundRect">
            <a:avLst>
              <a:gd name="adj" fmla="val 3117"/>
            </a:avLst>
          </a:prstGeom>
          <a:solidFill>
            <a:schemeClr val="bg2"/>
          </a:solidFill>
          <a:ln w="12700">
            <a:solidFill>
              <a:schemeClr val="bg2"/>
            </a:solidFill>
            <a:prstDash val="solid"/>
          </a:ln>
        </p:spPr>
      </p:sp>
      <p:sp>
        <p:nvSpPr>
          <p:cNvPr id="14" name="ana-ik-2-sirkulu"/>
          <p:cNvSpPr/>
          <p:nvPr/>
        </p:nvSpPr>
        <p:spPr>
          <a:xfrm>
            <a:off x="9304020" y="1691640"/>
            <a:ext cx="1005840" cy="1005840"/>
          </a:xfrm>
          <a:prstGeom prst="ellipse">
            <a:avLst/>
          </a:prstGeom>
          <a:solidFill>
            <a:schemeClr val="accent3"/>
          </a:solidFill>
          <a:ln w="12700">
            <a:solidFill>
              <a:schemeClr val="accent3"/>
            </a:solidFill>
            <a:prstDash val="solid"/>
          </a:ln>
        </p:spPr>
      </p:sp>
      <p:pic>
        <p:nvPicPr>
          <p:cNvPr id="15" name="ana-ik-2-ikone" descr="preencoded.png">    </p:cNvPr>
          <p:cNvPicPr>
            <a:picLocks noChangeAspect="1"/>
          </p:cNvPicPr>
          <p:nvPr/>
        </p:nvPicPr>
        <p:blipFill>
          <a:blip r:embed="rId3"/>
          <a:stretch>
            <a:fillRect/>
          </a:stretch>
        </p:blipFill>
        <p:spPr>
          <a:xfrm>
            <a:off x="9545422" y="1933042"/>
            <a:ext cx="523037" cy="523037"/>
          </a:xfrm>
          <a:prstGeom prst="rect">
            <a:avLst/>
          </a:prstGeom>
        </p:spPr>
      </p:pic>
      <p:sp>
        <p:nvSpPr>
          <p:cNvPr id="16" name="ana-n-2"/>
          <p:cNvSpPr txBox="1"/>
          <p:nvPr/>
        </p:nvSpPr>
        <p:spPr>
          <a:xfrm>
            <a:off x="8229600" y="2880360"/>
            <a:ext cx="3154680" cy="502920"/>
          </a:xfrm>
          <a:prstGeom prst="rect">
            <a:avLst/>
          </a:prstGeom>
          <a:noFill/>
          <a:ln/>
        </p:spPr>
        <p:txBody>
          <a:bodyPr wrap="square" lIns="0" tIns="0" rIns="0" bIns="0" rtlCol="0" anchor="t"/>
          <a:lstStyle/>
          <a:p>
            <a:pPr algn="ctr" indent="0" marL="0">
              <a:buNone/>
            </a:pPr>
            <a:r>
              <a:rPr lang="en-US" sz="2100" b="1" dirty="0">
                <a:solidFill>
                  <a:schemeClr val="tx2"/>
                </a:solidFill>
              </a:rPr>
              <a:t>Relatóriu</a:t>
            </a:r>
            <a:endParaRPr lang="en-US" sz="2100" dirty="0"/>
          </a:p>
        </p:txBody>
      </p:sp>
      <p:sp>
        <p:nvSpPr>
          <p:cNvPr id="17" name="ana-d-2"/>
          <p:cNvSpPr txBox="1"/>
          <p:nvPr/>
        </p:nvSpPr>
        <p:spPr>
          <a:xfrm>
            <a:off x="8321040" y="3611880"/>
            <a:ext cx="2971800" cy="21945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Filtru munisípiu, tipu, tinan, status</a:t>
            </a:r>
            <a:endParaRPr lang="en-US" sz="1450" dirty="0"/>
          </a:p>
          <a:p>
            <a:pPr marL="342900" indent="-342900">
              <a:spcAft>
                <a:spcPts val="1000"/>
              </a:spcAft>
              <a:buSzPct val="100000"/>
              <a:buChar char="•"/>
            </a:pPr>
            <a:r>
              <a:rPr lang="en-US" sz="1450" dirty="0">
                <a:solidFill>
                  <a:schemeClr val="tx1"/>
                </a:solidFill>
              </a:rPr>
              <a:t>PDF A4 · Print · Excel kompletu</a:t>
            </a:r>
            <a:endParaRPr lang="en-US" sz="1450" dirty="0"/>
          </a:p>
          <a:p>
            <a:pPr marL="342900" indent="-342900">
              <a:spcAft>
                <a:spcPts val="1000"/>
              </a:spcAft>
              <a:buSzPct val="100000"/>
              <a:buChar char="•"/>
            </a:pPr>
            <a:r>
              <a:rPr lang="en-US" sz="1450" dirty="0">
                <a:solidFill>
                  <a:schemeClr val="tx1"/>
                </a:solidFill>
              </a:rPr>
              <a:t>Excel la'ós públiku: rai seguru</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Ofisiál Legál: prosesu, dokumentu no prazu iha fatin ida</a:t>
            </a:r>
            <a:endParaRPr lang="en-US" sz="2600" dirty="0"/>
          </a:p>
        </p:txBody>
      </p:sp>
      <p:sp>
        <p:nvSpPr>
          <p:cNvPr id="3" name="chev-0"/>
          <p:cNvSpPr/>
          <p:nvPr/>
        </p:nvSpPr>
        <p:spPr>
          <a:xfrm>
            <a:off x="548640" y="1325880"/>
            <a:ext cx="2880360" cy="868680"/>
          </a:xfrm>
          <a:prstGeom prst="chevron">
            <a:avLst/>
          </a:prstGeom>
          <a:solidFill>
            <a:schemeClr val="accent5"/>
          </a:solidFill>
          <a:ln w="12700">
            <a:solidFill>
              <a:schemeClr val="accent5"/>
            </a:solidFill>
            <a:prstDash val="solid"/>
          </a:ln>
        </p:spPr>
      </p:sp>
      <p:sp>
        <p:nvSpPr>
          <p:cNvPr id="4" name="chev-t-0"/>
          <p:cNvSpPr txBox="1"/>
          <p:nvPr/>
        </p:nvSpPr>
        <p:spPr>
          <a:xfrm>
            <a:off x="960120" y="1325880"/>
            <a:ext cx="2057400" cy="868680"/>
          </a:xfrm>
          <a:prstGeom prst="rect">
            <a:avLst/>
          </a:prstGeom>
          <a:noFill/>
          <a:ln/>
        </p:spPr>
        <p:txBody>
          <a:bodyPr wrap="square" lIns="0" tIns="0" rIns="0" bIns="0" rtlCol="0" anchor="ctr"/>
          <a:lstStyle/>
          <a:p>
            <a:pPr algn="ctr" indent="0" marL="0">
              <a:buNone/>
            </a:pPr>
            <a:r>
              <a:rPr lang="en-US" sz="1700" b="1" dirty="0">
                <a:solidFill>
                  <a:schemeClr val="bg1"/>
                </a:solidFill>
              </a:rPr>
              <a:t>Abertu</a:t>
            </a:r>
            <a:endParaRPr lang="en-US" sz="1700" dirty="0"/>
          </a:p>
        </p:txBody>
      </p:sp>
      <p:sp>
        <p:nvSpPr>
          <p:cNvPr id="5" name="chev-1"/>
          <p:cNvSpPr/>
          <p:nvPr/>
        </p:nvSpPr>
        <p:spPr>
          <a:xfrm>
            <a:off x="3337560" y="1325880"/>
            <a:ext cx="2880360" cy="868680"/>
          </a:xfrm>
          <a:prstGeom prst="chevron">
            <a:avLst/>
          </a:prstGeom>
          <a:solidFill>
            <a:schemeClr val="accent1"/>
          </a:solidFill>
          <a:ln w="12700">
            <a:solidFill>
              <a:schemeClr val="accent1"/>
            </a:solidFill>
            <a:prstDash val="solid"/>
          </a:ln>
        </p:spPr>
      </p:sp>
      <p:sp>
        <p:nvSpPr>
          <p:cNvPr id="6" name="chev-t-1"/>
          <p:cNvSpPr txBox="1"/>
          <p:nvPr/>
        </p:nvSpPr>
        <p:spPr>
          <a:xfrm>
            <a:off x="3749040" y="1325880"/>
            <a:ext cx="2057400" cy="868680"/>
          </a:xfrm>
          <a:prstGeom prst="rect">
            <a:avLst/>
          </a:prstGeom>
          <a:noFill/>
          <a:ln/>
        </p:spPr>
        <p:txBody>
          <a:bodyPr wrap="square" lIns="0" tIns="0" rIns="0" bIns="0" rtlCol="0" anchor="ctr"/>
          <a:lstStyle/>
          <a:p>
            <a:pPr algn="ctr" indent="0" marL="0">
              <a:buNone/>
            </a:pPr>
            <a:r>
              <a:rPr lang="en-US" sz="1700" b="1" dirty="0">
                <a:solidFill>
                  <a:schemeClr val="bg1"/>
                </a:solidFill>
              </a:rPr>
              <a:t>Investigasaun</a:t>
            </a:r>
            <a:endParaRPr lang="en-US" sz="1700" dirty="0"/>
          </a:p>
        </p:txBody>
      </p:sp>
      <p:sp>
        <p:nvSpPr>
          <p:cNvPr id="7" name="chev-2"/>
          <p:cNvSpPr/>
          <p:nvPr/>
        </p:nvSpPr>
        <p:spPr>
          <a:xfrm>
            <a:off x="6126480" y="1325880"/>
            <a:ext cx="2880360" cy="868680"/>
          </a:xfrm>
          <a:prstGeom prst="chevron">
            <a:avLst/>
          </a:prstGeom>
          <a:solidFill>
            <a:schemeClr val="accent3"/>
          </a:solidFill>
          <a:ln w="12700">
            <a:solidFill>
              <a:schemeClr val="accent3"/>
            </a:solidFill>
            <a:prstDash val="solid"/>
          </a:ln>
        </p:spPr>
      </p:sp>
      <p:sp>
        <p:nvSpPr>
          <p:cNvPr id="8" name="chev-t-2"/>
          <p:cNvSpPr txBox="1"/>
          <p:nvPr/>
        </p:nvSpPr>
        <p:spPr>
          <a:xfrm>
            <a:off x="6537960" y="1325880"/>
            <a:ext cx="2057400" cy="868680"/>
          </a:xfrm>
          <a:prstGeom prst="rect">
            <a:avLst/>
          </a:prstGeom>
          <a:noFill/>
          <a:ln/>
        </p:spPr>
        <p:txBody>
          <a:bodyPr wrap="square" lIns="0" tIns="0" rIns="0" bIns="0" rtlCol="0" anchor="ctr"/>
          <a:lstStyle/>
          <a:p>
            <a:pPr algn="ctr" indent="0" marL="0">
              <a:buNone/>
            </a:pPr>
            <a:r>
              <a:rPr lang="en-US" sz="1700" b="1" dirty="0">
                <a:solidFill>
                  <a:schemeClr val="bg1"/>
                </a:solidFill>
              </a:rPr>
              <a:t>Aksaun Legál</a:t>
            </a:r>
            <a:endParaRPr lang="en-US" sz="1700" dirty="0"/>
          </a:p>
        </p:txBody>
      </p:sp>
      <p:sp>
        <p:nvSpPr>
          <p:cNvPr id="9" name="chev-3"/>
          <p:cNvSpPr/>
          <p:nvPr/>
        </p:nvSpPr>
        <p:spPr>
          <a:xfrm>
            <a:off x="8915400" y="1325880"/>
            <a:ext cx="2880360" cy="868680"/>
          </a:xfrm>
          <a:prstGeom prst="chevron">
            <a:avLst/>
          </a:prstGeom>
          <a:solidFill>
            <a:schemeClr val="tx2"/>
          </a:solidFill>
          <a:ln w="12700">
            <a:solidFill>
              <a:schemeClr val="tx2"/>
            </a:solidFill>
            <a:prstDash val="solid"/>
          </a:ln>
        </p:spPr>
      </p:sp>
      <p:sp>
        <p:nvSpPr>
          <p:cNvPr id="10" name="chev-t-3"/>
          <p:cNvSpPr txBox="1"/>
          <p:nvPr/>
        </p:nvSpPr>
        <p:spPr>
          <a:xfrm>
            <a:off x="9326880" y="1325880"/>
            <a:ext cx="2057400" cy="868680"/>
          </a:xfrm>
          <a:prstGeom prst="rect">
            <a:avLst/>
          </a:prstGeom>
          <a:noFill/>
          <a:ln/>
        </p:spPr>
        <p:txBody>
          <a:bodyPr wrap="square" lIns="0" tIns="0" rIns="0" bIns="0" rtlCol="0" anchor="ctr"/>
          <a:lstStyle/>
          <a:p>
            <a:pPr algn="ctr" indent="0" marL="0">
              <a:buNone/>
            </a:pPr>
            <a:r>
              <a:rPr lang="en-US" sz="1700" b="1" dirty="0">
                <a:solidFill>
                  <a:schemeClr val="bg1"/>
                </a:solidFill>
              </a:rPr>
              <a:t>Taka</a:t>
            </a:r>
            <a:endParaRPr lang="en-US" sz="1700" dirty="0"/>
          </a:p>
        </p:txBody>
      </p:sp>
      <p:sp>
        <p:nvSpPr>
          <p:cNvPr id="11" name="chev-nota"/>
          <p:cNvSpPr txBox="1"/>
          <p:nvPr/>
        </p:nvSpPr>
        <p:spPr>
          <a:xfrm>
            <a:off x="548640" y="2286000"/>
            <a:ext cx="11064240" cy="365760"/>
          </a:xfrm>
          <a:prstGeom prst="rect">
            <a:avLst/>
          </a:prstGeom>
          <a:noFill/>
          <a:ln/>
        </p:spPr>
        <p:txBody>
          <a:bodyPr wrap="square" lIns="0" tIns="0" rIns="0" bIns="0" rtlCol="0" anchor="t"/>
          <a:lstStyle/>
          <a:p>
            <a:pPr indent="0" marL="0">
              <a:buNone/>
            </a:pPr>
            <a:r>
              <a:rPr lang="en-US" sz="1300" i="1" dirty="0">
                <a:solidFill>
                  <a:srgbClr val="5E6B66"/>
                </a:solidFill>
              </a:rPr>
              <a:t>Status prosesu kazu (hafoin verifika). Aksaun Legál → ekipa legál simu notifikasaun.</a:t>
            </a:r>
            <a:endParaRPr lang="en-US" sz="1300" dirty="0"/>
          </a:p>
        </p:txBody>
      </p:sp>
      <p:sp>
        <p:nvSpPr>
          <p:cNvPr id="12" name="leg-0"/>
          <p:cNvSpPr/>
          <p:nvPr/>
        </p:nvSpPr>
        <p:spPr>
          <a:xfrm>
            <a:off x="548640" y="2788920"/>
            <a:ext cx="3520440" cy="3291840"/>
          </a:xfrm>
          <a:prstGeom prst="roundRect">
            <a:avLst>
              <a:gd name="adj" fmla="val 3333"/>
            </a:avLst>
          </a:prstGeom>
          <a:solidFill>
            <a:schemeClr val="bg2"/>
          </a:solidFill>
          <a:ln w="12700">
            <a:solidFill>
              <a:schemeClr val="bg2"/>
            </a:solidFill>
            <a:prstDash val="solid"/>
          </a:ln>
        </p:spPr>
      </p:sp>
      <p:sp>
        <p:nvSpPr>
          <p:cNvPr id="13" name="leg-ik-0-sirkulu"/>
          <p:cNvSpPr/>
          <p:nvPr/>
        </p:nvSpPr>
        <p:spPr>
          <a:xfrm>
            <a:off x="822960" y="3063240"/>
            <a:ext cx="731520" cy="731520"/>
          </a:xfrm>
          <a:prstGeom prst="ellipse">
            <a:avLst/>
          </a:prstGeom>
          <a:solidFill>
            <a:schemeClr val="accent1"/>
          </a:solidFill>
          <a:ln w="12700">
            <a:solidFill>
              <a:schemeClr val="accent1"/>
            </a:solidFill>
            <a:prstDash val="solid"/>
          </a:ln>
        </p:spPr>
      </p:sp>
      <p:pic>
        <p:nvPicPr>
          <p:cNvPr id="14" name="leg-ik-0-ikone" descr="preencoded.png">    </p:cNvPr>
          <p:cNvPicPr>
            <a:picLocks noChangeAspect="1"/>
          </p:cNvPicPr>
          <p:nvPr/>
        </p:nvPicPr>
        <p:blipFill>
          <a:blip r:embed="rId1"/>
          <a:stretch>
            <a:fillRect/>
          </a:stretch>
        </p:blipFill>
        <p:spPr>
          <a:xfrm>
            <a:off x="998525" y="3238805"/>
            <a:ext cx="380390" cy="380390"/>
          </a:xfrm>
          <a:prstGeom prst="rect">
            <a:avLst/>
          </a:prstGeom>
        </p:spPr>
      </p:pic>
      <p:sp>
        <p:nvSpPr>
          <p:cNvPr id="15" name="leg-n-0"/>
          <p:cNvSpPr txBox="1"/>
          <p:nvPr/>
        </p:nvSpPr>
        <p:spPr>
          <a:xfrm>
            <a:off x="1737360" y="3136392"/>
            <a:ext cx="2194560" cy="566928"/>
          </a:xfrm>
          <a:prstGeom prst="rect">
            <a:avLst/>
          </a:prstGeom>
          <a:noFill/>
          <a:ln/>
        </p:spPr>
        <p:txBody>
          <a:bodyPr wrap="square" lIns="0" tIns="0" rIns="0" bIns="0" rtlCol="0" anchor="ctr"/>
          <a:lstStyle/>
          <a:p>
            <a:pPr indent="0" marL="0">
              <a:buNone/>
            </a:pPr>
            <a:r>
              <a:rPr lang="en-US" sz="1800" b="1" dirty="0">
                <a:solidFill>
                  <a:schemeClr val="tx2"/>
                </a:solidFill>
              </a:rPr>
              <a:t>Vault dokumentu</a:t>
            </a:r>
            <a:endParaRPr lang="en-US" sz="1800" dirty="0"/>
          </a:p>
        </p:txBody>
      </p:sp>
      <p:sp>
        <p:nvSpPr>
          <p:cNvPr id="16" name="leg-d-0"/>
          <p:cNvSpPr txBox="1"/>
          <p:nvPr/>
        </p:nvSpPr>
        <p:spPr>
          <a:xfrm>
            <a:off x="822960" y="3977640"/>
            <a:ext cx="3063240" cy="19659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PDF, JPG, PNG, DOCX · máximu 20 MB</a:t>
            </a:r>
            <a:endParaRPr lang="en-US" sz="1350" dirty="0"/>
          </a:p>
          <a:p>
            <a:pPr marL="342900" indent="-342900">
              <a:spcAft>
                <a:spcPts val="600"/>
              </a:spcAft>
              <a:buSzPct val="100000"/>
              <a:buChar char="•"/>
            </a:pPr>
            <a:r>
              <a:rPr lang="en-US" sz="1350" dirty="0">
                <a:solidFill>
                  <a:schemeClr val="tx1"/>
                </a:solidFill>
              </a:rPr>
              <a:t>Versaun foun; tuan hela iha istória</a:t>
            </a:r>
            <a:endParaRPr lang="en-US" sz="1350" dirty="0"/>
          </a:p>
          <a:p>
            <a:pPr marL="342900" indent="-342900">
              <a:spcAft>
                <a:spcPts val="600"/>
              </a:spcAft>
              <a:buSzPct val="100000"/>
              <a:buChar char="•"/>
            </a:pPr>
            <a:r>
              <a:rPr lang="en-US" sz="1350" dirty="0">
                <a:solidFill>
                  <a:schemeClr val="tx1"/>
                </a:solidFill>
              </a:rPr>
              <a:t>Konfidensiál: Superadmin + Legál</a:t>
            </a:r>
            <a:endParaRPr lang="en-US" sz="1350" dirty="0"/>
          </a:p>
          <a:p>
            <a:pPr marL="342900" indent="-342900">
              <a:spcAft>
                <a:spcPts val="600"/>
              </a:spcAft>
              <a:buSzPct val="100000"/>
              <a:buChar char="•"/>
            </a:pPr>
            <a:r>
              <a:rPr lang="en-US" sz="1350" dirty="0">
                <a:solidFill>
                  <a:schemeClr val="tx1"/>
                </a:solidFill>
              </a:rPr>
              <a:t>Hash prova dokumentu la muda</a:t>
            </a:r>
            <a:endParaRPr lang="en-US" sz="1350" dirty="0"/>
          </a:p>
        </p:txBody>
      </p:sp>
      <p:sp>
        <p:nvSpPr>
          <p:cNvPr id="17" name="leg-1"/>
          <p:cNvSpPr/>
          <p:nvPr/>
        </p:nvSpPr>
        <p:spPr>
          <a:xfrm>
            <a:off x="4297680" y="2788920"/>
            <a:ext cx="3520440" cy="3291840"/>
          </a:xfrm>
          <a:prstGeom prst="roundRect">
            <a:avLst>
              <a:gd name="adj" fmla="val 3333"/>
            </a:avLst>
          </a:prstGeom>
          <a:solidFill>
            <a:schemeClr val="bg2"/>
          </a:solidFill>
          <a:ln w="12700">
            <a:solidFill>
              <a:schemeClr val="bg2"/>
            </a:solidFill>
            <a:prstDash val="solid"/>
          </a:ln>
        </p:spPr>
      </p:sp>
      <p:sp>
        <p:nvSpPr>
          <p:cNvPr id="18" name="leg-ik-1-sirkulu"/>
          <p:cNvSpPr/>
          <p:nvPr/>
        </p:nvSpPr>
        <p:spPr>
          <a:xfrm>
            <a:off x="4572000" y="3063240"/>
            <a:ext cx="731520" cy="731520"/>
          </a:xfrm>
          <a:prstGeom prst="ellipse">
            <a:avLst/>
          </a:prstGeom>
          <a:solidFill>
            <a:schemeClr val="accent3"/>
          </a:solidFill>
          <a:ln w="12700">
            <a:solidFill>
              <a:schemeClr val="accent3"/>
            </a:solidFill>
            <a:prstDash val="solid"/>
          </a:ln>
        </p:spPr>
      </p:sp>
      <p:pic>
        <p:nvPicPr>
          <p:cNvPr id="19" name="leg-ik-1-ikone" descr="preencoded.png">    </p:cNvPr>
          <p:cNvPicPr>
            <a:picLocks noChangeAspect="1"/>
          </p:cNvPicPr>
          <p:nvPr/>
        </p:nvPicPr>
        <p:blipFill>
          <a:blip r:embed="rId2"/>
          <a:stretch>
            <a:fillRect/>
          </a:stretch>
        </p:blipFill>
        <p:spPr>
          <a:xfrm>
            <a:off x="4747565" y="3238805"/>
            <a:ext cx="380390" cy="380390"/>
          </a:xfrm>
          <a:prstGeom prst="rect">
            <a:avLst/>
          </a:prstGeom>
        </p:spPr>
      </p:pic>
      <p:sp>
        <p:nvSpPr>
          <p:cNvPr id="20" name="leg-n-1"/>
          <p:cNvSpPr txBox="1"/>
          <p:nvPr/>
        </p:nvSpPr>
        <p:spPr>
          <a:xfrm>
            <a:off x="5486400" y="3136392"/>
            <a:ext cx="2194560" cy="566928"/>
          </a:xfrm>
          <a:prstGeom prst="rect">
            <a:avLst/>
          </a:prstGeom>
          <a:noFill/>
          <a:ln/>
        </p:spPr>
        <p:txBody>
          <a:bodyPr wrap="square" lIns="0" tIns="0" rIns="0" bIns="0" rtlCol="0" anchor="ctr"/>
          <a:lstStyle/>
          <a:p>
            <a:pPr indent="0" marL="0">
              <a:buNone/>
            </a:pPr>
            <a:r>
              <a:rPr lang="en-US" sz="1800" b="1" dirty="0">
                <a:solidFill>
                  <a:schemeClr val="tx2"/>
                </a:solidFill>
              </a:rPr>
              <a:t>Nota no prazu</a:t>
            </a:r>
            <a:endParaRPr lang="en-US" sz="1800" dirty="0"/>
          </a:p>
        </p:txBody>
      </p:sp>
      <p:sp>
        <p:nvSpPr>
          <p:cNvPr id="21" name="leg-d-1"/>
          <p:cNvSpPr txBox="1"/>
          <p:nvPr/>
        </p:nvSpPr>
        <p:spPr>
          <a:xfrm>
            <a:off x="4572000" y="3977640"/>
            <a:ext cx="3063240" cy="19659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Análize, konsellu, mediasaun, audiénsia</a:t>
            </a:r>
            <a:endParaRPr lang="en-US" sz="1350" dirty="0"/>
          </a:p>
          <a:p>
            <a:pPr marL="342900" indent="-342900">
              <a:spcAft>
                <a:spcPts val="600"/>
              </a:spcAft>
              <a:buSzPct val="100000"/>
              <a:buChar char="•"/>
            </a:pPr>
            <a:r>
              <a:rPr lang="en-US" sz="1350" dirty="0">
                <a:solidFill>
                  <a:schemeClr val="tx1"/>
                </a:solidFill>
              </a:rPr>
              <a:t>Lembrete loron 3 molok prazu</a:t>
            </a:r>
            <a:endParaRPr lang="en-US" sz="1350" dirty="0"/>
          </a:p>
          <a:p>
            <a:pPr marL="342900" indent="-342900">
              <a:spcAft>
                <a:spcPts val="600"/>
              </a:spcAft>
              <a:buSzPct val="100000"/>
              <a:buChar char="•"/>
            </a:pPr>
            <a:r>
              <a:rPr lang="en-US" sz="1350" dirty="0">
                <a:solidFill>
                  <a:schemeClr val="tx1"/>
                </a:solidFill>
              </a:rPr>
              <a:t>Marka Remata bainhira halo ona</a:t>
            </a:r>
            <a:endParaRPr lang="en-US" sz="1350" dirty="0"/>
          </a:p>
        </p:txBody>
      </p:sp>
      <p:sp>
        <p:nvSpPr>
          <p:cNvPr id="22" name="leg-2"/>
          <p:cNvSpPr/>
          <p:nvPr/>
        </p:nvSpPr>
        <p:spPr>
          <a:xfrm>
            <a:off x="8046720" y="2788920"/>
            <a:ext cx="3520440" cy="3291840"/>
          </a:xfrm>
          <a:prstGeom prst="roundRect">
            <a:avLst>
              <a:gd name="adj" fmla="val 3333"/>
            </a:avLst>
          </a:prstGeom>
          <a:solidFill>
            <a:schemeClr val="bg2"/>
          </a:solidFill>
          <a:ln w="12700">
            <a:solidFill>
              <a:schemeClr val="bg2"/>
            </a:solidFill>
            <a:prstDash val="solid"/>
          </a:ln>
        </p:spPr>
      </p:sp>
      <p:sp>
        <p:nvSpPr>
          <p:cNvPr id="23" name="leg-ik-2-sirkulu"/>
          <p:cNvSpPr/>
          <p:nvPr/>
        </p:nvSpPr>
        <p:spPr>
          <a:xfrm>
            <a:off x="8321040" y="3063240"/>
            <a:ext cx="731520" cy="731520"/>
          </a:xfrm>
          <a:prstGeom prst="ellipse">
            <a:avLst/>
          </a:prstGeom>
          <a:solidFill>
            <a:schemeClr val="accent5"/>
          </a:solidFill>
          <a:ln w="12700">
            <a:solidFill>
              <a:schemeClr val="accent5"/>
            </a:solidFill>
            <a:prstDash val="solid"/>
          </a:ln>
        </p:spPr>
      </p:sp>
      <p:pic>
        <p:nvPicPr>
          <p:cNvPr id="24" name="leg-ik-2-ikone" descr="preencoded.png">    </p:cNvPr>
          <p:cNvPicPr>
            <a:picLocks noChangeAspect="1"/>
          </p:cNvPicPr>
          <p:nvPr/>
        </p:nvPicPr>
        <p:blipFill>
          <a:blip r:embed="rId3"/>
          <a:stretch>
            <a:fillRect/>
          </a:stretch>
        </p:blipFill>
        <p:spPr>
          <a:xfrm>
            <a:off x="8496605" y="3238805"/>
            <a:ext cx="380390" cy="380390"/>
          </a:xfrm>
          <a:prstGeom prst="rect">
            <a:avLst/>
          </a:prstGeom>
        </p:spPr>
      </p:pic>
      <p:sp>
        <p:nvSpPr>
          <p:cNvPr id="25" name="leg-n-2"/>
          <p:cNvSpPr txBox="1"/>
          <p:nvPr/>
        </p:nvSpPr>
        <p:spPr>
          <a:xfrm>
            <a:off x="9235440" y="3136392"/>
            <a:ext cx="2194560" cy="566928"/>
          </a:xfrm>
          <a:prstGeom prst="rect">
            <a:avLst/>
          </a:prstGeom>
          <a:noFill/>
          <a:ln/>
        </p:spPr>
        <p:txBody>
          <a:bodyPr wrap="square" lIns="0" tIns="0" rIns="0" bIns="0" rtlCol="0" anchor="ctr"/>
          <a:lstStyle/>
          <a:p>
            <a:pPr indent="0" marL="0">
              <a:buNone/>
            </a:pPr>
            <a:r>
              <a:rPr lang="en-US" sz="1800" b="1" dirty="0">
                <a:solidFill>
                  <a:schemeClr val="tx2"/>
                </a:solidFill>
              </a:rPr>
              <a:t>Dossier</a:t>
            </a:r>
            <a:endParaRPr lang="en-US" sz="1800" dirty="0"/>
          </a:p>
        </p:txBody>
      </p:sp>
      <p:sp>
        <p:nvSpPr>
          <p:cNvPr id="26" name="leg-d-2"/>
          <p:cNvSpPr txBox="1"/>
          <p:nvPr/>
        </p:nvSpPr>
        <p:spPr>
          <a:xfrm>
            <a:off x="8321040" y="3977640"/>
            <a:ext cx="3063240" cy="19659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Pájina A4: dadus kazu, dokumentu, nota</a:t>
            </a:r>
            <a:endParaRPr lang="en-US" sz="1350" dirty="0"/>
          </a:p>
          <a:p>
            <a:pPr marL="342900" indent="-342900">
              <a:spcAft>
                <a:spcPts val="600"/>
              </a:spcAft>
              <a:buSzPct val="100000"/>
              <a:buChar char="•"/>
            </a:pPr>
            <a:r>
              <a:rPr lang="en-US" sz="1350" dirty="0">
                <a:solidFill>
                  <a:schemeClr val="tx1"/>
                </a:solidFill>
              </a:rPr>
              <a:t>Print ka rai PDF ba tribunál</a:t>
            </a:r>
            <a:endParaRPr lang="en-US" sz="1350" dirty="0"/>
          </a:p>
          <a:p>
            <a:pPr marL="342900" indent="-342900">
              <a:spcAft>
                <a:spcPts val="600"/>
              </a:spcAft>
              <a:buSzPct val="100000"/>
              <a:buChar char="•"/>
            </a:pPr>
            <a:r>
              <a:rPr lang="en-US" sz="1350" dirty="0">
                <a:solidFill>
                  <a:schemeClr val="tx1"/>
                </a:solidFill>
              </a:rPr>
              <a:t>Download hotu rejista ba auditoria</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Portal públiku hatudu total deit, nunka ema ka uma</a:t>
            </a:r>
            <a:endParaRPr lang="en-US" sz="2600" dirty="0"/>
          </a:p>
        </p:txBody>
      </p:sp>
      <p:sp>
        <p:nvSpPr>
          <p:cNvPr id="3" name="priv-0"/>
          <p:cNvSpPr/>
          <p:nvPr/>
        </p:nvSpPr>
        <p:spPr>
          <a:xfrm>
            <a:off x="548640" y="1325880"/>
            <a:ext cx="2514600" cy="2148840"/>
          </a:xfrm>
          <a:prstGeom prst="roundRect">
            <a:avLst>
              <a:gd name="adj" fmla="val 5106"/>
            </a:avLst>
          </a:prstGeom>
          <a:solidFill>
            <a:schemeClr val="bg2"/>
          </a:solidFill>
          <a:ln w="12700">
            <a:solidFill>
              <a:schemeClr val="bg2"/>
            </a:solidFill>
            <a:prstDash val="solid"/>
          </a:ln>
        </p:spPr>
      </p:sp>
      <p:sp>
        <p:nvSpPr>
          <p:cNvPr id="4" name="priv-n-0"/>
          <p:cNvSpPr txBox="1"/>
          <p:nvPr/>
        </p:nvSpPr>
        <p:spPr>
          <a:xfrm>
            <a:off x="731520" y="1554480"/>
            <a:ext cx="2148840" cy="10515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&lt; 3</a:t>
            </a:r>
            <a:endParaRPr lang="en-US" sz="4000" dirty="0"/>
          </a:p>
        </p:txBody>
      </p:sp>
      <p:sp>
        <p:nvSpPr>
          <p:cNvPr id="5" name="priv-d-0"/>
          <p:cNvSpPr txBox="1"/>
          <p:nvPr/>
        </p:nvSpPr>
        <p:spPr>
          <a:xfrm>
            <a:off x="731520" y="2651760"/>
            <a:ext cx="2148840" cy="640080"/>
          </a:xfrm>
          <a:prstGeom prst="rect">
            <a:avLst/>
          </a:prstGeom>
          <a:noFill/>
          <a:ln/>
        </p:spPr>
        <p:txBody>
          <a:bodyPr wrap="square" lIns="0" tIns="0" rIns="0" bIns="0" rtlCol="0" anchor="t"/>
          <a:lstStyle/>
          <a:p>
            <a:pPr algn="ctr" indent="0" marL="0">
              <a:buNone/>
            </a:pPr>
            <a:r>
              <a:rPr lang="en-US" sz="1400" dirty="0">
                <a:solidFill>
                  <a:schemeClr val="tx1"/>
                </a:solidFill>
              </a:rPr>
              <a:t>Númeru 1 no 2 subar</a:t>
            </a:r>
            <a:endParaRPr lang="en-US" sz="1400" dirty="0"/>
          </a:p>
        </p:txBody>
      </p:sp>
      <p:sp>
        <p:nvSpPr>
          <p:cNvPr id="6" name="priv-1"/>
          <p:cNvSpPr/>
          <p:nvPr/>
        </p:nvSpPr>
        <p:spPr>
          <a:xfrm>
            <a:off x="3291840" y="1325880"/>
            <a:ext cx="2514600" cy="2148840"/>
          </a:xfrm>
          <a:prstGeom prst="roundRect">
            <a:avLst>
              <a:gd name="adj" fmla="val 5106"/>
            </a:avLst>
          </a:prstGeom>
          <a:solidFill>
            <a:schemeClr val="bg2"/>
          </a:solidFill>
          <a:ln w="12700">
            <a:solidFill>
              <a:schemeClr val="bg2"/>
            </a:solidFill>
            <a:prstDash val="solid"/>
          </a:ln>
        </p:spPr>
      </p:sp>
      <p:sp>
        <p:nvSpPr>
          <p:cNvPr id="7" name="priv-n-1"/>
          <p:cNvSpPr txBox="1"/>
          <p:nvPr/>
        </p:nvSpPr>
        <p:spPr>
          <a:xfrm>
            <a:off x="3474720" y="1554480"/>
            <a:ext cx="2148840" cy="10515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 km</a:t>
            </a:r>
            <a:endParaRPr lang="en-US" sz="4000" dirty="0"/>
          </a:p>
        </p:txBody>
      </p:sp>
      <p:sp>
        <p:nvSpPr>
          <p:cNvPr id="8" name="priv-d-1"/>
          <p:cNvSpPr txBox="1"/>
          <p:nvPr/>
        </p:nvSpPr>
        <p:spPr>
          <a:xfrm>
            <a:off x="3474720" y="2651760"/>
            <a:ext cx="2148840" cy="640080"/>
          </a:xfrm>
          <a:prstGeom prst="rect">
            <a:avLst/>
          </a:prstGeom>
          <a:noFill/>
          <a:ln/>
        </p:spPr>
        <p:txBody>
          <a:bodyPr wrap="square" lIns="0" tIns="0" rIns="0" bIns="0" rtlCol="0" anchor="t"/>
          <a:lstStyle/>
          <a:p>
            <a:pPr algn="ctr" indent="0" marL="0">
              <a:buNone/>
            </a:pPr>
            <a:r>
              <a:rPr lang="en-US" sz="1400" dirty="0">
                <a:solidFill>
                  <a:schemeClr val="tx1"/>
                </a:solidFill>
              </a:rPr>
              <a:t>Fatin kazu aproksimadu</a:t>
            </a:r>
            <a:endParaRPr lang="en-US" sz="1400" dirty="0"/>
          </a:p>
        </p:txBody>
      </p:sp>
      <p:sp>
        <p:nvSpPr>
          <p:cNvPr id="9" name="priv-2"/>
          <p:cNvSpPr/>
          <p:nvPr/>
        </p:nvSpPr>
        <p:spPr>
          <a:xfrm>
            <a:off x="548640" y="3703320"/>
            <a:ext cx="2514600" cy="2148840"/>
          </a:xfrm>
          <a:prstGeom prst="roundRect">
            <a:avLst>
              <a:gd name="adj" fmla="val 5106"/>
            </a:avLst>
          </a:prstGeom>
          <a:solidFill>
            <a:schemeClr val="bg2"/>
          </a:solidFill>
          <a:ln w="12700">
            <a:solidFill>
              <a:schemeClr val="bg2"/>
            </a:solidFill>
            <a:prstDash val="solid"/>
          </a:ln>
        </p:spPr>
      </p:sp>
      <p:sp>
        <p:nvSpPr>
          <p:cNvPr id="10" name="priv-n-2"/>
          <p:cNvSpPr txBox="1"/>
          <p:nvPr/>
        </p:nvSpPr>
        <p:spPr>
          <a:xfrm>
            <a:off x="731520" y="3931920"/>
            <a:ext cx="2148840" cy="10515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12</a:t>
            </a:r>
            <a:endParaRPr lang="en-US" sz="4000" dirty="0"/>
          </a:p>
        </p:txBody>
      </p:sp>
      <p:sp>
        <p:nvSpPr>
          <p:cNvPr id="11" name="priv-d-2"/>
          <p:cNvSpPr txBox="1"/>
          <p:nvPr/>
        </p:nvSpPr>
        <p:spPr>
          <a:xfrm>
            <a:off x="731520" y="5029200"/>
            <a:ext cx="2148840" cy="640080"/>
          </a:xfrm>
          <a:prstGeom prst="rect">
            <a:avLst/>
          </a:prstGeom>
          <a:noFill/>
          <a:ln/>
        </p:spPr>
        <p:txBody>
          <a:bodyPr wrap="square" lIns="0" tIns="0" rIns="0" bIns="0" rtlCol="0" anchor="t"/>
          <a:lstStyle/>
          <a:p>
            <a:pPr algn="ctr" indent="0" marL="0">
              <a:buNone/>
            </a:pPr>
            <a:r>
              <a:rPr lang="en-US" sz="1400" dirty="0">
                <a:solidFill>
                  <a:schemeClr val="tx1"/>
                </a:solidFill>
              </a:rPr>
              <a:t>Zoom máximu mapa</a:t>
            </a:r>
            <a:endParaRPr lang="en-US" sz="1400" dirty="0"/>
          </a:p>
        </p:txBody>
      </p:sp>
      <p:sp>
        <p:nvSpPr>
          <p:cNvPr id="12" name="priv-3"/>
          <p:cNvSpPr/>
          <p:nvPr/>
        </p:nvSpPr>
        <p:spPr>
          <a:xfrm>
            <a:off x="3291840" y="3703320"/>
            <a:ext cx="2514600" cy="2148840"/>
          </a:xfrm>
          <a:prstGeom prst="roundRect">
            <a:avLst>
              <a:gd name="adj" fmla="val 5106"/>
            </a:avLst>
          </a:prstGeom>
          <a:solidFill>
            <a:schemeClr val="bg2"/>
          </a:solidFill>
          <a:ln w="12700">
            <a:solidFill>
              <a:schemeClr val="bg2"/>
            </a:solidFill>
            <a:prstDash val="solid"/>
          </a:ln>
        </p:spPr>
      </p:sp>
      <p:sp>
        <p:nvSpPr>
          <p:cNvPr id="13" name="priv-n-3"/>
          <p:cNvSpPr txBox="1"/>
          <p:nvPr/>
        </p:nvSpPr>
        <p:spPr>
          <a:xfrm>
            <a:off x="3474720" y="3931920"/>
            <a:ext cx="2148840" cy="10515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 3</a:t>
            </a:r>
            <a:endParaRPr lang="en-US" sz="4000" dirty="0"/>
          </a:p>
        </p:txBody>
      </p:sp>
      <p:sp>
        <p:nvSpPr>
          <p:cNvPr id="14" name="priv-d-3"/>
          <p:cNvSpPr txBox="1"/>
          <p:nvPr/>
        </p:nvSpPr>
        <p:spPr>
          <a:xfrm>
            <a:off x="3474720" y="5029200"/>
            <a:ext cx="2148840" cy="640080"/>
          </a:xfrm>
          <a:prstGeom prst="rect">
            <a:avLst/>
          </a:prstGeom>
          <a:noFill/>
          <a:ln/>
        </p:spPr>
        <p:txBody>
          <a:bodyPr wrap="square" lIns="0" tIns="0" rIns="0" bIns="0" rtlCol="0" anchor="t"/>
          <a:lstStyle/>
          <a:p>
            <a:pPr algn="ctr" indent="0" marL="0">
              <a:buNone/>
            </a:pPr>
            <a:r>
              <a:rPr lang="en-US" sz="1400" dirty="0">
                <a:solidFill>
                  <a:schemeClr val="tx1"/>
                </a:solidFill>
              </a:rPr>
              <a:t>Kazu atu hatudu detalla</a:t>
            </a:r>
            <a:endParaRPr lang="en-US" sz="1400" dirty="0"/>
          </a:p>
        </p:txBody>
      </p:sp>
      <p:sp>
        <p:nvSpPr>
          <p:cNvPr id="15" name="portal-h"/>
          <p:cNvSpPr txBox="1"/>
          <p:nvPr/>
        </p:nvSpPr>
        <p:spPr>
          <a:xfrm>
            <a:off x="6309360" y="1325880"/>
            <a:ext cx="5303520" cy="457200"/>
          </a:xfrm>
          <a:prstGeom prst="rect">
            <a:avLst/>
          </a:prstGeom>
          <a:noFill/>
          <a:ln/>
        </p:spPr>
        <p:txBody>
          <a:bodyPr wrap="square" lIns="0" tIns="0" rIns="0" bIns="0" rtlCol="0" anchor="t"/>
          <a:lstStyle/>
          <a:p>
            <a:pPr indent="0" marL="0">
              <a:buNone/>
            </a:pPr>
            <a:r>
              <a:rPr lang="en-US" sz="2000" b="1" dirty="0">
                <a:solidFill>
                  <a:schemeClr val="tx2"/>
                </a:solidFill>
              </a:rPr>
              <a:t>Saida mak portal hatudu</a:t>
            </a:r>
            <a:endParaRPr lang="en-US" sz="2000" dirty="0"/>
          </a:p>
        </p:txBody>
      </p:sp>
      <p:sp>
        <p:nvSpPr>
          <p:cNvPr id="16" name="portal-d"/>
          <p:cNvSpPr txBox="1"/>
          <p:nvPr/>
        </p:nvSpPr>
        <p:spPr>
          <a:xfrm>
            <a:off x="6309360" y="1874520"/>
            <a:ext cx="5303520" cy="21031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chemeClr val="tx1"/>
                </a:solidFill>
              </a:rPr>
              <a:t>Kazu Aprovadu / Remata, ho konsentimentu, la marka La publika</a:t>
            </a:r>
            <a:endParaRPr lang="en-US" sz="1450" dirty="0"/>
          </a:p>
          <a:p>
            <a:pPr marL="342900" indent="-342900">
              <a:spcAft>
                <a:spcPts val="800"/>
              </a:spcAft>
              <a:buSzPct val="100000"/>
              <a:buChar char="•"/>
            </a:pPr>
            <a:r>
              <a:rPr lang="en-US" sz="1450" dirty="0">
                <a:solidFill>
                  <a:schemeClr val="tx1"/>
                </a:solidFill>
              </a:rPr>
              <a:t>Pin númeru kada munisípiu → kartaun resumu → Haree Detalla</a:t>
            </a:r>
            <a:endParaRPr lang="en-US" sz="1450" dirty="0"/>
          </a:p>
          <a:p>
            <a:pPr marL="342900" indent="-342900">
              <a:spcAft>
                <a:spcPts val="800"/>
              </a:spcAft>
              <a:buSzPct val="100000"/>
              <a:buChar char="•"/>
            </a:pPr>
            <a:r>
              <a:rPr lang="en-US" sz="1450" dirty="0">
                <a:solidFill>
                  <a:schemeClr val="tx1"/>
                </a:solidFill>
              </a:rPr>
              <a:t>Gráfiku interativu: munisípiu, tipu, tinan, populasaun</a:t>
            </a:r>
            <a:endParaRPr lang="en-US" sz="1450" dirty="0"/>
          </a:p>
          <a:p>
            <a:pPr marL="342900" indent="-342900">
              <a:spcAft>
                <a:spcPts val="800"/>
              </a:spcAft>
              <a:buSzPct val="100000"/>
              <a:buChar char="•"/>
            </a:pPr>
            <a:r>
              <a:rPr lang="en-US" sz="1450" dirty="0">
                <a:solidFill>
                  <a:schemeClr val="tx1"/>
                </a:solidFill>
              </a:rPr>
              <a:t>Publikasaun (policy brief) ne'ebé publika ona</a:t>
            </a:r>
            <a:endParaRPr lang="en-US" sz="1450" dirty="0"/>
          </a:p>
        </p:txBody>
      </p:sp>
      <p:sp>
        <p:nvSpPr>
          <p:cNvPr id="17" name="pin-h"/>
          <p:cNvSpPr txBox="1"/>
          <p:nvPr/>
        </p:nvSpPr>
        <p:spPr>
          <a:xfrm>
            <a:off x="6309360" y="4160520"/>
            <a:ext cx="5303520" cy="411480"/>
          </a:xfrm>
          <a:prstGeom prst="rect">
            <a:avLst/>
          </a:prstGeom>
          <a:noFill/>
          <a:ln/>
        </p:spPr>
        <p:txBody>
          <a:bodyPr wrap="square" lIns="0" tIns="0" rIns="0" bIns="0" rtlCol="0" anchor="t"/>
          <a:lstStyle/>
          <a:p>
            <a:pPr indent="0" marL="0">
              <a:buNone/>
            </a:pPr>
            <a:r>
              <a:rPr lang="en-US" sz="1600" b="1" dirty="0">
                <a:solidFill>
                  <a:schemeClr val="tx2"/>
                </a:solidFill>
              </a:rPr>
              <a:t>Kór pin</a:t>
            </a:r>
            <a:endParaRPr lang="en-US" sz="1600" dirty="0"/>
          </a:p>
        </p:txBody>
      </p:sp>
      <p:sp>
        <p:nvSpPr>
          <p:cNvPr id="18" name="pin-0"/>
          <p:cNvSpPr/>
          <p:nvPr/>
        </p:nvSpPr>
        <p:spPr>
          <a:xfrm>
            <a:off x="6309360" y="4709160"/>
            <a:ext cx="502920" cy="502920"/>
          </a:xfrm>
          <a:prstGeom prst="ellipse">
            <a:avLst/>
          </a:prstGeom>
          <a:solidFill>
            <a:schemeClr val="accent4"/>
          </a:solidFill>
          <a:ln w="25400">
            <a:solidFill>
              <a:schemeClr val="bg1"/>
            </a:solidFill>
            <a:prstDash val="solid"/>
          </a:ln>
        </p:spPr>
      </p:sp>
      <p:sp>
        <p:nvSpPr>
          <p:cNvPr id="19" name="pin-t-0"/>
          <p:cNvSpPr txBox="1"/>
          <p:nvPr/>
        </p:nvSpPr>
        <p:spPr>
          <a:xfrm>
            <a:off x="6903720" y="4709160"/>
            <a:ext cx="1188720" cy="502920"/>
          </a:xfrm>
          <a:prstGeom prst="rect">
            <a:avLst/>
          </a:prstGeom>
          <a:noFill/>
          <a:ln/>
        </p:spPr>
        <p:txBody>
          <a:bodyPr wrap="square" lIns="0" tIns="0" rIns="0" bIns="0" rtlCol="0" anchor="ctr"/>
          <a:lstStyle/>
          <a:p>
            <a:pPr indent="0" marL="0">
              <a:buNone/>
            </a:pPr>
            <a:r>
              <a:rPr lang="en-US" sz="1400" dirty="0">
                <a:solidFill>
                  <a:schemeClr val="tx1"/>
                </a:solidFill>
              </a:rPr>
              <a:t>10 ka liu</a:t>
            </a:r>
            <a:endParaRPr lang="en-US" sz="1400" dirty="0"/>
          </a:p>
        </p:txBody>
      </p:sp>
      <p:sp>
        <p:nvSpPr>
          <p:cNvPr id="20" name="pin-1"/>
          <p:cNvSpPr/>
          <p:nvPr/>
        </p:nvSpPr>
        <p:spPr>
          <a:xfrm>
            <a:off x="8092440" y="4709160"/>
            <a:ext cx="502920" cy="502920"/>
          </a:xfrm>
          <a:prstGeom prst="ellipse">
            <a:avLst/>
          </a:prstGeom>
          <a:solidFill>
            <a:schemeClr val="accent3"/>
          </a:solidFill>
          <a:ln w="25400">
            <a:solidFill>
              <a:schemeClr val="bg1"/>
            </a:solidFill>
            <a:prstDash val="solid"/>
          </a:ln>
        </p:spPr>
      </p:sp>
      <p:sp>
        <p:nvSpPr>
          <p:cNvPr id="21" name="pin-t-1"/>
          <p:cNvSpPr txBox="1"/>
          <p:nvPr/>
        </p:nvSpPr>
        <p:spPr>
          <a:xfrm>
            <a:off x="8686800" y="4709160"/>
            <a:ext cx="1188720" cy="502920"/>
          </a:xfrm>
          <a:prstGeom prst="rect">
            <a:avLst/>
          </a:prstGeom>
          <a:noFill/>
          <a:ln/>
        </p:spPr>
        <p:txBody>
          <a:bodyPr wrap="square" lIns="0" tIns="0" rIns="0" bIns="0" rtlCol="0" anchor="ctr"/>
          <a:lstStyle/>
          <a:p>
            <a:pPr indent="0" marL="0">
              <a:buNone/>
            </a:pPr>
            <a:r>
              <a:rPr lang="en-US" sz="1400" dirty="0">
                <a:solidFill>
                  <a:schemeClr val="tx1"/>
                </a:solidFill>
              </a:rPr>
              <a:t>5 – 9</a:t>
            </a:r>
            <a:endParaRPr lang="en-US" sz="1400" dirty="0"/>
          </a:p>
        </p:txBody>
      </p:sp>
      <p:sp>
        <p:nvSpPr>
          <p:cNvPr id="22" name="pin-2"/>
          <p:cNvSpPr/>
          <p:nvPr/>
        </p:nvSpPr>
        <p:spPr>
          <a:xfrm>
            <a:off x="9875520" y="4709160"/>
            <a:ext cx="502920" cy="502920"/>
          </a:xfrm>
          <a:prstGeom prst="ellipse">
            <a:avLst/>
          </a:prstGeom>
          <a:solidFill>
            <a:schemeClr val="accent1"/>
          </a:solidFill>
          <a:ln w="25400">
            <a:solidFill>
              <a:schemeClr val="bg1"/>
            </a:solidFill>
            <a:prstDash val="solid"/>
          </a:ln>
        </p:spPr>
      </p:sp>
      <p:sp>
        <p:nvSpPr>
          <p:cNvPr id="23" name="pin-t-2"/>
          <p:cNvSpPr txBox="1"/>
          <p:nvPr/>
        </p:nvSpPr>
        <p:spPr>
          <a:xfrm>
            <a:off x="10469880" y="4709160"/>
            <a:ext cx="1188720" cy="502920"/>
          </a:xfrm>
          <a:prstGeom prst="rect">
            <a:avLst/>
          </a:prstGeom>
          <a:noFill/>
          <a:ln/>
        </p:spPr>
        <p:txBody>
          <a:bodyPr wrap="square" lIns="0" tIns="0" rIns="0" bIns="0" rtlCol="0" anchor="ctr"/>
          <a:lstStyle/>
          <a:p>
            <a:pPr indent="0" marL="0">
              <a:buNone/>
            </a:pPr>
            <a:r>
              <a:rPr lang="en-US" sz="1400" dirty="0">
                <a:solidFill>
                  <a:schemeClr val="tx1"/>
                </a:solidFill>
              </a:rPr>
              <a:t>1 – 4</a:t>
            </a:r>
            <a:endParaRPr lang="en-US" sz="1400" dirty="0"/>
          </a:p>
        </p:txBody>
      </p:sp>
      <p:sp>
        <p:nvSpPr>
          <p:cNvPr id="24" name="portal-nota"/>
          <p:cNvSpPr txBox="1"/>
          <p:nvPr/>
        </p:nvSpPr>
        <p:spPr>
          <a:xfrm>
            <a:off x="6309360" y="5486400"/>
            <a:ext cx="5303520" cy="411480"/>
          </a:xfrm>
          <a:prstGeom prst="rect">
            <a:avLst/>
          </a:prstGeom>
          <a:noFill/>
          <a:ln/>
        </p:spPr>
        <p:txBody>
          <a:bodyPr wrap="square" lIns="0" tIns="0" rIns="0" bIns="0" rtlCol="0" anchor="t"/>
          <a:lstStyle/>
          <a:p>
            <a:pPr indent="0" marL="0">
              <a:buNone/>
            </a:pPr>
            <a:r>
              <a:rPr lang="en-US" sz="1300" i="1" dirty="0">
                <a:solidFill>
                  <a:srgbClr val="5E6B66"/>
                </a:solidFill>
              </a:rPr>
              <a:t>Mapa staf (ho login) hatudu kazu ida-idak; portal la hatudu.</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Dadus ne'e kona-ba família iha konflitu: proteje sira</a:t>
            </a:r>
            <a:endParaRPr lang="en-US" sz="2600" dirty="0"/>
          </a:p>
        </p:txBody>
      </p:sp>
      <p:sp>
        <p:nvSpPr>
          <p:cNvPr id="3" name="seg-0"/>
          <p:cNvSpPr/>
          <p:nvPr/>
        </p:nvSpPr>
        <p:spPr>
          <a:xfrm>
            <a:off x="548640" y="1371600"/>
            <a:ext cx="2578608" cy="2148840"/>
          </a:xfrm>
          <a:prstGeom prst="roundRect">
            <a:avLst>
              <a:gd name="adj" fmla="val 5106"/>
            </a:avLst>
          </a:prstGeom>
          <a:solidFill>
            <a:schemeClr val="bg2"/>
          </a:solidFill>
          <a:ln w="12700">
            <a:solidFill>
              <a:schemeClr val="bg2"/>
            </a:solidFill>
            <a:prstDash val="solid"/>
          </a:ln>
        </p:spPr>
      </p:sp>
      <p:sp>
        <p:nvSpPr>
          <p:cNvPr id="4" name="seg-ik-0-sirkulu"/>
          <p:cNvSpPr/>
          <p:nvPr/>
        </p:nvSpPr>
        <p:spPr>
          <a:xfrm>
            <a:off x="1449324" y="1645920"/>
            <a:ext cx="777240" cy="777240"/>
          </a:xfrm>
          <a:prstGeom prst="ellipse">
            <a:avLst/>
          </a:prstGeom>
          <a:solidFill>
            <a:schemeClr val="tx2"/>
          </a:solidFill>
          <a:ln w="12700">
            <a:solidFill>
              <a:schemeClr val="tx2"/>
            </a:solidFill>
            <a:prstDash val="solid"/>
          </a:ln>
        </p:spPr>
      </p:sp>
      <p:pic>
        <p:nvPicPr>
          <p:cNvPr id="5" name="seg-ik-0-ikone" descr="preencoded.png">    </p:cNvPr>
          <p:cNvPicPr>
            <a:picLocks noChangeAspect="1"/>
          </p:cNvPicPr>
          <p:nvPr/>
        </p:nvPicPr>
        <p:blipFill>
          <a:blip r:embed="rId1"/>
          <a:stretch>
            <a:fillRect/>
          </a:stretch>
        </p:blipFill>
        <p:spPr>
          <a:xfrm>
            <a:off x="1635862" y="1832458"/>
            <a:ext cx="404165" cy="404165"/>
          </a:xfrm>
          <a:prstGeom prst="rect">
            <a:avLst/>
          </a:prstGeom>
        </p:spPr>
      </p:pic>
      <p:sp>
        <p:nvSpPr>
          <p:cNvPr id="6" name="seg-t-0"/>
          <p:cNvSpPr txBox="1"/>
          <p:nvPr/>
        </p:nvSpPr>
        <p:spPr>
          <a:xfrm>
            <a:off x="731520" y="256032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Keta fó password ka PIN ba ema seluk</a:t>
            </a:r>
            <a:endParaRPr lang="en-US" sz="1450" dirty="0"/>
          </a:p>
        </p:txBody>
      </p:sp>
      <p:sp>
        <p:nvSpPr>
          <p:cNvPr id="7" name="seg-1"/>
          <p:cNvSpPr/>
          <p:nvPr/>
        </p:nvSpPr>
        <p:spPr>
          <a:xfrm>
            <a:off x="3355848" y="1371600"/>
            <a:ext cx="2578608" cy="2148840"/>
          </a:xfrm>
          <a:prstGeom prst="roundRect">
            <a:avLst>
              <a:gd name="adj" fmla="val 5106"/>
            </a:avLst>
          </a:prstGeom>
          <a:solidFill>
            <a:schemeClr val="bg2"/>
          </a:solidFill>
          <a:ln w="12700">
            <a:solidFill>
              <a:schemeClr val="bg2"/>
            </a:solidFill>
            <a:prstDash val="solid"/>
          </a:ln>
        </p:spPr>
      </p:sp>
      <p:sp>
        <p:nvSpPr>
          <p:cNvPr id="8" name="seg-ik-1-sirkulu"/>
          <p:cNvSpPr/>
          <p:nvPr/>
        </p:nvSpPr>
        <p:spPr>
          <a:xfrm>
            <a:off x="4256532" y="1645920"/>
            <a:ext cx="777240" cy="777240"/>
          </a:xfrm>
          <a:prstGeom prst="ellipse">
            <a:avLst/>
          </a:prstGeom>
          <a:solidFill>
            <a:schemeClr val="tx2"/>
          </a:solidFill>
          <a:ln w="12700">
            <a:solidFill>
              <a:schemeClr val="tx2"/>
            </a:solidFill>
            <a:prstDash val="solid"/>
          </a:ln>
        </p:spPr>
      </p:sp>
      <p:pic>
        <p:nvPicPr>
          <p:cNvPr id="9" name="seg-ik-1-ikone" descr="preencoded.png">    </p:cNvPr>
          <p:cNvPicPr>
            <a:picLocks noChangeAspect="1"/>
          </p:cNvPicPr>
          <p:nvPr/>
        </p:nvPicPr>
        <p:blipFill>
          <a:blip r:embed="rId2"/>
          <a:stretch>
            <a:fillRect/>
          </a:stretch>
        </p:blipFill>
        <p:spPr>
          <a:xfrm>
            <a:off x="4443070" y="1832458"/>
            <a:ext cx="404165" cy="404165"/>
          </a:xfrm>
          <a:prstGeom prst="rect">
            <a:avLst/>
          </a:prstGeom>
        </p:spPr>
      </p:pic>
      <p:sp>
        <p:nvSpPr>
          <p:cNvPr id="10" name="seg-t-1"/>
          <p:cNvSpPr txBox="1"/>
          <p:nvPr/>
        </p:nvSpPr>
        <p:spPr>
          <a:xfrm>
            <a:off x="3538728" y="256032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Klik Sai iha komputadór komun</a:t>
            </a:r>
            <a:endParaRPr lang="en-US" sz="1450" dirty="0"/>
          </a:p>
        </p:txBody>
      </p:sp>
      <p:sp>
        <p:nvSpPr>
          <p:cNvPr id="11" name="seg-2"/>
          <p:cNvSpPr/>
          <p:nvPr/>
        </p:nvSpPr>
        <p:spPr>
          <a:xfrm>
            <a:off x="6163056" y="1371600"/>
            <a:ext cx="2578608" cy="2148840"/>
          </a:xfrm>
          <a:prstGeom prst="roundRect">
            <a:avLst>
              <a:gd name="adj" fmla="val 5106"/>
            </a:avLst>
          </a:prstGeom>
          <a:solidFill>
            <a:schemeClr val="bg2"/>
          </a:solidFill>
          <a:ln w="12700">
            <a:solidFill>
              <a:schemeClr val="bg2"/>
            </a:solidFill>
            <a:prstDash val="solid"/>
          </a:ln>
        </p:spPr>
      </p:sp>
      <p:sp>
        <p:nvSpPr>
          <p:cNvPr id="12" name="seg-ik-2-sirkulu"/>
          <p:cNvSpPr/>
          <p:nvPr/>
        </p:nvSpPr>
        <p:spPr>
          <a:xfrm>
            <a:off x="7063740" y="1645920"/>
            <a:ext cx="777240" cy="777240"/>
          </a:xfrm>
          <a:prstGeom prst="ellipse">
            <a:avLst/>
          </a:prstGeom>
          <a:solidFill>
            <a:schemeClr val="tx2"/>
          </a:solidFill>
          <a:ln w="12700">
            <a:solidFill>
              <a:schemeClr val="tx2"/>
            </a:solidFill>
            <a:prstDash val="solid"/>
          </a:ln>
        </p:spPr>
      </p:sp>
      <p:pic>
        <p:nvPicPr>
          <p:cNvPr id="13" name="seg-ik-2-ikone" descr="preencoded.png">    </p:cNvPr>
          <p:cNvPicPr>
            <a:picLocks noChangeAspect="1"/>
          </p:cNvPicPr>
          <p:nvPr/>
        </p:nvPicPr>
        <p:blipFill>
          <a:blip r:embed="rId3"/>
          <a:stretch>
            <a:fillRect/>
          </a:stretch>
        </p:blipFill>
        <p:spPr>
          <a:xfrm>
            <a:off x="7250278" y="1832458"/>
            <a:ext cx="404165" cy="404165"/>
          </a:xfrm>
          <a:prstGeom prst="rect">
            <a:avLst/>
          </a:prstGeom>
        </p:spPr>
      </p:pic>
      <p:sp>
        <p:nvSpPr>
          <p:cNvPr id="14" name="seg-t-2"/>
          <p:cNvSpPr txBox="1"/>
          <p:nvPr/>
        </p:nvSpPr>
        <p:spPr>
          <a:xfrm>
            <a:off x="6345936" y="256032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Keta foto ekran SMKRE ba WhatsApp</a:t>
            </a:r>
            <a:endParaRPr lang="en-US" sz="1450" dirty="0"/>
          </a:p>
        </p:txBody>
      </p:sp>
      <p:sp>
        <p:nvSpPr>
          <p:cNvPr id="15" name="seg-3"/>
          <p:cNvSpPr/>
          <p:nvPr/>
        </p:nvSpPr>
        <p:spPr>
          <a:xfrm>
            <a:off x="8970264" y="1371600"/>
            <a:ext cx="2578608" cy="2148840"/>
          </a:xfrm>
          <a:prstGeom prst="roundRect">
            <a:avLst>
              <a:gd name="adj" fmla="val 5106"/>
            </a:avLst>
          </a:prstGeom>
          <a:solidFill>
            <a:schemeClr val="bg2"/>
          </a:solidFill>
          <a:ln w="12700">
            <a:solidFill>
              <a:schemeClr val="bg2"/>
            </a:solidFill>
            <a:prstDash val="solid"/>
          </a:ln>
        </p:spPr>
      </p:sp>
      <p:sp>
        <p:nvSpPr>
          <p:cNvPr id="16" name="seg-ik-3-sirkulu"/>
          <p:cNvSpPr/>
          <p:nvPr/>
        </p:nvSpPr>
        <p:spPr>
          <a:xfrm>
            <a:off x="9870948" y="1645920"/>
            <a:ext cx="777240" cy="777240"/>
          </a:xfrm>
          <a:prstGeom prst="ellipse">
            <a:avLst/>
          </a:prstGeom>
          <a:solidFill>
            <a:schemeClr val="tx2"/>
          </a:solidFill>
          <a:ln w="12700">
            <a:solidFill>
              <a:schemeClr val="tx2"/>
            </a:solidFill>
            <a:prstDash val="solid"/>
          </a:ln>
        </p:spPr>
      </p:sp>
      <p:pic>
        <p:nvPicPr>
          <p:cNvPr id="17" name="seg-ik-3-ikone" descr="preencoded.png">    </p:cNvPr>
          <p:cNvPicPr>
            <a:picLocks noChangeAspect="1"/>
          </p:cNvPicPr>
          <p:nvPr/>
        </p:nvPicPr>
        <p:blipFill>
          <a:blip r:embed="rId4"/>
          <a:stretch>
            <a:fillRect/>
          </a:stretch>
        </p:blipFill>
        <p:spPr>
          <a:xfrm>
            <a:off x="10057486" y="1832458"/>
            <a:ext cx="404165" cy="404165"/>
          </a:xfrm>
          <a:prstGeom prst="rect">
            <a:avLst/>
          </a:prstGeom>
        </p:spPr>
      </p:pic>
      <p:sp>
        <p:nvSpPr>
          <p:cNvPr id="18" name="seg-t-3"/>
          <p:cNvSpPr txBox="1"/>
          <p:nvPr/>
        </p:nvSpPr>
        <p:spPr>
          <a:xfrm>
            <a:off x="9153144" y="256032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Excel / PDF: rai seguru, hamoos depois</a:t>
            </a:r>
            <a:endParaRPr lang="en-US" sz="1450" dirty="0"/>
          </a:p>
        </p:txBody>
      </p:sp>
      <p:sp>
        <p:nvSpPr>
          <p:cNvPr id="19" name="seg-4"/>
          <p:cNvSpPr/>
          <p:nvPr/>
        </p:nvSpPr>
        <p:spPr>
          <a:xfrm>
            <a:off x="548640" y="3749040"/>
            <a:ext cx="2578608" cy="2148840"/>
          </a:xfrm>
          <a:prstGeom prst="roundRect">
            <a:avLst>
              <a:gd name="adj" fmla="val 5106"/>
            </a:avLst>
          </a:prstGeom>
          <a:solidFill>
            <a:schemeClr val="bg2"/>
          </a:solidFill>
          <a:ln w="12700">
            <a:solidFill>
              <a:schemeClr val="bg2"/>
            </a:solidFill>
            <a:prstDash val="solid"/>
          </a:ln>
        </p:spPr>
      </p:sp>
      <p:sp>
        <p:nvSpPr>
          <p:cNvPr id="20" name="seg-ik-4-sirkulu"/>
          <p:cNvSpPr/>
          <p:nvPr/>
        </p:nvSpPr>
        <p:spPr>
          <a:xfrm>
            <a:off x="1449324" y="4023360"/>
            <a:ext cx="777240" cy="777240"/>
          </a:xfrm>
          <a:prstGeom prst="ellipse">
            <a:avLst/>
          </a:prstGeom>
          <a:solidFill>
            <a:schemeClr val="accent1"/>
          </a:solidFill>
          <a:ln w="12700">
            <a:solidFill>
              <a:schemeClr val="accent1"/>
            </a:solidFill>
            <a:prstDash val="solid"/>
          </a:ln>
        </p:spPr>
      </p:sp>
      <p:pic>
        <p:nvPicPr>
          <p:cNvPr id="21" name="seg-ik-4-ikone" descr="preencoded.png">    </p:cNvPr>
          <p:cNvPicPr>
            <a:picLocks noChangeAspect="1"/>
          </p:cNvPicPr>
          <p:nvPr/>
        </p:nvPicPr>
        <p:blipFill>
          <a:blip r:embed="rId5"/>
          <a:stretch>
            <a:fillRect/>
          </a:stretch>
        </p:blipFill>
        <p:spPr>
          <a:xfrm>
            <a:off x="1635862" y="4209898"/>
            <a:ext cx="404165" cy="404165"/>
          </a:xfrm>
          <a:prstGeom prst="rect">
            <a:avLst/>
          </a:prstGeom>
        </p:spPr>
      </p:pic>
      <p:sp>
        <p:nvSpPr>
          <p:cNvPr id="22" name="seg-t-4"/>
          <p:cNvSpPr txBox="1"/>
          <p:nvPr/>
        </p:nvSpPr>
        <p:spPr>
          <a:xfrm>
            <a:off x="731520" y="493776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Foti konsentimentu molok rekolla</a:t>
            </a:r>
            <a:endParaRPr lang="en-US" sz="1450" dirty="0"/>
          </a:p>
        </p:txBody>
      </p:sp>
      <p:sp>
        <p:nvSpPr>
          <p:cNvPr id="23" name="seg-5"/>
          <p:cNvSpPr/>
          <p:nvPr/>
        </p:nvSpPr>
        <p:spPr>
          <a:xfrm>
            <a:off x="3355848" y="3749040"/>
            <a:ext cx="2578608" cy="2148840"/>
          </a:xfrm>
          <a:prstGeom prst="roundRect">
            <a:avLst>
              <a:gd name="adj" fmla="val 5106"/>
            </a:avLst>
          </a:prstGeom>
          <a:solidFill>
            <a:schemeClr val="bg2"/>
          </a:solidFill>
          <a:ln w="12700">
            <a:solidFill>
              <a:schemeClr val="bg2"/>
            </a:solidFill>
            <a:prstDash val="solid"/>
          </a:ln>
        </p:spPr>
      </p:sp>
      <p:sp>
        <p:nvSpPr>
          <p:cNvPr id="24" name="seg-ik-5-sirkulu"/>
          <p:cNvSpPr/>
          <p:nvPr/>
        </p:nvSpPr>
        <p:spPr>
          <a:xfrm>
            <a:off x="4256532" y="4023360"/>
            <a:ext cx="777240" cy="777240"/>
          </a:xfrm>
          <a:prstGeom prst="ellipse">
            <a:avLst/>
          </a:prstGeom>
          <a:solidFill>
            <a:schemeClr val="accent1"/>
          </a:solidFill>
          <a:ln w="12700">
            <a:solidFill>
              <a:schemeClr val="accent1"/>
            </a:solidFill>
            <a:prstDash val="solid"/>
          </a:ln>
        </p:spPr>
      </p:sp>
      <p:pic>
        <p:nvPicPr>
          <p:cNvPr id="25" name="seg-ik-5-ikone" descr="preencoded.png">    </p:cNvPr>
          <p:cNvPicPr>
            <a:picLocks noChangeAspect="1"/>
          </p:cNvPicPr>
          <p:nvPr/>
        </p:nvPicPr>
        <p:blipFill>
          <a:blip r:embed="rId6"/>
          <a:stretch>
            <a:fillRect/>
          </a:stretch>
        </p:blipFill>
        <p:spPr>
          <a:xfrm>
            <a:off x="4443070" y="4209898"/>
            <a:ext cx="404165" cy="404165"/>
          </a:xfrm>
          <a:prstGeom prst="rect">
            <a:avLst/>
          </a:prstGeom>
        </p:spPr>
      </p:pic>
      <p:sp>
        <p:nvSpPr>
          <p:cNvPr id="26" name="seg-t-5"/>
          <p:cNvSpPr txBox="1"/>
          <p:nvPr/>
        </p:nvSpPr>
        <p:spPr>
          <a:xfrm>
            <a:off x="3538728" y="493776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Respeita husu La publika</a:t>
            </a:r>
            <a:endParaRPr lang="en-US" sz="1450" dirty="0"/>
          </a:p>
        </p:txBody>
      </p:sp>
      <p:sp>
        <p:nvSpPr>
          <p:cNvPr id="27" name="seg-6"/>
          <p:cNvSpPr/>
          <p:nvPr/>
        </p:nvSpPr>
        <p:spPr>
          <a:xfrm>
            <a:off x="6163056" y="3749040"/>
            <a:ext cx="2578608" cy="2148840"/>
          </a:xfrm>
          <a:prstGeom prst="roundRect">
            <a:avLst>
              <a:gd name="adj" fmla="val 5106"/>
            </a:avLst>
          </a:prstGeom>
          <a:solidFill>
            <a:schemeClr val="bg2"/>
          </a:solidFill>
          <a:ln w="12700">
            <a:solidFill>
              <a:schemeClr val="bg2"/>
            </a:solidFill>
            <a:prstDash val="solid"/>
          </a:ln>
        </p:spPr>
      </p:sp>
      <p:sp>
        <p:nvSpPr>
          <p:cNvPr id="28" name="seg-ik-6-sirkulu"/>
          <p:cNvSpPr/>
          <p:nvPr/>
        </p:nvSpPr>
        <p:spPr>
          <a:xfrm>
            <a:off x="7063740" y="4023360"/>
            <a:ext cx="777240" cy="777240"/>
          </a:xfrm>
          <a:prstGeom prst="ellipse">
            <a:avLst/>
          </a:prstGeom>
          <a:solidFill>
            <a:schemeClr val="accent1"/>
          </a:solidFill>
          <a:ln w="12700">
            <a:solidFill>
              <a:schemeClr val="accent1"/>
            </a:solidFill>
            <a:prstDash val="solid"/>
          </a:ln>
        </p:spPr>
      </p:sp>
      <p:pic>
        <p:nvPicPr>
          <p:cNvPr id="29" name="seg-ik-6-ikone" descr="preencoded.png">    </p:cNvPr>
          <p:cNvPicPr>
            <a:picLocks noChangeAspect="1"/>
          </p:cNvPicPr>
          <p:nvPr/>
        </p:nvPicPr>
        <p:blipFill>
          <a:blip r:embed="rId7"/>
          <a:stretch>
            <a:fillRect/>
          </a:stretch>
        </p:blipFill>
        <p:spPr>
          <a:xfrm>
            <a:off x="7250278" y="4209898"/>
            <a:ext cx="404165" cy="404165"/>
          </a:xfrm>
          <a:prstGeom prst="rect">
            <a:avLst/>
          </a:prstGeom>
        </p:spPr>
      </p:pic>
      <p:sp>
        <p:nvSpPr>
          <p:cNvPr id="30" name="seg-t-6"/>
          <p:cNvSpPr txBox="1"/>
          <p:nvPr/>
        </p:nvSpPr>
        <p:spPr>
          <a:xfrm>
            <a:off x="6345936" y="493776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HP lakon → informa Admin ohin</a:t>
            </a:r>
            <a:endParaRPr lang="en-US" sz="1450" dirty="0"/>
          </a:p>
        </p:txBody>
      </p:sp>
      <p:sp>
        <p:nvSpPr>
          <p:cNvPr id="31" name="seg-7"/>
          <p:cNvSpPr/>
          <p:nvPr/>
        </p:nvSpPr>
        <p:spPr>
          <a:xfrm>
            <a:off x="8970264" y="3749040"/>
            <a:ext cx="2578608" cy="2148840"/>
          </a:xfrm>
          <a:prstGeom prst="roundRect">
            <a:avLst>
              <a:gd name="adj" fmla="val 5106"/>
            </a:avLst>
          </a:prstGeom>
          <a:solidFill>
            <a:schemeClr val="bg2"/>
          </a:solidFill>
          <a:ln w="12700">
            <a:solidFill>
              <a:schemeClr val="bg2"/>
            </a:solidFill>
            <a:prstDash val="solid"/>
          </a:ln>
        </p:spPr>
      </p:sp>
      <p:sp>
        <p:nvSpPr>
          <p:cNvPr id="32" name="seg-ik-7-sirkulu"/>
          <p:cNvSpPr/>
          <p:nvPr/>
        </p:nvSpPr>
        <p:spPr>
          <a:xfrm>
            <a:off x="9870948" y="4023360"/>
            <a:ext cx="777240" cy="777240"/>
          </a:xfrm>
          <a:prstGeom prst="ellipse">
            <a:avLst/>
          </a:prstGeom>
          <a:solidFill>
            <a:schemeClr val="accent1"/>
          </a:solidFill>
          <a:ln w="12700">
            <a:solidFill>
              <a:schemeClr val="accent1"/>
            </a:solidFill>
            <a:prstDash val="solid"/>
          </a:ln>
        </p:spPr>
      </p:sp>
      <p:pic>
        <p:nvPicPr>
          <p:cNvPr id="33" name="seg-ik-7-ikone" descr="preencoded.png">    </p:cNvPr>
          <p:cNvPicPr>
            <a:picLocks noChangeAspect="1"/>
          </p:cNvPicPr>
          <p:nvPr/>
        </p:nvPicPr>
        <p:blipFill>
          <a:blip r:embed="rId8"/>
          <a:stretch>
            <a:fillRect/>
          </a:stretch>
        </p:blipFill>
        <p:spPr>
          <a:xfrm>
            <a:off x="10057486" y="4209898"/>
            <a:ext cx="404165" cy="404165"/>
          </a:xfrm>
          <a:prstGeom prst="rect">
            <a:avLst/>
          </a:prstGeom>
        </p:spPr>
      </p:pic>
      <p:sp>
        <p:nvSpPr>
          <p:cNvPr id="34" name="seg-t-7"/>
          <p:cNvSpPr txBox="1"/>
          <p:nvPr/>
        </p:nvSpPr>
        <p:spPr>
          <a:xfrm>
            <a:off x="9153144" y="4937760"/>
            <a:ext cx="2212848" cy="822960"/>
          </a:xfrm>
          <a:prstGeom prst="rect">
            <a:avLst/>
          </a:prstGeom>
          <a:noFill/>
          <a:ln/>
        </p:spPr>
        <p:txBody>
          <a:bodyPr wrap="square" lIns="0" tIns="0" rIns="0" bIns="0" rtlCol="0" anchor="t"/>
          <a:lstStyle/>
          <a:p>
            <a:pPr algn="ctr" indent="0" marL="0">
              <a:buNone/>
            </a:pPr>
            <a:r>
              <a:rPr lang="en-US" sz="1450" b="1" dirty="0">
                <a:solidFill>
                  <a:schemeClr val="tx2"/>
                </a:solidFill>
              </a:rPr>
              <a:t>Buat ruma la normal → informa Admin</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2600" b="1" dirty="0">
                <a:solidFill>
                  <a:schemeClr val="tx2"/>
                </a:solidFill>
              </a:rPr>
              <a:t>Problema komun no solusaun lalais</a:t>
            </a:r>
            <a:endParaRPr lang="en-US" sz="2600" dirty="0"/>
          </a:p>
        </p:txBody>
      </p:sp>
      <p:graphicFrame>
        <p:nvGraphicFramePr>
          <p:cNvPr id="18" name="faq"/>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657600"/>
                <a:gridCol w="7436815"/>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Problema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Solusaun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Haluha password</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Husu Admin Reset password</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Konta 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Hein minutu 30, ka husu Admin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Erru 403 / CSRF</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Pájina tuan: taka tab, loke fali</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Butaun xave</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Lee razaun iha okos butaun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La bele haruka kazu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Mensajen mean hatudu saida mak falta</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GPS la ativu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Loke GPS, fó autorizasaun, uza https://</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Haluha PIN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Kazu seidauk sinkron lakon; login fali, PIN foun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Kazu offline la sinkron</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Haree sinál, klik Sinkron, izin sei válidu?</a:t>
                      </a:r>
                      <a:endParaRPr lang="en-US" sz="1400" dirty="0">
                        <a:latin typeface="Calibri" charset="0"/>
                        <a:ea typeface="Calibri" charset="0"/>
                        <a:cs typeface="Calibri" charset="0"/>
                      </a:endParaRPr>
                    </a:p>
                  </a:txBody>
                  <a:tcPr marL="91440" marR="91440" marT="45720" marB="45720"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7863840" cy="1280160"/>
          </a:xfrm>
          <a:prstGeom prst="rect">
            <a:avLst/>
          </a:prstGeom>
          <a:noFill/>
          <a:ln/>
        </p:spPr>
        <p:txBody>
          <a:bodyPr wrap="square" lIns="0" tIns="0" rIns="0" bIns="0" rtlCol="0" anchor="b"/>
          <a:lstStyle/>
          <a:p>
            <a:pPr algn="l" indent="0" marL="0">
              <a:buNone/>
            </a:pPr>
            <a:r>
              <a:rPr lang="en-US" sz="5400" b="1" dirty="0">
                <a:solidFill>
                  <a:schemeClr val="bg1"/>
                </a:solidFill>
              </a:rPr>
              <a:t>Obrigadu! Pergunta?</a:t>
            </a:r>
            <a:endParaRPr lang="en-US" sz="5400" dirty="0"/>
          </a:p>
        </p:txBody>
      </p:sp>
      <p:sp>
        <p:nvSpPr>
          <p:cNvPr id="3" name="Text 0"/>
          <p:cNvSpPr/>
          <p:nvPr>
            <p:ph idx="101" type="body" hasCustomPrompt="1"/>
          </p:nvPr>
        </p:nvSpPr>
        <p:spPr>
          <a:xfrm>
            <a:off x="548640" y="3566160"/>
            <a:ext cx="7863840" cy="1463040"/>
          </a:xfrm>
          <a:prstGeom prst="rect">
            <a:avLst/>
          </a:prstGeom>
          <a:noFill/>
          <a:ln/>
        </p:spPr>
        <p:txBody>
          <a:bodyPr wrap="square" lIns="0" tIns="0" rIns="0" bIns="0" rtlCol="0" anchor="t"/>
          <a:lstStyle/>
          <a:p>
            <a:pPr indent="0" marL="0">
              <a:buNone/>
            </a:pPr>
            <a:r>
              <a:rPr lang="en-US" sz="2000" b="1" dirty="0">
                <a:solidFill>
                  <a:schemeClr val="accent2"/>
                </a:solidFill>
              </a:rPr>
              <a:t>Tuir mai: prátika iha sistema</a:t>
            </a:r>
            <a:endParaRPr lang="en-US" sz="2000" dirty="0"/>
          </a:p>
          <a:p>
            <a:pPr indent="0" marL="0">
              <a:buNone/>
            </a:pPr>
            <a:r>
              <a:rPr lang="en-US" sz="2000" dirty="0">
                <a:solidFill>
                  <a:schemeClr val="bg2"/>
                </a:solidFill>
              </a:rPr>
              <a:t>Login · troka password · rejista kazu teste · verifika · aprova</a:t>
            </a:r>
            <a:endParaRPr lang="en-US" sz="2000" dirty="0"/>
          </a:p>
          <a:p>
            <a:pPr indent="0" marL="0">
              <a:buNone/>
            </a:pPr>
            <a:r>
              <a:rPr lang="en-US" sz="2000" dirty="0">
                <a:solidFill>
                  <a:schemeClr val="bg2"/>
                </a:solidFill>
              </a:rPr>
              <a:t>Lee "Modul Formasaun SMKRE" ba detalla kada papél</a:t>
            </a:r>
            <a:endParaRPr lang="en-US" sz="2000" dirty="0"/>
          </a:p>
        </p:txBody>
      </p:sp>
      <p:sp>
        <p:nvSpPr>
          <p:cNvPr id="4" name="remata-ik-sirkulu"/>
          <p:cNvSpPr/>
          <p:nvPr/>
        </p:nvSpPr>
        <p:spPr>
          <a:xfrm>
            <a:off x="9235440" y="2194560"/>
            <a:ext cx="2011680" cy="2011680"/>
          </a:xfrm>
          <a:prstGeom prst="ellipse">
            <a:avLst/>
          </a:prstGeom>
          <a:solidFill>
            <a:schemeClr val="accent1"/>
          </a:solidFill>
          <a:ln w="12700">
            <a:solidFill>
              <a:schemeClr val="accent1"/>
            </a:solidFill>
            <a:prstDash val="solid"/>
          </a:ln>
        </p:spPr>
      </p:sp>
      <p:pic>
        <p:nvPicPr>
          <p:cNvPr id="5" name="remata-ik-ikone" descr="preencoded.png">    </p:cNvPr>
          <p:cNvPicPr>
            <a:picLocks noChangeAspect="1"/>
          </p:cNvPicPr>
          <p:nvPr/>
        </p:nvPicPr>
        <p:blipFill>
          <a:blip r:embed="rId1"/>
          <a:stretch>
            <a:fillRect/>
          </a:stretch>
        </p:blipFill>
        <p:spPr>
          <a:xfrm>
            <a:off x="9718243" y="2677363"/>
            <a:ext cx="1046074" cy="1046074"/>
          </a:xfrm>
          <a:prstGeom prst="rect">
            <a:avLst/>
          </a:prstGeom>
        </p:spPr>
      </p:pic>
    </p:spTree>
  </p:cSld>
  <p:clrMapOvr>
    <a:masterClrMapping/>
  </p:clrMapOvr>
</p:sld>
</file>

<file path=ppt/theme/theme1.xml><?xml version="1.0" encoding="utf-8"?>
<a:theme xmlns:a="http://schemas.openxmlformats.org/drawingml/2006/main" name="Rede ba Rai">
  <a:themeElements>
    <a:clrScheme name="Rede ba Rai">
      <a:dk1>
        <a:srgbClr val="1F2A26"/>
      </a:dk1>
      <a:lt1>
        <a:srgbClr val="FFFFFF"/>
      </a:lt1>
      <a:dk2>
        <a:srgbClr val="0B4F3C"/>
      </a:dk2>
      <a:lt2>
        <a:srgbClr val="EAF5EF"/>
      </a:lt2>
      <a:accent1>
        <a:srgbClr val="0E8A68"/>
      </a:accent1>
      <a:accent2>
        <a:srgbClr val="82DA36"/>
      </a:accent2>
      <a:accent3>
        <a:srgbClr val="E8772E"/>
      </a:accent3>
      <a:accent4>
        <a:srgbClr val="D63C3C"/>
      </a:accent4>
      <a:accent5>
        <a:srgbClr val="2F6AA6"/>
      </a:accent5>
      <a:accent6>
        <a:srgbClr val="C99A06"/>
      </a:accent6>
      <a:hlink>
        <a:srgbClr val="0E8A68"/>
      </a:hlink>
      <a:folHlink>
        <a:srgbClr val="0B6B50"/>
      </a:folHlink>
    </a:clrScheme>
    <a:fontScheme name="Rede ba R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Rede ba 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SMKRE — Formasaun Staf</dc:title>
  <dc:subject>PptxGenJS Presentation</dc:subject>
  <dc:creator>Rede ba Rai</dc:creator>
  <cp:lastModifiedBy>Rede ba Rai</cp:lastModifiedBy>
  <cp:revision>1</cp:revision>
  <dcterms:created xsi:type="dcterms:W3CDTF">2026-10-02T06:32:07Z</dcterms:created>
  <dcterms:modified xsi:type="dcterms:W3CDTF">2026-10-02T06:32:07Z</dcterms:modified>
</cp:coreProperties>
</file>