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saun" id="{0c5b1364-d8be-62e2-dae2-0fb68320b531}">
          <p14:sldIdLst>
            <p14:sldId id="256"/>
            <p14:sldId id="257"/>
          </p14:sldIdLst>
        </p14:section>
        <p14:section name="Saida mak Python" id="{1caf8fff-ecb6-7ecb-7c2d-e4cf00e1441e}">
          <p14:sldIdLst>
            <p14:sldId id="258"/>
            <p14:sldId id="259"/>
            <p14:sldId id="260"/>
            <p14:sldId id="261"/>
            <p14:sldId id="262"/>
          </p14:sldIdLst>
        </p14:section>
        <p14:section name="Istória Python" id="{9078c872-ca6b-8ad0-ca42-4f1913f8ac68}">
          <p14:sldIdLst>
            <p14:sldId id="263"/>
            <p14:sldId id="264"/>
            <p14:sldId id="265"/>
            <p14:sldId id="266"/>
            <p14:sldId id="267"/>
            <p14:sldId id="268"/>
            <p14:sldId id="269"/>
          </p14:sldIdLst>
        </p14:section>
        <p14:section name="Tanba sá RbR" id="{bc393917-6c11-b2fa-0e8a-ad545777962a}">
          <p14:sldIdLst>
            <p14:sldId id="270"/>
            <p14:sldId id="271"/>
            <p14:sldId id="272"/>
            <p14:sldId id="273"/>
            <p14:sldId id="274"/>
          </p14:sldIdLst>
        </p14:section>
        <p14:section name="Kódigu no Live" id="{30913769-c22c-1307-4c3d-97ee366e030a}">
          <p14:sldIdLst>
            <p14:sldId id="275"/>
            <p14:sldId id="276"/>
            <p14:sldId id="277"/>
            <p14:sldId id="278"/>
            <p14:sldId id="279"/>
            <p14:sldId id="280"/>
          </p14:sldIdLst>
        </p14:section>
        <p14:section name="Perguntas" id="{57897a90-6a48-f679-1776-1fd465fce302}">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2 min] Bondia hotu. Ohin ita sei ko'alia kona-ba Python: lian programasaun ne'ebé ita uza atu harii SIBAR-RbR. Importante: ohin la iha prátika hakerek kódigu. Ita la presiza komputadór. Objetivu mak atu komprende: saida mak Python, istória, no tanba sá ida-ne'e importante ba Rede ba Rai.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 – 3 min] Esplika agenda. Sesaun rua: antes deskansa ita aprende Python rasik; depois deskansa ita haree ligasaun ho Rede ba Rai no SIBAR-RbR. Perguntas bele husu kualkér tempu, maibé ita mós iha tempu espesiál ba tanya jawab iha rohan.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[10:05 – 4 min] Komputadór matenek tebes kalkula, maibé nia la komprende lian ema. Nia presiza instrusaun ne'ebé klaru no detalla. Python mak hanesan tradutór entre ita ho komputadór. Ezemplu: ita hakarak hatene kazu urjente hira; Python hakerek instrusaun ne'e, komputadór halo, no rezultadu mosu iha segundu 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[10:09 – 4 min] Analojia ne'ebé ema hotu komprende: resita te'in. Ingrediente mak dadus (lista kazu). Pasu mak instrusaun. Ai-han mak rezultadu (relatóriu, gráfiku). Programa Python mak resita: hakerek dala ida, depois komputadór bele 'te'in' fali kualkér tempu, ho dadus foun.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 – 4 min] Ema hotu iha ne'e koñese Excel. Excel di'ak ba tabela ki'ik. Maibé bainhira dadus barak no ita presiza halo relatóriu hanesan kada fulan, Python di'ak liu: hakerek instrusaun dala ida, depois automátiku. Pergunta ba partisipante: servisu saida mak imi halo fali kada fulan iha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[10:17 – 3 min] La presiza komprende kada liña. Hatudu de'it katak Python lee besik hanesan lian ema. Lee hamutuk ho partisipante: 'ba kazu ida-idak, se urjente, haruka notifikasaun'. Ida-ne'e mak lójika loos iha SIBAR-RbR bainhira kazu urjente 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5 min] Python hahú iha Dezembru 1989. Guido van Rossum, programadór husi Olanda, servisu iha sentru peskiza CWI iha Amsterdam. Iha feriadu Natál, nia hahú projetu ki'ik ida: lian programasaun foun. Nia hetan inspirasaun husi lian ABC, maibé hakarak lian ne'ebé simples liu no bele aumenta funsaun foun. Naran Python la'ós husi samea, maibé husi programa komédia BBC 'Monty Python's Flying Circus' ne'ebé Guido gosta. Ida-ne'e istória ne'ebé partisipante sei hanoin!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[10:25 – 6 min] Lee liña tempu husi karuk ba kuana. 1991: Guido fahe Python ba públiku dahuluk (versaun 0.9.0). 1994: Python 1.0. 2000: Python 2.0. 2001: harii Python Software Foundation, organizasaun la ho lukru ne'ebé kuida Python. 2008: Python 3.0: lian di'ak liu, maibé kódigu Python 2 tenke hadi'a. 2020: Python 2 remata ofisialmente. 2021: Python sai lian programasaun populár liu iha mundu tuir índise TIOBE. Ohin, kada tinan iha Outubru versaun foun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 – 5 min] Python iha versaun boot tolu. Python 1 hanesan baze. Python 2 halo Python populár iha web no sistema. Python 3, husi 2008, hadi'a sala sira uluk; ida-ne'e mak Python ne'ebé ita uza ohin, no SIBAR-RbR mós uza Python 3. Mudansa husi 2 ba 3 naruk tebes, tinan 12, tanba kódigu barak tenke hadi'a. Lisaun: sistema di'ak presiza planu ba futuru.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[10:36 – 5 min] Python la'ós kompañia nian. Python Software Foundation (2001) kuida Python no fó gratuitu. Guido mak lider ba tinan barak, maibé iha 2018 nia rezigna; agora Konsellu ema na'in 5, eleitu husi komunidade, mak foti desizaun. Filozofia Python iha 'Zen of Python' husi Tim Peters: simples, klaru no fásil atu lee. Ida-ne'e mós hanesan prinsípiu ne'ebé di'ak ba servisu Rede ba Rai: klaru no simples.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 – 4 min] Ohin Python uza iha fatin barak: analiza dadus, website, intelijénsia artifisiál, mapa, siénsia no automasaun. Kompañia boot uza: Google, YouTube, Netflix, Spotify, Dropbox. Instagram harii ho Django, framework Python ne'ebé ita mós uza ba SIBAR-RbR. Entaun SIBAR-RbR uza teknolojia hanesan ho kompañia boot. Hafoin ne'e: deskansa minutu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 – 10 min] Deskansa. Hahú fali 10:55.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 – 6 min] Tanba sá Rede ba Rai introdús Python? Tanba SIBAR-RbR, sistema ne'ebé ita uza loron-loron, harii iha Python. Kamada: Python mak lian; Django mak framework web ho Python; SIBAR-RbR mak sistema ita-nian. Númeru loos husi kódigu: liña kódigu Python resin 14.000, módulu 10, no teste automátiku 223 ne'ebé verifika sistema la'o loos molok kada atualizasaun.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 – 5 min] Staf la presiza sai programadór. Maibé hatene baze Python ajuda: komprende oinsá sistema kalkula númeru; ko'alia ho ekipa IT ho klaru; analiza dadus rasik husi export Excel ba advokasia; no sustentabilidade: koñesimentu la'ós iha ema ida de'it, maibé iha organizasaun.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[11:06 – 7 min] Istória jestaun dadus iha Rede ba Rai. Uluk, kazu rejista iha surat no papél: fásil lakon no susar atu buka. Depois Word: relatóriu kazu iha dokumentu, maibé dokumentu barak la hamutuk. Depois Excel: tabela, bele konta no filtra, maibé versaun barak no servisu manuál. Depois Airtable: baze sentrál online 'Kazu Hotu', maibé presiza selu no dadus iha sistema estranjeiru. Agora SIBAR-RbR: sistema rasik, online no offline, mapa no live dashboard, no Rede ba Rai mak na'in ba dadus. [Husu ba staf antigu: imi hanoin tempu surat no Excel? Saida mak susar liu?]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[11:13 – 5 min] Tabela ne'e hatudu diferensa. Buka kazu: uluk oras, agora segundu. Relatóriu: uluk manuál, agora automátiku iha dashboard. Terrenu la ho sinál: SIBAR-RbR iha app offline. Mapa no GPS: kazu hotu iha mapa. Seguransa: asesu tuir papél, PIN no log. No importante liu: Rede ba Rai mak na'in ba dadus.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 4 min] Ida-ne'e kódigu loos husi SIBAR-RbR, simplifika uitoan. La presiza komprende kada liña. Haree de'it: 'kazu.count()' signifika konta kazu. 'filter(urjente=True)' signifika hili de'it kazu urjente. Rezultadu mak kartaun númeru iha Live Dashboard kuana. Kada segundu 30 Python kalkula fali, no kada minutu númeru konta fali husi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[11:24 – 4 min] Kódigu ne'e grupu kazu tuir munisípiu ('kada munisípiu kazu hira?') no foti GPS husi kazu ida-idak. Rezultadu: mapa Timor-Leste ho kór tuir númeru kazu, no pontu kazu. Pontu mean mak kazu urjente, pontu kinur mak kazu foun iha loron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[11:28 – 3 min] 'TruncMonth' signifika koko data ba fulan de'it, atu konta kazu kada fulan. Rezultadu: gráfiku tendénsia. Ho ida-ne'e lideransa bele haree: kazu sa'e ka tun? Iha fulan ida-ne'ebé kazu barak liu?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 – 4 min] Ida-ne'e liga ba advokasia. Python hili kazu ne'ebé eviksaun akontese ona, depois konta resposta pergunta tolu: konsultasaun, notifikasaun no forsa. Kór mean hatudu resposta aat. Dadus ne'e mak evidénsia ba advokasia ho governu: 'husi kazu eviksaun X, Y la iha konsultasaun'.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 – 5 min] Target hirak ne'e proposta ba diskusaun, la'ós desizaun final. Husu ba partisipante: target ida-ne'ebé importante liu ba imi-nia servisu? Iha target seluk ka lae?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[11:40 – 5 min] Hatudu perguntas no resposta ne'ebé ema husu beibeik. Se partisipante nonok, uza slide ne'e atu hahú diskusaun: 'Ida-ne'ebé mak imi mós hakarak husu?' Depois loke ba perguntas livre.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 – 15 min] Perguntas livre to'o 12:00. Iha rohan: fahe modulu Word/PDF ba partisipante ne'ebé hakarak aprende tan. Obrigadu.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KSAU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E6B66"/>
                </a:solidFill>
              </a:rPr>
              <a:t>Python no SIBAR-RbR · Rede ba Rai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sirkulu"/>
          <p:cNvSpPr/>
          <p:nvPr/>
        </p:nvSpPr>
        <p:spPr>
          <a:xfrm>
            <a:off x="548640" y="548640"/>
            <a:ext cx="1280160" cy="1280160"/>
          </a:xfrm>
          <a:prstGeom prst="ellipse">
            <a:avLst/>
          </a:prstGeom>
          <a:solidFill>
            <a:schemeClr val="bg1"/>
          </a:solidFill>
          <a:ln w="12700">
            <a:solidFill>
              <a:schemeClr val="bg1"/>
            </a:solidFill>
            <a:prstDash val="solid"/>
          </a:ln>
        </p:spPr>
      </p:sp>
      <p:pic>
        <p:nvPicPr>
          <p:cNvPr id="3" name="logo" descr="/home/user/SMKRE/main/static/main/images/logo.png">    </p:cNvPr>
          <p:cNvPicPr>
            <a:picLocks noChangeAspect="1"/>
          </p:cNvPicPr>
          <p:nvPr/>
        </p:nvPicPr>
        <p:blipFill>
          <a:blip r:embed="rId1"/>
          <a:stretch>
            <a:fillRect/>
          </a:stretch>
        </p:blipFill>
        <p:spPr>
          <a:xfrm>
            <a:off x="731520" y="731520"/>
            <a:ext cx="914400" cy="914400"/>
          </a:xfrm>
          <a:prstGeom prst="rect">
            <a:avLst/>
          </a:prstGeom>
        </p:spPr>
      </p:pic>
      <p:sp>
        <p:nvSpPr>
          <p:cNvPr id="4"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Python</a:t>
            </a:r>
            <a:endParaRPr lang="en-US" sz="5000" dirty="0"/>
          </a:p>
        </p:txBody>
      </p:sp>
      <p:sp>
        <p:nvSpPr>
          <p:cNvPr id="5"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Lian ne'ebé harii SIBAR-RbR</a:t>
            </a:r>
            <a:endParaRPr lang="en-US" sz="2000" dirty="0"/>
          </a:p>
          <a:p>
            <a:pPr indent="0" marL="0">
              <a:buNone/>
            </a:pPr>
            <a:r>
              <a:rPr lang="en-US" sz="2000" b="1" dirty="0">
                <a:solidFill>
                  <a:schemeClr val="accent2"/>
                </a:solidFill>
              </a:rPr>
              <a:t>Sesaun koñesimentu ba staf Rede ba Rai · 10:00 – 12:00</a:t>
            </a:r>
            <a:endParaRPr lang="en-US" sz="2000" dirty="0"/>
          </a:p>
        </p:txBody>
      </p:sp>
      <p:sp>
        <p:nvSpPr>
          <p:cNvPr id="6" name="kapa-py-sirkulu"/>
          <p:cNvSpPr/>
          <p:nvPr/>
        </p:nvSpPr>
        <p:spPr>
          <a:xfrm>
            <a:off x="8778240" y="1371600"/>
            <a:ext cx="2377440" cy="2377440"/>
          </a:xfrm>
          <a:prstGeom prst="ellipse">
            <a:avLst/>
          </a:prstGeom>
          <a:solidFill>
            <a:schemeClr val="accent6"/>
          </a:solidFill>
          <a:ln w="12700">
            <a:solidFill>
              <a:schemeClr val="accent6"/>
            </a:solidFill>
            <a:prstDash val="solid"/>
          </a:ln>
        </p:spPr>
      </p:sp>
      <p:pic>
        <p:nvPicPr>
          <p:cNvPr id="7" name="kapa-py-ikone" descr="preencoded.png">    </p:cNvPr>
          <p:cNvPicPr>
            <a:picLocks noChangeAspect="1"/>
          </p:cNvPicPr>
          <p:nvPr/>
        </p:nvPicPr>
        <p:blipFill>
          <a:blip r:embed="rId2"/>
          <a:stretch>
            <a:fillRect/>
          </a:stretch>
        </p:blipFill>
        <p:spPr>
          <a:xfrm>
            <a:off x="9348826" y="1942186"/>
            <a:ext cx="1236269" cy="1236269"/>
          </a:xfrm>
          <a:prstGeom prst="rect">
            <a:avLst/>
          </a:prstGeom>
        </p:spPr>
      </p:pic>
      <p:sp>
        <p:nvSpPr>
          <p:cNvPr id="8" name="Text 4"/>
          <p:cNvSpPr txBox="1"/>
          <p:nvPr/>
        </p:nvSpPr>
        <p:spPr>
          <a:xfrm>
            <a:off x="8138160" y="4114800"/>
            <a:ext cx="3657600" cy="914400"/>
          </a:xfrm>
          <a:prstGeom prst="rect">
            <a:avLst/>
          </a:prstGeom>
          <a:noFill/>
          <a:ln/>
        </p:spPr>
        <p:txBody>
          <a:bodyPr wrap="square" lIns="0" tIns="0" rIns="0" bIns="0" rtlCol="0" anchor="t"/>
          <a:lstStyle/>
          <a:p>
            <a:pPr algn="ctr" indent="0" marL="0">
              <a:buNone/>
            </a:pPr>
            <a:r>
              <a:rPr lang="en-US" sz="1800" b="1" dirty="0">
                <a:solidFill>
                  <a:schemeClr val="bg1"/>
                </a:solidFill>
              </a:rPr>
              <a:t>Ohin: la iha prátika kódigu.</a:t>
            </a:r>
            <a:endParaRPr lang="en-US" sz="1800" dirty="0"/>
          </a:p>
          <a:p>
            <a:pPr algn="ctr" indent="0" marL="0">
              <a:buNone/>
            </a:pPr>
            <a:r>
              <a:rPr lang="en-US" sz="1800" b="1" dirty="0">
                <a:solidFill>
                  <a:schemeClr val="bg1"/>
                </a:solidFill>
              </a:rPr>
              <a:t>Komprende de'it.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Agenda ohin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10:02</a:t>
            </a:r>
            <a:endParaRPr lang="en-US" sz="1200" dirty="0"/>
          </a:p>
        </p:txBody>
      </p:sp>
      <p:sp>
        <p:nvSpPr>
          <p:cNvPr id="5" name="ag-l"/>
          <p:cNvSpPr/>
          <p:nvPr/>
        </p:nvSpPr>
        <p:spPr>
          <a:xfrm>
            <a:off x="2029968" y="1645920"/>
            <a:ext cx="0" cy="4169664"/>
          </a:xfrm>
          <a:prstGeom prst="line">
            <a:avLst/>
          </a:prstGeom>
          <a:noFill/>
          <a:ln w="25400">
            <a:solidFill>
              <a:schemeClr val="accent1"/>
            </a:solidFill>
            <a:prstDash val="solid"/>
          </a:ln>
        </p:spPr>
      </p:sp>
      <p:sp>
        <p:nvSpPr>
          <p:cNvPr id="6" name="Text 4"/>
          <p:cNvSpPr txBox="1"/>
          <p:nvPr/>
        </p:nvSpPr>
        <p:spPr>
          <a:xfrm>
            <a:off x="548640" y="148132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10:00</a:t>
            </a:r>
            <a:endParaRPr lang="en-US" sz="1700" dirty="0"/>
          </a:p>
        </p:txBody>
      </p:sp>
      <p:sp>
        <p:nvSpPr>
          <p:cNvPr id="7" name="ag-p-0"/>
          <p:cNvSpPr/>
          <p:nvPr/>
        </p:nvSpPr>
        <p:spPr>
          <a:xfrm>
            <a:off x="1920240" y="1536192"/>
            <a:ext cx="228600" cy="228600"/>
          </a:xfrm>
          <a:prstGeom prst="ellipse">
            <a:avLst/>
          </a:prstGeom>
          <a:solidFill>
            <a:schemeClr val="accent1"/>
          </a:solidFill>
          <a:ln w="25400">
            <a:solidFill>
              <a:schemeClr val="bg1"/>
            </a:solidFill>
            <a:prstDash val="solid"/>
          </a:ln>
        </p:spPr>
      </p:sp>
      <p:sp>
        <p:nvSpPr>
          <p:cNvPr id="8" name="Text 6"/>
          <p:cNvSpPr txBox="1"/>
          <p:nvPr/>
        </p:nvSpPr>
        <p:spPr>
          <a:xfrm>
            <a:off x="2423160" y="1444752"/>
            <a:ext cx="3840480" cy="411480"/>
          </a:xfrm>
          <a:prstGeom prst="rect">
            <a:avLst/>
          </a:prstGeom>
          <a:noFill/>
          <a:ln/>
        </p:spPr>
        <p:txBody>
          <a:bodyPr wrap="square" lIns="0" tIns="0" rIns="0" bIns="0" rtlCol="0" anchor="t"/>
          <a:lstStyle/>
          <a:p>
            <a:pPr indent="0" marL="0">
              <a:buNone/>
            </a:pPr>
            <a:r>
              <a:rPr lang="en-US" sz="1800" b="1" dirty="0">
                <a:solidFill>
                  <a:schemeClr val="tx2"/>
                </a:solidFill>
              </a:rPr>
              <a:t>Hahú</a:t>
            </a:r>
            <a:endParaRPr lang="en-US" sz="1800" dirty="0"/>
          </a:p>
        </p:txBody>
      </p:sp>
      <p:sp>
        <p:nvSpPr>
          <p:cNvPr id="9" name="Text 7"/>
          <p:cNvSpPr txBox="1"/>
          <p:nvPr/>
        </p:nvSpPr>
        <p:spPr>
          <a:xfrm>
            <a:off x="6355080" y="1472184"/>
            <a:ext cx="5287975" cy="411480"/>
          </a:xfrm>
          <a:prstGeom prst="rect">
            <a:avLst/>
          </a:prstGeom>
          <a:noFill/>
          <a:ln/>
        </p:spPr>
        <p:txBody>
          <a:bodyPr wrap="square" lIns="0" tIns="0" rIns="0" bIns="0" rtlCol="0" anchor="t"/>
          <a:lstStyle/>
          <a:p>
            <a:pPr indent="0" marL="0">
              <a:buNone/>
            </a:pPr>
            <a:r>
              <a:rPr lang="en-US" sz="1600" dirty="0">
                <a:solidFill>
                  <a:schemeClr val="tx1"/>
                </a:solidFill>
              </a:rPr>
              <a:t>Objetivu no agenda</a:t>
            </a:r>
            <a:endParaRPr lang="en-US" sz="1600" dirty="0"/>
          </a:p>
        </p:txBody>
      </p:sp>
      <p:sp>
        <p:nvSpPr>
          <p:cNvPr id="10" name="Text 8"/>
          <p:cNvSpPr txBox="1"/>
          <p:nvPr/>
        </p:nvSpPr>
        <p:spPr>
          <a:xfrm>
            <a:off x="548640" y="2176272"/>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10:05</a:t>
            </a:r>
            <a:endParaRPr lang="en-US" sz="1700" dirty="0"/>
          </a:p>
        </p:txBody>
      </p:sp>
      <p:sp>
        <p:nvSpPr>
          <p:cNvPr id="11" name="ag-p-1"/>
          <p:cNvSpPr/>
          <p:nvPr/>
        </p:nvSpPr>
        <p:spPr>
          <a:xfrm>
            <a:off x="1920240" y="2231136"/>
            <a:ext cx="228600" cy="228600"/>
          </a:xfrm>
          <a:prstGeom prst="ellipse">
            <a:avLst/>
          </a:prstGeom>
          <a:solidFill>
            <a:schemeClr val="accent1"/>
          </a:solidFill>
          <a:ln w="25400">
            <a:solidFill>
              <a:schemeClr val="bg1"/>
            </a:solidFill>
            <a:prstDash val="solid"/>
          </a:ln>
        </p:spPr>
      </p:sp>
      <p:sp>
        <p:nvSpPr>
          <p:cNvPr id="12" name="Text 10"/>
          <p:cNvSpPr txBox="1"/>
          <p:nvPr/>
        </p:nvSpPr>
        <p:spPr>
          <a:xfrm>
            <a:off x="2423160" y="2139696"/>
            <a:ext cx="3840480" cy="411480"/>
          </a:xfrm>
          <a:prstGeom prst="rect">
            <a:avLst/>
          </a:prstGeom>
          <a:noFill/>
          <a:ln/>
        </p:spPr>
        <p:txBody>
          <a:bodyPr wrap="square" lIns="0" tIns="0" rIns="0" bIns="0" rtlCol="0" anchor="t"/>
          <a:lstStyle/>
          <a:p>
            <a:pPr indent="0" marL="0">
              <a:buNone/>
            </a:pPr>
            <a:r>
              <a:rPr lang="en-US" sz="1800" b="1" dirty="0">
                <a:solidFill>
                  <a:schemeClr val="tx2"/>
                </a:solidFill>
              </a:rPr>
              <a:t>Saida mak Python?</a:t>
            </a:r>
            <a:endParaRPr lang="en-US" sz="1800" dirty="0"/>
          </a:p>
        </p:txBody>
      </p:sp>
      <p:sp>
        <p:nvSpPr>
          <p:cNvPr id="13" name="Text 11"/>
          <p:cNvSpPr txBox="1"/>
          <p:nvPr/>
        </p:nvSpPr>
        <p:spPr>
          <a:xfrm>
            <a:off x="6355080" y="2167128"/>
            <a:ext cx="5287975" cy="411480"/>
          </a:xfrm>
          <a:prstGeom prst="rect">
            <a:avLst/>
          </a:prstGeom>
          <a:noFill/>
          <a:ln/>
        </p:spPr>
        <p:txBody>
          <a:bodyPr wrap="square" lIns="0" tIns="0" rIns="0" bIns="0" rtlCol="0" anchor="t"/>
          <a:lstStyle/>
          <a:p>
            <a:pPr indent="0" marL="0">
              <a:buNone/>
            </a:pPr>
            <a:r>
              <a:rPr lang="en-US" sz="1600" dirty="0">
                <a:solidFill>
                  <a:schemeClr val="tx1"/>
                </a:solidFill>
              </a:rPr>
              <a:t>Esplika ho ezemplu loron-loron</a:t>
            </a:r>
            <a:endParaRPr lang="en-US" sz="1600" dirty="0"/>
          </a:p>
        </p:txBody>
      </p:sp>
      <p:sp>
        <p:nvSpPr>
          <p:cNvPr id="14" name="Text 12"/>
          <p:cNvSpPr txBox="1"/>
          <p:nvPr/>
        </p:nvSpPr>
        <p:spPr>
          <a:xfrm>
            <a:off x="548640" y="2871216"/>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10:20</a:t>
            </a:r>
            <a:endParaRPr lang="en-US" sz="1700" dirty="0"/>
          </a:p>
        </p:txBody>
      </p:sp>
      <p:sp>
        <p:nvSpPr>
          <p:cNvPr id="15" name="ag-p-2"/>
          <p:cNvSpPr/>
          <p:nvPr/>
        </p:nvSpPr>
        <p:spPr>
          <a:xfrm>
            <a:off x="1920240" y="2926080"/>
            <a:ext cx="228600" cy="228600"/>
          </a:xfrm>
          <a:prstGeom prst="ellipse">
            <a:avLst/>
          </a:prstGeom>
          <a:solidFill>
            <a:schemeClr val="accent1"/>
          </a:solidFill>
          <a:ln w="25400">
            <a:solidFill>
              <a:schemeClr val="bg1"/>
            </a:solidFill>
            <a:prstDash val="solid"/>
          </a:ln>
        </p:spPr>
      </p:sp>
      <p:sp>
        <p:nvSpPr>
          <p:cNvPr id="16" name="Text 14"/>
          <p:cNvSpPr txBox="1"/>
          <p:nvPr/>
        </p:nvSpPr>
        <p:spPr>
          <a:xfrm>
            <a:off x="2423160" y="2834640"/>
            <a:ext cx="3840480" cy="411480"/>
          </a:xfrm>
          <a:prstGeom prst="rect">
            <a:avLst/>
          </a:prstGeom>
          <a:noFill/>
          <a:ln/>
        </p:spPr>
        <p:txBody>
          <a:bodyPr wrap="square" lIns="0" tIns="0" rIns="0" bIns="0" rtlCol="0" anchor="t"/>
          <a:lstStyle/>
          <a:p>
            <a:pPr indent="0" marL="0">
              <a:buNone/>
            </a:pPr>
            <a:r>
              <a:rPr lang="en-US" sz="1800" b="1" dirty="0">
                <a:solidFill>
                  <a:schemeClr val="tx2"/>
                </a:solidFill>
              </a:rPr>
              <a:t>Istória Python</a:t>
            </a:r>
            <a:endParaRPr lang="en-US" sz="1800" dirty="0"/>
          </a:p>
        </p:txBody>
      </p:sp>
      <p:sp>
        <p:nvSpPr>
          <p:cNvPr id="17" name="Text 15"/>
          <p:cNvSpPr txBox="1"/>
          <p:nvPr/>
        </p:nvSpPr>
        <p:spPr>
          <a:xfrm>
            <a:off x="6355080" y="2862072"/>
            <a:ext cx="5287975" cy="411480"/>
          </a:xfrm>
          <a:prstGeom prst="rect">
            <a:avLst/>
          </a:prstGeom>
          <a:noFill/>
          <a:ln/>
        </p:spPr>
        <p:txBody>
          <a:bodyPr wrap="square" lIns="0" tIns="0" rIns="0" bIns="0" rtlCol="0" anchor="t"/>
          <a:lstStyle/>
          <a:p>
            <a:pPr indent="0" marL="0">
              <a:buNone/>
            </a:pPr>
            <a:r>
              <a:rPr lang="en-US" sz="1600" dirty="0">
                <a:solidFill>
                  <a:schemeClr val="tx1"/>
                </a:solidFill>
              </a:rPr>
              <a:t>Husi 1989 to'o ohin</a:t>
            </a:r>
            <a:endParaRPr lang="en-US" sz="1600" dirty="0"/>
          </a:p>
        </p:txBody>
      </p:sp>
      <p:sp>
        <p:nvSpPr>
          <p:cNvPr id="18" name="Text 16"/>
          <p:cNvSpPr txBox="1"/>
          <p:nvPr/>
        </p:nvSpPr>
        <p:spPr>
          <a:xfrm>
            <a:off x="548640" y="3566160"/>
            <a:ext cx="1143000" cy="365760"/>
          </a:xfrm>
          <a:prstGeom prst="rect">
            <a:avLst/>
          </a:prstGeom>
          <a:noFill/>
          <a:ln/>
        </p:spPr>
        <p:txBody>
          <a:bodyPr wrap="square" lIns="0" tIns="0" rIns="0" bIns="0" rtlCol="0" anchor="t"/>
          <a:lstStyle/>
          <a:p>
            <a:pPr algn="r" indent="0" marL="0">
              <a:buNone/>
            </a:pPr>
            <a:r>
              <a:rPr lang="en-US" sz="1700" b="1" dirty="0">
                <a:solidFill>
                  <a:srgbClr val="5E6B66"/>
                </a:solidFill>
              </a:rPr>
              <a:t>10:45</a:t>
            </a:r>
            <a:endParaRPr lang="en-US" sz="1700" dirty="0"/>
          </a:p>
        </p:txBody>
      </p:sp>
      <p:sp>
        <p:nvSpPr>
          <p:cNvPr id="19" name="ag-p-3"/>
          <p:cNvSpPr/>
          <p:nvPr/>
        </p:nvSpPr>
        <p:spPr>
          <a:xfrm>
            <a:off x="1920240" y="3621024"/>
            <a:ext cx="228600" cy="228600"/>
          </a:xfrm>
          <a:prstGeom prst="ellipse">
            <a:avLst/>
          </a:prstGeom>
          <a:solidFill>
            <a:srgbClr val="A3ADB0"/>
          </a:solidFill>
          <a:ln w="25400">
            <a:solidFill>
              <a:schemeClr val="bg1"/>
            </a:solidFill>
            <a:prstDash val="solid"/>
          </a:ln>
        </p:spPr>
      </p:sp>
      <p:sp>
        <p:nvSpPr>
          <p:cNvPr id="20" name="Text 18"/>
          <p:cNvSpPr txBox="1"/>
          <p:nvPr/>
        </p:nvSpPr>
        <p:spPr>
          <a:xfrm>
            <a:off x="2423160" y="3529584"/>
            <a:ext cx="3840480" cy="411480"/>
          </a:xfrm>
          <a:prstGeom prst="rect">
            <a:avLst/>
          </a:prstGeom>
          <a:noFill/>
          <a:ln/>
        </p:spPr>
        <p:txBody>
          <a:bodyPr wrap="square" lIns="0" tIns="0" rIns="0" bIns="0" rtlCol="0" anchor="t"/>
          <a:lstStyle/>
          <a:p>
            <a:pPr indent="0" marL="0">
              <a:buNone/>
            </a:pPr>
            <a:r>
              <a:rPr lang="en-US" sz="1800" b="1" dirty="0">
                <a:solidFill>
                  <a:srgbClr val="5E6B66"/>
                </a:solidFill>
              </a:rPr>
              <a:t>Deskansa</a:t>
            </a:r>
            <a:endParaRPr lang="en-US" sz="1800" dirty="0"/>
          </a:p>
        </p:txBody>
      </p:sp>
      <p:sp>
        <p:nvSpPr>
          <p:cNvPr id="21" name="Text 19"/>
          <p:cNvSpPr txBox="1"/>
          <p:nvPr/>
        </p:nvSpPr>
        <p:spPr>
          <a:xfrm>
            <a:off x="6355080" y="3557016"/>
            <a:ext cx="5287975" cy="411480"/>
          </a:xfrm>
          <a:prstGeom prst="rect">
            <a:avLst/>
          </a:prstGeom>
          <a:noFill/>
          <a:ln/>
        </p:spPr>
        <p:txBody>
          <a:bodyPr wrap="square" lIns="0" tIns="0" rIns="0" bIns="0" rtlCol="0" anchor="t"/>
          <a:lstStyle/>
          <a:p>
            <a:pPr indent="0" marL="0">
              <a:buNone/>
            </a:pPr>
            <a:r>
              <a:rPr lang="en-US" sz="1600" dirty="0">
                <a:solidFill>
                  <a:srgbClr val="5E6B66"/>
                </a:solidFill>
              </a:rPr>
              <a:t>Minutu 10</a:t>
            </a:r>
            <a:endParaRPr lang="en-US" sz="1600" dirty="0"/>
          </a:p>
        </p:txBody>
      </p:sp>
      <p:sp>
        <p:nvSpPr>
          <p:cNvPr id="22" name="Text 20"/>
          <p:cNvSpPr txBox="1"/>
          <p:nvPr/>
        </p:nvSpPr>
        <p:spPr>
          <a:xfrm>
            <a:off x="548640" y="4261104"/>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10:55</a:t>
            </a:r>
            <a:endParaRPr lang="en-US" sz="1700" dirty="0"/>
          </a:p>
        </p:txBody>
      </p:sp>
      <p:sp>
        <p:nvSpPr>
          <p:cNvPr id="23" name="ag-p-4"/>
          <p:cNvSpPr/>
          <p:nvPr/>
        </p:nvSpPr>
        <p:spPr>
          <a:xfrm>
            <a:off x="1920240" y="4315968"/>
            <a:ext cx="228600" cy="228600"/>
          </a:xfrm>
          <a:prstGeom prst="ellipse">
            <a:avLst/>
          </a:prstGeom>
          <a:solidFill>
            <a:schemeClr val="accent1"/>
          </a:solidFill>
          <a:ln w="25400">
            <a:solidFill>
              <a:schemeClr val="bg1"/>
            </a:solidFill>
            <a:prstDash val="solid"/>
          </a:ln>
        </p:spPr>
      </p:sp>
      <p:sp>
        <p:nvSpPr>
          <p:cNvPr id="24" name="Text 22"/>
          <p:cNvSpPr txBox="1"/>
          <p:nvPr/>
        </p:nvSpPr>
        <p:spPr>
          <a:xfrm>
            <a:off x="2423160" y="4224528"/>
            <a:ext cx="3840480" cy="411480"/>
          </a:xfrm>
          <a:prstGeom prst="rect">
            <a:avLst/>
          </a:prstGeom>
          <a:noFill/>
          <a:ln/>
        </p:spPr>
        <p:txBody>
          <a:bodyPr wrap="square" lIns="0" tIns="0" rIns="0" bIns="0" rtlCol="0" anchor="t"/>
          <a:lstStyle/>
          <a:p>
            <a:pPr indent="0" marL="0">
              <a:buNone/>
            </a:pPr>
            <a:r>
              <a:rPr lang="en-US" sz="1800" b="1" dirty="0">
                <a:solidFill>
                  <a:schemeClr val="tx2"/>
                </a:solidFill>
              </a:rPr>
              <a:t>Tanba sá Rede ba Rai?</a:t>
            </a:r>
            <a:endParaRPr lang="en-US" sz="1800" dirty="0"/>
          </a:p>
        </p:txBody>
      </p:sp>
      <p:sp>
        <p:nvSpPr>
          <p:cNvPr id="25" name="Text 23"/>
          <p:cNvSpPr txBox="1"/>
          <p:nvPr/>
        </p:nvSpPr>
        <p:spPr>
          <a:xfrm>
            <a:off x="6355080" y="4251960"/>
            <a:ext cx="5287975" cy="411480"/>
          </a:xfrm>
          <a:prstGeom prst="rect">
            <a:avLst/>
          </a:prstGeom>
          <a:noFill/>
          <a:ln/>
        </p:spPr>
        <p:txBody>
          <a:bodyPr wrap="square" lIns="0" tIns="0" rIns="0" bIns="0" rtlCol="0" anchor="t"/>
          <a:lstStyle/>
          <a:p>
            <a:pPr indent="0" marL="0">
              <a:buNone/>
            </a:pPr>
            <a:r>
              <a:rPr lang="en-US" sz="1600" dirty="0">
                <a:solidFill>
                  <a:schemeClr val="tx1"/>
                </a:solidFill>
              </a:rPr>
              <a:t>SIBAR-RbR harii iha Python · istória dadus RbR</a:t>
            </a:r>
            <a:endParaRPr lang="en-US" sz="1600" dirty="0"/>
          </a:p>
        </p:txBody>
      </p:sp>
      <p:sp>
        <p:nvSpPr>
          <p:cNvPr id="26" name="Text 24"/>
          <p:cNvSpPr txBox="1"/>
          <p:nvPr/>
        </p:nvSpPr>
        <p:spPr>
          <a:xfrm>
            <a:off x="548640" y="495604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11:20</a:t>
            </a:r>
            <a:endParaRPr lang="en-US" sz="1700" dirty="0"/>
          </a:p>
        </p:txBody>
      </p:sp>
      <p:sp>
        <p:nvSpPr>
          <p:cNvPr id="27" name="ag-p-5"/>
          <p:cNvSpPr/>
          <p:nvPr/>
        </p:nvSpPr>
        <p:spPr>
          <a:xfrm>
            <a:off x="1920240" y="5010912"/>
            <a:ext cx="228600" cy="228600"/>
          </a:xfrm>
          <a:prstGeom prst="ellipse">
            <a:avLst/>
          </a:prstGeom>
          <a:solidFill>
            <a:schemeClr val="accent1"/>
          </a:solidFill>
          <a:ln w="25400">
            <a:solidFill>
              <a:schemeClr val="bg1"/>
            </a:solidFill>
            <a:prstDash val="solid"/>
          </a:ln>
        </p:spPr>
      </p:sp>
      <p:sp>
        <p:nvSpPr>
          <p:cNvPr id="28" name="Text 26"/>
          <p:cNvSpPr txBox="1"/>
          <p:nvPr/>
        </p:nvSpPr>
        <p:spPr>
          <a:xfrm>
            <a:off x="2423160" y="4919472"/>
            <a:ext cx="3840480" cy="411480"/>
          </a:xfrm>
          <a:prstGeom prst="rect">
            <a:avLst/>
          </a:prstGeom>
          <a:noFill/>
          <a:ln/>
        </p:spPr>
        <p:txBody>
          <a:bodyPr wrap="square" lIns="0" tIns="0" rIns="0" bIns="0" rtlCol="0" anchor="t"/>
          <a:lstStyle/>
          <a:p>
            <a:pPr indent="0" marL="0">
              <a:buNone/>
            </a:pPr>
            <a:r>
              <a:rPr lang="en-US" sz="1800" b="1" dirty="0">
                <a:solidFill>
                  <a:schemeClr val="tx2"/>
                </a:solidFill>
              </a:rPr>
              <a:t>Kódigu → Live Dashboard</a:t>
            </a:r>
            <a:endParaRPr lang="en-US" sz="1800" dirty="0"/>
          </a:p>
        </p:txBody>
      </p:sp>
      <p:sp>
        <p:nvSpPr>
          <p:cNvPr id="29" name="Text 27"/>
          <p:cNvSpPr txBox="1"/>
          <p:nvPr/>
        </p:nvSpPr>
        <p:spPr>
          <a:xfrm>
            <a:off x="6355080" y="4946904"/>
            <a:ext cx="5287975" cy="411480"/>
          </a:xfrm>
          <a:prstGeom prst="rect">
            <a:avLst/>
          </a:prstGeom>
          <a:noFill/>
          <a:ln/>
        </p:spPr>
        <p:txBody>
          <a:bodyPr wrap="square" lIns="0" tIns="0" rIns="0" bIns="0" rtlCol="0" anchor="t"/>
          <a:lstStyle/>
          <a:p>
            <a:pPr indent="0" marL="0">
              <a:buNone/>
            </a:pPr>
            <a:r>
              <a:rPr lang="en-US" sz="1600" dirty="0">
                <a:solidFill>
                  <a:schemeClr val="tx1"/>
                </a:solidFill>
              </a:rPr>
              <a:t>Haree kódigu no rezultadu</a:t>
            </a:r>
            <a:endParaRPr lang="en-US" sz="1600" dirty="0"/>
          </a:p>
        </p:txBody>
      </p:sp>
      <p:sp>
        <p:nvSpPr>
          <p:cNvPr id="30" name="Text 28"/>
          <p:cNvSpPr txBox="1"/>
          <p:nvPr/>
        </p:nvSpPr>
        <p:spPr>
          <a:xfrm>
            <a:off x="548640" y="5650992"/>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11:35</a:t>
            </a:r>
            <a:endParaRPr lang="en-US" sz="1700" dirty="0"/>
          </a:p>
        </p:txBody>
      </p:sp>
      <p:sp>
        <p:nvSpPr>
          <p:cNvPr id="31" name="ag-p-6"/>
          <p:cNvSpPr/>
          <p:nvPr/>
        </p:nvSpPr>
        <p:spPr>
          <a:xfrm>
            <a:off x="1920240" y="5705856"/>
            <a:ext cx="228600" cy="228600"/>
          </a:xfrm>
          <a:prstGeom prst="ellipse">
            <a:avLst/>
          </a:prstGeom>
          <a:solidFill>
            <a:schemeClr val="accent1"/>
          </a:solidFill>
          <a:ln w="25400">
            <a:solidFill>
              <a:schemeClr val="bg1"/>
            </a:solidFill>
            <a:prstDash val="solid"/>
          </a:ln>
        </p:spPr>
      </p:sp>
      <p:sp>
        <p:nvSpPr>
          <p:cNvPr id="32" name="Text 30"/>
          <p:cNvSpPr txBox="1"/>
          <p:nvPr/>
        </p:nvSpPr>
        <p:spPr>
          <a:xfrm>
            <a:off x="2423160" y="5614416"/>
            <a:ext cx="3840480" cy="411480"/>
          </a:xfrm>
          <a:prstGeom prst="rect">
            <a:avLst/>
          </a:prstGeom>
          <a:noFill/>
          <a:ln/>
        </p:spPr>
        <p:txBody>
          <a:bodyPr wrap="square" lIns="0" tIns="0" rIns="0" bIns="0" rtlCol="0" anchor="t"/>
          <a:lstStyle/>
          <a:p>
            <a:pPr indent="0" marL="0">
              <a:buNone/>
            </a:pPr>
            <a:r>
              <a:rPr lang="en-US" sz="1800" b="1" dirty="0">
                <a:solidFill>
                  <a:schemeClr val="tx2"/>
                </a:solidFill>
              </a:rPr>
              <a:t>Futuru no perguntas</a:t>
            </a:r>
            <a:endParaRPr lang="en-US" sz="1800" dirty="0"/>
          </a:p>
        </p:txBody>
      </p:sp>
      <p:sp>
        <p:nvSpPr>
          <p:cNvPr id="33" name="Text 31"/>
          <p:cNvSpPr txBox="1"/>
          <p:nvPr/>
        </p:nvSpPr>
        <p:spPr>
          <a:xfrm>
            <a:off x="6355080" y="5641848"/>
            <a:ext cx="5287975" cy="411480"/>
          </a:xfrm>
          <a:prstGeom prst="rect">
            <a:avLst/>
          </a:prstGeom>
          <a:noFill/>
          <a:ln/>
        </p:spPr>
        <p:txBody>
          <a:bodyPr wrap="square" lIns="0" tIns="0" rIns="0" bIns="0" rtlCol="0" anchor="t"/>
          <a:lstStyle/>
          <a:p>
            <a:pPr indent="0" marL="0">
              <a:buNone/>
            </a:pPr>
            <a:r>
              <a:rPr lang="en-US" sz="1600" dirty="0">
                <a:solidFill>
                  <a:schemeClr val="tx1"/>
                </a:solidFill>
              </a:rPr>
              <a:t>Target ba oin · tanya jawab</a:t>
            </a:r>
            <a:endParaRPr lang="en-US" sz="1600" dirty="0"/>
          </a:p>
        </p:txBody>
      </p:sp>
      <p:sp>
        <p:nvSpPr>
          <p:cNvPr id="34" name="Text 32"/>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300" i="1" dirty="0">
                <a:solidFill>
                  <a:srgbClr val="5E6B66"/>
                </a:solidFill>
              </a:rPr>
              <a:t>Remata 12:00</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Saida mak Python?</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Esplika ho ezemplu loron-loron</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01</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10:05 – 10:20</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Komputadór la komprende lian ema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10:05</a:t>
            </a:r>
            <a:endParaRPr lang="en-US" sz="1200" dirty="0"/>
          </a:p>
        </p:txBody>
      </p:sp>
      <p:sp>
        <p:nvSpPr>
          <p:cNvPr id="5" name="fl-0-sirkulu"/>
          <p:cNvSpPr/>
          <p:nvPr/>
        </p:nvSpPr>
        <p:spPr>
          <a:xfrm>
            <a:off x="1051560" y="1600200"/>
            <a:ext cx="1280160" cy="1280160"/>
          </a:xfrm>
          <a:prstGeom prst="ellipse">
            <a:avLst/>
          </a:prstGeom>
          <a:solidFill>
            <a:schemeClr val="accent3"/>
          </a:solidFill>
          <a:ln w="12700">
            <a:solidFill>
              <a:schemeClr val="accent3"/>
            </a:solidFill>
            <a:prstDash val="solid"/>
          </a:ln>
        </p:spPr>
      </p:sp>
      <p:pic>
        <p:nvPicPr>
          <p:cNvPr id="6" name="fl-0-ikone" descr="preencoded.png">    </p:cNvPr>
          <p:cNvPicPr>
            <a:picLocks noChangeAspect="1"/>
          </p:cNvPicPr>
          <p:nvPr/>
        </p:nvPicPr>
        <p:blipFill>
          <a:blip r:embed="rId1"/>
          <a:stretch>
            <a:fillRect/>
          </a:stretch>
        </p:blipFill>
        <p:spPr>
          <a:xfrm>
            <a:off x="1358798" y="1907438"/>
            <a:ext cx="665683" cy="665683"/>
          </a:xfrm>
          <a:prstGeom prst="rect">
            <a:avLst/>
          </a:prstGeom>
        </p:spPr>
      </p:pic>
      <p:sp>
        <p:nvSpPr>
          <p:cNvPr id="7" name="Text 4"/>
          <p:cNvSpPr txBox="1"/>
          <p:nvPr/>
        </p:nvSpPr>
        <p:spPr>
          <a:xfrm>
            <a:off x="548640" y="3017520"/>
            <a:ext cx="2286000" cy="457200"/>
          </a:xfrm>
          <a:prstGeom prst="rect">
            <a:avLst/>
          </a:prstGeom>
          <a:noFill/>
          <a:ln/>
        </p:spPr>
        <p:txBody>
          <a:bodyPr wrap="square" lIns="0" tIns="0" rIns="0" bIns="0" rtlCol="0" anchor="t"/>
          <a:lstStyle/>
          <a:p>
            <a:pPr algn="ctr" indent="0" marL="0">
              <a:buNone/>
            </a:pPr>
            <a:r>
              <a:rPr lang="en-US" sz="2100" b="1" dirty="0">
                <a:solidFill>
                  <a:schemeClr val="tx2"/>
                </a:solidFill>
              </a:rPr>
              <a:t>Ita</a:t>
            </a:r>
            <a:endParaRPr lang="en-US" sz="2100" dirty="0"/>
          </a:p>
        </p:txBody>
      </p:sp>
      <p:sp>
        <p:nvSpPr>
          <p:cNvPr id="8" name="Text 5"/>
          <p:cNvSpPr txBox="1"/>
          <p:nvPr/>
        </p:nvSpPr>
        <p:spPr>
          <a:xfrm>
            <a:off x="548640" y="352044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Hakarak: "Konta kazu urjente hotu"</a:t>
            </a:r>
            <a:endParaRPr lang="en-US" sz="1500" dirty="0"/>
          </a:p>
        </p:txBody>
      </p:sp>
      <p:sp>
        <p:nvSpPr>
          <p:cNvPr id="9" name="fl-s-0"/>
          <p:cNvSpPr/>
          <p:nvPr/>
        </p:nvSpPr>
        <p:spPr>
          <a:xfrm>
            <a:off x="2468880" y="2240280"/>
            <a:ext cx="1280160" cy="914"/>
          </a:xfrm>
          <a:prstGeom prst="line">
            <a:avLst/>
          </a:prstGeom>
          <a:noFill/>
          <a:ln w="28575">
            <a:solidFill>
              <a:schemeClr val="tx2"/>
            </a:solidFill>
            <a:prstDash val="solid"/>
            <a:tailEnd type="triangle"/>
          </a:ln>
        </p:spPr>
      </p:sp>
      <p:sp>
        <p:nvSpPr>
          <p:cNvPr id="10" name="fl-1-sirkulu"/>
          <p:cNvSpPr/>
          <p:nvPr/>
        </p:nvSpPr>
        <p:spPr>
          <a:xfrm>
            <a:off x="3886200" y="1600200"/>
            <a:ext cx="1280160" cy="1280160"/>
          </a:xfrm>
          <a:prstGeom prst="ellipse">
            <a:avLst/>
          </a:prstGeom>
          <a:solidFill>
            <a:schemeClr val="accent6"/>
          </a:solidFill>
          <a:ln w="12700">
            <a:solidFill>
              <a:schemeClr val="accent6"/>
            </a:solidFill>
            <a:prstDash val="solid"/>
          </a:ln>
        </p:spPr>
      </p:sp>
      <p:pic>
        <p:nvPicPr>
          <p:cNvPr id="11" name="fl-1-ikone" descr="preencoded.png">    </p:cNvPr>
          <p:cNvPicPr>
            <a:picLocks noChangeAspect="1"/>
          </p:cNvPicPr>
          <p:nvPr/>
        </p:nvPicPr>
        <p:blipFill>
          <a:blip r:embed="rId2"/>
          <a:stretch>
            <a:fillRect/>
          </a:stretch>
        </p:blipFill>
        <p:spPr>
          <a:xfrm>
            <a:off x="4193438" y="1907438"/>
            <a:ext cx="665683" cy="665683"/>
          </a:xfrm>
          <a:prstGeom prst="rect">
            <a:avLst/>
          </a:prstGeom>
        </p:spPr>
      </p:pic>
      <p:sp>
        <p:nvSpPr>
          <p:cNvPr id="12" name="Text 8"/>
          <p:cNvSpPr txBox="1"/>
          <p:nvPr/>
        </p:nvSpPr>
        <p:spPr>
          <a:xfrm>
            <a:off x="3383280" y="3017520"/>
            <a:ext cx="2286000" cy="457200"/>
          </a:xfrm>
          <a:prstGeom prst="rect">
            <a:avLst/>
          </a:prstGeom>
          <a:noFill/>
          <a:ln/>
        </p:spPr>
        <p:txBody>
          <a:bodyPr wrap="square" lIns="0" tIns="0" rIns="0" bIns="0" rtlCol="0" anchor="t"/>
          <a:lstStyle/>
          <a:p>
            <a:pPr algn="ctr" indent="0" marL="0">
              <a:buNone/>
            </a:pPr>
            <a:r>
              <a:rPr lang="en-US" sz="2100" b="1" dirty="0">
                <a:solidFill>
                  <a:schemeClr val="tx2"/>
                </a:solidFill>
              </a:rPr>
              <a:t>Python</a:t>
            </a:r>
            <a:endParaRPr lang="en-US" sz="2100" dirty="0"/>
          </a:p>
        </p:txBody>
      </p:sp>
      <p:sp>
        <p:nvSpPr>
          <p:cNvPr id="13" name="Text 9"/>
          <p:cNvSpPr txBox="1"/>
          <p:nvPr/>
        </p:nvSpPr>
        <p:spPr>
          <a:xfrm>
            <a:off x="3383280" y="352044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Tradutór: hakerek instrusaun ne'ebé klaru</a:t>
            </a:r>
            <a:endParaRPr lang="en-US" sz="1500" dirty="0"/>
          </a:p>
        </p:txBody>
      </p:sp>
      <p:sp>
        <p:nvSpPr>
          <p:cNvPr id="14" name="fl-s-1"/>
          <p:cNvSpPr/>
          <p:nvPr/>
        </p:nvSpPr>
        <p:spPr>
          <a:xfrm>
            <a:off x="5303520" y="2240280"/>
            <a:ext cx="1280160" cy="914"/>
          </a:xfrm>
          <a:prstGeom prst="line">
            <a:avLst/>
          </a:prstGeom>
          <a:noFill/>
          <a:ln w="28575">
            <a:solidFill>
              <a:schemeClr val="tx2"/>
            </a:solidFill>
            <a:prstDash val="solid"/>
            <a:tailEnd type="triangle"/>
          </a:ln>
        </p:spPr>
      </p:sp>
      <p:sp>
        <p:nvSpPr>
          <p:cNvPr id="15" name="fl-2-sirkulu"/>
          <p:cNvSpPr/>
          <p:nvPr/>
        </p:nvSpPr>
        <p:spPr>
          <a:xfrm>
            <a:off x="6720840" y="1600200"/>
            <a:ext cx="1280160" cy="1280160"/>
          </a:xfrm>
          <a:prstGeom prst="ellipse">
            <a:avLst/>
          </a:prstGeom>
          <a:solidFill>
            <a:schemeClr val="accent5"/>
          </a:solidFill>
          <a:ln w="12700">
            <a:solidFill>
              <a:schemeClr val="accent5"/>
            </a:solidFill>
            <a:prstDash val="solid"/>
          </a:ln>
        </p:spPr>
      </p:sp>
      <p:pic>
        <p:nvPicPr>
          <p:cNvPr id="16" name="fl-2-ikone" descr="preencoded.png">    </p:cNvPr>
          <p:cNvPicPr>
            <a:picLocks noChangeAspect="1"/>
          </p:cNvPicPr>
          <p:nvPr/>
        </p:nvPicPr>
        <p:blipFill>
          <a:blip r:embed="rId3"/>
          <a:stretch>
            <a:fillRect/>
          </a:stretch>
        </p:blipFill>
        <p:spPr>
          <a:xfrm>
            <a:off x="7028078" y="1907438"/>
            <a:ext cx="665683" cy="665683"/>
          </a:xfrm>
          <a:prstGeom prst="rect">
            <a:avLst/>
          </a:prstGeom>
        </p:spPr>
      </p:pic>
      <p:sp>
        <p:nvSpPr>
          <p:cNvPr id="17" name="Text 12"/>
          <p:cNvSpPr txBox="1"/>
          <p:nvPr/>
        </p:nvSpPr>
        <p:spPr>
          <a:xfrm>
            <a:off x="6217920" y="3017520"/>
            <a:ext cx="2286000" cy="457200"/>
          </a:xfrm>
          <a:prstGeom prst="rect">
            <a:avLst/>
          </a:prstGeom>
          <a:noFill/>
          <a:ln/>
        </p:spPr>
        <p:txBody>
          <a:bodyPr wrap="square" lIns="0" tIns="0" rIns="0" bIns="0" rtlCol="0" anchor="t"/>
          <a:lstStyle/>
          <a:p>
            <a:pPr algn="ctr" indent="0" marL="0">
              <a:buNone/>
            </a:pPr>
            <a:r>
              <a:rPr lang="en-US" sz="2100" b="1" dirty="0">
                <a:solidFill>
                  <a:schemeClr val="tx2"/>
                </a:solidFill>
              </a:rPr>
              <a:t>Komputadór</a:t>
            </a:r>
            <a:endParaRPr lang="en-US" sz="2100" dirty="0"/>
          </a:p>
        </p:txBody>
      </p:sp>
      <p:sp>
        <p:nvSpPr>
          <p:cNvPr id="18" name="Text 13"/>
          <p:cNvSpPr txBox="1"/>
          <p:nvPr/>
        </p:nvSpPr>
        <p:spPr>
          <a:xfrm>
            <a:off x="6217920" y="352044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Halo servisu lalais, la kole</a:t>
            </a:r>
            <a:endParaRPr lang="en-US" sz="1500" dirty="0"/>
          </a:p>
        </p:txBody>
      </p:sp>
      <p:sp>
        <p:nvSpPr>
          <p:cNvPr id="19" name="fl-s-2"/>
          <p:cNvSpPr/>
          <p:nvPr/>
        </p:nvSpPr>
        <p:spPr>
          <a:xfrm>
            <a:off x="8138160" y="2240280"/>
            <a:ext cx="1280160" cy="914"/>
          </a:xfrm>
          <a:prstGeom prst="line">
            <a:avLst/>
          </a:prstGeom>
          <a:noFill/>
          <a:ln w="28575">
            <a:solidFill>
              <a:schemeClr val="tx2"/>
            </a:solidFill>
            <a:prstDash val="solid"/>
            <a:tailEnd type="triangle"/>
          </a:ln>
        </p:spPr>
      </p:sp>
      <p:sp>
        <p:nvSpPr>
          <p:cNvPr id="20" name="fl-3-sirkulu"/>
          <p:cNvSpPr/>
          <p:nvPr/>
        </p:nvSpPr>
        <p:spPr>
          <a:xfrm>
            <a:off x="9555480" y="1600200"/>
            <a:ext cx="1280160" cy="1280160"/>
          </a:xfrm>
          <a:prstGeom prst="ellipse">
            <a:avLst/>
          </a:prstGeom>
          <a:solidFill>
            <a:schemeClr val="accent1"/>
          </a:solidFill>
          <a:ln w="12700">
            <a:solidFill>
              <a:schemeClr val="accent1"/>
            </a:solidFill>
            <a:prstDash val="solid"/>
          </a:ln>
        </p:spPr>
      </p:sp>
      <p:pic>
        <p:nvPicPr>
          <p:cNvPr id="21" name="fl-3-ikone" descr="preencoded.png">    </p:cNvPr>
          <p:cNvPicPr>
            <a:picLocks noChangeAspect="1"/>
          </p:cNvPicPr>
          <p:nvPr/>
        </p:nvPicPr>
        <p:blipFill>
          <a:blip r:embed="rId4"/>
          <a:stretch>
            <a:fillRect/>
          </a:stretch>
        </p:blipFill>
        <p:spPr>
          <a:xfrm>
            <a:off x="9862718" y="1907438"/>
            <a:ext cx="665683" cy="665683"/>
          </a:xfrm>
          <a:prstGeom prst="rect">
            <a:avLst/>
          </a:prstGeom>
        </p:spPr>
      </p:pic>
      <p:sp>
        <p:nvSpPr>
          <p:cNvPr id="22" name="Text 16"/>
          <p:cNvSpPr txBox="1"/>
          <p:nvPr/>
        </p:nvSpPr>
        <p:spPr>
          <a:xfrm>
            <a:off x="9052560" y="3017520"/>
            <a:ext cx="2286000" cy="457200"/>
          </a:xfrm>
          <a:prstGeom prst="rect">
            <a:avLst/>
          </a:prstGeom>
          <a:noFill/>
          <a:ln/>
        </p:spPr>
        <p:txBody>
          <a:bodyPr wrap="square" lIns="0" tIns="0" rIns="0" bIns="0" rtlCol="0" anchor="t"/>
          <a:lstStyle/>
          <a:p>
            <a:pPr algn="ctr" indent="0" marL="0">
              <a:buNone/>
            </a:pPr>
            <a:r>
              <a:rPr lang="en-US" sz="2100" b="1" dirty="0">
                <a:solidFill>
                  <a:schemeClr val="tx2"/>
                </a:solidFill>
              </a:rPr>
              <a:t>Rezultadu</a:t>
            </a:r>
            <a:endParaRPr lang="en-US" sz="2100" dirty="0"/>
          </a:p>
        </p:txBody>
      </p:sp>
      <p:sp>
        <p:nvSpPr>
          <p:cNvPr id="23" name="Text 17"/>
          <p:cNvSpPr txBox="1"/>
          <p:nvPr/>
        </p:nvSpPr>
        <p:spPr>
          <a:xfrm>
            <a:off x="9052560" y="352044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"Kazu urjente: 17"</a:t>
            </a:r>
            <a:endParaRPr lang="en-US" sz="1500" dirty="0"/>
          </a:p>
        </p:txBody>
      </p:sp>
      <p:sp>
        <p:nvSpPr>
          <p:cNvPr id="24" name="def"/>
          <p:cNvSpPr/>
          <p:nvPr/>
        </p:nvSpPr>
        <p:spPr>
          <a:xfrm>
            <a:off x="548640" y="4846320"/>
            <a:ext cx="11094415" cy="1280160"/>
          </a:xfrm>
          <a:prstGeom prst="roundRect">
            <a:avLst>
              <a:gd name="adj" fmla="val 8571"/>
            </a:avLst>
          </a:prstGeom>
          <a:solidFill>
            <a:schemeClr val="bg2"/>
          </a:solidFill>
          <a:ln w="12700">
            <a:solidFill>
              <a:schemeClr val="bg2"/>
            </a:solidFill>
            <a:prstDash val="solid"/>
          </a:ln>
        </p:spPr>
      </p:sp>
      <p:sp>
        <p:nvSpPr>
          <p:cNvPr id="25" name="Text 19"/>
          <p:cNvSpPr txBox="1"/>
          <p:nvPr/>
        </p:nvSpPr>
        <p:spPr>
          <a:xfrm>
            <a:off x="868680" y="4846320"/>
            <a:ext cx="10454335" cy="1280160"/>
          </a:xfrm>
          <a:prstGeom prst="rect">
            <a:avLst/>
          </a:prstGeom>
          <a:noFill/>
          <a:ln/>
        </p:spPr>
        <p:txBody>
          <a:bodyPr wrap="square" lIns="0" tIns="0" rIns="0" bIns="0" rtlCol="0" anchor="ctr"/>
          <a:lstStyle/>
          <a:p>
            <a:pPr indent="0" marL="0">
              <a:buNone/>
            </a:pPr>
            <a:r>
              <a:rPr lang="en-US" sz="1800" b="1" dirty="0">
                <a:solidFill>
                  <a:schemeClr val="accent1"/>
                </a:solidFill>
              </a:rPr>
              <a:t>Python </a:t>
            </a:r>
            <a:pPr indent="0" marL="0">
              <a:buNone/>
            </a:pPr>
            <a:r>
              <a:rPr lang="en-US" sz="1800" dirty="0">
                <a:solidFill>
                  <a:schemeClr val="tx1"/>
                </a:solidFill>
              </a:rPr>
              <a:t>mak lian programasaun: dalan atu fó instrusaun ba komputadór, liña ba liña, ho lian ne'ebé besik ba lian Inglés baibain.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Programa hanesan resita te'in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10:09</a:t>
            </a:r>
            <a:endParaRPr lang="en-US" sz="1200" dirty="0"/>
          </a:p>
        </p:txBody>
      </p:sp>
      <p:sp>
        <p:nvSpPr>
          <p:cNvPr id="5" name="r-0"/>
          <p:cNvSpPr/>
          <p:nvPr/>
        </p:nvSpPr>
        <p:spPr>
          <a:xfrm>
            <a:off x="548640" y="1463040"/>
            <a:ext cx="3423818" cy="3291840"/>
          </a:xfrm>
          <a:prstGeom prst="roundRect">
            <a:avLst>
              <a:gd name="adj" fmla="val 3333"/>
            </a:avLst>
          </a:prstGeom>
          <a:solidFill>
            <a:schemeClr val="bg2"/>
          </a:solidFill>
          <a:ln w="12700">
            <a:solidFill>
              <a:schemeClr val="bg2"/>
            </a:solidFill>
            <a:prstDash val="solid"/>
          </a:ln>
        </p:spPr>
      </p:sp>
      <p:sp>
        <p:nvSpPr>
          <p:cNvPr id="6" name="r-ik-0-sirkulu"/>
          <p:cNvSpPr/>
          <p:nvPr/>
        </p:nvSpPr>
        <p:spPr>
          <a:xfrm>
            <a:off x="1757629" y="1691640"/>
            <a:ext cx="1005840" cy="1005840"/>
          </a:xfrm>
          <a:prstGeom prst="ellipse">
            <a:avLst/>
          </a:prstGeom>
          <a:solidFill>
            <a:schemeClr val="accent3"/>
          </a:solidFill>
          <a:ln w="12700">
            <a:solidFill>
              <a:schemeClr val="accent3"/>
            </a:solidFill>
            <a:prstDash val="solid"/>
          </a:ln>
        </p:spPr>
      </p:sp>
      <p:pic>
        <p:nvPicPr>
          <p:cNvPr id="7" name="r-ik-0-ikone" descr="preencoded.png">    </p:cNvPr>
          <p:cNvPicPr>
            <a:picLocks noChangeAspect="1"/>
          </p:cNvPicPr>
          <p:nvPr/>
        </p:nvPicPr>
        <p:blipFill>
          <a:blip r:embed="rId1"/>
          <a:stretch>
            <a:fillRect/>
          </a:stretch>
        </p:blipFill>
        <p:spPr>
          <a:xfrm>
            <a:off x="1999031" y="1933042"/>
            <a:ext cx="523037" cy="523037"/>
          </a:xfrm>
          <a:prstGeom prst="rect">
            <a:avLst/>
          </a:prstGeom>
        </p:spPr>
      </p:pic>
      <p:sp>
        <p:nvSpPr>
          <p:cNvPr id="8" name="Text 5"/>
          <p:cNvSpPr txBox="1"/>
          <p:nvPr/>
        </p:nvSpPr>
        <p:spPr>
          <a:xfrm>
            <a:off x="731520" y="2834640"/>
            <a:ext cx="3058058" cy="411480"/>
          </a:xfrm>
          <a:prstGeom prst="rect">
            <a:avLst/>
          </a:prstGeom>
          <a:noFill/>
          <a:ln/>
        </p:spPr>
        <p:txBody>
          <a:bodyPr wrap="square" lIns="0" tIns="0" rIns="0" bIns="0" rtlCol="0" anchor="t"/>
          <a:lstStyle/>
          <a:p>
            <a:pPr algn="ctr" indent="0" marL="0">
              <a:buNone/>
            </a:pPr>
            <a:r>
              <a:rPr lang="en-US" sz="2100" b="1" dirty="0">
                <a:solidFill>
                  <a:schemeClr val="tx2"/>
                </a:solidFill>
              </a:rPr>
              <a:t>Ingrediente</a:t>
            </a:r>
            <a:endParaRPr lang="en-US" sz="2100" dirty="0"/>
          </a:p>
        </p:txBody>
      </p:sp>
      <p:sp>
        <p:nvSpPr>
          <p:cNvPr id="9" name="Text 6"/>
          <p:cNvSpPr txBox="1"/>
          <p:nvPr/>
        </p:nvSpPr>
        <p:spPr>
          <a:xfrm>
            <a:off x="731520" y="3246120"/>
            <a:ext cx="3058058" cy="365760"/>
          </a:xfrm>
          <a:prstGeom prst="rect">
            <a:avLst/>
          </a:prstGeom>
          <a:noFill/>
          <a:ln/>
        </p:spPr>
        <p:txBody>
          <a:bodyPr wrap="square" lIns="0" tIns="0" rIns="0" bIns="0" rtlCol="0" anchor="t"/>
          <a:lstStyle/>
          <a:p>
            <a:pPr algn="ctr" indent="0" marL="0">
              <a:buNone/>
            </a:pPr>
            <a:r>
              <a:rPr lang="en-US" sz="1600" b="1" dirty="0">
                <a:solidFill>
                  <a:schemeClr val="accent3"/>
                </a:solidFill>
              </a:rPr>
              <a:t>= Dadus</a:t>
            </a:r>
            <a:endParaRPr lang="en-US" sz="1600" dirty="0"/>
          </a:p>
        </p:txBody>
      </p:sp>
      <p:sp>
        <p:nvSpPr>
          <p:cNvPr id="10" name="Text 7"/>
          <p:cNvSpPr txBox="1"/>
          <p:nvPr/>
        </p:nvSpPr>
        <p:spPr>
          <a:xfrm>
            <a:off x="822960" y="3703320"/>
            <a:ext cx="2875178" cy="914400"/>
          </a:xfrm>
          <a:prstGeom prst="rect">
            <a:avLst/>
          </a:prstGeom>
          <a:noFill/>
          <a:ln/>
        </p:spPr>
        <p:txBody>
          <a:bodyPr wrap="square" lIns="0" tIns="0" rIns="0" bIns="0" rtlCol="0" anchor="t"/>
          <a:lstStyle/>
          <a:p>
            <a:pPr algn="ctr" indent="0" marL="0">
              <a:buNone/>
            </a:pPr>
            <a:r>
              <a:rPr lang="en-US" sz="1500" dirty="0">
                <a:solidFill>
                  <a:schemeClr val="tx1"/>
                </a:solidFill>
              </a:rPr>
              <a:t>Lista kazu, munisípiu, uma-kain</a:t>
            </a:r>
            <a:endParaRPr lang="en-US" sz="1500" dirty="0"/>
          </a:p>
        </p:txBody>
      </p:sp>
      <p:sp>
        <p:nvSpPr>
          <p:cNvPr id="11" name="r-1"/>
          <p:cNvSpPr/>
          <p:nvPr/>
        </p:nvSpPr>
        <p:spPr>
          <a:xfrm>
            <a:off x="4246778" y="1463040"/>
            <a:ext cx="3423818" cy="3291840"/>
          </a:xfrm>
          <a:prstGeom prst="roundRect">
            <a:avLst>
              <a:gd name="adj" fmla="val 3333"/>
            </a:avLst>
          </a:prstGeom>
          <a:solidFill>
            <a:schemeClr val="bg2"/>
          </a:solidFill>
          <a:ln w="12700">
            <a:solidFill>
              <a:schemeClr val="bg2"/>
            </a:solidFill>
            <a:prstDash val="solid"/>
          </a:ln>
        </p:spPr>
      </p:sp>
      <p:sp>
        <p:nvSpPr>
          <p:cNvPr id="12" name="r-ik-1-sirkulu"/>
          <p:cNvSpPr/>
          <p:nvPr/>
        </p:nvSpPr>
        <p:spPr>
          <a:xfrm>
            <a:off x="5455768" y="1691640"/>
            <a:ext cx="1005840" cy="1005840"/>
          </a:xfrm>
          <a:prstGeom prst="ellipse">
            <a:avLst/>
          </a:prstGeom>
          <a:solidFill>
            <a:schemeClr val="accent5"/>
          </a:solidFill>
          <a:ln w="12700">
            <a:solidFill>
              <a:schemeClr val="accent5"/>
            </a:solidFill>
            <a:prstDash val="solid"/>
          </a:ln>
        </p:spPr>
      </p:sp>
      <p:pic>
        <p:nvPicPr>
          <p:cNvPr id="13" name="r-ik-1-ikone" descr="preencoded.png">    </p:cNvPr>
          <p:cNvPicPr>
            <a:picLocks noChangeAspect="1"/>
          </p:cNvPicPr>
          <p:nvPr/>
        </p:nvPicPr>
        <p:blipFill>
          <a:blip r:embed="rId2"/>
          <a:stretch>
            <a:fillRect/>
          </a:stretch>
        </p:blipFill>
        <p:spPr>
          <a:xfrm>
            <a:off x="5697169" y="1933042"/>
            <a:ext cx="523037" cy="523037"/>
          </a:xfrm>
          <a:prstGeom prst="rect">
            <a:avLst/>
          </a:prstGeom>
        </p:spPr>
      </p:pic>
      <p:sp>
        <p:nvSpPr>
          <p:cNvPr id="14" name="Text 10"/>
          <p:cNvSpPr txBox="1"/>
          <p:nvPr/>
        </p:nvSpPr>
        <p:spPr>
          <a:xfrm>
            <a:off x="4429658" y="2834640"/>
            <a:ext cx="3058058" cy="411480"/>
          </a:xfrm>
          <a:prstGeom prst="rect">
            <a:avLst/>
          </a:prstGeom>
          <a:noFill/>
          <a:ln/>
        </p:spPr>
        <p:txBody>
          <a:bodyPr wrap="square" lIns="0" tIns="0" rIns="0" bIns="0" rtlCol="0" anchor="t"/>
          <a:lstStyle/>
          <a:p>
            <a:pPr algn="ctr" indent="0" marL="0">
              <a:buNone/>
            </a:pPr>
            <a:r>
              <a:rPr lang="en-US" sz="2100" b="1" dirty="0">
                <a:solidFill>
                  <a:schemeClr val="tx2"/>
                </a:solidFill>
              </a:rPr>
              <a:t>Pasu</a:t>
            </a:r>
            <a:endParaRPr lang="en-US" sz="2100" dirty="0"/>
          </a:p>
        </p:txBody>
      </p:sp>
      <p:sp>
        <p:nvSpPr>
          <p:cNvPr id="15" name="Text 11"/>
          <p:cNvSpPr txBox="1"/>
          <p:nvPr/>
        </p:nvSpPr>
        <p:spPr>
          <a:xfrm>
            <a:off x="4429658" y="3246120"/>
            <a:ext cx="3058058" cy="365760"/>
          </a:xfrm>
          <a:prstGeom prst="rect">
            <a:avLst/>
          </a:prstGeom>
          <a:noFill/>
          <a:ln/>
        </p:spPr>
        <p:txBody>
          <a:bodyPr wrap="square" lIns="0" tIns="0" rIns="0" bIns="0" rtlCol="0" anchor="t"/>
          <a:lstStyle/>
          <a:p>
            <a:pPr algn="ctr" indent="0" marL="0">
              <a:buNone/>
            </a:pPr>
            <a:r>
              <a:rPr lang="en-US" sz="1600" b="1" dirty="0">
                <a:solidFill>
                  <a:schemeClr val="accent5"/>
                </a:solidFill>
              </a:rPr>
              <a:t>= Instrusaun</a:t>
            </a:r>
            <a:endParaRPr lang="en-US" sz="1600" dirty="0"/>
          </a:p>
        </p:txBody>
      </p:sp>
      <p:sp>
        <p:nvSpPr>
          <p:cNvPr id="16" name="Text 12"/>
          <p:cNvSpPr txBox="1"/>
          <p:nvPr/>
        </p:nvSpPr>
        <p:spPr>
          <a:xfrm>
            <a:off x="4521098" y="3703320"/>
            <a:ext cx="2875178" cy="914400"/>
          </a:xfrm>
          <a:prstGeom prst="rect">
            <a:avLst/>
          </a:prstGeom>
          <a:noFill/>
          <a:ln/>
        </p:spPr>
        <p:txBody>
          <a:bodyPr wrap="square" lIns="0" tIns="0" rIns="0" bIns="0" rtlCol="0" anchor="t"/>
          <a:lstStyle/>
          <a:p>
            <a:pPr algn="ctr" indent="0" marL="0">
              <a:buNone/>
            </a:pPr>
            <a:r>
              <a:rPr lang="en-US" sz="1500" dirty="0">
                <a:solidFill>
                  <a:schemeClr val="tx1"/>
                </a:solidFill>
              </a:rPr>
              <a:t>1. Haree kazu ida-idak · 2. Se urjente, konta</a:t>
            </a:r>
            <a:endParaRPr lang="en-US" sz="1500" dirty="0"/>
          </a:p>
        </p:txBody>
      </p:sp>
      <p:sp>
        <p:nvSpPr>
          <p:cNvPr id="17" name="r-2"/>
          <p:cNvSpPr/>
          <p:nvPr/>
        </p:nvSpPr>
        <p:spPr>
          <a:xfrm>
            <a:off x="7944917" y="1463040"/>
            <a:ext cx="3423818" cy="3291840"/>
          </a:xfrm>
          <a:prstGeom prst="roundRect">
            <a:avLst>
              <a:gd name="adj" fmla="val 3333"/>
            </a:avLst>
          </a:prstGeom>
          <a:solidFill>
            <a:schemeClr val="bg2"/>
          </a:solidFill>
          <a:ln w="12700">
            <a:solidFill>
              <a:schemeClr val="bg2"/>
            </a:solidFill>
            <a:prstDash val="solid"/>
          </a:ln>
        </p:spPr>
      </p:sp>
      <p:sp>
        <p:nvSpPr>
          <p:cNvPr id="18" name="r-ik-2-sirkulu"/>
          <p:cNvSpPr/>
          <p:nvPr/>
        </p:nvSpPr>
        <p:spPr>
          <a:xfrm>
            <a:off x="9153906" y="1691640"/>
            <a:ext cx="1005840" cy="1005840"/>
          </a:xfrm>
          <a:prstGeom prst="ellipse">
            <a:avLst/>
          </a:prstGeom>
          <a:solidFill>
            <a:schemeClr val="accent1"/>
          </a:solidFill>
          <a:ln w="12700">
            <a:solidFill>
              <a:schemeClr val="accent1"/>
            </a:solidFill>
            <a:prstDash val="solid"/>
          </a:ln>
        </p:spPr>
      </p:sp>
      <p:pic>
        <p:nvPicPr>
          <p:cNvPr id="19" name="r-ik-2-ikone" descr="preencoded.png">    </p:cNvPr>
          <p:cNvPicPr>
            <a:picLocks noChangeAspect="1"/>
          </p:cNvPicPr>
          <p:nvPr/>
        </p:nvPicPr>
        <p:blipFill>
          <a:blip r:embed="rId3"/>
          <a:stretch>
            <a:fillRect/>
          </a:stretch>
        </p:blipFill>
        <p:spPr>
          <a:xfrm>
            <a:off x="9395308" y="1933042"/>
            <a:ext cx="523037" cy="523037"/>
          </a:xfrm>
          <a:prstGeom prst="rect">
            <a:avLst/>
          </a:prstGeom>
        </p:spPr>
      </p:pic>
      <p:sp>
        <p:nvSpPr>
          <p:cNvPr id="20" name="Text 15"/>
          <p:cNvSpPr txBox="1"/>
          <p:nvPr/>
        </p:nvSpPr>
        <p:spPr>
          <a:xfrm>
            <a:off x="8127797" y="2834640"/>
            <a:ext cx="3058058" cy="411480"/>
          </a:xfrm>
          <a:prstGeom prst="rect">
            <a:avLst/>
          </a:prstGeom>
          <a:noFill/>
          <a:ln/>
        </p:spPr>
        <p:txBody>
          <a:bodyPr wrap="square" lIns="0" tIns="0" rIns="0" bIns="0" rtlCol="0" anchor="t"/>
          <a:lstStyle/>
          <a:p>
            <a:pPr algn="ctr" indent="0" marL="0">
              <a:buNone/>
            </a:pPr>
            <a:r>
              <a:rPr lang="en-US" sz="2100" b="1" dirty="0">
                <a:solidFill>
                  <a:schemeClr val="tx2"/>
                </a:solidFill>
              </a:rPr>
              <a:t>Ai-han</a:t>
            </a:r>
            <a:endParaRPr lang="en-US" sz="2100" dirty="0"/>
          </a:p>
        </p:txBody>
      </p:sp>
      <p:sp>
        <p:nvSpPr>
          <p:cNvPr id="21" name="Text 16"/>
          <p:cNvSpPr txBox="1"/>
          <p:nvPr/>
        </p:nvSpPr>
        <p:spPr>
          <a:xfrm>
            <a:off x="8127797" y="3246120"/>
            <a:ext cx="3058058" cy="365760"/>
          </a:xfrm>
          <a:prstGeom prst="rect">
            <a:avLst/>
          </a:prstGeom>
          <a:noFill/>
          <a:ln/>
        </p:spPr>
        <p:txBody>
          <a:bodyPr wrap="square" lIns="0" tIns="0" rIns="0" bIns="0" rtlCol="0" anchor="t"/>
          <a:lstStyle/>
          <a:p>
            <a:pPr algn="ctr" indent="0" marL="0">
              <a:buNone/>
            </a:pPr>
            <a:r>
              <a:rPr lang="en-US" sz="1600" b="1" dirty="0">
                <a:solidFill>
                  <a:schemeClr val="accent1"/>
                </a:solidFill>
              </a:rPr>
              <a:t>= Rezultadu</a:t>
            </a:r>
            <a:endParaRPr lang="en-US" sz="1600" dirty="0"/>
          </a:p>
        </p:txBody>
      </p:sp>
      <p:sp>
        <p:nvSpPr>
          <p:cNvPr id="22" name="Text 17"/>
          <p:cNvSpPr txBox="1"/>
          <p:nvPr/>
        </p:nvSpPr>
        <p:spPr>
          <a:xfrm>
            <a:off x="8219237" y="3703320"/>
            <a:ext cx="2875178" cy="914400"/>
          </a:xfrm>
          <a:prstGeom prst="rect">
            <a:avLst/>
          </a:prstGeom>
          <a:noFill/>
          <a:ln/>
        </p:spPr>
        <p:txBody>
          <a:bodyPr wrap="square" lIns="0" tIns="0" rIns="0" bIns="0" rtlCol="0" anchor="t"/>
          <a:lstStyle/>
          <a:p>
            <a:pPr algn="ctr" indent="0" marL="0">
              <a:buNone/>
            </a:pPr>
            <a:r>
              <a:rPr lang="en-US" sz="1500" dirty="0">
                <a:solidFill>
                  <a:schemeClr val="tx1"/>
                </a:solidFill>
              </a:rPr>
              <a:t>Relatóriu, gráfiku, notifikasaun</a:t>
            </a:r>
            <a:endParaRPr lang="en-US" sz="1500" dirty="0"/>
          </a:p>
        </p:txBody>
      </p:sp>
      <p:sp>
        <p:nvSpPr>
          <p:cNvPr id="23" name="r-nota"/>
          <p:cNvSpPr/>
          <p:nvPr/>
        </p:nvSpPr>
        <p:spPr>
          <a:xfrm>
            <a:off x="548640" y="5029200"/>
            <a:ext cx="11094415" cy="1097280"/>
          </a:xfrm>
          <a:prstGeom prst="roundRect">
            <a:avLst>
              <a:gd name="adj" fmla="val 10000"/>
            </a:avLst>
          </a:prstGeom>
          <a:solidFill>
            <a:srgbClr val="F2F4F7"/>
          </a:solidFill>
          <a:ln w="12700">
            <a:solidFill>
              <a:srgbClr val="F2F4F7"/>
            </a:solidFill>
            <a:prstDash val="solid"/>
          </a:ln>
        </p:spPr>
      </p:sp>
      <p:sp>
        <p:nvSpPr>
          <p:cNvPr id="24" name="Text 19"/>
          <p:cNvSpPr txBox="1"/>
          <p:nvPr/>
        </p:nvSpPr>
        <p:spPr>
          <a:xfrm>
            <a:off x="868680" y="5029200"/>
            <a:ext cx="10454335" cy="1097280"/>
          </a:xfrm>
          <a:prstGeom prst="rect">
            <a:avLst/>
          </a:prstGeom>
          <a:noFill/>
          <a:ln/>
        </p:spPr>
        <p:txBody>
          <a:bodyPr wrap="square" lIns="0" tIns="0" rIns="0" bIns="0" rtlCol="0" anchor="ctr"/>
          <a:lstStyle/>
          <a:p>
            <a:pPr indent="0" marL="0">
              <a:buNone/>
            </a:pPr>
            <a:r>
              <a:rPr lang="en-US" sz="1700" i="1" dirty="0">
                <a:solidFill>
                  <a:schemeClr val="tx1"/>
                </a:solidFill>
              </a:rPr>
              <a:t>Resita la'ós ai-han rasik; resita mak instrusaun. Programa mós hanesan: ita hakerek dala ida, komputadór "te'in" fali loron-loron.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Python no Excel: diferensa saida?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10:13</a:t>
            </a:r>
            <a:endParaRPr lang="en-US" sz="1200" dirty="0"/>
          </a:p>
        </p:txBody>
      </p:sp>
      <p:sp>
        <p:nvSpPr>
          <p:cNvPr id="5" name="cab-1"/>
          <p:cNvSpPr/>
          <p:nvPr/>
        </p:nvSpPr>
        <p:spPr>
          <a:xfrm>
            <a:off x="3520440" y="1417320"/>
            <a:ext cx="4114800" cy="594360"/>
          </a:xfrm>
          <a:prstGeom prst="roundRect">
            <a:avLst>
              <a:gd name="adj" fmla="val 15385"/>
            </a:avLst>
          </a:prstGeom>
          <a:solidFill>
            <a:schemeClr val="accent5"/>
          </a:solidFill>
          <a:ln w="12700">
            <a:solidFill>
              <a:schemeClr val="accent5"/>
            </a:solidFill>
            <a:prstDash val="solid"/>
          </a:ln>
        </p:spPr>
      </p:sp>
      <p:sp>
        <p:nvSpPr>
          <p:cNvPr id="6" name="Text 4"/>
          <p:cNvSpPr txBox="1"/>
          <p:nvPr/>
        </p:nvSpPr>
        <p:spPr>
          <a:xfrm>
            <a:off x="3474720" y="1417320"/>
            <a:ext cx="4206240" cy="594360"/>
          </a:xfrm>
          <a:prstGeom prst="rect">
            <a:avLst/>
          </a:prstGeom>
          <a:noFill/>
          <a:ln/>
        </p:spPr>
        <p:txBody>
          <a:bodyPr wrap="square" lIns="0" tIns="0" rIns="0" bIns="0" rtlCol="0" anchor="ctr"/>
          <a:lstStyle/>
          <a:p>
            <a:pPr algn="ctr" indent="0" marL="0">
              <a:buNone/>
            </a:pPr>
            <a:r>
              <a:rPr lang="en-US" sz="2000" b="1" dirty="0">
                <a:solidFill>
                  <a:schemeClr val="bg1"/>
                </a:solidFill>
              </a:rPr>
              <a:t>Excel</a:t>
            </a:r>
            <a:endParaRPr lang="en-US" sz="2000" dirty="0"/>
          </a:p>
        </p:txBody>
      </p:sp>
      <p:sp>
        <p:nvSpPr>
          <p:cNvPr id="7" name="cab-2"/>
          <p:cNvSpPr/>
          <p:nvPr/>
        </p:nvSpPr>
        <p:spPr>
          <a:xfrm>
            <a:off x="7726680" y="1417320"/>
            <a:ext cx="3870655" cy="594360"/>
          </a:xfrm>
          <a:prstGeom prst="roundRect">
            <a:avLst>
              <a:gd name="adj" fmla="val 15385"/>
            </a:avLst>
          </a:prstGeom>
          <a:solidFill>
            <a:schemeClr val="accent1"/>
          </a:solidFill>
          <a:ln w="12700">
            <a:solidFill>
              <a:schemeClr val="accent1"/>
            </a:solidFill>
            <a:prstDash val="solid"/>
          </a:ln>
        </p:spPr>
      </p:sp>
      <p:sp>
        <p:nvSpPr>
          <p:cNvPr id="8" name="Text 6"/>
          <p:cNvSpPr txBox="1"/>
          <p:nvPr/>
        </p:nvSpPr>
        <p:spPr>
          <a:xfrm>
            <a:off x="7680960" y="1417320"/>
            <a:ext cx="3962095" cy="594360"/>
          </a:xfrm>
          <a:prstGeom prst="rect">
            <a:avLst/>
          </a:prstGeom>
          <a:noFill/>
          <a:ln/>
        </p:spPr>
        <p:txBody>
          <a:bodyPr wrap="square" lIns="0" tIns="0" rIns="0" bIns="0" rtlCol="0" anchor="ctr"/>
          <a:lstStyle/>
          <a:p>
            <a:pPr algn="ctr" indent="0" marL="0">
              <a:buNone/>
            </a:pPr>
            <a:r>
              <a:rPr lang="en-US" sz="2000" b="1" dirty="0">
                <a:solidFill>
                  <a:schemeClr val="bg1"/>
                </a:solidFill>
              </a:rPr>
              <a:t>Python</a:t>
            </a:r>
            <a:endParaRPr lang="en-US" sz="2000" dirty="0"/>
          </a:p>
        </p:txBody>
      </p:sp>
      <p:sp>
        <p:nvSpPr>
          <p:cNvPr id="9" name="lin-1"/>
          <p:cNvSpPr/>
          <p:nvPr/>
        </p:nvSpPr>
        <p:spPr>
          <a:xfrm>
            <a:off x="548640" y="2167128"/>
            <a:ext cx="11094415" cy="640080"/>
          </a:xfrm>
          <a:prstGeom prst="roundRect">
            <a:avLst>
              <a:gd name="adj" fmla="val 17143"/>
            </a:avLst>
          </a:prstGeom>
          <a:solidFill>
            <a:schemeClr val="bg2"/>
          </a:solidFill>
          <a:ln w="12700">
            <a:solidFill>
              <a:schemeClr val="bg2"/>
            </a:solidFill>
            <a:prstDash val="solid"/>
          </a:ln>
        </p:spPr>
      </p:sp>
      <p:sp>
        <p:nvSpPr>
          <p:cNvPr id="10" name="Text 8"/>
          <p:cNvSpPr txBox="1"/>
          <p:nvPr/>
        </p:nvSpPr>
        <p:spPr>
          <a:xfrm>
            <a:off x="777240" y="2167128"/>
            <a:ext cx="2651760" cy="640080"/>
          </a:xfrm>
          <a:prstGeom prst="rect">
            <a:avLst/>
          </a:prstGeom>
          <a:noFill/>
          <a:ln/>
        </p:spPr>
        <p:txBody>
          <a:bodyPr wrap="square" lIns="0" tIns="0" rIns="0" bIns="0" rtlCol="0" anchor="ctr"/>
          <a:lstStyle/>
          <a:p>
            <a:pPr indent="0" marL="0">
              <a:buNone/>
            </a:pPr>
            <a:r>
              <a:rPr lang="en-US" sz="1600" b="1" dirty="0">
                <a:solidFill>
                  <a:schemeClr val="tx2"/>
                </a:solidFill>
              </a:rPr>
              <a:t>Oinsá servisu</a:t>
            </a:r>
            <a:endParaRPr lang="en-US" sz="1600" dirty="0"/>
          </a:p>
        </p:txBody>
      </p:sp>
      <p:sp>
        <p:nvSpPr>
          <p:cNvPr id="11" name="Text 9"/>
          <p:cNvSpPr txBox="1"/>
          <p:nvPr/>
        </p:nvSpPr>
        <p:spPr>
          <a:xfrm>
            <a:off x="3657600" y="2167128"/>
            <a:ext cx="3840480" cy="640080"/>
          </a:xfrm>
          <a:prstGeom prst="rect">
            <a:avLst/>
          </a:prstGeom>
          <a:noFill/>
          <a:ln/>
        </p:spPr>
        <p:txBody>
          <a:bodyPr wrap="square" lIns="0" tIns="0" rIns="0" bIns="0" rtlCol="0" anchor="ctr"/>
          <a:lstStyle/>
          <a:p>
            <a:pPr indent="0" marL="0">
              <a:buNone/>
            </a:pPr>
            <a:r>
              <a:rPr lang="en-US" sz="1500" dirty="0">
                <a:solidFill>
                  <a:schemeClr val="tx1"/>
                </a:solidFill>
              </a:rPr>
              <a:t>Klik no hakerek fórmula iha selula</a:t>
            </a:r>
            <a:endParaRPr lang="en-US" sz="1500" dirty="0"/>
          </a:p>
        </p:txBody>
      </p:sp>
      <p:sp>
        <p:nvSpPr>
          <p:cNvPr id="12" name="Text 10"/>
          <p:cNvSpPr txBox="1"/>
          <p:nvPr/>
        </p:nvSpPr>
        <p:spPr>
          <a:xfrm>
            <a:off x="7863840" y="2167128"/>
            <a:ext cx="3596335" cy="640080"/>
          </a:xfrm>
          <a:prstGeom prst="rect">
            <a:avLst/>
          </a:prstGeom>
          <a:noFill/>
          <a:ln/>
        </p:spPr>
        <p:txBody>
          <a:bodyPr wrap="square" lIns="0" tIns="0" rIns="0" bIns="0" rtlCol="0" anchor="ctr"/>
          <a:lstStyle/>
          <a:p>
            <a:pPr indent="0" marL="0">
              <a:buNone/>
            </a:pPr>
            <a:r>
              <a:rPr lang="en-US" sz="1500" dirty="0">
                <a:solidFill>
                  <a:schemeClr val="tx1"/>
                </a:solidFill>
              </a:rPr>
              <a:t>Hakerek instrusaun dala ida</a:t>
            </a:r>
            <a:endParaRPr lang="en-US" sz="1500" dirty="0"/>
          </a:p>
        </p:txBody>
      </p:sp>
      <p:sp>
        <p:nvSpPr>
          <p:cNvPr id="13" name="lin-2"/>
          <p:cNvSpPr/>
          <p:nvPr/>
        </p:nvSpPr>
        <p:spPr>
          <a:xfrm>
            <a:off x="548640" y="2916936"/>
            <a:ext cx="11094415" cy="640080"/>
          </a:xfrm>
          <a:prstGeom prst="roundRect">
            <a:avLst>
              <a:gd name="adj" fmla="val 17143"/>
            </a:avLst>
          </a:prstGeom>
          <a:solidFill>
            <a:srgbClr val="F7F9F8"/>
          </a:solidFill>
          <a:ln w="12700">
            <a:solidFill>
              <a:srgbClr val="F7F9F8"/>
            </a:solidFill>
            <a:prstDash val="solid"/>
          </a:ln>
        </p:spPr>
      </p:sp>
      <p:sp>
        <p:nvSpPr>
          <p:cNvPr id="14" name="Text 12"/>
          <p:cNvSpPr txBox="1"/>
          <p:nvPr/>
        </p:nvSpPr>
        <p:spPr>
          <a:xfrm>
            <a:off x="777240" y="2916936"/>
            <a:ext cx="2651760" cy="640080"/>
          </a:xfrm>
          <a:prstGeom prst="rect">
            <a:avLst/>
          </a:prstGeom>
          <a:noFill/>
          <a:ln/>
        </p:spPr>
        <p:txBody>
          <a:bodyPr wrap="square" lIns="0" tIns="0" rIns="0" bIns="0" rtlCol="0" anchor="ctr"/>
          <a:lstStyle/>
          <a:p>
            <a:pPr indent="0" marL="0">
              <a:buNone/>
            </a:pPr>
            <a:r>
              <a:rPr lang="en-US" sz="1600" b="1" dirty="0">
                <a:solidFill>
                  <a:schemeClr val="tx2"/>
                </a:solidFill>
              </a:rPr>
              <a:t>Dadus barak</a:t>
            </a:r>
            <a:endParaRPr lang="en-US" sz="1600" dirty="0"/>
          </a:p>
        </p:txBody>
      </p:sp>
      <p:sp>
        <p:nvSpPr>
          <p:cNvPr id="15" name="Text 13"/>
          <p:cNvSpPr txBox="1"/>
          <p:nvPr/>
        </p:nvSpPr>
        <p:spPr>
          <a:xfrm>
            <a:off x="3657600" y="2916936"/>
            <a:ext cx="3840480" cy="640080"/>
          </a:xfrm>
          <a:prstGeom prst="rect">
            <a:avLst/>
          </a:prstGeom>
          <a:noFill/>
          <a:ln/>
        </p:spPr>
        <p:txBody>
          <a:bodyPr wrap="square" lIns="0" tIns="0" rIns="0" bIns="0" rtlCol="0" anchor="ctr"/>
          <a:lstStyle/>
          <a:p>
            <a:pPr indent="0" marL="0">
              <a:buNone/>
            </a:pPr>
            <a:r>
              <a:rPr lang="en-US" sz="1500" dirty="0">
                <a:solidFill>
                  <a:schemeClr val="tx1"/>
                </a:solidFill>
              </a:rPr>
              <a:t>Neineik ho liña rihun ba rihun</a:t>
            </a:r>
            <a:endParaRPr lang="en-US" sz="1500" dirty="0"/>
          </a:p>
        </p:txBody>
      </p:sp>
      <p:sp>
        <p:nvSpPr>
          <p:cNvPr id="16" name="Text 14"/>
          <p:cNvSpPr txBox="1"/>
          <p:nvPr/>
        </p:nvSpPr>
        <p:spPr>
          <a:xfrm>
            <a:off x="7863840" y="2916936"/>
            <a:ext cx="3596335" cy="640080"/>
          </a:xfrm>
          <a:prstGeom prst="rect">
            <a:avLst/>
          </a:prstGeom>
          <a:noFill/>
          <a:ln/>
        </p:spPr>
        <p:txBody>
          <a:bodyPr wrap="square" lIns="0" tIns="0" rIns="0" bIns="0" rtlCol="0" anchor="ctr"/>
          <a:lstStyle/>
          <a:p>
            <a:pPr indent="0" marL="0">
              <a:buNone/>
            </a:pPr>
            <a:r>
              <a:rPr lang="en-US" sz="1500" dirty="0">
                <a:solidFill>
                  <a:schemeClr val="tx1"/>
                </a:solidFill>
              </a:rPr>
              <a:t>Lalais, liña millaun mós bele</a:t>
            </a:r>
            <a:endParaRPr lang="en-US" sz="1500" dirty="0"/>
          </a:p>
        </p:txBody>
      </p:sp>
      <p:sp>
        <p:nvSpPr>
          <p:cNvPr id="17" name="lin-3"/>
          <p:cNvSpPr/>
          <p:nvPr/>
        </p:nvSpPr>
        <p:spPr>
          <a:xfrm>
            <a:off x="548640" y="3666744"/>
            <a:ext cx="11094415" cy="640080"/>
          </a:xfrm>
          <a:prstGeom prst="roundRect">
            <a:avLst>
              <a:gd name="adj" fmla="val 17143"/>
            </a:avLst>
          </a:prstGeom>
          <a:solidFill>
            <a:schemeClr val="bg2"/>
          </a:solidFill>
          <a:ln w="12700">
            <a:solidFill>
              <a:schemeClr val="bg2"/>
            </a:solidFill>
            <a:prstDash val="solid"/>
          </a:ln>
        </p:spPr>
      </p:sp>
      <p:sp>
        <p:nvSpPr>
          <p:cNvPr id="18" name="Text 16"/>
          <p:cNvSpPr txBox="1"/>
          <p:nvPr/>
        </p:nvSpPr>
        <p:spPr>
          <a:xfrm>
            <a:off x="777240" y="3666744"/>
            <a:ext cx="2651760" cy="640080"/>
          </a:xfrm>
          <a:prstGeom prst="rect">
            <a:avLst/>
          </a:prstGeom>
          <a:noFill/>
          <a:ln/>
        </p:spPr>
        <p:txBody>
          <a:bodyPr wrap="square" lIns="0" tIns="0" rIns="0" bIns="0" rtlCol="0" anchor="ctr"/>
          <a:lstStyle/>
          <a:p>
            <a:pPr indent="0" marL="0">
              <a:buNone/>
            </a:pPr>
            <a:r>
              <a:rPr lang="en-US" sz="1600" b="1" dirty="0">
                <a:solidFill>
                  <a:schemeClr val="tx2"/>
                </a:solidFill>
              </a:rPr>
              <a:t>Servisu repete</a:t>
            </a:r>
            <a:endParaRPr lang="en-US" sz="1600" dirty="0"/>
          </a:p>
        </p:txBody>
      </p:sp>
      <p:sp>
        <p:nvSpPr>
          <p:cNvPr id="19" name="Text 17"/>
          <p:cNvSpPr txBox="1"/>
          <p:nvPr/>
        </p:nvSpPr>
        <p:spPr>
          <a:xfrm>
            <a:off x="3657600" y="3666744"/>
            <a:ext cx="3840480" cy="640080"/>
          </a:xfrm>
          <a:prstGeom prst="rect">
            <a:avLst/>
          </a:prstGeom>
          <a:noFill/>
          <a:ln/>
        </p:spPr>
        <p:txBody>
          <a:bodyPr wrap="square" lIns="0" tIns="0" rIns="0" bIns="0" rtlCol="0" anchor="ctr"/>
          <a:lstStyle/>
          <a:p>
            <a:pPr indent="0" marL="0">
              <a:buNone/>
            </a:pPr>
            <a:r>
              <a:rPr lang="en-US" sz="1500" dirty="0">
                <a:solidFill>
                  <a:schemeClr val="tx1"/>
                </a:solidFill>
              </a:rPr>
              <a:t>Halo fali manuál kada fulan</a:t>
            </a:r>
            <a:endParaRPr lang="en-US" sz="1500" dirty="0"/>
          </a:p>
        </p:txBody>
      </p:sp>
      <p:sp>
        <p:nvSpPr>
          <p:cNvPr id="20" name="Text 18"/>
          <p:cNvSpPr txBox="1"/>
          <p:nvPr/>
        </p:nvSpPr>
        <p:spPr>
          <a:xfrm>
            <a:off x="7863840" y="3666744"/>
            <a:ext cx="3596335" cy="640080"/>
          </a:xfrm>
          <a:prstGeom prst="rect">
            <a:avLst/>
          </a:prstGeom>
          <a:noFill/>
          <a:ln/>
        </p:spPr>
        <p:txBody>
          <a:bodyPr wrap="square" lIns="0" tIns="0" rIns="0" bIns="0" rtlCol="0" anchor="ctr"/>
          <a:lstStyle/>
          <a:p>
            <a:pPr indent="0" marL="0">
              <a:buNone/>
            </a:pPr>
            <a:r>
              <a:rPr lang="en-US" sz="1500" dirty="0">
                <a:solidFill>
                  <a:schemeClr val="tx1"/>
                </a:solidFill>
              </a:rPr>
              <a:t>Automátiku: run fali de'it</a:t>
            </a:r>
            <a:endParaRPr lang="en-US" sz="1500" dirty="0"/>
          </a:p>
        </p:txBody>
      </p:sp>
      <p:sp>
        <p:nvSpPr>
          <p:cNvPr id="21" name="lin-4"/>
          <p:cNvSpPr/>
          <p:nvPr/>
        </p:nvSpPr>
        <p:spPr>
          <a:xfrm>
            <a:off x="548640" y="4416552"/>
            <a:ext cx="11094415" cy="640080"/>
          </a:xfrm>
          <a:prstGeom prst="roundRect">
            <a:avLst>
              <a:gd name="adj" fmla="val 17143"/>
            </a:avLst>
          </a:prstGeom>
          <a:solidFill>
            <a:srgbClr val="F7F9F8"/>
          </a:solidFill>
          <a:ln w="12700">
            <a:solidFill>
              <a:srgbClr val="F7F9F8"/>
            </a:solidFill>
            <a:prstDash val="solid"/>
          </a:ln>
        </p:spPr>
      </p:sp>
      <p:sp>
        <p:nvSpPr>
          <p:cNvPr id="22" name="Text 20"/>
          <p:cNvSpPr txBox="1"/>
          <p:nvPr/>
        </p:nvSpPr>
        <p:spPr>
          <a:xfrm>
            <a:off x="777240" y="4416552"/>
            <a:ext cx="2651760" cy="640080"/>
          </a:xfrm>
          <a:prstGeom prst="rect">
            <a:avLst/>
          </a:prstGeom>
          <a:noFill/>
          <a:ln/>
        </p:spPr>
        <p:txBody>
          <a:bodyPr wrap="square" lIns="0" tIns="0" rIns="0" bIns="0" rtlCol="0" anchor="ctr"/>
          <a:lstStyle/>
          <a:p>
            <a:pPr indent="0" marL="0">
              <a:buNone/>
            </a:pPr>
            <a:r>
              <a:rPr lang="en-US" sz="1600" b="1" dirty="0">
                <a:solidFill>
                  <a:schemeClr val="tx2"/>
                </a:solidFill>
              </a:rPr>
              <a:t>Sala ema</a:t>
            </a:r>
            <a:endParaRPr lang="en-US" sz="1600" dirty="0"/>
          </a:p>
        </p:txBody>
      </p:sp>
      <p:sp>
        <p:nvSpPr>
          <p:cNvPr id="23" name="Text 21"/>
          <p:cNvSpPr txBox="1"/>
          <p:nvPr/>
        </p:nvSpPr>
        <p:spPr>
          <a:xfrm>
            <a:off x="3657600" y="4416552"/>
            <a:ext cx="3840480" cy="640080"/>
          </a:xfrm>
          <a:prstGeom prst="rect">
            <a:avLst/>
          </a:prstGeom>
          <a:noFill/>
          <a:ln/>
        </p:spPr>
        <p:txBody>
          <a:bodyPr wrap="square" lIns="0" tIns="0" rIns="0" bIns="0" rtlCol="0" anchor="ctr"/>
          <a:lstStyle/>
          <a:p>
            <a:pPr indent="0" marL="0">
              <a:buNone/>
            </a:pPr>
            <a:r>
              <a:rPr lang="en-US" sz="1500" dirty="0">
                <a:solidFill>
                  <a:schemeClr val="tx1"/>
                </a:solidFill>
              </a:rPr>
              <a:t>Fásil sala kopia / cola</a:t>
            </a:r>
            <a:endParaRPr lang="en-US" sz="1500" dirty="0"/>
          </a:p>
        </p:txBody>
      </p:sp>
      <p:sp>
        <p:nvSpPr>
          <p:cNvPr id="24" name="Text 22"/>
          <p:cNvSpPr txBox="1"/>
          <p:nvPr/>
        </p:nvSpPr>
        <p:spPr>
          <a:xfrm>
            <a:off x="7863840" y="4416552"/>
            <a:ext cx="3596335" cy="640080"/>
          </a:xfrm>
          <a:prstGeom prst="rect">
            <a:avLst/>
          </a:prstGeom>
          <a:noFill/>
          <a:ln/>
        </p:spPr>
        <p:txBody>
          <a:bodyPr wrap="square" lIns="0" tIns="0" rIns="0" bIns="0" rtlCol="0" anchor="ctr"/>
          <a:lstStyle/>
          <a:p>
            <a:pPr indent="0" marL="0">
              <a:buNone/>
            </a:pPr>
            <a:r>
              <a:rPr lang="en-US" sz="1500" dirty="0">
                <a:solidFill>
                  <a:schemeClr val="tx1"/>
                </a:solidFill>
              </a:rPr>
              <a:t>Instrusaun hanesan beibeik</a:t>
            </a:r>
            <a:endParaRPr lang="en-US" sz="1500" dirty="0"/>
          </a:p>
        </p:txBody>
      </p:sp>
      <p:sp>
        <p:nvSpPr>
          <p:cNvPr id="25" name="lin-5"/>
          <p:cNvSpPr/>
          <p:nvPr/>
        </p:nvSpPr>
        <p:spPr>
          <a:xfrm>
            <a:off x="548640" y="5166360"/>
            <a:ext cx="11094415" cy="640080"/>
          </a:xfrm>
          <a:prstGeom prst="roundRect">
            <a:avLst>
              <a:gd name="adj" fmla="val 17143"/>
            </a:avLst>
          </a:prstGeom>
          <a:solidFill>
            <a:schemeClr val="bg2"/>
          </a:solidFill>
          <a:ln w="12700">
            <a:solidFill>
              <a:schemeClr val="bg2"/>
            </a:solidFill>
            <a:prstDash val="solid"/>
          </a:ln>
        </p:spPr>
      </p:sp>
      <p:sp>
        <p:nvSpPr>
          <p:cNvPr id="26" name="Text 24"/>
          <p:cNvSpPr txBox="1"/>
          <p:nvPr/>
        </p:nvSpPr>
        <p:spPr>
          <a:xfrm>
            <a:off x="777240" y="5166360"/>
            <a:ext cx="2651760" cy="640080"/>
          </a:xfrm>
          <a:prstGeom prst="rect">
            <a:avLst/>
          </a:prstGeom>
          <a:noFill/>
          <a:ln/>
        </p:spPr>
        <p:txBody>
          <a:bodyPr wrap="square" lIns="0" tIns="0" rIns="0" bIns="0" rtlCol="0" anchor="ctr"/>
          <a:lstStyle/>
          <a:p>
            <a:pPr indent="0" marL="0">
              <a:buNone/>
            </a:pPr>
            <a:r>
              <a:rPr lang="en-US" sz="1600" b="1" dirty="0">
                <a:solidFill>
                  <a:schemeClr val="tx2"/>
                </a:solidFill>
              </a:rPr>
              <a:t>Ba saida di'ak</a:t>
            </a:r>
            <a:endParaRPr lang="en-US" sz="1600" dirty="0"/>
          </a:p>
        </p:txBody>
      </p:sp>
      <p:sp>
        <p:nvSpPr>
          <p:cNvPr id="27" name="Text 25"/>
          <p:cNvSpPr txBox="1"/>
          <p:nvPr/>
        </p:nvSpPr>
        <p:spPr>
          <a:xfrm>
            <a:off x="3657600" y="5166360"/>
            <a:ext cx="3840480" cy="640080"/>
          </a:xfrm>
          <a:prstGeom prst="rect">
            <a:avLst/>
          </a:prstGeom>
          <a:noFill/>
          <a:ln/>
        </p:spPr>
        <p:txBody>
          <a:bodyPr wrap="square" lIns="0" tIns="0" rIns="0" bIns="0" rtlCol="0" anchor="ctr"/>
          <a:lstStyle/>
          <a:p>
            <a:pPr indent="0" marL="0">
              <a:buNone/>
            </a:pPr>
            <a:r>
              <a:rPr lang="en-US" sz="1500" dirty="0">
                <a:solidFill>
                  <a:schemeClr val="tx1"/>
                </a:solidFill>
              </a:rPr>
              <a:t>Tabela ki'ik, kalkulu lalais</a:t>
            </a:r>
            <a:endParaRPr lang="en-US" sz="1500" dirty="0"/>
          </a:p>
        </p:txBody>
      </p:sp>
      <p:sp>
        <p:nvSpPr>
          <p:cNvPr id="28" name="Text 26"/>
          <p:cNvSpPr txBox="1"/>
          <p:nvPr/>
        </p:nvSpPr>
        <p:spPr>
          <a:xfrm>
            <a:off x="7863840" y="5166360"/>
            <a:ext cx="3596335" cy="640080"/>
          </a:xfrm>
          <a:prstGeom prst="rect">
            <a:avLst/>
          </a:prstGeom>
          <a:noFill/>
          <a:ln/>
        </p:spPr>
        <p:txBody>
          <a:bodyPr wrap="square" lIns="0" tIns="0" rIns="0" bIns="0" rtlCol="0" anchor="ctr"/>
          <a:lstStyle/>
          <a:p>
            <a:pPr indent="0" marL="0">
              <a:buNone/>
            </a:pPr>
            <a:r>
              <a:rPr lang="en-US" sz="1500" dirty="0">
                <a:solidFill>
                  <a:schemeClr val="tx1"/>
                </a:solidFill>
              </a:rPr>
              <a:t>Sistema, relatóriu automátiku, mapa</a:t>
            </a:r>
            <a:endParaRPr lang="en-US" sz="1500" dirty="0"/>
          </a:p>
        </p:txBody>
      </p:sp>
      <p:sp>
        <p:nvSpPr>
          <p:cNvPr id="29" name="Text 27"/>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400" i="1" dirty="0">
                <a:solidFill>
                  <a:srgbClr val="5E6B66"/>
                </a:solidFill>
              </a:rPr>
              <a:t>Excel la aat: Python la troka Excel. Python ajuda bainhira dadus barak no servisu repete.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Python fásil atu lee</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10:17</a:t>
            </a:r>
            <a:endParaRPr lang="en-US" sz="1200" dirty="0"/>
          </a:p>
        </p:txBody>
      </p:sp>
      <p:sp>
        <p:nvSpPr>
          <p:cNvPr id="5" name="k7"/>
          <p:cNvSpPr/>
          <p:nvPr/>
        </p:nvSpPr>
        <p:spPr>
          <a:xfrm>
            <a:off x="548640" y="1554480"/>
            <a:ext cx="5760720" cy="2194560"/>
          </a:xfrm>
          <a:prstGeom prst="roundRect">
            <a:avLst>
              <a:gd name="adj" fmla="val 4167"/>
            </a:avLst>
          </a:prstGeom>
          <a:solidFill>
            <a:schemeClr val="tx1"/>
          </a:solidFill>
          <a:ln w="12700">
            <a:solidFill>
              <a:schemeClr val="tx1"/>
            </a:solidFill>
            <a:prstDash val="solid"/>
          </a:ln>
        </p:spPr>
      </p:sp>
      <p:sp>
        <p:nvSpPr>
          <p:cNvPr id="6" name="k7-t"/>
          <p:cNvSpPr txBox="1"/>
          <p:nvPr/>
        </p:nvSpPr>
        <p:spPr>
          <a:xfrm>
            <a:off x="822960" y="1783080"/>
            <a:ext cx="5212080" cy="1737360"/>
          </a:xfrm>
          <a:prstGeom prst="rect">
            <a:avLst/>
          </a:prstGeom>
          <a:noFill/>
          <a:ln/>
        </p:spPr>
        <p:txBody>
          <a:bodyPr wrap="square" lIns="0" tIns="0" rIns="0" bIns="0" rtlCol="0" anchor="t"/>
          <a:lstStyle/>
          <a:p>
            <a:pPr indent="0" marL="0">
              <a:buNone/>
            </a:pPr>
            <a:r>
              <a:rPr lang="en-US" sz="2000" dirty="0">
                <a:solidFill>
                  <a:schemeClr val="bg1"/>
                </a:solidFill>
                <a:latin typeface="Courier New" pitchFamily="34" charset="0"/>
                <a:ea typeface="Courier New" pitchFamily="34" charset="-122"/>
                <a:cs typeface="Courier New" pitchFamily="34" charset="-120"/>
              </a:rPr>
              <a:t>for kazu in kazu_hotu:</a:t>
            </a:r>
            <a:endParaRPr lang="en-US" sz="2000" dirty="0"/>
          </a:p>
          <a:p>
            <a:pPr indent="0" marL="0">
              <a:buNone/>
            </a:pPr>
            <a:r>
              <a:rPr lang="en-US" sz="2000" dirty="0">
                <a:solidFill>
                  <a:schemeClr val="bg1"/>
                </a:solidFill>
                <a:latin typeface="Courier New" pitchFamily="34" charset="0"/>
                <a:ea typeface="Courier New" pitchFamily="34" charset="-122"/>
                <a:cs typeface="Courier New" pitchFamily="34" charset="-120"/>
              </a:rPr>
              <a:t>    if kazu.urjente:</a:t>
            </a:r>
            <a:endParaRPr lang="en-US" sz="2000" dirty="0"/>
          </a:p>
          <a:p>
            <a:pPr indent="0" marL="0">
              <a:buNone/>
            </a:pPr>
            <a:r>
              <a:rPr lang="en-US" sz="2000" dirty="0">
                <a:solidFill>
                  <a:schemeClr val="bg1"/>
                </a:solidFill>
                <a:latin typeface="Courier New" pitchFamily="34" charset="0"/>
                <a:ea typeface="Courier New" pitchFamily="34" charset="-122"/>
                <a:cs typeface="Courier New" pitchFamily="34" charset="-120"/>
              </a:rPr>
              <a:t>        haruka_notifikasaun(kazu)</a:t>
            </a:r>
            <a:endParaRPr lang="en-US" sz="2000" dirty="0"/>
          </a:p>
        </p:txBody>
      </p:sp>
      <p:sp>
        <p:nvSpPr>
          <p:cNvPr id="7" name="s7"/>
          <p:cNvSpPr/>
          <p:nvPr/>
        </p:nvSpPr>
        <p:spPr>
          <a:xfrm>
            <a:off x="6446520" y="2651760"/>
            <a:ext cx="548640" cy="914"/>
          </a:xfrm>
          <a:prstGeom prst="line">
            <a:avLst/>
          </a:prstGeom>
          <a:noFill/>
          <a:ln w="31750">
            <a:solidFill>
              <a:schemeClr val="accent1"/>
            </a:solidFill>
            <a:prstDash val="solid"/>
            <a:tailEnd type="triangle"/>
          </a:ln>
        </p:spPr>
      </p:sp>
      <p:sp>
        <p:nvSpPr>
          <p:cNvPr id="8" name="tr7"/>
          <p:cNvSpPr/>
          <p:nvPr/>
        </p:nvSpPr>
        <p:spPr>
          <a:xfrm>
            <a:off x="7086600" y="1554480"/>
            <a:ext cx="4556455" cy="2194560"/>
          </a:xfrm>
          <a:prstGeom prst="roundRect">
            <a:avLst>
              <a:gd name="adj" fmla="val 5000"/>
            </a:avLst>
          </a:prstGeom>
          <a:solidFill>
            <a:schemeClr val="bg2"/>
          </a:solidFill>
          <a:ln w="12700">
            <a:solidFill>
              <a:schemeClr val="bg2"/>
            </a:solidFill>
            <a:prstDash val="solid"/>
          </a:ln>
        </p:spPr>
      </p:sp>
      <p:sp>
        <p:nvSpPr>
          <p:cNvPr id="9" name="Text 7"/>
          <p:cNvSpPr txBox="1"/>
          <p:nvPr/>
        </p:nvSpPr>
        <p:spPr>
          <a:xfrm>
            <a:off x="7360920" y="1691640"/>
            <a:ext cx="4007815" cy="1920240"/>
          </a:xfrm>
          <a:prstGeom prst="rect">
            <a:avLst/>
          </a:prstGeom>
          <a:noFill/>
          <a:ln/>
        </p:spPr>
        <p:txBody>
          <a:bodyPr wrap="square" lIns="0" tIns="0" rIns="0" bIns="0" rtlCol="0" anchor="t"/>
          <a:lstStyle/>
          <a:p>
            <a:pPr indent="0" marL="0">
              <a:buNone/>
            </a:pPr>
            <a:r>
              <a:rPr lang="en-US" sz="1900" b="1" dirty="0">
                <a:solidFill>
                  <a:schemeClr val="accent1"/>
                </a:solidFill>
              </a:rPr>
              <a:t>Iha Tetun:</a:t>
            </a:r>
            <a:endParaRPr lang="en-US" sz="1900" dirty="0"/>
          </a:p>
          <a:p>
            <a:pPr indent="0" marL="0">
              <a:buNone/>
            </a:pPr>
            <a:r>
              <a:rPr lang="en-US" sz="1900" dirty="0">
                <a:solidFill>
                  <a:schemeClr val="tx1"/>
                </a:solidFill>
              </a:rPr>
              <a:t>Ba kazu ida-idak iha lista,</a:t>
            </a:r>
            <a:endParaRPr lang="en-US" sz="1900" dirty="0"/>
          </a:p>
          <a:p>
            <a:pPr indent="0" marL="0">
              <a:buNone/>
            </a:pPr>
            <a:r>
              <a:rPr lang="en-US" sz="1900" dirty="0">
                <a:solidFill>
                  <a:schemeClr val="tx1"/>
                </a:solidFill>
              </a:rPr>
              <a:t>se kazu ne'e urjente,</a:t>
            </a:r>
            <a:endParaRPr lang="en-US" sz="1900" dirty="0"/>
          </a:p>
          <a:p>
            <a:pPr indent="0" marL="0">
              <a:buNone/>
            </a:pPr>
            <a:r>
              <a:rPr lang="en-US" sz="1900" dirty="0">
                <a:solidFill>
                  <a:schemeClr val="tx1"/>
                </a:solidFill>
              </a:rPr>
              <a:t>haruka notifikasaun.</a:t>
            </a:r>
            <a:endParaRPr lang="en-US" sz="1900" dirty="0"/>
          </a:p>
        </p:txBody>
      </p:sp>
      <p:sp>
        <p:nvSpPr>
          <p:cNvPr id="10" name="Text 8"/>
          <p:cNvSpPr txBox="1"/>
          <p:nvPr/>
        </p:nvSpPr>
        <p:spPr>
          <a:xfrm>
            <a:off x="548640" y="4114800"/>
            <a:ext cx="11094415" cy="2103120"/>
          </a:xfrm>
          <a:prstGeom prst="rect">
            <a:avLst/>
          </a:prstGeom>
          <a:noFill/>
          <a:ln/>
        </p:spPr>
        <p:txBody>
          <a:bodyPr wrap="square" lIns="0" tIns="0" rIns="0" bIns="0" rtlCol="0" anchor="t"/>
          <a:lstStyle/>
          <a:p>
            <a:pPr marL="342900" indent="-342900">
              <a:spcAft>
                <a:spcPts val="1000"/>
              </a:spcAft>
              <a:buSzPct val="100000"/>
              <a:buChar char="•"/>
            </a:pPr>
            <a:r>
              <a:rPr lang="en-US" sz="1700" b="1" dirty="0">
                <a:solidFill>
                  <a:schemeClr val="tx2"/>
                </a:solidFill>
              </a:rPr>
              <a:t>Liña 3 de'it</a:t>
            </a:r>
            <a:pPr indent="0" marL="0">
              <a:spcAft>
                <a:spcPts val="1000"/>
              </a:spcAft>
              <a:buNone/>
            </a:pPr>
            <a:r>
              <a:rPr lang="en-US" sz="1700" dirty="0">
                <a:solidFill>
                  <a:schemeClr val="tx1"/>
                </a:solidFill>
              </a:rPr>
              <a:t> atu halo buat ne'ebé ema presiza oras atu halo ho liman.</a:t>
            </a:r>
            <a:endParaRPr lang="en-US" sz="1700" dirty="0"/>
          </a:p>
          <a:p>
            <a:pPr marL="342900" indent="-342900">
              <a:spcAft>
                <a:spcPts val="1000"/>
              </a:spcAft>
              <a:buSzPct val="100000"/>
              <a:buChar char="•"/>
            </a:pPr>
            <a:r>
              <a:rPr lang="en-US" sz="1700" b="1" dirty="0">
                <a:solidFill>
                  <a:schemeClr val="tx2"/>
                </a:solidFill>
              </a:rPr>
              <a:t>Lian klaru</a:t>
            </a:r>
            <a:pPr indent="0" marL="0">
              <a:spcAft>
                <a:spcPts val="1000"/>
              </a:spcAft>
              <a:buNone/>
            </a:pPr>
            <a:r>
              <a:rPr lang="en-US" sz="1700" dirty="0">
                <a:solidFill>
                  <a:schemeClr val="tx1"/>
                </a:solidFill>
              </a:rPr>
              <a:t> ema seluk bele lee no komprende, la'ós autór de'it.</a:t>
            </a:r>
            <a:endParaRPr lang="en-US" sz="1700" dirty="0"/>
          </a:p>
          <a:p>
            <a:pPr marL="342900" indent="-342900">
              <a:spcAft>
                <a:spcPts val="1000"/>
              </a:spcAft>
              <a:buSzPct val="100000"/>
              <a:buChar char="•"/>
            </a:pPr>
            <a:r>
              <a:rPr lang="en-US" sz="1700" b="1" dirty="0">
                <a:solidFill>
                  <a:schemeClr val="tx2"/>
                </a:solidFill>
              </a:rPr>
              <a:t>Ezemplu loos</a:t>
            </a:r>
            <a:pPr indent="0" marL="0">
              <a:spcAft>
                <a:spcPts val="1000"/>
              </a:spcAft>
              <a:buNone/>
            </a:pPr>
            <a:r>
              <a:rPr lang="en-US" sz="1700" dirty="0">
                <a:solidFill>
                  <a:schemeClr val="tx1"/>
                </a:solidFill>
              </a:rPr>
              <a:t> SIBAR-RbR haruka notifikasaun kazu urjente ba Admin ho lójika hanesan.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Istória Python</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Husi projetu ki'ik iha Natál 1989 to'o lian númeru 1 iha mundu</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02</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10:20 – 10:45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Hahú: Natál 1989 iha Amsterdam</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10:20</a:t>
            </a:r>
            <a:endParaRPr lang="en-US" sz="1200" dirty="0"/>
          </a:p>
        </p:txBody>
      </p:sp>
      <p:sp>
        <p:nvSpPr>
          <p:cNvPr id="5" name="guido-sirkulu"/>
          <p:cNvSpPr/>
          <p:nvPr/>
        </p:nvSpPr>
        <p:spPr>
          <a:xfrm>
            <a:off x="548640" y="1508760"/>
            <a:ext cx="1463040" cy="1463040"/>
          </a:xfrm>
          <a:prstGeom prst="ellipse">
            <a:avLst/>
          </a:prstGeom>
          <a:solidFill>
            <a:schemeClr val="accent5"/>
          </a:solidFill>
          <a:ln w="12700">
            <a:solidFill>
              <a:schemeClr val="accent5"/>
            </a:solidFill>
            <a:prstDash val="solid"/>
          </a:ln>
        </p:spPr>
      </p:sp>
      <p:pic>
        <p:nvPicPr>
          <p:cNvPr id="6" name="guido-ikone" descr="preencoded.png">    </p:cNvPr>
          <p:cNvPicPr>
            <a:picLocks noChangeAspect="1"/>
          </p:cNvPicPr>
          <p:nvPr/>
        </p:nvPicPr>
        <p:blipFill>
          <a:blip r:embed="rId1"/>
          <a:stretch>
            <a:fillRect/>
          </a:stretch>
        </p:blipFill>
        <p:spPr>
          <a:xfrm>
            <a:off x="899770" y="1859890"/>
            <a:ext cx="760781" cy="760781"/>
          </a:xfrm>
          <a:prstGeom prst="rect">
            <a:avLst/>
          </a:prstGeom>
        </p:spPr>
      </p:pic>
      <p:sp>
        <p:nvSpPr>
          <p:cNvPr id="7" name="Text 4"/>
          <p:cNvSpPr txBox="1"/>
          <p:nvPr/>
        </p:nvSpPr>
        <p:spPr>
          <a:xfrm>
            <a:off x="2286000" y="1600200"/>
            <a:ext cx="4572000"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Guido van Rossum</a:t>
            </a:r>
            <a:endParaRPr lang="en-US" sz="2800" dirty="0"/>
          </a:p>
        </p:txBody>
      </p:sp>
      <p:sp>
        <p:nvSpPr>
          <p:cNvPr id="8" name="Text 5"/>
          <p:cNvSpPr txBox="1"/>
          <p:nvPr/>
        </p:nvSpPr>
        <p:spPr>
          <a:xfrm>
            <a:off x="2286000" y="2148840"/>
            <a:ext cx="4572000" cy="411480"/>
          </a:xfrm>
          <a:prstGeom prst="rect">
            <a:avLst/>
          </a:prstGeom>
          <a:noFill/>
          <a:ln/>
        </p:spPr>
        <p:txBody>
          <a:bodyPr wrap="square" lIns="0" tIns="0" rIns="0" bIns="0" rtlCol="0" anchor="t"/>
          <a:lstStyle/>
          <a:p>
            <a:pPr indent="0" marL="0">
              <a:buNone/>
            </a:pPr>
            <a:r>
              <a:rPr lang="en-US" sz="1600" dirty="0">
                <a:solidFill>
                  <a:srgbClr val="5E6B66"/>
                </a:solidFill>
              </a:rPr>
              <a:t>Programadór Olandés · kriadór Python</a:t>
            </a:r>
            <a:endParaRPr lang="en-US" sz="1600" dirty="0"/>
          </a:p>
        </p:txBody>
      </p:sp>
      <p:sp>
        <p:nvSpPr>
          <p:cNvPr id="9" name="f-0"/>
          <p:cNvSpPr/>
          <p:nvPr/>
        </p:nvSpPr>
        <p:spPr>
          <a:xfrm>
            <a:off x="548640" y="3017520"/>
            <a:ext cx="5410048" cy="1417320"/>
          </a:xfrm>
          <a:prstGeom prst="roundRect">
            <a:avLst>
              <a:gd name="adj" fmla="val 7742"/>
            </a:avLst>
          </a:prstGeom>
          <a:solidFill>
            <a:schemeClr val="bg2"/>
          </a:solidFill>
          <a:ln w="12700">
            <a:solidFill>
              <a:schemeClr val="bg2"/>
            </a:solidFill>
            <a:prstDash val="solid"/>
          </a:ln>
        </p:spPr>
      </p:sp>
      <p:sp>
        <p:nvSpPr>
          <p:cNvPr id="10" name="f-ik-0-sirkulu"/>
          <p:cNvSpPr/>
          <p:nvPr/>
        </p:nvSpPr>
        <p:spPr>
          <a:xfrm>
            <a:off x="777240" y="3337560"/>
            <a:ext cx="777240" cy="777240"/>
          </a:xfrm>
          <a:prstGeom prst="ellipse">
            <a:avLst/>
          </a:prstGeom>
          <a:solidFill>
            <a:schemeClr val="accent1"/>
          </a:solidFill>
          <a:ln w="12700">
            <a:solidFill>
              <a:schemeClr val="accent1"/>
            </a:solidFill>
            <a:prstDash val="solid"/>
          </a:ln>
        </p:spPr>
      </p:sp>
      <p:pic>
        <p:nvPicPr>
          <p:cNvPr id="11" name="f-ik-0-ikone" descr="preencoded.png">    </p:cNvPr>
          <p:cNvPicPr>
            <a:picLocks noChangeAspect="1"/>
          </p:cNvPicPr>
          <p:nvPr/>
        </p:nvPicPr>
        <p:blipFill>
          <a:blip r:embed="rId2"/>
          <a:stretch>
            <a:fillRect/>
          </a:stretch>
        </p:blipFill>
        <p:spPr>
          <a:xfrm>
            <a:off x="963778" y="3524098"/>
            <a:ext cx="404165" cy="404165"/>
          </a:xfrm>
          <a:prstGeom prst="rect">
            <a:avLst/>
          </a:prstGeom>
        </p:spPr>
      </p:pic>
      <p:sp>
        <p:nvSpPr>
          <p:cNvPr id="12" name="Text 8"/>
          <p:cNvSpPr txBox="1"/>
          <p:nvPr/>
        </p:nvSpPr>
        <p:spPr>
          <a:xfrm>
            <a:off x="1737360" y="3154680"/>
            <a:ext cx="4038448" cy="365760"/>
          </a:xfrm>
          <a:prstGeom prst="rect">
            <a:avLst/>
          </a:prstGeom>
          <a:noFill/>
          <a:ln/>
        </p:spPr>
        <p:txBody>
          <a:bodyPr wrap="square" lIns="0" tIns="0" rIns="0" bIns="0" rtlCol="0" anchor="t"/>
          <a:lstStyle/>
          <a:p>
            <a:pPr indent="0" marL="0">
              <a:buNone/>
            </a:pPr>
            <a:r>
              <a:rPr lang="en-US" sz="1700" b="1" dirty="0">
                <a:solidFill>
                  <a:schemeClr val="tx2"/>
                </a:solidFill>
              </a:rPr>
              <a:t>Fatin</a:t>
            </a:r>
            <a:endParaRPr lang="en-US" sz="1700" dirty="0"/>
          </a:p>
        </p:txBody>
      </p:sp>
      <p:sp>
        <p:nvSpPr>
          <p:cNvPr id="13" name="Text 9"/>
          <p:cNvSpPr txBox="1"/>
          <p:nvPr/>
        </p:nvSpPr>
        <p:spPr>
          <a:xfrm>
            <a:off x="1737360" y="3520440"/>
            <a:ext cx="4038448" cy="868680"/>
          </a:xfrm>
          <a:prstGeom prst="rect">
            <a:avLst/>
          </a:prstGeom>
          <a:noFill/>
          <a:ln/>
        </p:spPr>
        <p:txBody>
          <a:bodyPr wrap="square" lIns="0" tIns="0" rIns="0" bIns="0" rtlCol="0" anchor="t"/>
          <a:lstStyle/>
          <a:p>
            <a:pPr indent="0" marL="0">
              <a:buNone/>
            </a:pPr>
            <a:r>
              <a:rPr lang="en-US" sz="1400" dirty="0">
                <a:solidFill>
                  <a:schemeClr val="tx1"/>
                </a:solidFill>
              </a:rPr>
              <a:t>CWI (Centrum Wiskunde &amp; Informatica), sentru peskiza matemátika no informátika iha Amsterdam, Olanda.</a:t>
            </a:r>
            <a:endParaRPr lang="en-US" sz="1400" dirty="0"/>
          </a:p>
        </p:txBody>
      </p:sp>
      <p:sp>
        <p:nvSpPr>
          <p:cNvPr id="14" name="f-1"/>
          <p:cNvSpPr/>
          <p:nvPr/>
        </p:nvSpPr>
        <p:spPr>
          <a:xfrm>
            <a:off x="6233008" y="3017520"/>
            <a:ext cx="5410048" cy="1417320"/>
          </a:xfrm>
          <a:prstGeom prst="roundRect">
            <a:avLst>
              <a:gd name="adj" fmla="val 7742"/>
            </a:avLst>
          </a:prstGeom>
          <a:solidFill>
            <a:schemeClr val="bg2"/>
          </a:solidFill>
          <a:ln w="12700">
            <a:solidFill>
              <a:schemeClr val="bg2"/>
            </a:solidFill>
            <a:prstDash val="solid"/>
          </a:ln>
        </p:spPr>
      </p:sp>
      <p:sp>
        <p:nvSpPr>
          <p:cNvPr id="15" name="f-ik-1-sirkulu"/>
          <p:cNvSpPr/>
          <p:nvPr/>
        </p:nvSpPr>
        <p:spPr>
          <a:xfrm>
            <a:off x="6461608" y="3337560"/>
            <a:ext cx="777240" cy="777240"/>
          </a:xfrm>
          <a:prstGeom prst="ellipse">
            <a:avLst/>
          </a:prstGeom>
          <a:solidFill>
            <a:schemeClr val="accent3"/>
          </a:solidFill>
          <a:ln w="12700">
            <a:solidFill>
              <a:schemeClr val="accent3"/>
            </a:solidFill>
            <a:prstDash val="solid"/>
          </a:ln>
        </p:spPr>
      </p:sp>
      <p:pic>
        <p:nvPicPr>
          <p:cNvPr id="16" name="f-ik-1-ikone" descr="preencoded.png">    </p:cNvPr>
          <p:cNvPicPr>
            <a:picLocks noChangeAspect="1"/>
          </p:cNvPicPr>
          <p:nvPr/>
        </p:nvPicPr>
        <p:blipFill>
          <a:blip r:embed="rId3"/>
          <a:stretch>
            <a:fillRect/>
          </a:stretch>
        </p:blipFill>
        <p:spPr>
          <a:xfrm>
            <a:off x="6648145" y="3524098"/>
            <a:ext cx="404165" cy="404165"/>
          </a:xfrm>
          <a:prstGeom prst="rect">
            <a:avLst/>
          </a:prstGeom>
        </p:spPr>
      </p:pic>
      <p:sp>
        <p:nvSpPr>
          <p:cNvPr id="17" name="Text 12"/>
          <p:cNvSpPr txBox="1"/>
          <p:nvPr/>
        </p:nvSpPr>
        <p:spPr>
          <a:xfrm>
            <a:off x="7421728" y="3154680"/>
            <a:ext cx="4038448" cy="365760"/>
          </a:xfrm>
          <a:prstGeom prst="rect">
            <a:avLst/>
          </a:prstGeom>
          <a:noFill/>
          <a:ln/>
        </p:spPr>
        <p:txBody>
          <a:bodyPr wrap="square" lIns="0" tIns="0" rIns="0" bIns="0" rtlCol="0" anchor="t"/>
          <a:lstStyle/>
          <a:p>
            <a:pPr indent="0" marL="0">
              <a:buNone/>
            </a:pPr>
            <a:r>
              <a:rPr lang="en-US" sz="1700" b="1" dirty="0">
                <a:solidFill>
                  <a:schemeClr val="tx2"/>
                </a:solidFill>
              </a:rPr>
              <a:t>Bainhira</a:t>
            </a:r>
            <a:endParaRPr lang="en-US" sz="1700" dirty="0"/>
          </a:p>
        </p:txBody>
      </p:sp>
      <p:sp>
        <p:nvSpPr>
          <p:cNvPr id="18" name="Text 13"/>
          <p:cNvSpPr txBox="1"/>
          <p:nvPr/>
        </p:nvSpPr>
        <p:spPr>
          <a:xfrm>
            <a:off x="7421728" y="3520440"/>
            <a:ext cx="4038448" cy="868680"/>
          </a:xfrm>
          <a:prstGeom prst="rect">
            <a:avLst/>
          </a:prstGeom>
          <a:noFill/>
          <a:ln/>
        </p:spPr>
        <p:txBody>
          <a:bodyPr wrap="square" lIns="0" tIns="0" rIns="0" bIns="0" rtlCol="0" anchor="t"/>
          <a:lstStyle/>
          <a:p>
            <a:pPr indent="0" marL="0">
              <a:buNone/>
            </a:pPr>
            <a:r>
              <a:rPr lang="en-US" sz="1400" dirty="0">
                <a:solidFill>
                  <a:schemeClr val="tx1"/>
                </a:solidFill>
              </a:rPr>
              <a:t>Dezembru 1989: Guido hahú Python hanesan projetu passatempu durante feriadu Natál.</a:t>
            </a:r>
            <a:endParaRPr lang="en-US" sz="1400" dirty="0"/>
          </a:p>
        </p:txBody>
      </p:sp>
      <p:sp>
        <p:nvSpPr>
          <p:cNvPr id="19" name="f-2"/>
          <p:cNvSpPr/>
          <p:nvPr/>
        </p:nvSpPr>
        <p:spPr>
          <a:xfrm>
            <a:off x="548640" y="4617720"/>
            <a:ext cx="5410048" cy="1417320"/>
          </a:xfrm>
          <a:prstGeom prst="roundRect">
            <a:avLst>
              <a:gd name="adj" fmla="val 7742"/>
            </a:avLst>
          </a:prstGeom>
          <a:solidFill>
            <a:schemeClr val="bg2"/>
          </a:solidFill>
          <a:ln w="12700">
            <a:solidFill>
              <a:schemeClr val="bg2"/>
            </a:solidFill>
            <a:prstDash val="solid"/>
          </a:ln>
        </p:spPr>
      </p:sp>
      <p:sp>
        <p:nvSpPr>
          <p:cNvPr id="20" name="f-ik-2-sirkulu"/>
          <p:cNvSpPr/>
          <p:nvPr/>
        </p:nvSpPr>
        <p:spPr>
          <a:xfrm>
            <a:off x="777240" y="4937760"/>
            <a:ext cx="777240" cy="777240"/>
          </a:xfrm>
          <a:prstGeom prst="ellipse">
            <a:avLst/>
          </a:prstGeom>
          <a:solidFill>
            <a:schemeClr val="accent6"/>
          </a:solidFill>
          <a:ln w="12700">
            <a:solidFill>
              <a:schemeClr val="accent6"/>
            </a:solidFill>
            <a:prstDash val="solid"/>
          </a:ln>
        </p:spPr>
      </p:sp>
      <p:pic>
        <p:nvPicPr>
          <p:cNvPr id="21" name="f-ik-2-ikone" descr="preencoded.png">    </p:cNvPr>
          <p:cNvPicPr>
            <a:picLocks noChangeAspect="1"/>
          </p:cNvPicPr>
          <p:nvPr/>
        </p:nvPicPr>
        <p:blipFill>
          <a:blip r:embed="rId4"/>
          <a:stretch>
            <a:fillRect/>
          </a:stretch>
        </p:blipFill>
        <p:spPr>
          <a:xfrm>
            <a:off x="963778" y="5124298"/>
            <a:ext cx="404165" cy="404165"/>
          </a:xfrm>
          <a:prstGeom prst="rect">
            <a:avLst/>
          </a:prstGeom>
        </p:spPr>
      </p:pic>
      <p:sp>
        <p:nvSpPr>
          <p:cNvPr id="22" name="Text 16"/>
          <p:cNvSpPr txBox="1"/>
          <p:nvPr/>
        </p:nvSpPr>
        <p:spPr>
          <a:xfrm>
            <a:off x="1737360" y="4754880"/>
            <a:ext cx="4038448" cy="365760"/>
          </a:xfrm>
          <a:prstGeom prst="rect">
            <a:avLst/>
          </a:prstGeom>
          <a:noFill/>
          <a:ln/>
        </p:spPr>
        <p:txBody>
          <a:bodyPr wrap="square" lIns="0" tIns="0" rIns="0" bIns="0" rtlCol="0" anchor="t"/>
          <a:lstStyle/>
          <a:p>
            <a:pPr indent="0" marL="0">
              <a:buNone/>
            </a:pPr>
            <a:r>
              <a:rPr lang="en-US" sz="1700" b="1" dirty="0">
                <a:solidFill>
                  <a:schemeClr val="tx2"/>
                </a:solidFill>
              </a:rPr>
              <a:t>Inspirasaun</a:t>
            </a:r>
            <a:endParaRPr lang="en-US" sz="1700" dirty="0"/>
          </a:p>
        </p:txBody>
      </p:sp>
      <p:sp>
        <p:nvSpPr>
          <p:cNvPr id="23" name="Text 17"/>
          <p:cNvSpPr txBox="1"/>
          <p:nvPr/>
        </p:nvSpPr>
        <p:spPr>
          <a:xfrm>
            <a:off x="1737360" y="5120640"/>
            <a:ext cx="4038448" cy="868680"/>
          </a:xfrm>
          <a:prstGeom prst="rect">
            <a:avLst/>
          </a:prstGeom>
          <a:noFill/>
          <a:ln/>
        </p:spPr>
        <p:txBody>
          <a:bodyPr wrap="square" lIns="0" tIns="0" rIns="0" bIns="0" rtlCol="0" anchor="t"/>
          <a:lstStyle/>
          <a:p>
            <a:pPr indent="0" marL="0">
              <a:buNone/>
            </a:pPr>
            <a:r>
              <a:rPr lang="en-US" sz="1400" dirty="0">
                <a:solidFill>
                  <a:schemeClr val="tx1"/>
                </a:solidFill>
              </a:rPr>
              <a:t>Lian ABC (iha CWI), maibé Guido hakarak lian ida ne'ebé simples no bele aumenta funsaun.</a:t>
            </a:r>
            <a:endParaRPr lang="en-US" sz="1400" dirty="0"/>
          </a:p>
        </p:txBody>
      </p:sp>
      <p:sp>
        <p:nvSpPr>
          <p:cNvPr id="24" name="f-3"/>
          <p:cNvSpPr/>
          <p:nvPr/>
        </p:nvSpPr>
        <p:spPr>
          <a:xfrm>
            <a:off x="6233008" y="4617720"/>
            <a:ext cx="5410048" cy="1417320"/>
          </a:xfrm>
          <a:prstGeom prst="roundRect">
            <a:avLst>
              <a:gd name="adj" fmla="val 7742"/>
            </a:avLst>
          </a:prstGeom>
          <a:solidFill>
            <a:schemeClr val="bg2"/>
          </a:solidFill>
          <a:ln w="12700">
            <a:solidFill>
              <a:schemeClr val="bg2"/>
            </a:solidFill>
            <a:prstDash val="solid"/>
          </a:ln>
        </p:spPr>
      </p:sp>
      <p:sp>
        <p:nvSpPr>
          <p:cNvPr id="25" name="f-ik-3-sirkulu"/>
          <p:cNvSpPr/>
          <p:nvPr/>
        </p:nvSpPr>
        <p:spPr>
          <a:xfrm>
            <a:off x="6461608" y="4937760"/>
            <a:ext cx="777240" cy="777240"/>
          </a:xfrm>
          <a:prstGeom prst="ellipse">
            <a:avLst/>
          </a:prstGeom>
          <a:solidFill>
            <a:schemeClr val="accent4"/>
          </a:solidFill>
          <a:ln w="12700">
            <a:solidFill>
              <a:schemeClr val="accent4"/>
            </a:solidFill>
            <a:prstDash val="solid"/>
          </a:ln>
        </p:spPr>
      </p:sp>
      <p:pic>
        <p:nvPicPr>
          <p:cNvPr id="26" name="f-ik-3-ikone" descr="preencoded.png">    </p:cNvPr>
          <p:cNvPicPr>
            <a:picLocks noChangeAspect="1"/>
          </p:cNvPicPr>
          <p:nvPr/>
        </p:nvPicPr>
        <p:blipFill>
          <a:blip r:embed="rId5"/>
          <a:stretch>
            <a:fillRect/>
          </a:stretch>
        </p:blipFill>
        <p:spPr>
          <a:xfrm>
            <a:off x="6648145" y="5124298"/>
            <a:ext cx="404165" cy="404165"/>
          </a:xfrm>
          <a:prstGeom prst="rect">
            <a:avLst/>
          </a:prstGeom>
        </p:spPr>
      </p:pic>
      <p:sp>
        <p:nvSpPr>
          <p:cNvPr id="27" name="Text 20"/>
          <p:cNvSpPr txBox="1"/>
          <p:nvPr/>
        </p:nvSpPr>
        <p:spPr>
          <a:xfrm>
            <a:off x="7421728" y="4754880"/>
            <a:ext cx="4038448" cy="365760"/>
          </a:xfrm>
          <a:prstGeom prst="rect">
            <a:avLst/>
          </a:prstGeom>
          <a:noFill/>
          <a:ln/>
        </p:spPr>
        <p:txBody>
          <a:bodyPr wrap="square" lIns="0" tIns="0" rIns="0" bIns="0" rtlCol="0" anchor="t"/>
          <a:lstStyle/>
          <a:p>
            <a:pPr indent="0" marL="0">
              <a:buNone/>
            </a:pPr>
            <a:r>
              <a:rPr lang="en-US" sz="1700" b="1" dirty="0">
                <a:solidFill>
                  <a:schemeClr val="tx2"/>
                </a:solidFill>
              </a:rPr>
              <a:t>Naran</a:t>
            </a:r>
            <a:endParaRPr lang="en-US" sz="1700" dirty="0"/>
          </a:p>
        </p:txBody>
      </p:sp>
      <p:sp>
        <p:nvSpPr>
          <p:cNvPr id="28" name="Text 21"/>
          <p:cNvSpPr txBox="1"/>
          <p:nvPr/>
        </p:nvSpPr>
        <p:spPr>
          <a:xfrm>
            <a:off x="7421728" y="5120640"/>
            <a:ext cx="4038448" cy="868680"/>
          </a:xfrm>
          <a:prstGeom prst="rect">
            <a:avLst/>
          </a:prstGeom>
          <a:noFill/>
          <a:ln/>
        </p:spPr>
        <p:txBody>
          <a:bodyPr wrap="square" lIns="0" tIns="0" rIns="0" bIns="0" rtlCol="0" anchor="t"/>
          <a:lstStyle/>
          <a:p>
            <a:pPr indent="0" marL="0">
              <a:buNone/>
            </a:pPr>
            <a:r>
              <a:rPr lang="en-US" sz="1400" dirty="0">
                <a:solidFill>
                  <a:schemeClr val="tx1"/>
                </a:solidFill>
              </a:rPr>
              <a:t>La'ós husi samea! Husi programa komédia BBC "Monty Python's Flying Circus".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Liña tempu Python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10:25</a:t>
            </a:r>
            <a:endParaRPr lang="en-US" sz="1200" dirty="0"/>
          </a:p>
        </p:txBody>
      </p:sp>
      <p:sp>
        <p:nvSpPr>
          <p:cNvPr id="5" name="tl-l"/>
          <p:cNvSpPr/>
          <p:nvPr/>
        </p:nvSpPr>
        <p:spPr>
          <a:xfrm>
            <a:off x="822960" y="3063240"/>
            <a:ext cx="10545775" cy="0"/>
          </a:xfrm>
          <a:prstGeom prst="line">
            <a:avLst/>
          </a:prstGeom>
          <a:noFill/>
          <a:ln w="38100">
            <a:solidFill>
              <a:schemeClr val="accent1"/>
            </a:solidFill>
            <a:prstDash val="solid"/>
          </a:ln>
        </p:spPr>
      </p:sp>
      <p:sp>
        <p:nvSpPr>
          <p:cNvPr id="6" name="tl-p-0"/>
          <p:cNvSpPr/>
          <p:nvPr/>
        </p:nvSpPr>
        <p:spPr>
          <a:xfrm>
            <a:off x="667512" y="2907792"/>
            <a:ext cx="310896" cy="310896"/>
          </a:xfrm>
          <a:prstGeom prst="ellipse">
            <a:avLst/>
          </a:prstGeom>
          <a:solidFill>
            <a:schemeClr val="accent1"/>
          </a:solidFill>
          <a:ln w="25400">
            <a:solidFill>
              <a:schemeClr val="bg1"/>
            </a:solidFill>
            <a:prstDash val="solid"/>
          </a:ln>
        </p:spPr>
      </p:sp>
      <p:sp>
        <p:nvSpPr>
          <p:cNvPr id="7" name="Text 5"/>
          <p:cNvSpPr txBox="1"/>
          <p:nvPr/>
        </p:nvSpPr>
        <p:spPr>
          <a:xfrm>
            <a:off x="137160" y="137160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1989</a:t>
            </a:r>
            <a:endParaRPr lang="en-US" sz="1900" dirty="0"/>
          </a:p>
        </p:txBody>
      </p:sp>
      <p:sp>
        <p:nvSpPr>
          <p:cNvPr id="8" name="Text 6"/>
          <p:cNvSpPr txBox="1"/>
          <p:nvPr/>
        </p:nvSpPr>
        <p:spPr>
          <a:xfrm>
            <a:off x="91440" y="178308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Hahú</a:t>
            </a:r>
            <a:endParaRPr lang="en-US" sz="1400" dirty="0"/>
          </a:p>
        </p:txBody>
      </p:sp>
      <p:sp>
        <p:nvSpPr>
          <p:cNvPr id="9" name="Text 7"/>
          <p:cNvSpPr txBox="1"/>
          <p:nvPr/>
        </p:nvSpPr>
        <p:spPr>
          <a:xfrm>
            <a:off x="91440" y="214884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Projetu Natál Guido</a:t>
            </a:r>
            <a:endParaRPr lang="en-US" sz="1200" dirty="0"/>
          </a:p>
        </p:txBody>
      </p:sp>
      <p:sp>
        <p:nvSpPr>
          <p:cNvPr id="10" name="tl-p-1"/>
          <p:cNvSpPr/>
          <p:nvPr/>
        </p:nvSpPr>
        <p:spPr>
          <a:xfrm>
            <a:off x="1985734" y="2907792"/>
            <a:ext cx="310896" cy="310896"/>
          </a:xfrm>
          <a:prstGeom prst="ellipse">
            <a:avLst/>
          </a:prstGeom>
          <a:solidFill>
            <a:schemeClr val="accent5"/>
          </a:solidFill>
          <a:ln w="25400">
            <a:solidFill>
              <a:schemeClr val="bg1"/>
            </a:solidFill>
            <a:prstDash val="solid"/>
          </a:ln>
        </p:spPr>
      </p:sp>
      <p:sp>
        <p:nvSpPr>
          <p:cNvPr id="11" name="Text 9"/>
          <p:cNvSpPr txBox="1"/>
          <p:nvPr/>
        </p:nvSpPr>
        <p:spPr>
          <a:xfrm>
            <a:off x="1455382" y="347472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1991</a:t>
            </a:r>
            <a:endParaRPr lang="en-US" sz="1900" dirty="0"/>
          </a:p>
        </p:txBody>
      </p:sp>
      <p:sp>
        <p:nvSpPr>
          <p:cNvPr id="12" name="Text 10"/>
          <p:cNvSpPr txBox="1"/>
          <p:nvPr/>
        </p:nvSpPr>
        <p:spPr>
          <a:xfrm>
            <a:off x="1409662" y="388620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Públiku</a:t>
            </a:r>
            <a:endParaRPr lang="en-US" sz="1400" dirty="0"/>
          </a:p>
        </p:txBody>
      </p:sp>
      <p:sp>
        <p:nvSpPr>
          <p:cNvPr id="13" name="Text 11"/>
          <p:cNvSpPr txBox="1"/>
          <p:nvPr/>
        </p:nvSpPr>
        <p:spPr>
          <a:xfrm>
            <a:off x="1409662" y="425196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Versaun 0.9.0 (Fevereiru)</a:t>
            </a:r>
            <a:endParaRPr lang="en-US" sz="1200" dirty="0"/>
          </a:p>
        </p:txBody>
      </p:sp>
      <p:sp>
        <p:nvSpPr>
          <p:cNvPr id="14" name="tl-p-2"/>
          <p:cNvSpPr/>
          <p:nvPr/>
        </p:nvSpPr>
        <p:spPr>
          <a:xfrm>
            <a:off x="3303956" y="2907792"/>
            <a:ext cx="310896" cy="310896"/>
          </a:xfrm>
          <a:prstGeom prst="ellipse">
            <a:avLst/>
          </a:prstGeom>
          <a:solidFill>
            <a:schemeClr val="accent6"/>
          </a:solidFill>
          <a:ln w="25400">
            <a:solidFill>
              <a:schemeClr val="bg1"/>
            </a:solidFill>
            <a:prstDash val="solid"/>
          </a:ln>
        </p:spPr>
      </p:sp>
      <p:sp>
        <p:nvSpPr>
          <p:cNvPr id="15" name="Text 13"/>
          <p:cNvSpPr txBox="1"/>
          <p:nvPr/>
        </p:nvSpPr>
        <p:spPr>
          <a:xfrm>
            <a:off x="2773604" y="137160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1994</a:t>
            </a:r>
            <a:endParaRPr lang="en-US" sz="1900" dirty="0"/>
          </a:p>
        </p:txBody>
      </p:sp>
      <p:sp>
        <p:nvSpPr>
          <p:cNvPr id="16" name="Text 14"/>
          <p:cNvSpPr txBox="1"/>
          <p:nvPr/>
        </p:nvSpPr>
        <p:spPr>
          <a:xfrm>
            <a:off x="2727884" y="178308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Python 1.0</a:t>
            </a:r>
            <a:endParaRPr lang="en-US" sz="1400" dirty="0"/>
          </a:p>
        </p:txBody>
      </p:sp>
      <p:sp>
        <p:nvSpPr>
          <p:cNvPr id="17" name="Text 15"/>
          <p:cNvSpPr txBox="1"/>
          <p:nvPr/>
        </p:nvSpPr>
        <p:spPr>
          <a:xfrm>
            <a:off x="2727884" y="214884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Versaun estável dahuluk</a:t>
            </a:r>
            <a:endParaRPr lang="en-US" sz="1200" dirty="0"/>
          </a:p>
        </p:txBody>
      </p:sp>
      <p:sp>
        <p:nvSpPr>
          <p:cNvPr id="18" name="tl-p-3"/>
          <p:cNvSpPr/>
          <p:nvPr/>
        </p:nvSpPr>
        <p:spPr>
          <a:xfrm>
            <a:off x="4622178" y="2907792"/>
            <a:ext cx="310896" cy="310896"/>
          </a:xfrm>
          <a:prstGeom prst="ellipse">
            <a:avLst/>
          </a:prstGeom>
          <a:solidFill>
            <a:schemeClr val="accent3"/>
          </a:solidFill>
          <a:ln w="25400">
            <a:solidFill>
              <a:schemeClr val="bg1"/>
            </a:solidFill>
            <a:prstDash val="solid"/>
          </a:ln>
        </p:spPr>
      </p:sp>
      <p:sp>
        <p:nvSpPr>
          <p:cNvPr id="19" name="Text 17"/>
          <p:cNvSpPr txBox="1"/>
          <p:nvPr/>
        </p:nvSpPr>
        <p:spPr>
          <a:xfrm>
            <a:off x="4091826" y="347472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2000</a:t>
            </a:r>
            <a:endParaRPr lang="en-US" sz="1900" dirty="0"/>
          </a:p>
        </p:txBody>
      </p:sp>
      <p:sp>
        <p:nvSpPr>
          <p:cNvPr id="20" name="Text 18"/>
          <p:cNvSpPr txBox="1"/>
          <p:nvPr/>
        </p:nvSpPr>
        <p:spPr>
          <a:xfrm>
            <a:off x="4046106" y="388620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Python 2.0</a:t>
            </a:r>
            <a:endParaRPr lang="en-US" sz="1400" dirty="0"/>
          </a:p>
        </p:txBody>
      </p:sp>
      <p:sp>
        <p:nvSpPr>
          <p:cNvPr id="21" name="Text 19"/>
          <p:cNvSpPr txBox="1"/>
          <p:nvPr/>
        </p:nvSpPr>
        <p:spPr>
          <a:xfrm>
            <a:off x="4046106" y="425196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Lista foun, Unicode</a:t>
            </a:r>
            <a:endParaRPr lang="en-US" sz="1200" dirty="0"/>
          </a:p>
        </p:txBody>
      </p:sp>
      <p:sp>
        <p:nvSpPr>
          <p:cNvPr id="22" name="tl-p-4"/>
          <p:cNvSpPr/>
          <p:nvPr/>
        </p:nvSpPr>
        <p:spPr>
          <a:xfrm>
            <a:off x="5940400" y="2907792"/>
            <a:ext cx="310896" cy="310896"/>
          </a:xfrm>
          <a:prstGeom prst="ellipse">
            <a:avLst/>
          </a:prstGeom>
          <a:solidFill>
            <a:schemeClr val="accent1"/>
          </a:solidFill>
          <a:ln w="25400">
            <a:solidFill>
              <a:schemeClr val="bg1"/>
            </a:solidFill>
            <a:prstDash val="solid"/>
          </a:ln>
        </p:spPr>
      </p:sp>
      <p:sp>
        <p:nvSpPr>
          <p:cNvPr id="23" name="Text 21"/>
          <p:cNvSpPr txBox="1"/>
          <p:nvPr/>
        </p:nvSpPr>
        <p:spPr>
          <a:xfrm>
            <a:off x="5410048" y="137160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2001</a:t>
            </a:r>
            <a:endParaRPr lang="en-US" sz="1900" dirty="0"/>
          </a:p>
        </p:txBody>
      </p:sp>
      <p:sp>
        <p:nvSpPr>
          <p:cNvPr id="24" name="Text 22"/>
          <p:cNvSpPr txBox="1"/>
          <p:nvPr/>
        </p:nvSpPr>
        <p:spPr>
          <a:xfrm>
            <a:off x="5364328" y="178308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PSF</a:t>
            </a:r>
            <a:endParaRPr lang="en-US" sz="1400" dirty="0"/>
          </a:p>
        </p:txBody>
      </p:sp>
      <p:sp>
        <p:nvSpPr>
          <p:cNvPr id="25" name="Text 23"/>
          <p:cNvSpPr txBox="1"/>
          <p:nvPr/>
        </p:nvSpPr>
        <p:spPr>
          <a:xfrm>
            <a:off x="5364328" y="214884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Fundasaun Python harii</a:t>
            </a:r>
            <a:endParaRPr lang="en-US" sz="1200" dirty="0"/>
          </a:p>
        </p:txBody>
      </p:sp>
      <p:sp>
        <p:nvSpPr>
          <p:cNvPr id="26" name="tl-p-5"/>
          <p:cNvSpPr/>
          <p:nvPr/>
        </p:nvSpPr>
        <p:spPr>
          <a:xfrm>
            <a:off x="7258621" y="2907792"/>
            <a:ext cx="310896" cy="310896"/>
          </a:xfrm>
          <a:prstGeom prst="ellipse">
            <a:avLst/>
          </a:prstGeom>
          <a:solidFill>
            <a:schemeClr val="accent5"/>
          </a:solidFill>
          <a:ln w="25400">
            <a:solidFill>
              <a:schemeClr val="bg1"/>
            </a:solidFill>
            <a:prstDash val="solid"/>
          </a:ln>
        </p:spPr>
      </p:sp>
      <p:sp>
        <p:nvSpPr>
          <p:cNvPr id="27" name="Text 25"/>
          <p:cNvSpPr txBox="1"/>
          <p:nvPr/>
        </p:nvSpPr>
        <p:spPr>
          <a:xfrm>
            <a:off x="6728269" y="347472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2008</a:t>
            </a:r>
            <a:endParaRPr lang="en-US" sz="1900" dirty="0"/>
          </a:p>
        </p:txBody>
      </p:sp>
      <p:sp>
        <p:nvSpPr>
          <p:cNvPr id="28" name="Text 26"/>
          <p:cNvSpPr txBox="1"/>
          <p:nvPr/>
        </p:nvSpPr>
        <p:spPr>
          <a:xfrm>
            <a:off x="6682550" y="388620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Python 3.0</a:t>
            </a:r>
            <a:endParaRPr lang="en-US" sz="1400" dirty="0"/>
          </a:p>
        </p:txBody>
      </p:sp>
      <p:sp>
        <p:nvSpPr>
          <p:cNvPr id="29" name="Text 27"/>
          <p:cNvSpPr txBox="1"/>
          <p:nvPr/>
        </p:nvSpPr>
        <p:spPr>
          <a:xfrm>
            <a:off x="6682550" y="425196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Lian di'ak liu, la kompatível ho 2</a:t>
            </a:r>
            <a:endParaRPr lang="en-US" sz="1200" dirty="0"/>
          </a:p>
        </p:txBody>
      </p:sp>
      <p:sp>
        <p:nvSpPr>
          <p:cNvPr id="30" name="tl-p-6"/>
          <p:cNvSpPr/>
          <p:nvPr/>
        </p:nvSpPr>
        <p:spPr>
          <a:xfrm>
            <a:off x="8576843" y="2907792"/>
            <a:ext cx="310896" cy="310896"/>
          </a:xfrm>
          <a:prstGeom prst="ellipse">
            <a:avLst/>
          </a:prstGeom>
          <a:solidFill>
            <a:schemeClr val="accent6"/>
          </a:solidFill>
          <a:ln w="25400">
            <a:solidFill>
              <a:schemeClr val="bg1"/>
            </a:solidFill>
            <a:prstDash val="solid"/>
          </a:ln>
        </p:spPr>
      </p:sp>
      <p:sp>
        <p:nvSpPr>
          <p:cNvPr id="31" name="Text 29"/>
          <p:cNvSpPr txBox="1"/>
          <p:nvPr/>
        </p:nvSpPr>
        <p:spPr>
          <a:xfrm>
            <a:off x="8046491" y="137160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2020</a:t>
            </a:r>
            <a:endParaRPr lang="en-US" sz="1900" dirty="0"/>
          </a:p>
        </p:txBody>
      </p:sp>
      <p:sp>
        <p:nvSpPr>
          <p:cNvPr id="32" name="Text 30"/>
          <p:cNvSpPr txBox="1"/>
          <p:nvPr/>
        </p:nvSpPr>
        <p:spPr>
          <a:xfrm>
            <a:off x="8000771" y="178308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Py2 remata</a:t>
            </a:r>
            <a:endParaRPr lang="en-US" sz="1400" dirty="0"/>
          </a:p>
        </p:txBody>
      </p:sp>
      <p:sp>
        <p:nvSpPr>
          <p:cNvPr id="33" name="Text 31"/>
          <p:cNvSpPr txBox="1"/>
          <p:nvPr/>
        </p:nvSpPr>
        <p:spPr>
          <a:xfrm>
            <a:off x="8000771" y="214884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Suporte remata 1 Janeiru</a:t>
            </a:r>
            <a:endParaRPr lang="en-US" sz="1200" dirty="0"/>
          </a:p>
        </p:txBody>
      </p:sp>
      <p:sp>
        <p:nvSpPr>
          <p:cNvPr id="34" name="tl-p-7"/>
          <p:cNvSpPr/>
          <p:nvPr/>
        </p:nvSpPr>
        <p:spPr>
          <a:xfrm>
            <a:off x="9895065" y="2907792"/>
            <a:ext cx="310896" cy="310896"/>
          </a:xfrm>
          <a:prstGeom prst="ellipse">
            <a:avLst/>
          </a:prstGeom>
          <a:solidFill>
            <a:schemeClr val="accent3"/>
          </a:solidFill>
          <a:ln w="25400">
            <a:solidFill>
              <a:schemeClr val="bg1"/>
            </a:solidFill>
            <a:prstDash val="solid"/>
          </a:ln>
        </p:spPr>
      </p:sp>
      <p:sp>
        <p:nvSpPr>
          <p:cNvPr id="35" name="Text 33"/>
          <p:cNvSpPr txBox="1"/>
          <p:nvPr/>
        </p:nvSpPr>
        <p:spPr>
          <a:xfrm>
            <a:off x="9364713" y="347472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2021</a:t>
            </a:r>
            <a:endParaRPr lang="en-US" sz="1900" dirty="0"/>
          </a:p>
        </p:txBody>
      </p:sp>
      <p:sp>
        <p:nvSpPr>
          <p:cNvPr id="36" name="Text 34"/>
          <p:cNvSpPr txBox="1"/>
          <p:nvPr/>
        </p:nvSpPr>
        <p:spPr>
          <a:xfrm>
            <a:off x="9318993" y="388620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Númeru 1</a:t>
            </a:r>
            <a:endParaRPr lang="en-US" sz="1400" dirty="0"/>
          </a:p>
        </p:txBody>
      </p:sp>
      <p:sp>
        <p:nvSpPr>
          <p:cNvPr id="37" name="Text 35"/>
          <p:cNvSpPr txBox="1"/>
          <p:nvPr/>
        </p:nvSpPr>
        <p:spPr>
          <a:xfrm>
            <a:off x="9318993" y="425196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Lian populár liu (TIOBE)</a:t>
            </a:r>
            <a:endParaRPr lang="en-US" sz="1200" dirty="0"/>
          </a:p>
        </p:txBody>
      </p:sp>
      <p:sp>
        <p:nvSpPr>
          <p:cNvPr id="38" name="tl-p-8"/>
          <p:cNvSpPr/>
          <p:nvPr/>
        </p:nvSpPr>
        <p:spPr>
          <a:xfrm>
            <a:off x="11213287" y="2907792"/>
            <a:ext cx="310896" cy="310896"/>
          </a:xfrm>
          <a:prstGeom prst="ellipse">
            <a:avLst/>
          </a:prstGeom>
          <a:solidFill>
            <a:schemeClr val="accent1"/>
          </a:solidFill>
          <a:ln w="25400">
            <a:solidFill>
              <a:schemeClr val="bg1"/>
            </a:solidFill>
            <a:prstDash val="solid"/>
          </a:ln>
        </p:spPr>
      </p:sp>
      <p:sp>
        <p:nvSpPr>
          <p:cNvPr id="39" name="Text 37"/>
          <p:cNvSpPr txBox="1"/>
          <p:nvPr/>
        </p:nvSpPr>
        <p:spPr>
          <a:xfrm>
            <a:off x="10682935" y="1371600"/>
            <a:ext cx="1371600" cy="411480"/>
          </a:xfrm>
          <a:prstGeom prst="rect">
            <a:avLst/>
          </a:prstGeom>
          <a:noFill/>
          <a:ln/>
        </p:spPr>
        <p:txBody>
          <a:bodyPr wrap="square" lIns="0" tIns="0" rIns="0" bIns="0" rtlCol="0" anchor="t"/>
          <a:lstStyle/>
          <a:p>
            <a:pPr algn="ctr" indent="0" marL="0">
              <a:buNone/>
            </a:pPr>
            <a:r>
              <a:rPr lang="en-US" sz="1900" b="1" dirty="0">
                <a:solidFill>
                  <a:schemeClr val="accent1"/>
                </a:solidFill>
                <a:latin typeface="Cambria" pitchFamily="34" charset="0"/>
                <a:ea typeface="Cambria" pitchFamily="34" charset="-122"/>
                <a:cs typeface="Cambria" pitchFamily="34" charset="-120"/>
              </a:rPr>
              <a:t>2025</a:t>
            </a:r>
            <a:endParaRPr lang="en-US" sz="1900" dirty="0"/>
          </a:p>
        </p:txBody>
      </p:sp>
      <p:sp>
        <p:nvSpPr>
          <p:cNvPr id="40" name="Text 38"/>
          <p:cNvSpPr txBox="1"/>
          <p:nvPr/>
        </p:nvSpPr>
        <p:spPr>
          <a:xfrm>
            <a:off x="10637215" y="1783080"/>
            <a:ext cx="1463040" cy="365760"/>
          </a:xfrm>
          <a:prstGeom prst="rect">
            <a:avLst/>
          </a:prstGeom>
          <a:noFill/>
          <a:ln/>
        </p:spPr>
        <p:txBody>
          <a:bodyPr wrap="square" lIns="0" tIns="0" rIns="0" bIns="0" rtlCol="0" anchor="t"/>
          <a:lstStyle/>
          <a:p>
            <a:pPr algn="ctr" indent="0" marL="0">
              <a:buNone/>
            </a:pPr>
            <a:r>
              <a:rPr lang="en-US" sz="1400" b="1" dirty="0">
                <a:solidFill>
                  <a:schemeClr val="tx2"/>
                </a:solidFill>
              </a:rPr>
              <a:t>Python 3.14</a:t>
            </a:r>
            <a:endParaRPr lang="en-US" sz="1400" dirty="0"/>
          </a:p>
        </p:txBody>
      </p:sp>
      <p:sp>
        <p:nvSpPr>
          <p:cNvPr id="41" name="Text 39"/>
          <p:cNvSpPr txBox="1"/>
          <p:nvPr/>
        </p:nvSpPr>
        <p:spPr>
          <a:xfrm>
            <a:off x="10637215" y="2148840"/>
            <a:ext cx="1463040" cy="548640"/>
          </a:xfrm>
          <a:prstGeom prst="rect">
            <a:avLst/>
          </a:prstGeom>
          <a:noFill/>
          <a:ln/>
        </p:spPr>
        <p:txBody>
          <a:bodyPr wrap="square" lIns="0" tIns="0" rIns="0" bIns="0" rtlCol="0" anchor="t"/>
          <a:lstStyle/>
          <a:p>
            <a:pPr algn="ctr" indent="0" marL="0">
              <a:buNone/>
            </a:pPr>
            <a:r>
              <a:rPr lang="en-US" sz="1200" dirty="0">
                <a:solidFill>
                  <a:schemeClr val="tx1"/>
                </a:solidFill>
              </a:rPr>
              <a:t>Versaun foun kada Outubru</a:t>
            </a:r>
            <a:endParaRPr lang="en-US" sz="1200" dirty="0"/>
          </a:p>
        </p:txBody>
      </p:sp>
      <p:sp>
        <p:nvSpPr>
          <p:cNvPr id="42" name="Text 40"/>
          <p:cNvSpPr txBox="1"/>
          <p:nvPr/>
        </p:nvSpPr>
        <p:spPr>
          <a:xfrm>
            <a:off x="548640" y="5852160"/>
            <a:ext cx="11094415" cy="411480"/>
          </a:xfrm>
          <a:prstGeom prst="rect">
            <a:avLst/>
          </a:prstGeom>
          <a:noFill/>
          <a:ln/>
        </p:spPr>
        <p:txBody>
          <a:bodyPr wrap="square" lIns="0" tIns="0" rIns="0" bIns="0" rtlCol="0" anchor="t"/>
          <a:lstStyle/>
          <a:p>
            <a:pPr algn="ctr" indent="0" marL="0">
              <a:buNone/>
            </a:pPr>
            <a:r>
              <a:rPr lang="en-US" sz="1500" i="1" dirty="0">
                <a:solidFill>
                  <a:srgbClr val="5E6B66"/>
                </a:solidFill>
              </a:rPr>
              <a:t>Python ohin: tinan 35 resin. Versaun foun sai kada tinan iha fulan Outubru.</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Versaun boot tolu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10:31</a:t>
            </a:r>
            <a:endParaRPr lang="en-US" sz="1200" dirty="0"/>
          </a:p>
        </p:txBody>
      </p:sp>
      <p:sp>
        <p:nvSpPr>
          <p:cNvPr id="5" name="v-cab-0"/>
          <p:cNvSpPr/>
          <p:nvPr/>
        </p:nvSpPr>
        <p:spPr>
          <a:xfrm>
            <a:off x="548640" y="1463040"/>
            <a:ext cx="3423818" cy="1143000"/>
          </a:xfrm>
          <a:prstGeom prst="roundRect">
            <a:avLst>
              <a:gd name="adj" fmla="val 9600"/>
            </a:avLst>
          </a:prstGeom>
          <a:solidFill>
            <a:schemeClr val="accent6"/>
          </a:solidFill>
          <a:ln w="12700">
            <a:solidFill>
              <a:schemeClr val="accent6"/>
            </a:solidFill>
            <a:prstDash val="solid"/>
          </a:ln>
        </p:spPr>
      </p:sp>
      <p:sp>
        <p:nvSpPr>
          <p:cNvPr id="6" name="Text 4"/>
          <p:cNvSpPr txBox="1"/>
          <p:nvPr/>
        </p:nvSpPr>
        <p:spPr>
          <a:xfrm>
            <a:off x="548640" y="1508760"/>
            <a:ext cx="3423818"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Python 1</a:t>
            </a:r>
            <a:endParaRPr lang="en-US" sz="2800" dirty="0"/>
          </a:p>
        </p:txBody>
      </p:sp>
      <p:sp>
        <p:nvSpPr>
          <p:cNvPr id="7" name="Text 5"/>
          <p:cNvSpPr txBox="1"/>
          <p:nvPr/>
        </p:nvSpPr>
        <p:spPr>
          <a:xfrm>
            <a:off x="548640" y="2103120"/>
            <a:ext cx="3423818" cy="411480"/>
          </a:xfrm>
          <a:prstGeom prst="rect">
            <a:avLst/>
          </a:prstGeom>
          <a:noFill/>
          <a:ln/>
        </p:spPr>
        <p:txBody>
          <a:bodyPr wrap="square" lIns="0" tIns="0" rIns="0" bIns="0" rtlCol="0" anchor="t"/>
          <a:lstStyle/>
          <a:p>
            <a:pPr algn="ctr" indent="0" marL="0">
              <a:buNone/>
            </a:pPr>
            <a:r>
              <a:rPr lang="en-US" sz="1600" b="1" dirty="0">
                <a:solidFill>
                  <a:schemeClr val="bg1"/>
                </a:solidFill>
              </a:rPr>
              <a:t>1994</a:t>
            </a:r>
            <a:endParaRPr lang="en-US" sz="1600" dirty="0"/>
          </a:p>
        </p:txBody>
      </p:sp>
      <p:sp>
        <p:nvSpPr>
          <p:cNvPr id="8" name="v-0"/>
          <p:cNvSpPr/>
          <p:nvPr/>
        </p:nvSpPr>
        <p:spPr>
          <a:xfrm>
            <a:off x="548640" y="2788920"/>
            <a:ext cx="3423818" cy="3291840"/>
          </a:xfrm>
          <a:prstGeom prst="roundRect">
            <a:avLst>
              <a:gd name="adj" fmla="val 3333"/>
            </a:avLst>
          </a:prstGeom>
          <a:solidFill>
            <a:schemeClr val="bg2"/>
          </a:solidFill>
          <a:ln w="12700">
            <a:solidFill>
              <a:schemeClr val="bg2"/>
            </a:solidFill>
            <a:prstDash val="solid"/>
          </a:ln>
        </p:spPr>
      </p:sp>
      <p:sp>
        <p:nvSpPr>
          <p:cNvPr id="9" name="Text 7"/>
          <p:cNvSpPr txBox="1"/>
          <p:nvPr/>
        </p:nvSpPr>
        <p:spPr>
          <a:xfrm>
            <a:off x="822960" y="3017520"/>
            <a:ext cx="2920898" cy="29260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tx1"/>
                </a:solidFill>
              </a:rPr>
              <a:t>Baze lian: funsaun, lista, dicionáriu</a:t>
            </a:r>
            <a:endParaRPr lang="en-US" sz="1500" dirty="0"/>
          </a:p>
          <a:p>
            <a:pPr marL="342900" indent="-342900">
              <a:spcAft>
                <a:spcPts val="1400"/>
              </a:spcAft>
              <a:buSzPct val="100000"/>
              <a:buChar char="•"/>
            </a:pPr>
            <a:r>
              <a:rPr lang="en-US" sz="1500" dirty="0">
                <a:solidFill>
                  <a:schemeClr val="tx1"/>
                </a:solidFill>
              </a:rPr>
              <a:t>Komunidade ki'ik, uza iha peskiza</a:t>
            </a:r>
            <a:endParaRPr lang="en-US" sz="1500" dirty="0"/>
          </a:p>
          <a:p>
            <a:pPr marL="342900" indent="-342900">
              <a:spcAft>
                <a:spcPts val="1400"/>
              </a:spcAft>
              <a:buSzPct val="100000"/>
              <a:buChar char="•"/>
            </a:pPr>
            <a:r>
              <a:rPr lang="en-US" sz="1500" dirty="0">
                <a:solidFill>
                  <a:schemeClr val="tx1"/>
                </a:solidFill>
              </a:rPr>
              <a:t>1995: Guido muda ba CNRI iha Estadus Unidus</a:t>
            </a:r>
            <a:endParaRPr lang="en-US" sz="1500" dirty="0"/>
          </a:p>
        </p:txBody>
      </p:sp>
      <p:sp>
        <p:nvSpPr>
          <p:cNvPr id="10" name="v-cab-1"/>
          <p:cNvSpPr/>
          <p:nvPr/>
        </p:nvSpPr>
        <p:spPr>
          <a:xfrm>
            <a:off x="4246778" y="1463040"/>
            <a:ext cx="3423818" cy="1143000"/>
          </a:xfrm>
          <a:prstGeom prst="roundRect">
            <a:avLst>
              <a:gd name="adj" fmla="val 9600"/>
            </a:avLst>
          </a:prstGeom>
          <a:solidFill>
            <a:schemeClr val="accent5"/>
          </a:solidFill>
          <a:ln w="12700">
            <a:solidFill>
              <a:schemeClr val="accent5"/>
            </a:solidFill>
            <a:prstDash val="solid"/>
          </a:ln>
        </p:spPr>
      </p:sp>
      <p:sp>
        <p:nvSpPr>
          <p:cNvPr id="11" name="Text 9"/>
          <p:cNvSpPr txBox="1"/>
          <p:nvPr/>
        </p:nvSpPr>
        <p:spPr>
          <a:xfrm>
            <a:off x="4246778" y="1508760"/>
            <a:ext cx="3423818"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Python 2</a:t>
            </a:r>
            <a:endParaRPr lang="en-US" sz="2800" dirty="0"/>
          </a:p>
        </p:txBody>
      </p:sp>
      <p:sp>
        <p:nvSpPr>
          <p:cNvPr id="12" name="Text 10"/>
          <p:cNvSpPr txBox="1"/>
          <p:nvPr/>
        </p:nvSpPr>
        <p:spPr>
          <a:xfrm>
            <a:off x="4246778" y="2103120"/>
            <a:ext cx="3423818" cy="411480"/>
          </a:xfrm>
          <a:prstGeom prst="rect">
            <a:avLst/>
          </a:prstGeom>
          <a:noFill/>
          <a:ln/>
        </p:spPr>
        <p:txBody>
          <a:bodyPr wrap="square" lIns="0" tIns="0" rIns="0" bIns="0" rtlCol="0" anchor="t"/>
          <a:lstStyle/>
          <a:p>
            <a:pPr algn="ctr" indent="0" marL="0">
              <a:buNone/>
            </a:pPr>
            <a:r>
              <a:rPr lang="en-US" sz="1600" b="1" dirty="0">
                <a:solidFill>
                  <a:schemeClr val="bg1"/>
                </a:solidFill>
              </a:rPr>
              <a:t>2000</a:t>
            </a:r>
            <a:endParaRPr lang="en-US" sz="1600" dirty="0"/>
          </a:p>
        </p:txBody>
      </p:sp>
      <p:sp>
        <p:nvSpPr>
          <p:cNvPr id="13" name="v-1"/>
          <p:cNvSpPr/>
          <p:nvPr/>
        </p:nvSpPr>
        <p:spPr>
          <a:xfrm>
            <a:off x="4246778" y="2788920"/>
            <a:ext cx="3423818" cy="3291840"/>
          </a:xfrm>
          <a:prstGeom prst="roundRect">
            <a:avLst>
              <a:gd name="adj" fmla="val 3333"/>
            </a:avLst>
          </a:prstGeom>
          <a:solidFill>
            <a:schemeClr val="bg2"/>
          </a:solidFill>
          <a:ln w="12700">
            <a:solidFill>
              <a:schemeClr val="bg2"/>
            </a:solidFill>
            <a:prstDash val="solid"/>
          </a:ln>
        </p:spPr>
      </p:sp>
      <p:sp>
        <p:nvSpPr>
          <p:cNvPr id="14" name="Text 12"/>
          <p:cNvSpPr txBox="1"/>
          <p:nvPr/>
        </p:nvSpPr>
        <p:spPr>
          <a:xfrm>
            <a:off x="4521098" y="3017520"/>
            <a:ext cx="2920898" cy="29260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tx1"/>
                </a:solidFill>
              </a:rPr>
              <a:t>List comprehension, Unicode</a:t>
            </a:r>
            <a:endParaRPr lang="en-US" sz="1500" dirty="0"/>
          </a:p>
          <a:p>
            <a:pPr marL="342900" indent="-342900">
              <a:spcAft>
                <a:spcPts val="1400"/>
              </a:spcAft>
              <a:buSzPct val="100000"/>
              <a:buChar char="•"/>
            </a:pPr>
            <a:r>
              <a:rPr lang="en-US" sz="1500" dirty="0">
                <a:solidFill>
                  <a:schemeClr val="tx1"/>
                </a:solidFill>
              </a:rPr>
              <a:t>Komunidade boot: web no sistema</a:t>
            </a:r>
            <a:endParaRPr lang="en-US" sz="1500" dirty="0"/>
          </a:p>
          <a:p>
            <a:pPr marL="342900" indent="-342900">
              <a:spcAft>
                <a:spcPts val="1400"/>
              </a:spcAft>
              <a:buSzPct val="100000"/>
              <a:buChar char="•"/>
            </a:pPr>
            <a:r>
              <a:rPr lang="en-US" sz="1500" dirty="0">
                <a:solidFill>
                  <a:schemeClr val="tx1"/>
                </a:solidFill>
              </a:rPr>
              <a:t>Remata 1 Janeiru 2020 (2.7.18 ikus)</a:t>
            </a:r>
            <a:endParaRPr lang="en-US" sz="1500" dirty="0"/>
          </a:p>
        </p:txBody>
      </p:sp>
      <p:sp>
        <p:nvSpPr>
          <p:cNvPr id="15" name="v-cab-2"/>
          <p:cNvSpPr/>
          <p:nvPr/>
        </p:nvSpPr>
        <p:spPr>
          <a:xfrm>
            <a:off x="7944917" y="1463040"/>
            <a:ext cx="3423818" cy="1143000"/>
          </a:xfrm>
          <a:prstGeom prst="roundRect">
            <a:avLst>
              <a:gd name="adj" fmla="val 9600"/>
            </a:avLst>
          </a:prstGeom>
          <a:solidFill>
            <a:schemeClr val="accent1"/>
          </a:solidFill>
          <a:ln w="12700">
            <a:solidFill>
              <a:schemeClr val="accent1"/>
            </a:solidFill>
            <a:prstDash val="solid"/>
          </a:ln>
        </p:spPr>
      </p:sp>
      <p:sp>
        <p:nvSpPr>
          <p:cNvPr id="16" name="Text 14"/>
          <p:cNvSpPr txBox="1"/>
          <p:nvPr/>
        </p:nvSpPr>
        <p:spPr>
          <a:xfrm>
            <a:off x="7944917" y="1508760"/>
            <a:ext cx="3423818"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Python 3</a:t>
            </a:r>
            <a:endParaRPr lang="en-US" sz="2800" dirty="0"/>
          </a:p>
        </p:txBody>
      </p:sp>
      <p:sp>
        <p:nvSpPr>
          <p:cNvPr id="17" name="Text 15"/>
          <p:cNvSpPr txBox="1"/>
          <p:nvPr/>
        </p:nvSpPr>
        <p:spPr>
          <a:xfrm>
            <a:off x="7944917" y="2103120"/>
            <a:ext cx="3423818" cy="411480"/>
          </a:xfrm>
          <a:prstGeom prst="rect">
            <a:avLst/>
          </a:prstGeom>
          <a:noFill/>
          <a:ln/>
        </p:spPr>
        <p:txBody>
          <a:bodyPr wrap="square" lIns="0" tIns="0" rIns="0" bIns="0" rtlCol="0" anchor="t"/>
          <a:lstStyle/>
          <a:p>
            <a:pPr algn="ctr" indent="0" marL="0">
              <a:buNone/>
            </a:pPr>
            <a:r>
              <a:rPr lang="en-US" sz="1600" b="1" dirty="0">
                <a:solidFill>
                  <a:schemeClr val="bg1"/>
                </a:solidFill>
              </a:rPr>
              <a:t>2008 – ohin</a:t>
            </a:r>
            <a:endParaRPr lang="en-US" sz="1600" dirty="0"/>
          </a:p>
        </p:txBody>
      </p:sp>
      <p:sp>
        <p:nvSpPr>
          <p:cNvPr id="18" name="v-2"/>
          <p:cNvSpPr/>
          <p:nvPr/>
        </p:nvSpPr>
        <p:spPr>
          <a:xfrm>
            <a:off x="7944917" y="2788920"/>
            <a:ext cx="3423818" cy="3291840"/>
          </a:xfrm>
          <a:prstGeom prst="roundRect">
            <a:avLst>
              <a:gd name="adj" fmla="val 3333"/>
            </a:avLst>
          </a:prstGeom>
          <a:solidFill>
            <a:schemeClr val="bg2"/>
          </a:solidFill>
          <a:ln w="12700">
            <a:solidFill>
              <a:schemeClr val="bg2"/>
            </a:solidFill>
            <a:prstDash val="solid"/>
          </a:ln>
        </p:spPr>
      </p:sp>
      <p:sp>
        <p:nvSpPr>
          <p:cNvPr id="19" name="Text 17"/>
          <p:cNvSpPr txBox="1"/>
          <p:nvPr/>
        </p:nvSpPr>
        <p:spPr>
          <a:xfrm>
            <a:off x="8219237" y="3017520"/>
            <a:ext cx="2920898" cy="29260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tx1"/>
                </a:solidFill>
              </a:rPr>
              <a:t>Hadi'a sala uluk; testu Unicode baze</a:t>
            </a:r>
            <a:endParaRPr lang="en-US" sz="1500" dirty="0"/>
          </a:p>
          <a:p>
            <a:pPr marL="342900" indent="-342900">
              <a:spcAft>
                <a:spcPts val="1400"/>
              </a:spcAft>
              <a:buSzPct val="100000"/>
              <a:buChar char="•"/>
            </a:pPr>
            <a:r>
              <a:rPr lang="en-US" sz="1500" dirty="0">
                <a:solidFill>
                  <a:schemeClr val="tx1"/>
                </a:solidFill>
              </a:rPr>
              <a:t>Lian ba siénsia dadus no AI</a:t>
            </a:r>
            <a:endParaRPr lang="en-US" sz="1500" dirty="0"/>
          </a:p>
          <a:p>
            <a:pPr marL="342900" indent="-342900">
              <a:spcAft>
                <a:spcPts val="1400"/>
              </a:spcAft>
              <a:buSzPct val="100000"/>
              <a:buChar char="•"/>
            </a:pPr>
            <a:r>
              <a:rPr lang="en-US" sz="1500" dirty="0">
                <a:solidFill>
                  <a:schemeClr val="tx1"/>
                </a:solidFill>
              </a:rPr>
              <a:t>SIBAR-RbR uza Python 3</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Komunidade no filozofia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10:36</a:t>
            </a:r>
            <a:endParaRPr lang="en-US" sz="1200" dirty="0"/>
          </a:p>
        </p:txBody>
      </p:sp>
      <p:sp>
        <p:nvSpPr>
          <p:cNvPr id="5" name="Text 3"/>
          <p:cNvSpPr txBox="1"/>
          <p:nvPr/>
        </p:nvSpPr>
        <p:spPr>
          <a:xfrm>
            <a:off x="548640" y="1463040"/>
            <a:ext cx="5852160" cy="457200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chemeClr val="tx2"/>
                </a:solidFill>
              </a:rPr>
              <a:t>2001 · PSF:</a:t>
            </a:r>
            <a:pPr indent="0" marL="0">
              <a:spcAft>
                <a:spcPts val="1400"/>
              </a:spcAft>
              <a:buNone/>
            </a:pPr>
            <a:r>
              <a:rPr lang="en-US" sz="1600" dirty="0">
                <a:solidFill>
                  <a:schemeClr val="tx1"/>
                </a:solidFill>
              </a:rPr>
              <a:t> Python Software Foundation, organizasaun la ho lukru, kuida Python no fó gratuitu ba ema hotu.</a:t>
            </a:r>
            <a:endParaRPr lang="en-US" sz="1600" dirty="0"/>
          </a:p>
          <a:p>
            <a:pPr marL="342900" indent="-342900">
              <a:spcAft>
                <a:spcPts val="1400"/>
              </a:spcAft>
              <a:buSzPct val="100000"/>
              <a:buChar char="•"/>
            </a:pPr>
            <a:r>
              <a:rPr lang="en-US" sz="1600" b="1" dirty="0">
                <a:solidFill>
                  <a:schemeClr val="tx2"/>
                </a:solidFill>
              </a:rPr>
              <a:t>2018 · Guido sai:</a:t>
            </a:r>
            <a:pPr indent="0" marL="0">
              <a:spcAft>
                <a:spcPts val="1400"/>
              </a:spcAft>
              <a:buNone/>
            </a:pPr>
            <a:r>
              <a:rPr lang="en-US" sz="1600" dirty="0">
                <a:solidFill>
                  <a:schemeClr val="tx1"/>
                </a:solidFill>
              </a:rPr>
              <a:t> Guido mak "lider ba moris tomak" (BDFL); iha 2018 nia rezigna.</a:t>
            </a:r>
            <a:endParaRPr lang="en-US" sz="1600" dirty="0"/>
          </a:p>
          <a:p>
            <a:pPr marL="342900" indent="-342900">
              <a:spcAft>
                <a:spcPts val="1400"/>
              </a:spcAft>
              <a:buSzPct val="100000"/>
              <a:buChar char="•"/>
            </a:pPr>
            <a:r>
              <a:rPr lang="en-US" sz="1600" b="1" dirty="0">
                <a:solidFill>
                  <a:schemeClr val="tx2"/>
                </a:solidFill>
              </a:rPr>
              <a:t>2019 · Konsellu:</a:t>
            </a:r>
            <a:pPr indent="0" marL="0">
              <a:spcAft>
                <a:spcPts val="1400"/>
              </a:spcAft>
              <a:buNone/>
            </a:pPr>
            <a:r>
              <a:rPr lang="en-US" sz="1600" dirty="0">
                <a:solidFill>
                  <a:schemeClr val="tx1"/>
                </a:solidFill>
              </a:rPr>
              <a:t> Agora Konsellu Steering ema na'in 5, eleitu husi komunidade, mak foti desizaun.</a:t>
            </a:r>
            <a:endParaRPr lang="en-US" sz="1600" dirty="0"/>
          </a:p>
          <a:p>
            <a:pPr marL="342900" indent="-342900">
              <a:spcAft>
                <a:spcPts val="1400"/>
              </a:spcAft>
              <a:buSzPct val="100000"/>
              <a:buChar char="•"/>
            </a:pPr>
            <a:r>
              <a:rPr lang="en-US" sz="1600" b="1" dirty="0">
                <a:solidFill>
                  <a:schemeClr val="tx2"/>
                </a:solidFill>
              </a:rPr>
              <a:t>Komunidade:</a:t>
            </a:r>
            <a:pPr indent="0" marL="0">
              <a:spcAft>
                <a:spcPts val="1400"/>
              </a:spcAft>
              <a:buNone/>
            </a:pPr>
            <a:r>
              <a:rPr lang="en-US" sz="1600" dirty="0">
                <a:solidFill>
                  <a:schemeClr val="tx1"/>
                </a:solidFill>
              </a:rPr>
              <a:t> Programadór rihun ba rihun husi mundu tomak hadi'a Python, la ho selu.</a:t>
            </a:r>
            <a:endParaRPr lang="en-US" sz="1600" dirty="0"/>
          </a:p>
        </p:txBody>
      </p:sp>
      <p:sp>
        <p:nvSpPr>
          <p:cNvPr id="6" name="zen"/>
          <p:cNvSpPr/>
          <p:nvPr/>
        </p:nvSpPr>
        <p:spPr>
          <a:xfrm>
            <a:off x="6766560" y="1463040"/>
            <a:ext cx="4876495" cy="4663440"/>
          </a:xfrm>
          <a:prstGeom prst="roundRect">
            <a:avLst>
              <a:gd name="adj" fmla="val 2353"/>
            </a:avLst>
          </a:prstGeom>
          <a:solidFill>
            <a:schemeClr val="tx2"/>
          </a:solidFill>
          <a:ln w="12700">
            <a:solidFill>
              <a:schemeClr val="tx2"/>
            </a:solidFill>
            <a:prstDash val="solid"/>
          </a:ln>
        </p:spPr>
      </p:sp>
      <p:sp>
        <p:nvSpPr>
          <p:cNvPr id="7" name="zen-ik-sirkulu"/>
          <p:cNvSpPr/>
          <p:nvPr/>
        </p:nvSpPr>
        <p:spPr>
          <a:xfrm>
            <a:off x="7040880" y="1691640"/>
            <a:ext cx="731520" cy="731520"/>
          </a:xfrm>
          <a:prstGeom prst="ellipse">
            <a:avLst/>
          </a:prstGeom>
          <a:solidFill>
            <a:schemeClr val="accent2"/>
          </a:solidFill>
          <a:ln w="12700">
            <a:solidFill>
              <a:schemeClr val="accent2"/>
            </a:solidFill>
            <a:prstDash val="solid"/>
          </a:ln>
        </p:spPr>
      </p:sp>
      <p:pic>
        <p:nvPicPr>
          <p:cNvPr id="8" name="zen-ik-ikone" descr="preencoded.png">    </p:cNvPr>
          <p:cNvPicPr>
            <a:picLocks noChangeAspect="1"/>
          </p:cNvPicPr>
          <p:nvPr/>
        </p:nvPicPr>
        <p:blipFill>
          <a:blip r:embed="rId1"/>
          <a:stretch>
            <a:fillRect/>
          </a:stretch>
        </p:blipFill>
        <p:spPr>
          <a:xfrm>
            <a:off x="7216445" y="1867205"/>
            <a:ext cx="380390" cy="380390"/>
          </a:xfrm>
          <a:prstGeom prst="rect">
            <a:avLst/>
          </a:prstGeom>
        </p:spPr>
      </p:pic>
      <p:sp>
        <p:nvSpPr>
          <p:cNvPr id="9" name="Text 6"/>
          <p:cNvSpPr txBox="1"/>
          <p:nvPr/>
        </p:nvSpPr>
        <p:spPr>
          <a:xfrm>
            <a:off x="7955280" y="1783080"/>
            <a:ext cx="3566160" cy="54864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"Zen of Python"</a:t>
            </a:r>
            <a:endParaRPr lang="en-US" sz="2000" dirty="0"/>
          </a:p>
        </p:txBody>
      </p:sp>
      <p:sp>
        <p:nvSpPr>
          <p:cNvPr id="10" name="Text 7"/>
          <p:cNvSpPr txBox="1"/>
          <p:nvPr/>
        </p:nvSpPr>
        <p:spPr>
          <a:xfrm>
            <a:off x="7086600" y="2651760"/>
            <a:ext cx="4282135" cy="2743200"/>
          </a:xfrm>
          <a:prstGeom prst="rect">
            <a:avLst/>
          </a:prstGeom>
          <a:noFill/>
          <a:ln/>
        </p:spPr>
        <p:txBody>
          <a:bodyPr wrap="square" lIns="0" tIns="0" rIns="0" bIns="0" rtlCol="0" anchor="t"/>
          <a:lstStyle/>
          <a:p>
            <a:pPr indent="0" marL="0">
              <a:buNone/>
            </a:pPr>
            <a:r>
              <a:rPr lang="en-US" sz="1800" i="1" dirty="0">
                <a:solidFill>
                  <a:schemeClr val="bg1"/>
                </a:solidFill>
              </a:rPr>
              <a:t>Bonitu di'ak liu fali aat.</a:t>
            </a:r>
            <a:endParaRPr lang="en-US" sz="1800" dirty="0"/>
          </a:p>
          <a:p>
            <a:pPr indent="0" marL="0">
              <a:buNone/>
            </a:pPr>
            <a:r>
              <a:rPr lang="en-US" sz="1800" i="1" dirty="0">
                <a:solidFill>
                  <a:schemeClr val="bg1"/>
                </a:solidFill>
              </a:rPr>
              <a:t> </a:t>
            </a:r>
            <a:endParaRPr lang="en-US" sz="1800" dirty="0"/>
          </a:p>
          <a:p>
            <a:pPr indent="0" marL="0">
              <a:buNone/>
            </a:pPr>
            <a:r>
              <a:rPr lang="en-US" sz="1800" i="1" dirty="0">
                <a:solidFill>
                  <a:schemeClr val="bg1"/>
                </a:solidFill>
              </a:rPr>
              <a:t>Simples di'ak liu fali komplikadu.</a:t>
            </a:r>
            <a:endParaRPr lang="en-US" sz="1800" dirty="0"/>
          </a:p>
          <a:p>
            <a:pPr indent="0" marL="0">
              <a:buNone/>
            </a:pPr>
            <a:r>
              <a:rPr lang="en-US" sz="1800" i="1" dirty="0">
                <a:solidFill>
                  <a:schemeClr val="bg1"/>
                </a:solidFill>
              </a:rPr>
              <a:t> </a:t>
            </a:r>
            <a:endParaRPr lang="en-US" sz="1800" dirty="0"/>
          </a:p>
          <a:p>
            <a:pPr indent="0" marL="0">
              <a:buNone/>
            </a:pPr>
            <a:r>
              <a:rPr lang="en-US" sz="1800" i="1" dirty="0">
                <a:solidFill>
                  <a:schemeClr val="bg1"/>
                </a:solidFill>
              </a:rPr>
              <a:t>Fásil atu lee importante.</a:t>
            </a:r>
            <a:endParaRPr lang="en-US" sz="1800" dirty="0"/>
          </a:p>
          <a:p>
            <a:pPr indent="0" marL="0">
              <a:buNone/>
            </a:pPr>
            <a:r>
              <a:rPr lang="en-US" sz="1800" i="1" dirty="0">
                <a:solidFill>
                  <a:schemeClr val="bg1"/>
                </a:solidFill>
              </a:rPr>
              <a:t> </a:t>
            </a:r>
            <a:endParaRPr lang="en-US" sz="1800" dirty="0"/>
          </a:p>
          <a:p>
            <a:pPr indent="0" marL="0">
              <a:buNone/>
            </a:pPr>
            <a:r>
              <a:rPr lang="en-US" sz="1800" i="1" dirty="0">
                <a:solidFill>
                  <a:schemeClr val="bg1"/>
                </a:solidFill>
              </a:rPr>
              <a:t>Agora di'ak liu fali nunka.</a:t>
            </a:r>
            <a:endParaRPr lang="en-US" sz="1800" dirty="0"/>
          </a:p>
        </p:txBody>
      </p:sp>
      <p:sp>
        <p:nvSpPr>
          <p:cNvPr id="11" name="Text 8"/>
          <p:cNvSpPr txBox="1"/>
          <p:nvPr/>
        </p:nvSpPr>
        <p:spPr>
          <a:xfrm>
            <a:off x="7086600" y="5577840"/>
            <a:ext cx="4282135" cy="365760"/>
          </a:xfrm>
          <a:prstGeom prst="rect">
            <a:avLst/>
          </a:prstGeom>
          <a:noFill/>
          <a:ln/>
        </p:spPr>
        <p:txBody>
          <a:bodyPr wrap="square" lIns="0" tIns="0" rIns="0" bIns="0" rtlCol="0" anchor="t"/>
          <a:lstStyle/>
          <a:p>
            <a:pPr indent="0" marL="0">
              <a:buNone/>
            </a:pPr>
            <a:r>
              <a:rPr lang="en-US" sz="1200" dirty="0">
                <a:solidFill>
                  <a:schemeClr val="bg2"/>
                </a:solidFill>
              </a:rPr>
              <a:t>Husi Tim Peters · tradusaun Tetun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Python ohin loron: uza iha mundu tomak</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10:41</a:t>
            </a:r>
            <a:endParaRPr lang="en-US" sz="1200" dirty="0"/>
          </a:p>
        </p:txBody>
      </p:sp>
      <p:sp>
        <p:nvSpPr>
          <p:cNvPr id="5" name="u-0"/>
          <p:cNvSpPr/>
          <p:nvPr/>
        </p:nvSpPr>
        <p:spPr>
          <a:xfrm>
            <a:off x="548640" y="1463040"/>
            <a:ext cx="3423818" cy="1600200"/>
          </a:xfrm>
          <a:prstGeom prst="roundRect">
            <a:avLst>
              <a:gd name="adj" fmla="val 6857"/>
            </a:avLst>
          </a:prstGeom>
          <a:solidFill>
            <a:schemeClr val="bg2"/>
          </a:solidFill>
          <a:ln w="12700">
            <a:solidFill>
              <a:schemeClr val="bg2"/>
            </a:solidFill>
            <a:prstDash val="solid"/>
          </a:ln>
        </p:spPr>
      </p:sp>
      <p:sp>
        <p:nvSpPr>
          <p:cNvPr id="6" name="u-ik-0-sirkulu"/>
          <p:cNvSpPr/>
          <p:nvPr/>
        </p:nvSpPr>
        <p:spPr>
          <a:xfrm>
            <a:off x="822960" y="1847088"/>
            <a:ext cx="822960" cy="822960"/>
          </a:xfrm>
          <a:prstGeom prst="ellipse">
            <a:avLst/>
          </a:prstGeom>
          <a:solidFill>
            <a:schemeClr val="accent1"/>
          </a:solidFill>
          <a:ln w="12700">
            <a:solidFill>
              <a:schemeClr val="accent1"/>
            </a:solidFill>
            <a:prstDash val="solid"/>
          </a:ln>
        </p:spPr>
      </p:sp>
      <p:pic>
        <p:nvPicPr>
          <p:cNvPr id="7" name="u-ik-0-ikone" descr="preencoded.png">    </p:cNvPr>
          <p:cNvPicPr>
            <a:picLocks noChangeAspect="1"/>
          </p:cNvPicPr>
          <p:nvPr/>
        </p:nvPicPr>
        <p:blipFill>
          <a:blip r:embed="rId1"/>
          <a:stretch>
            <a:fillRect/>
          </a:stretch>
        </p:blipFill>
        <p:spPr>
          <a:xfrm>
            <a:off x="1020470" y="2044598"/>
            <a:ext cx="427939" cy="427939"/>
          </a:xfrm>
          <a:prstGeom prst="rect">
            <a:avLst/>
          </a:prstGeom>
        </p:spPr>
      </p:pic>
      <p:sp>
        <p:nvSpPr>
          <p:cNvPr id="8" name="Text 5"/>
          <p:cNvSpPr txBox="1"/>
          <p:nvPr/>
        </p:nvSpPr>
        <p:spPr>
          <a:xfrm>
            <a:off x="1828800" y="1783080"/>
            <a:ext cx="1960778" cy="457200"/>
          </a:xfrm>
          <a:prstGeom prst="rect">
            <a:avLst/>
          </a:prstGeom>
          <a:noFill/>
          <a:ln/>
        </p:spPr>
        <p:txBody>
          <a:bodyPr wrap="square" lIns="0" tIns="0" rIns="0" bIns="0" rtlCol="0" anchor="t"/>
          <a:lstStyle/>
          <a:p>
            <a:pPr indent="0" marL="0">
              <a:buNone/>
            </a:pPr>
            <a:r>
              <a:rPr lang="en-US" sz="1800" b="1" dirty="0">
                <a:solidFill>
                  <a:schemeClr val="tx2"/>
                </a:solidFill>
              </a:rPr>
              <a:t>Analiza dadus</a:t>
            </a:r>
            <a:endParaRPr lang="en-US" sz="1800" dirty="0"/>
          </a:p>
        </p:txBody>
      </p:sp>
      <p:sp>
        <p:nvSpPr>
          <p:cNvPr id="9" name="Text 6"/>
          <p:cNvSpPr txBox="1"/>
          <p:nvPr/>
        </p:nvSpPr>
        <p:spPr>
          <a:xfrm>
            <a:off x="1828800" y="2286000"/>
            <a:ext cx="1960778" cy="548640"/>
          </a:xfrm>
          <a:prstGeom prst="rect">
            <a:avLst/>
          </a:prstGeom>
          <a:noFill/>
          <a:ln/>
        </p:spPr>
        <p:txBody>
          <a:bodyPr wrap="square" lIns="0" tIns="0" rIns="0" bIns="0" rtlCol="0" anchor="t"/>
          <a:lstStyle/>
          <a:p>
            <a:pPr indent="0" marL="0">
              <a:buNone/>
            </a:pPr>
            <a:r>
              <a:rPr lang="en-US" sz="1400" dirty="0">
                <a:solidFill>
                  <a:schemeClr val="tx1"/>
                </a:solidFill>
              </a:rPr>
              <a:t>Relatóriu, estatístika, gráfiku</a:t>
            </a:r>
            <a:endParaRPr lang="en-US" sz="1400" dirty="0"/>
          </a:p>
        </p:txBody>
      </p:sp>
      <p:sp>
        <p:nvSpPr>
          <p:cNvPr id="10" name="u-1"/>
          <p:cNvSpPr/>
          <p:nvPr/>
        </p:nvSpPr>
        <p:spPr>
          <a:xfrm>
            <a:off x="4246778" y="1463040"/>
            <a:ext cx="3423818" cy="1600200"/>
          </a:xfrm>
          <a:prstGeom prst="roundRect">
            <a:avLst>
              <a:gd name="adj" fmla="val 6857"/>
            </a:avLst>
          </a:prstGeom>
          <a:solidFill>
            <a:schemeClr val="bg2"/>
          </a:solidFill>
          <a:ln w="12700">
            <a:solidFill>
              <a:schemeClr val="bg2"/>
            </a:solidFill>
            <a:prstDash val="solid"/>
          </a:ln>
        </p:spPr>
      </p:sp>
      <p:sp>
        <p:nvSpPr>
          <p:cNvPr id="11" name="u-ik-1-sirkulu"/>
          <p:cNvSpPr/>
          <p:nvPr/>
        </p:nvSpPr>
        <p:spPr>
          <a:xfrm>
            <a:off x="4521098" y="1847088"/>
            <a:ext cx="822960" cy="822960"/>
          </a:xfrm>
          <a:prstGeom prst="ellipse">
            <a:avLst/>
          </a:prstGeom>
          <a:solidFill>
            <a:schemeClr val="accent5"/>
          </a:solidFill>
          <a:ln w="12700">
            <a:solidFill>
              <a:schemeClr val="accent5"/>
            </a:solidFill>
            <a:prstDash val="solid"/>
          </a:ln>
        </p:spPr>
      </p:sp>
      <p:pic>
        <p:nvPicPr>
          <p:cNvPr id="12" name="u-ik-1-ikone" descr="preencoded.png">    </p:cNvPr>
          <p:cNvPicPr>
            <a:picLocks noChangeAspect="1"/>
          </p:cNvPicPr>
          <p:nvPr/>
        </p:nvPicPr>
        <p:blipFill>
          <a:blip r:embed="rId2"/>
          <a:stretch>
            <a:fillRect/>
          </a:stretch>
        </p:blipFill>
        <p:spPr>
          <a:xfrm>
            <a:off x="4718609" y="2044598"/>
            <a:ext cx="427939" cy="427939"/>
          </a:xfrm>
          <a:prstGeom prst="rect">
            <a:avLst/>
          </a:prstGeom>
        </p:spPr>
      </p:pic>
      <p:sp>
        <p:nvSpPr>
          <p:cNvPr id="13" name="Text 9"/>
          <p:cNvSpPr txBox="1"/>
          <p:nvPr/>
        </p:nvSpPr>
        <p:spPr>
          <a:xfrm>
            <a:off x="5526938" y="1783080"/>
            <a:ext cx="1960778" cy="457200"/>
          </a:xfrm>
          <a:prstGeom prst="rect">
            <a:avLst/>
          </a:prstGeom>
          <a:noFill/>
          <a:ln/>
        </p:spPr>
        <p:txBody>
          <a:bodyPr wrap="square" lIns="0" tIns="0" rIns="0" bIns="0" rtlCol="0" anchor="t"/>
          <a:lstStyle/>
          <a:p>
            <a:pPr indent="0" marL="0">
              <a:buNone/>
            </a:pPr>
            <a:r>
              <a:rPr lang="en-US" sz="1800" b="1" dirty="0">
                <a:solidFill>
                  <a:schemeClr val="tx2"/>
                </a:solidFill>
              </a:rPr>
              <a:t>Website</a:t>
            </a:r>
            <a:endParaRPr lang="en-US" sz="1800" dirty="0"/>
          </a:p>
        </p:txBody>
      </p:sp>
      <p:sp>
        <p:nvSpPr>
          <p:cNvPr id="14" name="Text 10"/>
          <p:cNvSpPr txBox="1"/>
          <p:nvPr/>
        </p:nvSpPr>
        <p:spPr>
          <a:xfrm>
            <a:off x="5526938" y="2286000"/>
            <a:ext cx="1960778" cy="548640"/>
          </a:xfrm>
          <a:prstGeom prst="rect">
            <a:avLst/>
          </a:prstGeom>
          <a:noFill/>
          <a:ln/>
        </p:spPr>
        <p:txBody>
          <a:bodyPr wrap="square" lIns="0" tIns="0" rIns="0" bIns="0" rtlCol="0" anchor="t"/>
          <a:lstStyle/>
          <a:p>
            <a:pPr indent="0" marL="0">
              <a:buNone/>
            </a:pPr>
            <a:r>
              <a:rPr lang="en-US" sz="1400" dirty="0">
                <a:solidFill>
                  <a:schemeClr val="tx1"/>
                </a:solidFill>
              </a:rPr>
              <a:t>Instagram, SIBAR-RbR, sistema</a:t>
            </a:r>
            <a:endParaRPr lang="en-US" sz="1400" dirty="0"/>
          </a:p>
        </p:txBody>
      </p:sp>
      <p:sp>
        <p:nvSpPr>
          <p:cNvPr id="15" name="u-2"/>
          <p:cNvSpPr/>
          <p:nvPr/>
        </p:nvSpPr>
        <p:spPr>
          <a:xfrm>
            <a:off x="7944917" y="1463040"/>
            <a:ext cx="3423818" cy="1600200"/>
          </a:xfrm>
          <a:prstGeom prst="roundRect">
            <a:avLst>
              <a:gd name="adj" fmla="val 6857"/>
            </a:avLst>
          </a:prstGeom>
          <a:solidFill>
            <a:schemeClr val="bg2"/>
          </a:solidFill>
          <a:ln w="12700">
            <a:solidFill>
              <a:schemeClr val="bg2"/>
            </a:solidFill>
            <a:prstDash val="solid"/>
          </a:ln>
        </p:spPr>
      </p:sp>
      <p:sp>
        <p:nvSpPr>
          <p:cNvPr id="16" name="u-ik-2-sirkulu"/>
          <p:cNvSpPr/>
          <p:nvPr/>
        </p:nvSpPr>
        <p:spPr>
          <a:xfrm>
            <a:off x="8219237" y="1847088"/>
            <a:ext cx="822960" cy="822960"/>
          </a:xfrm>
          <a:prstGeom prst="ellipse">
            <a:avLst/>
          </a:prstGeom>
          <a:solidFill>
            <a:schemeClr val="accent3"/>
          </a:solidFill>
          <a:ln w="12700">
            <a:solidFill>
              <a:schemeClr val="accent3"/>
            </a:solidFill>
            <a:prstDash val="solid"/>
          </a:ln>
        </p:spPr>
      </p:sp>
      <p:pic>
        <p:nvPicPr>
          <p:cNvPr id="17" name="u-ik-2-ikone" descr="preencoded.png">    </p:cNvPr>
          <p:cNvPicPr>
            <a:picLocks noChangeAspect="1"/>
          </p:cNvPicPr>
          <p:nvPr/>
        </p:nvPicPr>
        <p:blipFill>
          <a:blip r:embed="rId3"/>
          <a:stretch>
            <a:fillRect/>
          </a:stretch>
        </p:blipFill>
        <p:spPr>
          <a:xfrm>
            <a:off x="8416747" y="2044598"/>
            <a:ext cx="427939" cy="427939"/>
          </a:xfrm>
          <a:prstGeom prst="rect">
            <a:avLst/>
          </a:prstGeom>
        </p:spPr>
      </p:pic>
      <p:sp>
        <p:nvSpPr>
          <p:cNvPr id="18" name="Text 13"/>
          <p:cNvSpPr txBox="1"/>
          <p:nvPr/>
        </p:nvSpPr>
        <p:spPr>
          <a:xfrm>
            <a:off x="9225077" y="1783080"/>
            <a:ext cx="1960778" cy="457200"/>
          </a:xfrm>
          <a:prstGeom prst="rect">
            <a:avLst/>
          </a:prstGeom>
          <a:noFill/>
          <a:ln/>
        </p:spPr>
        <p:txBody>
          <a:bodyPr wrap="square" lIns="0" tIns="0" rIns="0" bIns="0" rtlCol="0" anchor="t"/>
          <a:lstStyle/>
          <a:p>
            <a:pPr indent="0" marL="0">
              <a:buNone/>
            </a:pPr>
            <a:r>
              <a:rPr lang="en-US" sz="1800" b="1" dirty="0">
                <a:solidFill>
                  <a:schemeClr val="tx2"/>
                </a:solidFill>
              </a:rPr>
              <a:t>AI</a:t>
            </a:r>
            <a:endParaRPr lang="en-US" sz="1800" dirty="0"/>
          </a:p>
        </p:txBody>
      </p:sp>
      <p:sp>
        <p:nvSpPr>
          <p:cNvPr id="19" name="Text 14"/>
          <p:cNvSpPr txBox="1"/>
          <p:nvPr/>
        </p:nvSpPr>
        <p:spPr>
          <a:xfrm>
            <a:off x="9225077" y="2286000"/>
            <a:ext cx="1960778" cy="548640"/>
          </a:xfrm>
          <a:prstGeom prst="rect">
            <a:avLst/>
          </a:prstGeom>
          <a:noFill/>
          <a:ln/>
        </p:spPr>
        <p:txBody>
          <a:bodyPr wrap="square" lIns="0" tIns="0" rIns="0" bIns="0" rtlCol="0" anchor="t"/>
          <a:lstStyle/>
          <a:p>
            <a:pPr indent="0" marL="0">
              <a:buNone/>
            </a:pPr>
            <a:r>
              <a:rPr lang="en-US" sz="1400" dirty="0">
                <a:solidFill>
                  <a:schemeClr val="tx1"/>
                </a:solidFill>
              </a:rPr>
              <a:t>Intelijénsia artifisiál, machine learning</a:t>
            </a:r>
            <a:endParaRPr lang="en-US" sz="1400" dirty="0"/>
          </a:p>
        </p:txBody>
      </p:sp>
      <p:sp>
        <p:nvSpPr>
          <p:cNvPr id="20" name="u-3"/>
          <p:cNvSpPr/>
          <p:nvPr/>
        </p:nvSpPr>
        <p:spPr>
          <a:xfrm>
            <a:off x="548640" y="3291840"/>
            <a:ext cx="3423818" cy="1600200"/>
          </a:xfrm>
          <a:prstGeom prst="roundRect">
            <a:avLst>
              <a:gd name="adj" fmla="val 6857"/>
            </a:avLst>
          </a:prstGeom>
          <a:solidFill>
            <a:schemeClr val="bg2"/>
          </a:solidFill>
          <a:ln w="12700">
            <a:solidFill>
              <a:schemeClr val="bg2"/>
            </a:solidFill>
            <a:prstDash val="solid"/>
          </a:ln>
        </p:spPr>
      </p:sp>
      <p:sp>
        <p:nvSpPr>
          <p:cNvPr id="21" name="u-ik-3-sirkulu"/>
          <p:cNvSpPr/>
          <p:nvPr/>
        </p:nvSpPr>
        <p:spPr>
          <a:xfrm>
            <a:off x="822960" y="3675888"/>
            <a:ext cx="822960" cy="822960"/>
          </a:xfrm>
          <a:prstGeom prst="ellipse">
            <a:avLst/>
          </a:prstGeom>
          <a:solidFill>
            <a:schemeClr val="accent6"/>
          </a:solidFill>
          <a:ln w="12700">
            <a:solidFill>
              <a:schemeClr val="accent6"/>
            </a:solidFill>
            <a:prstDash val="solid"/>
          </a:ln>
        </p:spPr>
      </p:sp>
      <p:pic>
        <p:nvPicPr>
          <p:cNvPr id="22" name="u-ik-3-ikone" descr="preencoded.png">    </p:cNvPr>
          <p:cNvPicPr>
            <a:picLocks noChangeAspect="1"/>
          </p:cNvPicPr>
          <p:nvPr/>
        </p:nvPicPr>
        <p:blipFill>
          <a:blip r:embed="rId4"/>
          <a:stretch>
            <a:fillRect/>
          </a:stretch>
        </p:blipFill>
        <p:spPr>
          <a:xfrm>
            <a:off x="1020470" y="3873398"/>
            <a:ext cx="427939" cy="427939"/>
          </a:xfrm>
          <a:prstGeom prst="rect">
            <a:avLst/>
          </a:prstGeom>
        </p:spPr>
      </p:pic>
      <p:sp>
        <p:nvSpPr>
          <p:cNvPr id="23" name="Text 17"/>
          <p:cNvSpPr txBox="1"/>
          <p:nvPr/>
        </p:nvSpPr>
        <p:spPr>
          <a:xfrm>
            <a:off x="1828800" y="3611880"/>
            <a:ext cx="1960778" cy="457200"/>
          </a:xfrm>
          <a:prstGeom prst="rect">
            <a:avLst/>
          </a:prstGeom>
          <a:noFill/>
          <a:ln/>
        </p:spPr>
        <p:txBody>
          <a:bodyPr wrap="square" lIns="0" tIns="0" rIns="0" bIns="0" rtlCol="0" anchor="t"/>
          <a:lstStyle/>
          <a:p>
            <a:pPr indent="0" marL="0">
              <a:buNone/>
            </a:pPr>
            <a:r>
              <a:rPr lang="en-US" sz="1800" b="1" dirty="0">
                <a:solidFill>
                  <a:schemeClr val="tx2"/>
                </a:solidFill>
              </a:rPr>
              <a:t>Mapa (GIS)</a:t>
            </a:r>
            <a:endParaRPr lang="en-US" sz="1800" dirty="0"/>
          </a:p>
        </p:txBody>
      </p:sp>
      <p:sp>
        <p:nvSpPr>
          <p:cNvPr id="24" name="Text 18"/>
          <p:cNvSpPr txBox="1"/>
          <p:nvPr/>
        </p:nvSpPr>
        <p:spPr>
          <a:xfrm>
            <a:off x="1828800" y="4114800"/>
            <a:ext cx="1960778" cy="548640"/>
          </a:xfrm>
          <a:prstGeom prst="rect">
            <a:avLst/>
          </a:prstGeom>
          <a:noFill/>
          <a:ln/>
        </p:spPr>
        <p:txBody>
          <a:bodyPr wrap="square" lIns="0" tIns="0" rIns="0" bIns="0" rtlCol="0" anchor="t"/>
          <a:lstStyle/>
          <a:p>
            <a:pPr indent="0" marL="0">
              <a:buNone/>
            </a:pPr>
            <a:r>
              <a:rPr lang="en-US" sz="1400" dirty="0">
                <a:solidFill>
                  <a:schemeClr val="tx1"/>
                </a:solidFill>
              </a:rPr>
              <a:t>Analiza rai no fatin</a:t>
            </a:r>
            <a:endParaRPr lang="en-US" sz="1400" dirty="0"/>
          </a:p>
        </p:txBody>
      </p:sp>
      <p:sp>
        <p:nvSpPr>
          <p:cNvPr id="25" name="u-4"/>
          <p:cNvSpPr/>
          <p:nvPr/>
        </p:nvSpPr>
        <p:spPr>
          <a:xfrm>
            <a:off x="4246778" y="3291840"/>
            <a:ext cx="3423818" cy="1600200"/>
          </a:xfrm>
          <a:prstGeom prst="roundRect">
            <a:avLst>
              <a:gd name="adj" fmla="val 6857"/>
            </a:avLst>
          </a:prstGeom>
          <a:solidFill>
            <a:schemeClr val="bg2"/>
          </a:solidFill>
          <a:ln w="12700">
            <a:solidFill>
              <a:schemeClr val="bg2"/>
            </a:solidFill>
            <a:prstDash val="solid"/>
          </a:ln>
        </p:spPr>
      </p:sp>
      <p:sp>
        <p:nvSpPr>
          <p:cNvPr id="26" name="u-ik-4-sirkulu"/>
          <p:cNvSpPr/>
          <p:nvPr/>
        </p:nvSpPr>
        <p:spPr>
          <a:xfrm>
            <a:off x="4521098" y="3675888"/>
            <a:ext cx="822960" cy="822960"/>
          </a:xfrm>
          <a:prstGeom prst="ellipse">
            <a:avLst/>
          </a:prstGeom>
          <a:solidFill>
            <a:schemeClr val="accent4"/>
          </a:solidFill>
          <a:ln w="12700">
            <a:solidFill>
              <a:schemeClr val="accent4"/>
            </a:solidFill>
            <a:prstDash val="solid"/>
          </a:ln>
        </p:spPr>
      </p:sp>
      <p:pic>
        <p:nvPicPr>
          <p:cNvPr id="27" name="u-ik-4-ikone" descr="preencoded.png">    </p:cNvPr>
          <p:cNvPicPr>
            <a:picLocks noChangeAspect="1"/>
          </p:cNvPicPr>
          <p:nvPr/>
        </p:nvPicPr>
        <p:blipFill>
          <a:blip r:embed="rId5"/>
          <a:stretch>
            <a:fillRect/>
          </a:stretch>
        </p:blipFill>
        <p:spPr>
          <a:xfrm>
            <a:off x="4718609" y="3873398"/>
            <a:ext cx="427939" cy="427939"/>
          </a:xfrm>
          <a:prstGeom prst="rect">
            <a:avLst/>
          </a:prstGeom>
        </p:spPr>
      </p:pic>
      <p:sp>
        <p:nvSpPr>
          <p:cNvPr id="28" name="Text 21"/>
          <p:cNvSpPr txBox="1"/>
          <p:nvPr/>
        </p:nvSpPr>
        <p:spPr>
          <a:xfrm>
            <a:off x="5526938" y="3611880"/>
            <a:ext cx="1960778" cy="457200"/>
          </a:xfrm>
          <a:prstGeom prst="rect">
            <a:avLst/>
          </a:prstGeom>
          <a:noFill/>
          <a:ln/>
        </p:spPr>
        <p:txBody>
          <a:bodyPr wrap="square" lIns="0" tIns="0" rIns="0" bIns="0" rtlCol="0" anchor="t"/>
          <a:lstStyle/>
          <a:p>
            <a:pPr indent="0" marL="0">
              <a:buNone/>
            </a:pPr>
            <a:r>
              <a:rPr lang="en-US" sz="1800" b="1" dirty="0">
                <a:solidFill>
                  <a:schemeClr val="tx2"/>
                </a:solidFill>
              </a:rPr>
              <a:t>Siénsia</a:t>
            </a:r>
            <a:endParaRPr lang="en-US" sz="1800" dirty="0"/>
          </a:p>
        </p:txBody>
      </p:sp>
      <p:sp>
        <p:nvSpPr>
          <p:cNvPr id="29" name="Text 22"/>
          <p:cNvSpPr txBox="1"/>
          <p:nvPr/>
        </p:nvSpPr>
        <p:spPr>
          <a:xfrm>
            <a:off x="5526938" y="4114800"/>
            <a:ext cx="1960778" cy="548640"/>
          </a:xfrm>
          <a:prstGeom prst="rect">
            <a:avLst/>
          </a:prstGeom>
          <a:noFill/>
          <a:ln/>
        </p:spPr>
        <p:txBody>
          <a:bodyPr wrap="square" lIns="0" tIns="0" rIns="0" bIns="0" rtlCol="0" anchor="t"/>
          <a:lstStyle/>
          <a:p>
            <a:pPr indent="0" marL="0">
              <a:buNone/>
            </a:pPr>
            <a:r>
              <a:rPr lang="en-US" sz="1400" dirty="0">
                <a:solidFill>
                  <a:schemeClr val="tx1"/>
                </a:solidFill>
              </a:rPr>
              <a:t>NASA, peskiza</a:t>
            </a:r>
            <a:endParaRPr lang="en-US" sz="1400" dirty="0"/>
          </a:p>
        </p:txBody>
      </p:sp>
      <p:sp>
        <p:nvSpPr>
          <p:cNvPr id="30" name="u-5"/>
          <p:cNvSpPr/>
          <p:nvPr/>
        </p:nvSpPr>
        <p:spPr>
          <a:xfrm>
            <a:off x="7944917" y="3291840"/>
            <a:ext cx="3423818" cy="1600200"/>
          </a:xfrm>
          <a:prstGeom prst="roundRect">
            <a:avLst>
              <a:gd name="adj" fmla="val 6857"/>
            </a:avLst>
          </a:prstGeom>
          <a:solidFill>
            <a:schemeClr val="bg2"/>
          </a:solidFill>
          <a:ln w="12700">
            <a:solidFill>
              <a:schemeClr val="bg2"/>
            </a:solidFill>
            <a:prstDash val="solid"/>
          </a:ln>
        </p:spPr>
      </p:sp>
      <p:sp>
        <p:nvSpPr>
          <p:cNvPr id="31" name="u-ik-5-sirkulu"/>
          <p:cNvSpPr/>
          <p:nvPr/>
        </p:nvSpPr>
        <p:spPr>
          <a:xfrm>
            <a:off x="8219237" y="3675888"/>
            <a:ext cx="822960" cy="822960"/>
          </a:xfrm>
          <a:prstGeom prst="ellipse">
            <a:avLst/>
          </a:prstGeom>
          <a:solidFill>
            <a:schemeClr val="tx2"/>
          </a:solidFill>
          <a:ln w="12700">
            <a:solidFill>
              <a:schemeClr val="tx2"/>
            </a:solidFill>
            <a:prstDash val="solid"/>
          </a:ln>
        </p:spPr>
      </p:sp>
      <p:pic>
        <p:nvPicPr>
          <p:cNvPr id="32" name="u-ik-5-ikone" descr="preencoded.png">    </p:cNvPr>
          <p:cNvPicPr>
            <a:picLocks noChangeAspect="1"/>
          </p:cNvPicPr>
          <p:nvPr/>
        </p:nvPicPr>
        <p:blipFill>
          <a:blip r:embed="rId6"/>
          <a:stretch>
            <a:fillRect/>
          </a:stretch>
        </p:blipFill>
        <p:spPr>
          <a:xfrm>
            <a:off x="8416747" y="3873398"/>
            <a:ext cx="427939" cy="427939"/>
          </a:xfrm>
          <a:prstGeom prst="rect">
            <a:avLst/>
          </a:prstGeom>
        </p:spPr>
      </p:pic>
      <p:sp>
        <p:nvSpPr>
          <p:cNvPr id="33" name="Text 25"/>
          <p:cNvSpPr txBox="1"/>
          <p:nvPr/>
        </p:nvSpPr>
        <p:spPr>
          <a:xfrm>
            <a:off x="9225077" y="3611880"/>
            <a:ext cx="1960778" cy="457200"/>
          </a:xfrm>
          <a:prstGeom prst="rect">
            <a:avLst/>
          </a:prstGeom>
          <a:noFill/>
          <a:ln/>
        </p:spPr>
        <p:txBody>
          <a:bodyPr wrap="square" lIns="0" tIns="0" rIns="0" bIns="0" rtlCol="0" anchor="t"/>
          <a:lstStyle/>
          <a:p>
            <a:pPr indent="0" marL="0">
              <a:buNone/>
            </a:pPr>
            <a:r>
              <a:rPr lang="en-US" sz="1800" b="1" dirty="0">
                <a:solidFill>
                  <a:schemeClr val="tx2"/>
                </a:solidFill>
              </a:rPr>
              <a:t>Automasaun</a:t>
            </a:r>
            <a:endParaRPr lang="en-US" sz="1800" dirty="0"/>
          </a:p>
        </p:txBody>
      </p:sp>
      <p:sp>
        <p:nvSpPr>
          <p:cNvPr id="34" name="Text 26"/>
          <p:cNvSpPr txBox="1"/>
          <p:nvPr/>
        </p:nvSpPr>
        <p:spPr>
          <a:xfrm>
            <a:off x="9225077" y="4114800"/>
            <a:ext cx="1960778" cy="548640"/>
          </a:xfrm>
          <a:prstGeom prst="rect">
            <a:avLst/>
          </a:prstGeom>
          <a:noFill/>
          <a:ln/>
        </p:spPr>
        <p:txBody>
          <a:bodyPr wrap="square" lIns="0" tIns="0" rIns="0" bIns="0" rtlCol="0" anchor="t"/>
          <a:lstStyle/>
          <a:p>
            <a:pPr indent="0" marL="0">
              <a:buNone/>
            </a:pPr>
            <a:r>
              <a:rPr lang="en-US" sz="1400" dirty="0">
                <a:solidFill>
                  <a:schemeClr val="tx1"/>
                </a:solidFill>
              </a:rPr>
              <a:t>Servisu repete</a:t>
            </a:r>
            <a:endParaRPr lang="en-US" sz="1400" dirty="0"/>
          </a:p>
        </p:txBody>
      </p:sp>
      <p:sp>
        <p:nvSpPr>
          <p:cNvPr id="35" name="Text 27"/>
          <p:cNvSpPr txBox="1"/>
          <p:nvPr/>
        </p:nvSpPr>
        <p:spPr>
          <a:xfrm>
            <a:off x="548640" y="5257800"/>
            <a:ext cx="11094415" cy="822960"/>
          </a:xfrm>
          <a:prstGeom prst="rect">
            <a:avLst/>
          </a:prstGeom>
          <a:noFill/>
          <a:ln/>
        </p:spPr>
        <p:txBody>
          <a:bodyPr wrap="square" lIns="0" tIns="0" rIns="0" bIns="0" rtlCol="0" anchor="t"/>
          <a:lstStyle/>
          <a:p>
            <a:pPr indent="0" marL="0">
              <a:buNone/>
            </a:pPr>
            <a:r>
              <a:rPr lang="en-US" sz="1500" i="1" dirty="0">
                <a:solidFill>
                  <a:srgbClr val="5E6B66"/>
                </a:solidFill>
              </a:rPr>
              <a:t>Kompañia hanesan Google, YouTube, Netflix, Spotify no Dropbox uza Python. Instagram harii ho Django: framework hanesan SIBAR-RbR.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Deskansa</a:t>
            </a: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Minutu 10 · hahú fali 10:55</a:t>
            </a:r>
            <a:endParaRPr lang="en-US" sz="2000" dirty="0"/>
          </a:p>
          <a:p>
            <a:pPr indent="0" marL="0">
              <a:buNone/>
            </a:pPr>
            <a:r>
              <a:rPr lang="en-US" sz="2000" b="1" dirty="0">
                <a:solidFill>
                  <a:schemeClr val="accent2"/>
                </a:solidFill>
              </a:rPr>
              <a:t>Hafoin ne'e: tanba sá Rede ba Rai?</a:t>
            </a:r>
            <a:endParaRPr lang="en-US" sz="2000" dirty="0"/>
          </a:p>
        </p:txBody>
      </p:sp>
      <p:sp>
        <p:nvSpPr>
          <p:cNvPr id="4" name="kafe-sirkulu"/>
          <p:cNvSpPr/>
          <p:nvPr/>
        </p:nvSpPr>
        <p:spPr>
          <a:xfrm>
            <a:off x="8961120" y="1828800"/>
            <a:ext cx="2194560" cy="2194560"/>
          </a:xfrm>
          <a:prstGeom prst="ellipse">
            <a:avLst/>
          </a:prstGeom>
          <a:solidFill>
            <a:schemeClr val="accent1"/>
          </a:solidFill>
          <a:ln w="12700">
            <a:solidFill>
              <a:schemeClr val="accent1"/>
            </a:solidFill>
            <a:prstDash val="solid"/>
          </a:ln>
        </p:spPr>
      </p:sp>
      <p:pic>
        <p:nvPicPr>
          <p:cNvPr id="5" name="kafe-ikone" descr="preencoded.png">    </p:cNvPr>
          <p:cNvPicPr>
            <a:picLocks noChangeAspect="1"/>
          </p:cNvPicPr>
          <p:nvPr/>
        </p:nvPicPr>
        <p:blipFill>
          <a:blip r:embed="rId1"/>
          <a:stretch>
            <a:fillRect/>
          </a:stretch>
        </p:blipFill>
        <p:spPr>
          <a:xfrm>
            <a:off x="9487814" y="2355494"/>
            <a:ext cx="1141171" cy="114117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Tanba sá Rede ba Rai?</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SIBAR-RbR harii iha Python</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03</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10:55 – 11:20</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SIBAR-RbR harii iha Python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10:55</a:t>
            </a:r>
            <a:endParaRPr lang="en-US" sz="1200" dirty="0"/>
          </a:p>
        </p:txBody>
      </p:sp>
      <p:sp>
        <p:nvSpPr>
          <p:cNvPr id="5" name="kam-0"/>
          <p:cNvSpPr/>
          <p:nvPr/>
        </p:nvSpPr>
        <p:spPr>
          <a:xfrm>
            <a:off x="548640" y="4572000"/>
            <a:ext cx="5669280" cy="960120"/>
          </a:xfrm>
          <a:prstGeom prst="roundRect">
            <a:avLst>
              <a:gd name="adj" fmla="val 11429"/>
            </a:avLst>
          </a:prstGeom>
          <a:solidFill>
            <a:schemeClr val="accent6"/>
          </a:solidFill>
          <a:ln w="12700">
            <a:solidFill>
              <a:schemeClr val="accent6"/>
            </a:solidFill>
            <a:prstDash val="solid"/>
          </a:ln>
        </p:spPr>
      </p:sp>
      <p:sp>
        <p:nvSpPr>
          <p:cNvPr id="6" name="Text 4"/>
          <p:cNvSpPr txBox="1"/>
          <p:nvPr/>
        </p:nvSpPr>
        <p:spPr>
          <a:xfrm>
            <a:off x="548640" y="4572000"/>
            <a:ext cx="5669280" cy="960120"/>
          </a:xfrm>
          <a:prstGeom prst="rect">
            <a:avLst/>
          </a:prstGeom>
          <a:noFill/>
          <a:ln/>
        </p:spPr>
        <p:txBody>
          <a:bodyPr wrap="square" lIns="0" tIns="0" rIns="0" bIns="0" rtlCol="0" anchor="ctr"/>
          <a:lstStyle/>
          <a:p>
            <a:pPr algn="ctr" indent="0" marL="0">
              <a:buNone/>
            </a:pPr>
            <a:r>
              <a:rPr lang="en-US" sz="2200" b="1" dirty="0">
                <a:solidFill>
                  <a:schemeClr val="bg1"/>
                </a:solidFill>
              </a:rPr>
              <a:t>Python 3</a:t>
            </a:r>
            <a:endParaRPr lang="en-US" sz="1500" dirty="0"/>
          </a:p>
          <a:p>
            <a:pPr algn="ctr" indent="0" marL="0">
              <a:buNone/>
            </a:pPr>
            <a:r>
              <a:rPr lang="en-US" sz="1300" dirty="0">
                <a:solidFill>
                  <a:schemeClr val="bg1"/>
                </a:solidFill>
              </a:rPr>
              <a:t>Lian programasaun</a:t>
            </a:r>
            <a:endParaRPr lang="en-US" sz="1500" dirty="0"/>
          </a:p>
        </p:txBody>
      </p:sp>
      <p:sp>
        <p:nvSpPr>
          <p:cNvPr id="7" name="kam-1"/>
          <p:cNvSpPr/>
          <p:nvPr/>
        </p:nvSpPr>
        <p:spPr>
          <a:xfrm>
            <a:off x="822960" y="3429000"/>
            <a:ext cx="5120640" cy="960120"/>
          </a:xfrm>
          <a:prstGeom prst="roundRect">
            <a:avLst>
              <a:gd name="adj" fmla="val 11429"/>
            </a:avLst>
          </a:prstGeom>
          <a:solidFill>
            <a:schemeClr val="accent5"/>
          </a:solidFill>
          <a:ln w="12700">
            <a:solidFill>
              <a:schemeClr val="accent5"/>
            </a:solidFill>
            <a:prstDash val="solid"/>
          </a:ln>
        </p:spPr>
      </p:sp>
      <p:sp>
        <p:nvSpPr>
          <p:cNvPr id="8" name="Text 6"/>
          <p:cNvSpPr txBox="1"/>
          <p:nvPr/>
        </p:nvSpPr>
        <p:spPr>
          <a:xfrm>
            <a:off x="822960" y="3429000"/>
            <a:ext cx="5120640" cy="960120"/>
          </a:xfrm>
          <a:prstGeom prst="rect">
            <a:avLst/>
          </a:prstGeom>
          <a:noFill/>
          <a:ln/>
        </p:spPr>
        <p:txBody>
          <a:bodyPr wrap="square" lIns="0" tIns="0" rIns="0" bIns="0" rtlCol="0" anchor="ctr"/>
          <a:lstStyle/>
          <a:p>
            <a:pPr algn="ctr" indent="0" marL="0">
              <a:buNone/>
            </a:pPr>
            <a:r>
              <a:rPr lang="en-US" sz="2200" b="1" dirty="0">
                <a:solidFill>
                  <a:schemeClr val="bg1"/>
                </a:solidFill>
              </a:rPr>
              <a:t>Django 5.2</a:t>
            </a:r>
            <a:endParaRPr lang="en-US" sz="1500" dirty="0"/>
          </a:p>
          <a:p>
            <a:pPr algn="ctr" indent="0" marL="0">
              <a:buNone/>
            </a:pPr>
            <a:r>
              <a:rPr lang="en-US" sz="1300" dirty="0">
                <a:solidFill>
                  <a:schemeClr val="bg1"/>
                </a:solidFill>
              </a:rPr>
              <a:t>Framework web (Python)</a:t>
            </a:r>
            <a:endParaRPr lang="en-US" sz="1500" dirty="0"/>
          </a:p>
        </p:txBody>
      </p:sp>
      <p:sp>
        <p:nvSpPr>
          <p:cNvPr id="9" name="kam-2"/>
          <p:cNvSpPr/>
          <p:nvPr/>
        </p:nvSpPr>
        <p:spPr>
          <a:xfrm>
            <a:off x="1097280" y="2286000"/>
            <a:ext cx="4572000" cy="960120"/>
          </a:xfrm>
          <a:prstGeom prst="roundRect">
            <a:avLst>
              <a:gd name="adj" fmla="val 11429"/>
            </a:avLst>
          </a:prstGeom>
          <a:solidFill>
            <a:schemeClr val="accent1"/>
          </a:solidFill>
          <a:ln w="12700">
            <a:solidFill>
              <a:schemeClr val="accent1"/>
            </a:solidFill>
            <a:prstDash val="solid"/>
          </a:ln>
        </p:spPr>
      </p:sp>
      <p:sp>
        <p:nvSpPr>
          <p:cNvPr id="10" name="Text 8"/>
          <p:cNvSpPr txBox="1"/>
          <p:nvPr/>
        </p:nvSpPr>
        <p:spPr>
          <a:xfrm>
            <a:off x="1097280" y="2286000"/>
            <a:ext cx="4572000" cy="960120"/>
          </a:xfrm>
          <a:prstGeom prst="rect">
            <a:avLst/>
          </a:prstGeom>
          <a:noFill/>
          <a:ln/>
        </p:spPr>
        <p:txBody>
          <a:bodyPr wrap="square" lIns="0" tIns="0" rIns="0" bIns="0" rtlCol="0" anchor="ctr"/>
          <a:lstStyle/>
          <a:p>
            <a:pPr algn="ctr" indent="0" marL="0">
              <a:buNone/>
            </a:pPr>
            <a:r>
              <a:rPr lang="en-US" sz="2200" b="1" dirty="0">
                <a:solidFill>
                  <a:schemeClr val="bg1"/>
                </a:solidFill>
              </a:rPr>
              <a:t>SIBAR-RbR</a:t>
            </a:r>
            <a:endParaRPr lang="en-US" sz="1500" dirty="0"/>
          </a:p>
          <a:p>
            <a:pPr algn="ctr" indent="0" marL="0">
              <a:buNone/>
            </a:pPr>
            <a:r>
              <a:rPr lang="en-US" sz="1300" dirty="0">
                <a:solidFill>
                  <a:schemeClr val="bg1"/>
                </a:solidFill>
              </a:rPr>
              <a:t>Sistema Rede ba Rai</a:t>
            </a:r>
            <a:endParaRPr lang="en-US" sz="1500" dirty="0"/>
          </a:p>
        </p:txBody>
      </p:sp>
      <p:sp>
        <p:nvSpPr>
          <p:cNvPr id="11" name="Text 9"/>
          <p:cNvSpPr txBox="1"/>
          <p:nvPr/>
        </p:nvSpPr>
        <p:spPr>
          <a:xfrm>
            <a:off x="548640" y="1371600"/>
            <a:ext cx="5669280" cy="365760"/>
          </a:xfrm>
          <a:prstGeom prst="rect">
            <a:avLst/>
          </a:prstGeom>
          <a:noFill/>
          <a:ln/>
        </p:spPr>
        <p:txBody>
          <a:bodyPr wrap="square" lIns="0" tIns="0" rIns="0" bIns="0" rtlCol="0" anchor="t"/>
          <a:lstStyle/>
          <a:p>
            <a:pPr algn="ctr" indent="0" marL="0">
              <a:buNone/>
            </a:pPr>
            <a:r>
              <a:rPr lang="en-US" sz="1400" b="1" dirty="0">
                <a:solidFill>
                  <a:srgbClr val="5E6B66"/>
                </a:solidFill>
              </a:rPr>
              <a:t>Kamada sistema</a:t>
            </a:r>
            <a:endParaRPr lang="en-US" sz="1400" dirty="0"/>
          </a:p>
        </p:txBody>
      </p:sp>
      <p:sp>
        <p:nvSpPr>
          <p:cNvPr id="12" name="n-0"/>
          <p:cNvSpPr/>
          <p:nvPr/>
        </p:nvSpPr>
        <p:spPr>
          <a:xfrm>
            <a:off x="6675120" y="1463040"/>
            <a:ext cx="2423160" cy="1691640"/>
          </a:xfrm>
          <a:prstGeom prst="roundRect">
            <a:avLst>
              <a:gd name="adj" fmla="val 6486"/>
            </a:avLst>
          </a:prstGeom>
          <a:solidFill>
            <a:schemeClr val="bg2"/>
          </a:solidFill>
          <a:ln w="12700">
            <a:solidFill>
              <a:schemeClr val="bg2"/>
            </a:solidFill>
            <a:prstDash val="solid"/>
          </a:ln>
        </p:spPr>
      </p:sp>
      <p:sp>
        <p:nvSpPr>
          <p:cNvPr id="13" name="Text 11"/>
          <p:cNvSpPr txBox="1"/>
          <p:nvPr/>
        </p:nvSpPr>
        <p:spPr>
          <a:xfrm>
            <a:off x="6675120" y="1645920"/>
            <a:ext cx="2423160" cy="77724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14.000+</a:t>
            </a:r>
            <a:endParaRPr lang="en-US" sz="3600" dirty="0"/>
          </a:p>
        </p:txBody>
      </p:sp>
      <p:sp>
        <p:nvSpPr>
          <p:cNvPr id="14" name="Text 12"/>
          <p:cNvSpPr txBox="1"/>
          <p:nvPr/>
        </p:nvSpPr>
        <p:spPr>
          <a:xfrm>
            <a:off x="6812280" y="2423160"/>
            <a:ext cx="2148840" cy="640080"/>
          </a:xfrm>
          <a:prstGeom prst="rect">
            <a:avLst/>
          </a:prstGeom>
          <a:noFill/>
          <a:ln/>
        </p:spPr>
        <p:txBody>
          <a:bodyPr wrap="square" lIns="0" tIns="0" rIns="0" bIns="0" rtlCol="0" anchor="t"/>
          <a:lstStyle/>
          <a:p>
            <a:pPr algn="ctr" indent="0" marL="0">
              <a:buNone/>
            </a:pPr>
            <a:r>
              <a:rPr lang="en-US" sz="1300" dirty="0">
                <a:solidFill>
                  <a:schemeClr val="tx1"/>
                </a:solidFill>
              </a:rPr>
              <a:t>liña kódigu Python</a:t>
            </a:r>
            <a:endParaRPr lang="en-US" sz="1300" dirty="0"/>
          </a:p>
        </p:txBody>
      </p:sp>
      <p:sp>
        <p:nvSpPr>
          <p:cNvPr id="15" name="n-1"/>
          <p:cNvSpPr/>
          <p:nvPr/>
        </p:nvSpPr>
        <p:spPr>
          <a:xfrm>
            <a:off x="9281160" y="1463040"/>
            <a:ext cx="2423160" cy="1691640"/>
          </a:xfrm>
          <a:prstGeom prst="roundRect">
            <a:avLst>
              <a:gd name="adj" fmla="val 6486"/>
            </a:avLst>
          </a:prstGeom>
          <a:solidFill>
            <a:schemeClr val="bg2"/>
          </a:solidFill>
          <a:ln w="12700">
            <a:solidFill>
              <a:schemeClr val="bg2"/>
            </a:solidFill>
            <a:prstDash val="solid"/>
          </a:ln>
        </p:spPr>
      </p:sp>
      <p:sp>
        <p:nvSpPr>
          <p:cNvPr id="16" name="Text 14"/>
          <p:cNvSpPr txBox="1"/>
          <p:nvPr/>
        </p:nvSpPr>
        <p:spPr>
          <a:xfrm>
            <a:off x="9281160" y="1645920"/>
            <a:ext cx="2423160" cy="77724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7" name="Text 15"/>
          <p:cNvSpPr txBox="1"/>
          <p:nvPr/>
        </p:nvSpPr>
        <p:spPr>
          <a:xfrm>
            <a:off x="9418320" y="2423160"/>
            <a:ext cx="2148840" cy="640080"/>
          </a:xfrm>
          <a:prstGeom prst="rect">
            <a:avLst/>
          </a:prstGeom>
          <a:noFill/>
          <a:ln/>
        </p:spPr>
        <p:txBody>
          <a:bodyPr wrap="square" lIns="0" tIns="0" rIns="0" bIns="0" rtlCol="0" anchor="t"/>
          <a:lstStyle/>
          <a:p>
            <a:pPr algn="ctr" indent="0" marL="0">
              <a:buNone/>
            </a:pPr>
            <a:r>
              <a:rPr lang="en-US" sz="1300" dirty="0">
                <a:solidFill>
                  <a:schemeClr val="tx1"/>
                </a:solidFill>
              </a:rPr>
              <a:t>módulu (kazu, legál, relatóriu, live…)</a:t>
            </a:r>
            <a:endParaRPr lang="en-US" sz="1300" dirty="0"/>
          </a:p>
        </p:txBody>
      </p:sp>
      <p:sp>
        <p:nvSpPr>
          <p:cNvPr id="18" name="n-2"/>
          <p:cNvSpPr/>
          <p:nvPr/>
        </p:nvSpPr>
        <p:spPr>
          <a:xfrm>
            <a:off x="6675120" y="3383280"/>
            <a:ext cx="2423160" cy="1691640"/>
          </a:xfrm>
          <a:prstGeom prst="roundRect">
            <a:avLst>
              <a:gd name="adj" fmla="val 6486"/>
            </a:avLst>
          </a:prstGeom>
          <a:solidFill>
            <a:schemeClr val="bg2"/>
          </a:solidFill>
          <a:ln w="12700">
            <a:solidFill>
              <a:schemeClr val="bg2"/>
            </a:solidFill>
            <a:prstDash val="solid"/>
          </a:ln>
        </p:spPr>
      </p:sp>
      <p:sp>
        <p:nvSpPr>
          <p:cNvPr id="19" name="Text 17"/>
          <p:cNvSpPr txBox="1"/>
          <p:nvPr/>
        </p:nvSpPr>
        <p:spPr>
          <a:xfrm>
            <a:off x="6675120" y="3566160"/>
            <a:ext cx="2423160" cy="77724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223</a:t>
            </a:r>
            <a:endParaRPr lang="en-US" sz="3600" dirty="0"/>
          </a:p>
        </p:txBody>
      </p:sp>
      <p:sp>
        <p:nvSpPr>
          <p:cNvPr id="20" name="Text 18"/>
          <p:cNvSpPr txBox="1"/>
          <p:nvPr/>
        </p:nvSpPr>
        <p:spPr>
          <a:xfrm>
            <a:off x="6812280" y="4343400"/>
            <a:ext cx="2148840" cy="640080"/>
          </a:xfrm>
          <a:prstGeom prst="rect">
            <a:avLst/>
          </a:prstGeom>
          <a:noFill/>
          <a:ln/>
        </p:spPr>
        <p:txBody>
          <a:bodyPr wrap="square" lIns="0" tIns="0" rIns="0" bIns="0" rtlCol="0" anchor="t"/>
          <a:lstStyle/>
          <a:p>
            <a:pPr algn="ctr" indent="0" marL="0">
              <a:buNone/>
            </a:pPr>
            <a:r>
              <a:rPr lang="en-US" sz="1300" dirty="0">
                <a:solidFill>
                  <a:schemeClr val="tx1"/>
                </a:solidFill>
              </a:rPr>
              <a:t>teste automátiku</a:t>
            </a:r>
            <a:endParaRPr lang="en-US" sz="1300" dirty="0"/>
          </a:p>
        </p:txBody>
      </p:sp>
      <p:sp>
        <p:nvSpPr>
          <p:cNvPr id="21" name="n-3"/>
          <p:cNvSpPr/>
          <p:nvPr/>
        </p:nvSpPr>
        <p:spPr>
          <a:xfrm>
            <a:off x="9281160" y="3383280"/>
            <a:ext cx="2423160" cy="1691640"/>
          </a:xfrm>
          <a:prstGeom prst="roundRect">
            <a:avLst>
              <a:gd name="adj" fmla="val 6486"/>
            </a:avLst>
          </a:prstGeom>
          <a:solidFill>
            <a:schemeClr val="bg2"/>
          </a:solidFill>
          <a:ln w="12700">
            <a:solidFill>
              <a:schemeClr val="bg2"/>
            </a:solidFill>
            <a:prstDash val="solid"/>
          </a:ln>
        </p:spPr>
      </p:sp>
      <p:sp>
        <p:nvSpPr>
          <p:cNvPr id="22" name="Text 20"/>
          <p:cNvSpPr txBox="1"/>
          <p:nvPr/>
        </p:nvSpPr>
        <p:spPr>
          <a:xfrm>
            <a:off x="9281160" y="3566160"/>
            <a:ext cx="2423160" cy="77724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23" name="Text 21"/>
          <p:cNvSpPr txBox="1"/>
          <p:nvPr/>
        </p:nvSpPr>
        <p:spPr>
          <a:xfrm>
            <a:off x="9418320" y="4343400"/>
            <a:ext cx="2148840" cy="640080"/>
          </a:xfrm>
          <a:prstGeom prst="rect">
            <a:avLst/>
          </a:prstGeom>
          <a:noFill/>
          <a:ln/>
        </p:spPr>
        <p:txBody>
          <a:bodyPr wrap="square" lIns="0" tIns="0" rIns="0" bIns="0" rtlCol="0" anchor="t"/>
          <a:lstStyle/>
          <a:p>
            <a:pPr algn="ctr" indent="0" marL="0">
              <a:buNone/>
            </a:pPr>
            <a:r>
              <a:rPr lang="en-US" sz="1300" dirty="0">
                <a:solidFill>
                  <a:schemeClr val="tx1"/>
                </a:solidFill>
              </a:rPr>
              <a:t>lian: Tetun, PT, EN, ID</a:t>
            </a:r>
            <a:endParaRPr lang="en-US" sz="1300" dirty="0"/>
          </a:p>
        </p:txBody>
      </p:sp>
      <p:sp>
        <p:nvSpPr>
          <p:cNvPr id="24" name="Text 22"/>
          <p:cNvSpPr txBox="1"/>
          <p:nvPr/>
        </p:nvSpPr>
        <p:spPr>
          <a:xfrm>
            <a:off x="6675120" y="5394960"/>
            <a:ext cx="4967935" cy="731520"/>
          </a:xfrm>
          <a:prstGeom prst="rect">
            <a:avLst/>
          </a:prstGeom>
          <a:noFill/>
          <a:ln/>
        </p:spPr>
        <p:txBody>
          <a:bodyPr wrap="square" lIns="0" tIns="0" rIns="0" bIns="0" rtlCol="0" anchor="t"/>
          <a:lstStyle/>
          <a:p>
            <a:pPr indent="0" marL="0">
              <a:buNone/>
            </a:pPr>
            <a:r>
              <a:rPr lang="en-US" sz="1400" i="1" dirty="0">
                <a:solidFill>
                  <a:srgbClr val="5E6B66"/>
                </a:solidFill>
              </a:rPr>
              <a:t>Servidór, base de dadus, relatóriu PDF, mapa, notifikasaun no app offline: hotu la'o ho Python.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Tanba sá staf presiza hatene Python?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11:01</a:t>
            </a:r>
            <a:endParaRPr lang="en-US" sz="1200" dirty="0"/>
          </a:p>
        </p:txBody>
      </p:sp>
      <p:sp>
        <p:nvSpPr>
          <p:cNvPr id="5" name="t-0"/>
          <p:cNvSpPr/>
          <p:nvPr/>
        </p:nvSpPr>
        <p:spPr>
          <a:xfrm>
            <a:off x="548640" y="1463040"/>
            <a:ext cx="5410048" cy="2103120"/>
          </a:xfrm>
          <a:prstGeom prst="roundRect">
            <a:avLst>
              <a:gd name="adj" fmla="val 5217"/>
            </a:avLst>
          </a:prstGeom>
          <a:solidFill>
            <a:schemeClr val="bg2"/>
          </a:solidFill>
          <a:ln w="12700">
            <a:solidFill>
              <a:schemeClr val="bg2"/>
            </a:solidFill>
            <a:prstDash val="solid"/>
          </a:ln>
        </p:spPr>
      </p:sp>
      <p:sp>
        <p:nvSpPr>
          <p:cNvPr id="6" name="t-ik-0-sirkulu"/>
          <p:cNvSpPr/>
          <p:nvPr/>
        </p:nvSpPr>
        <p:spPr>
          <a:xfrm>
            <a:off x="868680" y="1965960"/>
            <a:ext cx="1005840" cy="1005840"/>
          </a:xfrm>
          <a:prstGeom prst="ellipse">
            <a:avLst/>
          </a:prstGeom>
          <a:solidFill>
            <a:schemeClr val="accent6"/>
          </a:solidFill>
          <a:ln w="12700">
            <a:solidFill>
              <a:schemeClr val="accent6"/>
            </a:solidFill>
            <a:prstDash val="solid"/>
          </a:ln>
        </p:spPr>
      </p:sp>
      <p:pic>
        <p:nvPicPr>
          <p:cNvPr id="7" name="t-ik-0-ikone" descr="preencoded.png">    </p:cNvPr>
          <p:cNvPicPr>
            <a:picLocks noChangeAspect="1"/>
          </p:cNvPicPr>
          <p:nvPr/>
        </p:nvPicPr>
        <p:blipFill>
          <a:blip r:embed="rId1"/>
          <a:stretch>
            <a:fillRect/>
          </a:stretch>
        </p:blipFill>
        <p:spPr>
          <a:xfrm>
            <a:off x="1110082" y="2207362"/>
            <a:ext cx="523037" cy="523037"/>
          </a:xfrm>
          <a:prstGeom prst="rect">
            <a:avLst/>
          </a:prstGeom>
        </p:spPr>
      </p:pic>
      <p:sp>
        <p:nvSpPr>
          <p:cNvPr id="8" name="Text 5"/>
          <p:cNvSpPr txBox="1"/>
          <p:nvPr/>
        </p:nvSpPr>
        <p:spPr>
          <a:xfrm>
            <a:off x="2148840" y="1828800"/>
            <a:ext cx="3581248" cy="457200"/>
          </a:xfrm>
          <a:prstGeom prst="rect">
            <a:avLst/>
          </a:prstGeom>
          <a:noFill/>
          <a:ln/>
        </p:spPr>
        <p:txBody>
          <a:bodyPr wrap="square" lIns="0" tIns="0" rIns="0" bIns="0" rtlCol="0" anchor="t"/>
          <a:lstStyle/>
          <a:p>
            <a:pPr indent="0" marL="0">
              <a:buNone/>
            </a:pPr>
            <a:r>
              <a:rPr lang="en-US" sz="2000" b="1" dirty="0">
                <a:solidFill>
                  <a:schemeClr val="tx2"/>
                </a:solidFill>
              </a:rPr>
              <a:t>Komprende sistema</a:t>
            </a:r>
            <a:endParaRPr lang="en-US" sz="2000" dirty="0"/>
          </a:p>
        </p:txBody>
      </p:sp>
      <p:sp>
        <p:nvSpPr>
          <p:cNvPr id="9" name="Text 6"/>
          <p:cNvSpPr txBox="1"/>
          <p:nvPr/>
        </p:nvSpPr>
        <p:spPr>
          <a:xfrm>
            <a:off x="2148840" y="2331720"/>
            <a:ext cx="3581248" cy="1097280"/>
          </a:xfrm>
          <a:prstGeom prst="rect">
            <a:avLst/>
          </a:prstGeom>
          <a:noFill/>
          <a:ln/>
        </p:spPr>
        <p:txBody>
          <a:bodyPr wrap="square" lIns="0" tIns="0" rIns="0" bIns="0" rtlCol="0" anchor="t"/>
          <a:lstStyle/>
          <a:p>
            <a:pPr indent="0" marL="0">
              <a:buNone/>
            </a:pPr>
            <a:r>
              <a:rPr lang="en-US" sz="1500" dirty="0">
                <a:solidFill>
                  <a:schemeClr val="tx1"/>
                </a:solidFill>
              </a:rPr>
              <a:t>Hatene oinsá SIBAR-RbR kalkula númeru iha dashboard no relatóriu.</a:t>
            </a:r>
            <a:endParaRPr lang="en-US" sz="1500" dirty="0"/>
          </a:p>
        </p:txBody>
      </p:sp>
      <p:sp>
        <p:nvSpPr>
          <p:cNvPr id="10" name="t-1"/>
          <p:cNvSpPr/>
          <p:nvPr/>
        </p:nvSpPr>
        <p:spPr>
          <a:xfrm>
            <a:off x="6233008" y="1463040"/>
            <a:ext cx="5410048" cy="2103120"/>
          </a:xfrm>
          <a:prstGeom prst="roundRect">
            <a:avLst>
              <a:gd name="adj" fmla="val 5217"/>
            </a:avLst>
          </a:prstGeom>
          <a:solidFill>
            <a:schemeClr val="bg2"/>
          </a:solidFill>
          <a:ln w="12700">
            <a:solidFill>
              <a:schemeClr val="bg2"/>
            </a:solidFill>
            <a:prstDash val="solid"/>
          </a:ln>
        </p:spPr>
      </p:sp>
      <p:sp>
        <p:nvSpPr>
          <p:cNvPr id="11" name="t-ik-1-sirkulu"/>
          <p:cNvSpPr/>
          <p:nvPr/>
        </p:nvSpPr>
        <p:spPr>
          <a:xfrm>
            <a:off x="6553048" y="1965960"/>
            <a:ext cx="1005840" cy="1005840"/>
          </a:xfrm>
          <a:prstGeom prst="ellipse">
            <a:avLst/>
          </a:prstGeom>
          <a:solidFill>
            <a:schemeClr val="accent5"/>
          </a:solidFill>
          <a:ln w="12700">
            <a:solidFill>
              <a:schemeClr val="accent5"/>
            </a:solidFill>
            <a:prstDash val="solid"/>
          </a:ln>
        </p:spPr>
      </p:sp>
      <p:pic>
        <p:nvPicPr>
          <p:cNvPr id="12" name="t-ik-1-ikone" descr="preencoded.png">    </p:cNvPr>
          <p:cNvPicPr>
            <a:picLocks noChangeAspect="1"/>
          </p:cNvPicPr>
          <p:nvPr/>
        </p:nvPicPr>
        <p:blipFill>
          <a:blip r:embed="rId2"/>
          <a:stretch>
            <a:fillRect/>
          </a:stretch>
        </p:blipFill>
        <p:spPr>
          <a:xfrm>
            <a:off x="6794449" y="2207362"/>
            <a:ext cx="523037" cy="523037"/>
          </a:xfrm>
          <a:prstGeom prst="rect">
            <a:avLst/>
          </a:prstGeom>
        </p:spPr>
      </p:pic>
      <p:sp>
        <p:nvSpPr>
          <p:cNvPr id="13" name="Text 9"/>
          <p:cNvSpPr txBox="1"/>
          <p:nvPr/>
        </p:nvSpPr>
        <p:spPr>
          <a:xfrm>
            <a:off x="7833208" y="1828800"/>
            <a:ext cx="3581248" cy="457200"/>
          </a:xfrm>
          <a:prstGeom prst="rect">
            <a:avLst/>
          </a:prstGeom>
          <a:noFill/>
          <a:ln/>
        </p:spPr>
        <p:txBody>
          <a:bodyPr wrap="square" lIns="0" tIns="0" rIns="0" bIns="0" rtlCol="0" anchor="t"/>
          <a:lstStyle/>
          <a:p>
            <a:pPr indent="0" marL="0">
              <a:buNone/>
            </a:pPr>
            <a:r>
              <a:rPr lang="en-US" sz="2000" b="1" dirty="0">
                <a:solidFill>
                  <a:schemeClr val="tx2"/>
                </a:solidFill>
              </a:rPr>
              <a:t>Ko'alia ho ekipa IT</a:t>
            </a:r>
            <a:endParaRPr lang="en-US" sz="2000" dirty="0"/>
          </a:p>
        </p:txBody>
      </p:sp>
      <p:sp>
        <p:nvSpPr>
          <p:cNvPr id="14" name="Text 10"/>
          <p:cNvSpPr txBox="1"/>
          <p:nvPr/>
        </p:nvSpPr>
        <p:spPr>
          <a:xfrm>
            <a:off x="7833208" y="2331720"/>
            <a:ext cx="3581248" cy="1097280"/>
          </a:xfrm>
          <a:prstGeom prst="rect">
            <a:avLst/>
          </a:prstGeom>
          <a:noFill/>
          <a:ln/>
        </p:spPr>
        <p:txBody>
          <a:bodyPr wrap="square" lIns="0" tIns="0" rIns="0" bIns="0" rtlCol="0" anchor="t"/>
          <a:lstStyle/>
          <a:p>
            <a:pPr indent="0" marL="0">
              <a:buNone/>
            </a:pPr>
            <a:r>
              <a:rPr lang="en-US" sz="1500" dirty="0">
                <a:solidFill>
                  <a:schemeClr val="tx1"/>
                </a:solidFill>
              </a:rPr>
              <a:t>Husu mudansa ho klaru: "hau hakarak gráfiku ida ne'ebé konta…"</a:t>
            </a:r>
            <a:endParaRPr lang="en-US" sz="1500" dirty="0"/>
          </a:p>
        </p:txBody>
      </p:sp>
      <p:sp>
        <p:nvSpPr>
          <p:cNvPr id="15" name="t-2"/>
          <p:cNvSpPr/>
          <p:nvPr/>
        </p:nvSpPr>
        <p:spPr>
          <a:xfrm>
            <a:off x="548640" y="3794760"/>
            <a:ext cx="5410048" cy="2103120"/>
          </a:xfrm>
          <a:prstGeom prst="roundRect">
            <a:avLst>
              <a:gd name="adj" fmla="val 5217"/>
            </a:avLst>
          </a:prstGeom>
          <a:solidFill>
            <a:schemeClr val="bg2"/>
          </a:solidFill>
          <a:ln w="12700">
            <a:solidFill>
              <a:schemeClr val="bg2"/>
            </a:solidFill>
            <a:prstDash val="solid"/>
          </a:ln>
        </p:spPr>
      </p:sp>
      <p:sp>
        <p:nvSpPr>
          <p:cNvPr id="16" name="t-ik-2-sirkulu"/>
          <p:cNvSpPr/>
          <p:nvPr/>
        </p:nvSpPr>
        <p:spPr>
          <a:xfrm>
            <a:off x="868680" y="4297680"/>
            <a:ext cx="1005840" cy="1005840"/>
          </a:xfrm>
          <a:prstGeom prst="ellipse">
            <a:avLst/>
          </a:prstGeom>
          <a:solidFill>
            <a:schemeClr val="accent1"/>
          </a:solidFill>
          <a:ln w="12700">
            <a:solidFill>
              <a:schemeClr val="accent1"/>
            </a:solidFill>
            <a:prstDash val="solid"/>
          </a:ln>
        </p:spPr>
      </p:sp>
      <p:pic>
        <p:nvPicPr>
          <p:cNvPr id="17" name="t-ik-2-ikone" descr="preencoded.png">    </p:cNvPr>
          <p:cNvPicPr>
            <a:picLocks noChangeAspect="1"/>
          </p:cNvPicPr>
          <p:nvPr/>
        </p:nvPicPr>
        <p:blipFill>
          <a:blip r:embed="rId3"/>
          <a:stretch>
            <a:fillRect/>
          </a:stretch>
        </p:blipFill>
        <p:spPr>
          <a:xfrm>
            <a:off x="1110082" y="4539082"/>
            <a:ext cx="523037" cy="523037"/>
          </a:xfrm>
          <a:prstGeom prst="rect">
            <a:avLst/>
          </a:prstGeom>
        </p:spPr>
      </p:pic>
      <p:sp>
        <p:nvSpPr>
          <p:cNvPr id="18" name="Text 13"/>
          <p:cNvSpPr txBox="1"/>
          <p:nvPr/>
        </p:nvSpPr>
        <p:spPr>
          <a:xfrm>
            <a:off x="2148840" y="4160520"/>
            <a:ext cx="3581248" cy="457200"/>
          </a:xfrm>
          <a:prstGeom prst="rect">
            <a:avLst/>
          </a:prstGeom>
          <a:noFill/>
          <a:ln/>
        </p:spPr>
        <p:txBody>
          <a:bodyPr wrap="square" lIns="0" tIns="0" rIns="0" bIns="0" rtlCol="0" anchor="t"/>
          <a:lstStyle/>
          <a:p>
            <a:pPr indent="0" marL="0">
              <a:buNone/>
            </a:pPr>
            <a:r>
              <a:rPr lang="en-US" sz="2000" b="1" dirty="0">
                <a:solidFill>
                  <a:schemeClr val="tx2"/>
                </a:solidFill>
              </a:rPr>
              <a:t>Analiza dadus rasik</a:t>
            </a:r>
            <a:endParaRPr lang="en-US" sz="2000" dirty="0"/>
          </a:p>
        </p:txBody>
      </p:sp>
      <p:sp>
        <p:nvSpPr>
          <p:cNvPr id="19" name="Text 14"/>
          <p:cNvSpPr txBox="1"/>
          <p:nvPr/>
        </p:nvSpPr>
        <p:spPr>
          <a:xfrm>
            <a:off x="2148840" y="4663440"/>
            <a:ext cx="3581248" cy="1097280"/>
          </a:xfrm>
          <a:prstGeom prst="rect">
            <a:avLst/>
          </a:prstGeom>
          <a:noFill/>
          <a:ln/>
        </p:spPr>
        <p:txBody>
          <a:bodyPr wrap="square" lIns="0" tIns="0" rIns="0" bIns="0" rtlCol="0" anchor="t"/>
          <a:lstStyle/>
          <a:p>
            <a:pPr indent="0" marL="0">
              <a:buNone/>
            </a:pPr>
            <a:r>
              <a:rPr lang="en-US" sz="1500" dirty="0">
                <a:solidFill>
                  <a:schemeClr val="tx1"/>
                </a:solidFill>
              </a:rPr>
              <a:t>Husi export Excel, halo análize foun ba advokasia.</a:t>
            </a:r>
            <a:endParaRPr lang="en-US" sz="1500" dirty="0"/>
          </a:p>
        </p:txBody>
      </p:sp>
      <p:sp>
        <p:nvSpPr>
          <p:cNvPr id="20" name="t-3"/>
          <p:cNvSpPr/>
          <p:nvPr/>
        </p:nvSpPr>
        <p:spPr>
          <a:xfrm>
            <a:off x="6233008" y="3794760"/>
            <a:ext cx="5410048" cy="2103120"/>
          </a:xfrm>
          <a:prstGeom prst="roundRect">
            <a:avLst>
              <a:gd name="adj" fmla="val 5217"/>
            </a:avLst>
          </a:prstGeom>
          <a:solidFill>
            <a:schemeClr val="bg2"/>
          </a:solidFill>
          <a:ln w="12700">
            <a:solidFill>
              <a:schemeClr val="bg2"/>
            </a:solidFill>
            <a:prstDash val="solid"/>
          </a:ln>
        </p:spPr>
      </p:sp>
      <p:sp>
        <p:nvSpPr>
          <p:cNvPr id="21" name="t-ik-3-sirkulu"/>
          <p:cNvSpPr/>
          <p:nvPr/>
        </p:nvSpPr>
        <p:spPr>
          <a:xfrm>
            <a:off x="6553048" y="4297680"/>
            <a:ext cx="1005840" cy="1005840"/>
          </a:xfrm>
          <a:prstGeom prst="ellipse">
            <a:avLst/>
          </a:prstGeom>
          <a:solidFill>
            <a:schemeClr val="accent3"/>
          </a:solidFill>
          <a:ln w="12700">
            <a:solidFill>
              <a:schemeClr val="accent3"/>
            </a:solidFill>
            <a:prstDash val="solid"/>
          </a:ln>
        </p:spPr>
      </p:sp>
      <p:pic>
        <p:nvPicPr>
          <p:cNvPr id="22" name="t-ik-3-ikone" descr="preencoded.png">    </p:cNvPr>
          <p:cNvPicPr>
            <a:picLocks noChangeAspect="1"/>
          </p:cNvPicPr>
          <p:nvPr/>
        </p:nvPicPr>
        <p:blipFill>
          <a:blip r:embed="rId4"/>
          <a:stretch>
            <a:fillRect/>
          </a:stretch>
        </p:blipFill>
        <p:spPr>
          <a:xfrm>
            <a:off x="6794449" y="4539082"/>
            <a:ext cx="523037" cy="523037"/>
          </a:xfrm>
          <a:prstGeom prst="rect">
            <a:avLst/>
          </a:prstGeom>
        </p:spPr>
      </p:pic>
      <p:sp>
        <p:nvSpPr>
          <p:cNvPr id="23" name="Text 17"/>
          <p:cNvSpPr txBox="1"/>
          <p:nvPr/>
        </p:nvSpPr>
        <p:spPr>
          <a:xfrm>
            <a:off x="7833208" y="4160520"/>
            <a:ext cx="3581248" cy="457200"/>
          </a:xfrm>
          <a:prstGeom prst="rect">
            <a:avLst/>
          </a:prstGeom>
          <a:noFill/>
          <a:ln/>
        </p:spPr>
        <p:txBody>
          <a:bodyPr wrap="square" lIns="0" tIns="0" rIns="0" bIns="0" rtlCol="0" anchor="t"/>
          <a:lstStyle/>
          <a:p>
            <a:pPr indent="0" marL="0">
              <a:buNone/>
            </a:pPr>
            <a:r>
              <a:rPr lang="en-US" sz="2000" b="1" dirty="0">
                <a:solidFill>
                  <a:schemeClr val="tx2"/>
                </a:solidFill>
              </a:rPr>
              <a:t>Sustentabilidade</a:t>
            </a:r>
            <a:endParaRPr lang="en-US" sz="2000" dirty="0"/>
          </a:p>
        </p:txBody>
      </p:sp>
      <p:sp>
        <p:nvSpPr>
          <p:cNvPr id="24" name="Text 18"/>
          <p:cNvSpPr txBox="1"/>
          <p:nvPr/>
        </p:nvSpPr>
        <p:spPr>
          <a:xfrm>
            <a:off x="7833208" y="4663440"/>
            <a:ext cx="3581248" cy="1097280"/>
          </a:xfrm>
          <a:prstGeom prst="rect">
            <a:avLst/>
          </a:prstGeom>
          <a:noFill/>
          <a:ln/>
        </p:spPr>
        <p:txBody>
          <a:bodyPr wrap="square" lIns="0" tIns="0" rIns="0" bIns="0" rtlCol="0" anchor="t"/>
          <a:lstStyle/>
          <a:p>
            <a:pPr indent="0" marL="0">
              <a:buNone/>
            </a:pPr>
            <a:r>
              <a:rPr lang="en-US" sz="1500" dirty="0">
                <a:solidFill>
                  <a:schemeClr val="tx1"/>
                </a:solidFill>
              </a:rPr>
              <a:t>Sistema la depende ba ema ida de'it; koñesimentu fahe iha organizasaun.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Istória jestaun dadus iha Rede ba Rai</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11:06</a:t>
            </a:r>
            <a:endParaRPr lang="en-US" sz="1200" dirty="0"/>
          </a:p>
        </p:txBody>
      </p:sp>
      <p:sp>
        <p:nvSpPr>
          <p:cNvPr id="5" name="ev-l"/>
          <p:cNvSpPr/>
          <p:nvPr/>
        </p:nvSpPr>
        <p:spPr>
          <a:xfrm>
            <a:off x="1658082" y="2103120"/>
            <a:ext cx="8875532" cy="0"/>
          </a:xfrm>
          <a:prstGeom prst="line">
            <a:avLst/>
          </a:prstGeom>
          <a:noFill/>
          <a:ln w="38100">
            <a:solidFill>
              <a:schemeClr val="accent1"/>
            </a:solidFill>
            <a:prstDash val="solid"/>
            <a:tailEnd type="triangle"/>
          </a:ln>
        </p:spPr>
      </p:sp>
      <p:sp>
        <p:nvSpPr>
          <p:cNvPr id="6" name="ev-ik-0-sirkulu"/>
          <p:cNvSpPr/>
          <p:nvPr/>
        </p:nvSpPr>
        <p:spPr>
          <a:xfrm>
            <a:off x="1086582" y="1536192"/>
            <a:ext cx="1143000" cy="1143000"/>
          </a:xfrm>
          <a:prstGeom prst="ellipse">
            <a:avLst/>
          </a:prstGeom>
          <a:solidFill>
            <a:srgbClr val="A3ADB0"/>
          </a:solidFill>
          <a:ln w="12700">
            <a:solidFill>
              <a:srgbClr val="A3ADB0"/>
            </a:solidFill>
            <a:prstDash val="solid"/>
          </a:ln>
        </p:spPr>
      </p:sp>
      <p:pic>
        <p:nvPicPr>
          <p:cNvPr id="7" name="ev-ik-0-ikone" descr="preencoded.png">    </p:cNvPr>
          <p:cNvPicPr>
            <a:picLocks noChangeAspect="1"/>
          </p:cNvPicPr>
          <p:nvPr/>
        </p:nvPicPr>
        <p:blipFill>
          <a:blip r:embed="rId1"/>
          <a:stretch>
            <a:fillRect/>
          </a:stretch>
        </p:blipFill>
        <p:spPr>
          <a:xfrm>
            <a:off x="1360902" y="1810512"/>
            <a:ext cx="594360" cy="594360"/>
          </a:xfrm>
          <a:prstGeom prst="rect">
            <a:avLst/>
          </a:prstGeom>
        </p:spPr>
      </p:pic>
      <p:sp>
        <p:nvSpPr>
          <p:cNvPr id="8" name="ev-n-0"/>
          <p:cNvSpPr/>
          <p:nvPr/>
        </p:nvSpPr>
        <p:spPr>
          <a:xfrm>
            <a:off x="1932402" y="1417320"/>
            <a:ext cx="384048" cy="384048"/>
          </a:xfrm>
          <a:prstGeom prst="ellipse">
            <a:avLst/>
          </a:prstGeom>
          <a:solidFill>
            <a:schemeClr val="tx2"/>
          </a:solidFill>
          <a:ln w="12700">
            <a:solidFill>
              <a:schemeClr val="tx2"/>
            </a:solidFill>
            <a:prstDash val="solid"/>
          </a:ln>
        </p:spPr>
      </p:sp>
      <p:sp>
        <p:nvSpPr>
          <p:cNvPr id="9" name="ev-n-0-n"/>
          <p:cNvSpPr txBox="1"/>
          <p:nvPr/>
        </p:nvSpPr>
        <p:spPr>
          <a:xfrm>
            <a:off x="1932402" y="1417320"/>
            <a:ext cx="384048" cy="384048"/>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0" name="Text 7"/>
          <p:cNvSpPr txBox="1"/>
          <p:nvPr/>
        </p:nvSpPr>
        <p:spPr>
          <a:xfrm>
            <a:off x="594360" y="2834640"/>
            <a:ext cx="2127443" cy="457200"/>
          </a:xfrm>
          <a:prstGeom prst="rect">
            <a:avLst/>
          </a:prstGeom>
          <a:noFill/>
          <a:ln/>
        </p:spPr>
        <p:txBody>
          <a:bodyPr wrap="square" lIns="0" tIns="0" rIns="0" bIns="0" rtlCol="0" anchor="t"/>
          <a:lstStyle/>
          <a:p>
            <a:pPr algn="ctr" indent="0" marL="0">
              <a:buNone/>
            </a:pPr>
            <a:r>
              <a:rPr lang="en-US" sz="1800" b="1" dirty="0">
                <a:solidFill>
                  <a:schemeClr val="tx2"/>
                </a:solidFill>
              </a:rPr>
              <a:t>Surat no papél</a:t>
            </a:r>
            <a:endParaRPr lang="en-US" sz="1800" dirty="0"/>
          </a:p>
        </p:txBody>
      </p:sp>
      <p:sp>
        <p:nvSpPr>
          <p:cNvPr id="11" name="ev-k-0"/>
          <p:cNvSpPr/>
          <p:nvPr/>
        </p:nvSpPr>
        <p:spPr>
          <a:xfrm>
            <a:off x="640080" y="3383280"/>
            <a:ext cx="2036003" cy="1234440"/>
          </a:xfrm>
          <a:prstGeom prst="roundRect">
            <a:avLst>
              <a:gd name="adj" fmla="val 8889"/>
            </a:avLst>
          </a:prstGeom>
          <a:solidFill>
            <a:schemeClr val="bg2"/>
          </a:solidFill>
          <a:ln w="12700">
            <a:solidFill>
              <a:schemeClr val="bg2"/>
            </a:solidFill>
            <a:prstDash val="solid"/>
          </a:ln>
        </p:spPr>
      </p:sp>
      <p:sp>
        <p:nvSpPr>
          <p:cNvPr id="12" name="Text 9"/>
          <p:cNvSpPr txBox="1"/>
          <p:nvPr/>
        </p:nvSpPr>
        <p:spPr>
          <a:xfrm>
            <a:off x="731520" y="3429000"/>
            <a:ext cx="1853123" cy="1143000"/>
          </a:xfrm>
          <a:prstGeom prst="rect">
            <a:avLst/>
          </a:prstGeom>
          <a:noFill/>
          <a:ln/>
        </p:spPr>
        <p:txBody>
          <a:bodyPr wrap="square" lIns="0" tIns="0" rIns="0" bIns="0" rtlCol="0" anchor="ctr"/>
          <a:lstStyle/>
          <a:p>
            <a:pPr algn="ctr" indent="0" marL="0">
              <a:buNone/>
            </a:pPr>
            <a:r>
              <a:rPr lang="en-US" sz="1300" dirty="0">
                <a:solidFill>
                  <a:schemeClr val="tx1"/>
                </a:solidFill>
              </a:rPr>
              <a:t>Kazu rejista iha surat, livru no arkivu papél.</a:t>
            </a:r>
            <a:endParaRPr lang="en-US" sz="1300" dirty="0"/>
          </a:p>
        </p:txBody>
      </p:sp>
      <p:sp>
        <p:nvSpPr>
          <p:cNvPr id="13" name="ev-d-0"/>
          <p:cNvSpPr/>
          <p:nvPr/>
        </p:nvSpPr>
        <p:spPr>
          <a:xfrm>
            <a:off x="640080" y="4754880"/>
            <a:ext cx="2036003" cy="1188720"/>
          </a:xfrm>
          <a:prstGeom prst="roundRect">
            <a:avLst>
              <a:gd name="adj" fmla="val 9231"/>
            </a:avLst>
          </a:prstGeom>
          <a:solidFill>
            <a:srgbClr val="FBEFEA"/>
          </a:solidFill>
          <a:ln w="12700">
            <a:solidFill>
              <a:srgbClr val="FBEFEA"/>
            </a:solidFill>
            <a:prstDash val="solid"/>
          </a:ln>
        </p:spPr>
      </p:sp>
      <p:sp>
        <p:nvSpPr>
          <p:cNvPr id="14" name="Text 11"/>
          <p:cNvSpPr txBox="1"/>
          <p:nvPr/>
        </p:nvSpPr>
        <p:spPr>
          <a:xfrm>
            <a:off x="731520" y="4800600"/>
            <a:ext cx="1853123" cy="1097280"/>
          </a:xfrm>
          <a:prstGeom prst="rect">
            <a:avLst/>
          </a:prstGeom>
          <a:noFill/>
          <a:ln/>
        </p:spPr>
        <p:txBody>
          <a:bodyPr wrap="square" lIns="0" tIns="0" rIns="0" bIns="0" rtlCol="0" anchor="ctr"/>
          <a:lstStyle/>
          <a:p>
            <a:pPr algn="ctr" indent="0" marL="0">
              <a:buNone/>
            </a:pPr>
            <a:r>
              <a:rPr lang="en-US" sz="1250" dirty="0">
                <a:solidFill>
                  <a:srgbClr val="A0452E"/>
                </a:solidFill>
              </a:rPr>
              <a:t>Fásil lakon; susar buka; la iha kópia</a:t>
            </a:r>
            <a:endParaRPr lang="en-US" sz="1250" dirty="0"/>
          </a:p>
        </p:txBody>
      </p:sp>
      <p:sp>
        <p:nvSpPr>
          <p:cNvPr id="15" name="ev-ik-1-sirkulu"/>
          <p:cNvSpPr/>
          <p:nvPr/>
        </p:nvSpPr>
        <p:spPr>
          <a:xfrm>
            <a:off x="3305465" y="1536192"/>
            <a:ext cx="1143000" cy="1143000"/>
          </a:xfrm>
          <a:prstGeom prst="ellipse">
            <a:avLst/>
          </a:prstGeom>
          <a:solidFill>
            <a:schemeClr val="accent5"/>
          </a:solidFill>
          <a:ln w="12700">
            <a:solidFill>
              <a:schemeClr val="accent5"/>
            </a:solidFill>
            <a:prstDash val="solid"/>
          </a:ln>
        </p:spPr>
      </p:sp>
      <p:pic>
        <p:nvPicPr>
          <p:cNvPr id="16" name="ev-ik-1-ikone" descr="preencoded.png">    </p:cNvPr>
          <p:cNvPicPr>
            <a:picLocks noChangeAspect="1"/>
          </p:cNvPicPr>
          <p:nvPr/>
        </p:nvPicPr>
        <p:blipFill>
          <a:blip r:embed="rId2"/>
          <a:stretch>
            <a:fillRect/>
          </a:stretch>
        </p:blipFill>
        <p:spPr>
          <a:xfrm>
            <a:off x="3579785" y="1810512"/>
            <a:ext cx="594360" cy="594360"/>
          </a:xfrm>
          <a:prstGeom prst="rect">
            <a:avLst/>
          </a:prstGeom>
        </p:spPr>
      </p:pic>
      <p:sp>
        <p:nvSpPr>
          <p:cNvPr id="17" name="ev-n-1"/>
          <p:cNvSpPr/>
          <p:nvPr/>
        </p:nvSpPr>
        <p:spPr>
          <a:xfrm>
            <a:off x="4151285" y="1417320"/>
            <a:ext cx="384048" cy="384048"/>
          </a:xfrm>
          <a:prstGeom prst="ellipse">
            <a:avLst/>
          </a:prstGeom>
          <a:solidFill>
            <a:schemeClr val="tx2"/>
          </a:solidFill>
          <a:ln w="12700">
            <a:solidFill>
              <a:schemeClr val="tx2"/>
            </a:solidFill>
            <a:prstDash val="solid"/>
          </a:ln>
        </p:spPr>
      </p:sp>
      <p:sp>
        <p:nvSpPr>
          <p:cNvPr id="18" name="ev-n-1-n"/>
          <p:cNvSpPr txBox="1"/>
          <p:nvPr/>
        </p:nvSpPr>
        <p:spPr>
          <a:xfrm>
            <a:off x="4151285" y="1417320"/>
            <a:ext cx="384048" cy="384048"/>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9" name="Text 15"/>
          <p:cNvSpPr txBox="1"/>
          <p:nvPr/>
        </p:nvSpPr>
        <p:spPr>
          <a:xfrm>
            <a:off x="2813243" y="2834640"/>
            <a:ext cx="2127443" cy="457200"/>
          </a:xfrm>
          <a:prstGeom prst="rect">
            <a:avLst/>
          </a:prstGeom>
          <a:noFill/>
          <a:ln/>
        </p:spPr>
        <p:txBody>
          <a:bodyPr wrap="square" lIns="0" tIns="0" rIns="0" bIns="0" rtlCol="0" anchor="t"/>
          <a:lstStyle/>
          <a:p>
            <a:pPr algn="ctr" indent="0" marL="0">
              <a:buNone/>
            </a:pPr>
            <a:r>
              <a:rPr lang="en-US" sz="1800" b="1" dirty="0">
                <a:solidFill>
                  <a:schemeClr val="tx2"/>
                </a:solidFill>
              </a:rPr>
              <a:t>Word</a:t>
            </a:r>
            <a:endParaRPr lang="en-US" sz="1800" dirty="0"/>
          </a:p>
        </p:txBody>
      </p:sp>
      <p:sp>
        <p:nvSpPr>
          <p:cNvPr id="20" name="ev-k-1"/>
          <p:cNvSpPr/>
          <p:nvPr/>
        </p:nvSpPr>
        <p:spPr>
          <a:xfrm>
            <a:off x="2858963" y="3383280"/>
            <a:ext cx="2036003" cy="1234440"/>
          </a:xfrm>
          <a:prstGeom prst="roundRect">
            <a:avLst>
              <a:gd name="adj" fmla="val 8889"/>
            </a:avLst>
          </a:prstGeom>
          <a:solidFill>
            <a:schemeClr val="bg2"/>
          </a:solidFill>
          <a:ln w="12700">
            <a:solidFill>
              <a:schemeClr val="bg2"/>
            </a:solidFill>
            <a:prstDash val="solid"/>
          </a:ln>
        </p:spPr>
      </p:sp>
      <p:sp>
        <p:nvSpPr>
          <p:cNvPr id="21" name="Text 17"/>
          <p:cNvSpPr txBox="1"/>
          <p:nvPr/>
        </p:nvSpPr>
        <p:spPr>
          <a:xfrm>
            <a:off x="2950403" y="3429000"/>
            <a:ext cx="1853123" cy="1143000"/>
          </a:xfrm>
          <a:prstGeom prst="rect">
            <a:avLst/>
          </a:prstGeom>
          <a:noFill/>
          <a:ln/>
        </p:spPr>
        <p:txBody>
          <a:bodyPr wrap="square" lIns="0" tIns="0" rIns="0" bIns="0" rtlCol="0" anchor="ctr"/>
          <a:lstStyle/>
          <a:p>
            <a:pPr algn="ctr" indent="0" marL="0">
              <a:buNone/>
            </a:pPr>
            <a:r>
              <a:rPr lang="en-US" sz="1300" dirty="0">
                <a:solidFill>
                  <a:schemeClr val="tx1"/>
                </a:solidFill>
              </a:rPr>
              <a:t>Relatóriu kazu iha dokumentu Word.</a:t>
            </a:r>
            <a:endParaRPr lang="en-US" sz="1300" dirty="0"/>
          </a:p>
        </p:txBody>
      </p:sp>
      <p:sp>
        <p:nvSpPr>
          <p:cNvPr id="22" name="ev-d-1"/>
          <p:cNvSpPr/>
          <p:nvPr/>
        </p:nvSpPr>
        <p:spPr>
          <a:xfrm>
            <a:off x="2858963" y="4754880"/>
            <a:ext cx="2036003" cy="1188720"/>
          </a:xfrm>
          <a:prstGeom prst="roundRect">
            <a:avLst>
              <a:gd name="adj" fmla="val 9231"/>
            </a:avLst>
          </a:prstGeom>
          <a:solidFill>
            <a:srgbClr val="FBEFEA"/>
          </a:solidFill>
          <a:ln w="12700">
            <a:solidFill>
              <a:srgbClr val="FBEFEA"/>
            </a:solidFill>
            <a:prstDash val="solid"/>
          </a:ln>
        </p:spPr>
      </p:sp>
      <p:sp>
        <p:nvSpPr>
          <p:cNvPr id="23" name="Text 19"/>
          <p:cNvSpPr txBox="1"/>
          <p:nvPr/>
        </p:nvSpPr>
        <p:spPr>
          <a:xfrm>
            <a:off x="2950403" y="4800600"/>
            <a:ext cx="1853123" cy="1097280"/>
          </a:xfrm>
          <a:prstGeom prst="rect">
            <a:avLst/>
          </a:prstGeom>
          <a:noFill/>
          <a:ln/>
        </p:spPr>
        <p:txBody>
          <a:bodyPr wrap="square" lIns="0" tIns="0" rIns="0" bIns="0" rtlCol="0" anchor="ctr"/>
          <a:lstStyle/>
          <a:p>
            <a:pPr algn="ctr" indent="0" marL="0">
              <a:buNone/>
            </a:pPr>
            <a:r>
              <a:rPr lang="en-US" sz="1250" dirty="0">
                <a:solidFill>
                  <a:srgbClr val="A0452E"/>
                </a:solidFill>
              </a:rPr>
              <a:t>Dokumentu barak; dadus la hamutuk</a:t>
            </a:r>
            <a:endParaRPr lang="en-US" sz="1250" dirty="0"/>
          </a:p>
        </p:txBody>
      </p:sp>
      <p:sp>
        <p:nvSpPr>
          <p:cNvPr id="24" name="ev-ik-2-sirkulu"/>
          <p:cNvSpPr/>
          <p:nvPr/>
        </p:nvSpPr>
        <p:spPr>
          <a:xfrm>
            <a:off x="5524348" y="1536192"/>
            <a:ext cx="1143000" cy="1143000"/>
          </a:xfrm>
          <a:prstGeom prst="ellipse">
            <a:avLst/>
          </a:prstGeom>
          <a:solidFill>
            <a:schemeClr val="accent1"/>
          </a:solidFill>
          <a:ln w="12700">
            <a:solidFill>
              <a:schemeClr val="accent1"/>
            </a:solidFill>
            <a:prstDash val="solid"/>
          </a:ln>
        </p:spPr>
      </p:sp>
      <p:pic>
        <p:nvPicPr>
          <p:cNvPr id="25" name="ev-ik-2-ikone" descr="preencoded.png">    </p:cNvPr>
          <p:cNvPicPr>
            <a:picLocks noChangeAspect="1"/>
          </p:cNvPicPr>
          <p:nvPr/>
        </p:nvPicPr>
        <p:blipFill>
          <a:blip r:embed="rId3"/>
          <a:stretch>
            <a:fillRect/>
          </a:stretch>
        </p:blipFill>
        <p:spPr>
          <a:xfrm>
            <a:off x="5798668" y="1810512"/>
            <a:ext cx="594360" cy="594360"/>
          </a:xfrm>
          <a:prstGeom prst="rect">
            <a:avLst/>
          </a:prstGeom>
        </p:spPr>
      </p:pic>
      <p:sp>
        <p:nvSpPr>
          <p:cNvPr id="26" name="ev-n-2"/>
          <p:cNvSpPr/>
          <p:nvPr/>
        </p:nvSpPr>
        <p:spPr>
          <a:xfrm>
            <a:off x="6370168" y="1417320"/>
            <a:ext cx="384048" cy="384048"/>
          </a:xfrm>
          <a:prstGeom prst="ellipse">
            <a:avLst/>
          </a:prstGeom>
          <a:solidFill>
            <a:schemeClr val="tx2"/>
          </a:solidFill>
          <a:ln w="12700">
            <a:solidFill>
              <a:schemeClr val="tx2"/>
            </a:solidFill>
            <a:prstDash val="solid"/>
          </a:ln>
        </p:spPr>
      </p:sp>
      <p:sp>
        <p:nvSpPr>
          <p:cNvPr id="27" name="ev-n-2-n"/>
          <p:cNvSpPr txBox="1"/>
          <p:nvPr/>
        </p:nvSpPr>
        <p:spPr>
          <a:xfrm>
            <a:off x="6370168" y="1417320"/>
            <a:ext cx="384048" cy="384048"/>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8" name="Text 23"/>
          <p:cNvSpPr txBox="1"/>
          <p:nvPr/>
        </p:nvSpPr>
        <p:spPr>
          <a:xfrm>
            <a:off x="5032126" y="2834640"/>
            <a:ext cx="2127443" cy="457200"/>
          </a:xfrm>
          <a:prstGeom prst="rect">
            <a:avLst/>
          </a:prstGeom>
          <a:noFill/>
          <a:ln/>
        </p:spPr>
        <p:txBody>
          <a:bodyPr wrap="square" lIns="0" tIns="0" rIns="0" bIns="0" rtlCol="0" anchor="t"/>
          <a:lstStyle/>
          <a:p>
            <a:pPr algn="ctr" indent="0" marL="0">
              <a:buNone/>
            </a:pPr>
            <a:r>
              <a:rPr lang="en-US" sz="1800" b="1" dirty="0">
                <a:solidFill>
                  <a:schemeClr val="tx2"/>
                </a:solidFill>
              </a:rPr>
              <a:t>Excel</a:t>
            </a:r>
            <a:endParaRPr lang="en-US" sz="1800" dirty="0"/>
          </a:p>
        </p:txBody>
      </p:sp>
      <p:sp>
        <p:nvSpPr>
          <p:cNvPr id="29" name="ev-k-2"/>
          <p:cNvSpPr/>
          <p:nvPr/>
        </p:nvSpPr>
        <p:spPr>
          <a:xfrm>
            <a:off x="5077846" y="3383280"/>
            <a:ext cx="2036003" cy="1234440"/>
          </a:xfrm>
          <a:prstGeom prst="roundRect">
            <a:avLst>
              <a:gd name="adj" fmla="val 8889"/>
            </a:avLst>
          </a:prstGeom>
          <a:solidFill>
            <a:schemeClr val="bg2"/>
          </a:solidFill>
          <a:ln w="12700">
            <a:solidFill>
              <a:schemeClr val="bg2"/>
            </a:solidFill>
            <a:prstDash val="solid"/>
          </a:ln>
        </p:spPr>
      </p:sp>
      <p:sp>
        <p:nvSpPr>
          <p:cNvPr id="30" name="Text 25"/>
          <p:cNvSpPr txBox="1"/>
          <p:nvPr/>
        </p:nvSpPr>
        <p:spPr>
          <a:xfrm>
            <a:off x="5169286" y="3429000"/>
            <a:ext cx="1853123" cy="1143000"/>
          </a:xfrm>
          <a:prstGeom prst="rect">
            <a:avLst/>
          </a:prstGeom>
          <a:noFill/>
          <a:ln/>
        </p:spPr>
        <p:txBody>
          <a:bodyPr wrap="square" lIns="0" tIns="0" rIns="0" bIns="0" rtlCol="0" anchor="ctr"/>
          <a:lstStyle/>
          <a:p>
            <a:pPr algn="ctr" indent="0" marL="0">
              <a:buNone/>
            </a:pPr>
            <a:r>
              <a:rPr lang="en-US" sz="1300" dirty="0">
                <a:solidFill>
                  <a:schemeClr val="tx1"/>
                </a:solidFill>
              </a:rPr>
              <a:t>Tabela kazu; bele konta no filtra.</a:t>
            </a:r>
            <a:endParaRPr lang="en-US" sz="1300" dirty="0"/>
          </a:p>
        </p:txBody>
      </p:sp>
      <p:sp>
        <p:nvSpPr>
          <p:cNvPr id="31" name="ev-d-2"/>
          <p:cNvSpPr/>
          <p:nvPr/>
        </p:nvSpPr>
        <p:spPr>
          <a:xfrm>
            <a:off x="5077846" y="4754880"/>
            <a:ext cx="2036003" cy="1188720"/>
          </a:xfrm>
          <a:prstGeom prst="roundRect">
            <a:avLst>
              <a:gd name="adj" fmla="val 9231"/>
            </a:avLst>
          </a:prstGeom>
          <a:solidFill>
            <a:srgbClr val="FBEFEA"/>
          </a:solidFill>
          <a:ln w="12700">
            <a:solidFill>
              <a:srgbClr val="FBEFEA"/>
            </a:solidFill>
            <a:prstDash val="solid"/>
          </a:ln>
        </p:spPr>
      </p:sp>
      <p:sp>
        <p:nvSpPr>
          <p:cNvPr id="32" name="Text 27"/>
          <p:cNvSpPr txBox="1"/>
          <p:nvPr/>
        </p:nvSpPr>
        <p:spPr>
          <a:xfrm>
            <a:off x="5169286" y="4800600"/>
            <a:ext cx="1853123" cy="1097280"/>
          </a:xfrm>
          <a:prstGeom prst="rect">
            <a:avLst/>
          </a:prstGeom>
          <a:noFill/>
          <a:ln/>
        </p:spPr>
        <p:txBody>
          <a:bodyPr wrap="square" lIns="0" tIns="0" rIns="0" bIns="0" rtlCol="0" anchor="ctr"/>
          <a:lstStyle/>
          <a:p>
            <a:pPr algn="ctr" indent="0" marL="0">
              <a:buNone/>
            </a:pPr>
            <a:r>
              <a:rPr lang="en-US" sz="1250" dirty="0">
                <a:solidFill>
                  <a:srgbClr val="A0452E"/>
                </a:solidFill>
              </a:rPr>
              <a:t>Versaun barak; manuál; kopia sala</a:t>
            </a:r>
            <a:endParaRPr lang="en-US" sz="1250" dirty="0"/>
          </a:p>
        </p:txBody>
      </p:sp>
      <p:sp>
        <p:nvSpPr>
          <p:cNvPr id="33" name="ev-ik-3-sirkulu"/>
          <p:cNvSpPr/>
          <p:nvPr/>
        </p:nvSpPr>
        <p:spPr>
          <a:xfrm>
            <a:off x="7743231" y="1536192"/>
            <a:ext cx="1143000" cy="1143000"/>
          </a:xfrm>
          <a:prstGeom prst="ellipse">
            <a:avLst/>
          </a:prstGeom>
          <a:solidFill>
            <a:schemeClr val="accent3"/>
          </a:solidFill>
          <a:ln w="12700">
            <a:solidFill>
              <a:schemeClr val="accent3"/>
            </a:solidFill>
            <a:prstDash val="solid"/>
          </a:ln>
        </p:spPr>
      </p:sp>
      <p:pic>
        <p:nvPicPr>
          <p:cNvPr id="34" name="ev-ik-3-ikone" descr="preencoded.png">    </p:cNvPr>
          <p:cNvPicPr>
            <a:picLocks noChangeAspect="1"/>
          </p:cNvPicPr>
          <p:nvPr/>
        </p:nvPicPr>
        <p:blipFill>
          <a:blip r:embed="rId4"/>
          <a:stretch>
            <a:fillRect/>
          </a:stretch>
        </p:blipFill>
        <p:spPr>
          <a:xfrm>
            <a:off x="8017551" y="1810512"/>
            <a:ext cx="594360" cy="594360"/>
          </a:xfrm>
          <a:prstGeom prst="rect">
            <a:avLst/>
          </a:prstGeom>
        </p:spPr>
      </p:pic>
      <p:sp>
        <p:nvSpPr>
          <p:cNvPr id="35" name="ev-n-3"/>
          <p:cNvSpPr/>
          <p:nvPr/>
        </p:nvSpPr>
        <p:spPr>
          <a:xfrm>
            <a:off x="8589051" y="1417320"/>
            <a:ext cx="384048" cy="384048"/>
          </a:xfrm>
          <a:prstGeom prst="ellipse">
            <a:avLst/>
          </a:prstGeom>
          <a:solidFill>
            <a:schemeClr val="tx2"/>
          </a:solidFill>
          <a:ln w="12700">
            <a:solidFill>
              <a:schemeClr val="tx2"/>
            </a:solidFill>
            <a:prstDash val="solid"/>
          </a:ln>
        </p:spPr>
      </p:sp>
      <p:sp>
        <p:nvSpPr>
          <p:cNvPr id="36" name="ev-n-3-n"/>
          <p:cNvSpPr txBox="1"/>
          <p:nvPr/>
        </p:nvSpPr>
        <p:spPr>
          <a:xfrm>
            <a:off x="8589051" y="1417320"/>
            <a:ext cx="384048" cy="384048"/>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7" name="Text 31"/>
          <p:cNvSpPr txBox="1"/>
          <p:nvPr/>
        </p:nvSpPr>
        <p:spPr>
          <a:xfrm>
            <a:off x="7251009" y="2834640"/>
            <a:ext cx="2127443" cy="457200"/>
          </a:xfrm>
          <a:prstGeom prst="rect">
            <a:avLst/>
          </a:prstGeom>
          <a:noFill/>
          <a:ln/>
        </p:spPr>
        <p:txBody>
          <a:bodyPr wrap="square" lIns="0" tIns="0" rIns="0" bIns="0" rtlCol="0" anchor="t"/>
          <a:lstStyle/>
          <a:p>
            <a:pPr algn="ctr" indent="0" marL="0">
              <a:buNone/>
            </a:pPr>
            <a:r>
              <a:rPr lang="en-US" sz="1800" b="1" dirty="0">
                <a:solidFill>
                  <a:schemeClr val="tx2"/>
                </a:solidFill>
              </a:rPr>
              <a:t>Airtable</a:t>
            </a:r>
            <a:endParaRPr lang="en-US" sz="1800" dirty="0"/>
          </a:p>
        </p:txBody>
      </p:sp>
      <p:sp>
        <p:nvSpPr>
          <p:cNvPr id="38" name="ev-k-3"/>
          <p:cNvSpPr/>
          <p:nvPr/>
        </p:nvSpPr>
        <p:spPr>
          <a:xfrm>
            <a:off x="7296729" y="3383280"/>
            <a:ext cx="2036003" cy="1234440"/>
          </a:xfrm>
          <a:prstGeom prst="roundRect">
            <a:avLst>
              <a:gd name="adj" fmla="val 8889"/>
            </a:avLst>
          </a:prstGeom>
          <a:solidFill>
            <a:schemeClr val="bg2"/>
          </a:solidFill>
          <a:ln w="12700">
            <a:solidFill>
              <a:schemeClr val="bg2"/>
            </a:solidFill>
            <a:prstDash val="solid"/>
          </a:ln>
        </p:spPr>
      </p:sp>
      <p:sp>
        <p:nvSpPr>
          <p:cNvPr id="39" name="Text 33"/>
          <p:cNvSpPr txBox="1"/>
          <p:nvPr/>
        </p:nvSpPr>
        <p:spPr>
          <a:xfrm>
            <a:off x="7388169" y="3429000"/>
            <a:ext cx="1853123" cy="1143000"/>
          </a:xfrm>
          <a:prstGeom prst="rect">
            <a:avLst/>
          </a:prstGeom>
          <a:noFill/>
          <a:ln/>
        </p:spPr>
        <p:txBody>
          <a:bodyPr wrap="square" lIns="0" tIns="0" rIns="0" bIns="0" rtlCol="0" anchor="ctr"/>
          <a:lstStyle/>
          <a:p>
            <a:pPr algn="ctr" indent="0" marL="0">
              <a:buNone/>
            </a:pPr>
            <a:r>
              <a:rPr lang="en-US" sz="1300" dirty="0">
                <a:solidFill>
                  <a:schemeClr val="tx1"/>
                </a:solidFill>
              </a:rPr>
              <a:t>Baze Central "Kazu Hotu" online.</a:t>
            </a:r>
            <a:endParaRPr lang="en-US" sz="1300" dirty="0"/>
          </a:p>
        </p:txBody>
      </p:sp>
      <p:sp>
        <p:nvSpPr>
          <p:cNvPr id="40" name="ev-d-3"/>
          <p:cNvSpPr/>
          <p:nvPr/>
        </p:nvSpPr>
        <p:spPr>
          <a:xfrm>
            <a:off x="7296729" y="4754880"/>
            <a:ext cx="2036003" cy="1188720"/>
          </a:xfrm>
          <a:prstGeom prst="roundRect">
            <a:avLst>
              <a:gd name="adj" fmla="val 9231"/>
            </a:avLst>
          </a:prstGeom>
          <a:solidFill>
            <a:srgbClr val="FBEFEA"/>
          </a:solidFill>
          <a:ln w="12700">
            <a:solidFill>
              <a:srgbClr val="FBEFEA"/>
            </a:solidFill>
            <a:prstDash val="solid"/>
          </a:ln>
        </p:spPr>
      </p:sp>
      <p:sp>
        <p:nvSpPr>
          <p:cNvPr id="41" name="Text 35"/>
          <p:cNvSpPr txBox="1"/>
          <p:nvPr/>
        </p:nvSpPr>
        <p:spPr>
          <a:xfrm>
            <a:off x="7388169" y="4800600"/>
            <a:ext cx="1853123" cy="1097280"/>
          </a:xfrm>
          <a:prstGeom prst="rect">
            <a:avLst/>
          </a:prstGeom>
          <a:noFill/>
          <a:ln/>
        </p:spPr>
        <p:txBody>
          <a:bodyPr wrap="square" lIns="0" tIns="0" rIns="0" bIns="0" rtlCol="0" anchor="ctr"/>
          <a:lstStyle/>
          <a:p>
            <a:pPr algn="ctr" indent="0" marL="0">
              <a:buNone/>
            </a:pPr>
            <a:r>
              <a:rPr lang="en-US" sz="1250" dirty="0">
                <a:solidFill>
                  <a:srgbClr val="A0452E"/>
                </a:solidFill>
              </a:rPr>
              <a:t>Selu; dadus iha sistema estranjeiru</a:t>
            </a:r>
            <a:endParaRPr lang="en-US" sz="1250" dirty="0"/>
          </a:p>
        </p:txBody>
      </p:sp>
      <p:sp>
        <p:nvSpPr>
          <p:cNvPr id="42" name="ev-ik-4-sirkulu"/>
          <p:cNvSpPr/>
          <p:nvPr/>
        </p:nvSpPr>
        <p:spPr>
          <a:xfrm>
            <a:off x="9962114" y="1536192"/>
            <a:ext cx="1143000" cy="1143000"/>
          </a:xfrm>
          <a:prstGeom prst="ellipse">
            <a:avLst/>
          </a:prstGeom>
          <a:solidFill>
            <a:schemeClr val="accent6"/>
          </a:solidFill>
          <a:ln w="12700">
            <a:solidFill>
              <a:schemeClr val="accent6"/>
            </a:solidFill>
            <a:prstDash val="solid"/>
          </a:ln>
        </p:spPr>
      </p:sp>
      <p:pic>
        <p:nvPicPr>
          <p:cNvPr id="43" name="ev-ik-4-ikone" descr="preencoded.png">    </p:cNvPr>
          <p:cNvPicPr>
            <a:picLocks noChangeAspect="1"/>
          </p:cNvPicPr>
          <p:nvPr/>
        </p:nvPicPr>
        <p:blipFill>
          <a:blip r:embed="rId5"/>
          <a:stretch>
            <a:fillRect/>
          </a:stretch>
        </p:blipFill>
        <p:spPr>
          <a:xfrm>
            <a:off x="10236434" y="1810512"/>
            <a:ext cx="594360" cy="594360"/>
          </a:xfrm>
          <a:prstGeom prst="rect">
            <a:avLst/>
          </a:prstGeom>
        </p:spPr>
      </p:pic>
      <p:sp>
        <p:nvSpPr>
          <p:cNvPr id="44" name="ev-n-4"/>
          <p:cNvSpPr/>
          <p:nvPr/>
        </p:nvSpPr>
        <p:spPr>
          <a:xfrm>
            <a:off x="10807934" y="1417320"/>
            <a:ext cx="384048" cy="384048"/>
          </a:xfrm>
          <a:prstGeom prst="ellipse">
            <a:avLst/>
          </a:prstGeom>
          <a:solidFill>
            <a:schemeClr val="tx2"/>
          </a:solidFill>
          <a:ln w="12700">
            <a:solidFill>
              <a:schemeClr val="tx2"/>
            </a:solidFill>
            <a:prstDash val="solid"/>
          </a:ln>
        </p:spPr>
      </p:sp>
      <p:sp>
        <p:nvSpPr>
          <p:cNvPr id="45" name="ev-n-4-n"/>
          <p:cNvSpPr txBox="1"/>
          <p:nvPr/>
        </p:nvSpPr>
        <p:spPr>
          <a:xfrm>
            <a:off x="10807934" y="1417320"/>
            <a:ext cx="384048" cy="384048"/>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46" name="Text 39"/>
          <p:cNvSpPr txBox="1"/>
          <p:nvPr/>
        </p:nvSpPr>
        <p:spPr>
          <a:xfrm>
            <a:off x="9469892" y="2834640"/>
            <a:ext cx="2127443" cy="457200"/>
          </a:xfrm>
          <a:prstGeom prst="rect">
            <a:avLst/>
          </a:prstGeom>
          <a:noFill/>
          <a:ln/>
        </p:spPr>
        <p:txBody>
          <a:bodyPr wrap="square" lIns="0" tIns="0" rIns="0" bIns="0" rtlCol="0" anchor="t"/>
          <a:lstStyle/>
          <a:p>
            <a:pPr algn="ctr" indent="0" marL="0">
              <a:buNone/>
            </a:pPr>
            <a:r>
              <a:rPr lang="en-US" sz="1800" b="1" dirty="0">
                <a:solidFill>
                  <a:schemeClr val="tx2"/>
                </a:solidFill>
              </a:rPr>
              <a:t>SIBAR-RbR</a:t>
            </a:r>
            <a:endParaRPr lang="en-US" sz="1800" dirty="0"/>
          </a:p>
        </p:txBody>
      </p:sp>
      <p:sp>
        <p:nvSpPr>
          <p:cNvPr id="47" name="ev-k-4"/>
          <p:cNvSpPr/>
          <p:nvPr/>
        </p:nvSpPr>
        <p:spPr>
          <a:xfrm>
            <a:off x="9515612" y="3383280"/>
            <a:ext cx="2036003" cy="1234440"/>
          </a:xfrm>
          <a:prstGeom prst="roundRect">
            <a:avLst>
              <a:gd name="adj" fmla="val 8889"/>
            </a:avLst>
          </a:prstGeom>
          <a:solidFill>
            <a:schemeClr val="bg2"/>
          </a:solidFill>
          <a:ln w="12700">
            <a:solidFill>
              <a:schemeClr val="bg2"/>
            </a:solidFill>
            <a:prstDash val="solid"/>
          </a:ln>
        </p:spPr>
      </p:sp>
      <p:sp>
        <p:nvSpPr>
          <p:cNvPr id="48" name="Text 41"/>
          <p:cNvSpPr txBox="1"/>
          <p:nvPr/>
        </p:nvSpPr>
        <p:spPr>
          <a:xfrm>
            <a:off x="9607052" y="3429000"/>
            <a:ext cx="1853123" cy="1143000"/>
          </a:xfrm>
          <a:prstGeom prst="rect">
            <a:avLst/>
          </a:prstGeom>
          <a:noFill/>
          <a:ln/>
        </p:spPr>
        <p:txBody>
          <a:bodyPr wrap="square" lIns="0" tIns="0" rIns="0" bIns="0" rtlCol="0" anchor="ctr"/>
          <a:lstStyle/>
          <a:p>
            <a:pPr algn="ctr" indent="0" marL="0">
              <a:buNone/>
            </a:pPr>
            <a:r>
              <a:rPr lang="en-US" sz="1300" dirty="0">
                <a:solidFill>
                  <a:schemeClr val="tx1"/>
                </a:solidFill>
              </a:rPr>
              <a:t>Sistema rasik: online, offline, mapa, live.</a:t>
            </a:r>
            <a:endParaRPr lang="en-US" sz="1300" dirty="0"/>
          </a:p>
        </p:txBody>
      </p:sp>
      <p:sp>
        <p:nvSpPr>
          <p:cNvPr id="49" name="ev-d-4"/>
          <p:cNvSpPr/>
          <p:nvPr/>
        </p:nvSpPr>
        <p:spPr>
          <a:xfrm>
            <a:off x="9515612" y="4754880"/>
            <a:ext cx="2036003" cy="1188720"/>
          </a:xfrm>
          <a:prstGeom prst="roundRect">
            <a:avLst>
              <a:gd name="adj" fmla="val 9231"/>
            </a:avLst>
          </a:prstGeom>
          <a:solidFill>
            <a:srgbClr val="E3F6EC"/>
          </a:solidFill>
          <a:ln w="12700">
            <a:solidFill>
              <a:srgbClr val="E3F6EC"/>
            </a:solidFill>
            <a:prstDash val="solid"/>
          </a:ln>
        </p:spPr>
      </p:sp>
      <p:sp>
        <p:nvSpPr>
          <p:cNvPr id="50" name="Text 43"/>
          <p:cNvSpPr txBox="1"/>
          <p:nvPr/>
        </p:nvSpPr>
        <p:spPr>
          <a:xfrm>
            <a:off x="9607052" y="4800600"/>
            <a:ext cx="1853123" cy="1097280"/>
          </a:xfrm>
          <a:prstGeom prst="rect">
            <a:avLst/>
          </a:prstGeom>
          <a:noFill/>
          <a:ln/>
        </p:spPr>
        <p:txBody>
          <a:bodyPr wrap="square" lIns="0" tIns="0" rIns="0" bIns="0" rtlCol="0" anchor="ctr"/>
          <a:lstStyle/>
          <a:p>
            <a:pPr algn="ctr" indent="0" marL="0">
              <a:buNone/>
            </a:pPr>
            <a:r>
              <a:rPr lang="en-US" sz="1250" b="1" dirty="0">
                <a:solidFill>
                  <a:schemeClr val="accent1"/>
                </a:solidFill>
              </a:rPr>
              <a:t>RbR na'in ba dadus no sistema</a:t>
            </a:r>
            <a:endParaRPr lang="en-US" sz="1250" dirty="0"/>
          </a:p>
        </p:txBody>
      </p:sp>
      <p:sp>
        <p:nvSpPr>
          <p:cNvPr id="51" name="Text 44"/>
          <p:cNvSpPr txBox="1"/>
          <p:nvPr/>
        </p:nvSpPr>
        <p:spPr>
          <a:xfrm>
            <a:off x="548640" y="6035040"/>
            <a:ext cx="11094415" cy="320040"/>
          </a:xfrm>
          <a:prstGeom prst="rect">
            <a:avLst/>
          </a:prstGeom>
          <a:noFill/>
          <a:ln/>
        </p:spPr>
        <p:txBody>
          <a:bodyPr wrap="square" lIns="0" tIns="0" rIns="0" bIns="0" rtlCol="0" anchor="t"/>
          <a:lstStyle/>
          <a:p>
            <a:pPr algn="ctr" indent="0" marL="0">
              <a:buNone/>
            </a:pPr>
            <a:r>
              <a:rPr lang="en-US" sz="1300" i="1" dirty="0">
                <a:solidFill>
                  <a:srgbClr val="5E6B66"/>
                </a:solidFill>
              </a:rPr>
              <a:t>Kada faze ajuda tempu ne'ebá; kada faze mós hatudu dezafiu foun.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Saida mak muda ho SIBAR-RbR?</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11:13</a:t>
            </a:r>
            <a:endParaRPr lang="en-US" sz="1200" dirty="0"/>
          </a:p>
        </p:txBody>
      </p:sp>
      <p:sp>
        <p:nvSpPr>
          <p:cNvPr id="5" name="kc-1"/>
          <p:cNvSpPr/>
          <p:nvPr/>
        </p:nvSpPr>
        <p:spPr>
          <a:xfrm>
            <a:off x="3337560" y="1417320"/>
            <a:ext cx="2011680" cy="548640"/>
          </a:xfrm>
          <a:prstGeom prst="roundRect">
            <a:avLst>
              <a:gd name="adj" fmla="val 13333"/>
            </a:avLst>
          </a:prstGeom>
          <a:solidFill>
            <a:schemeClr val="tx2"/>
          </a:solidFill>
          <a:ln w="12700">
            <a:solidFill>
              <a:schemeClr val="tx2"/>
            </a:solidFill>
            <a:prstDash val="solid"/>
          </a:ln>
        </p:spPr>
      </p:sp>
      <p:sp>
        <p:nvSpPr>
          <p:cNvPr id="6" name="Text 4"/>
          <p:cNvSpPr txBox="1"/>
          <p:nvPr/>
        </p:nvSpPr>
        <p:spPr>
          <a:xfrm>
            <a:off x="3291840" y="1417320"/>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Papél / Word</a:t>
            </a:r>
            <a:endParaRPr lang="en-US" sz="1500" dirty="0"/>
          </a:p>
        </p:txBody>
      </p:sp>
      <p:sp>
        <p:nvSpPr>
          <p:cNvPr id="7" name="kc-2"/>
          <p:cNvSpPr/>
          <p:nvPr/>
        </p:nvSpPr>
        <p:spPr>
          <a:xfrm>
            <a:off x="5440680" y="1417320"/>
            <a:ext cx="2011680" cy="548640"/>
          </a:xfrm>
          <a:prstGeom prst="roundRect">
            <a:avLst>
              <a:gd name="adj" fmla="val 13333"/>
            </a:avLst>
          </a:prstGeom>
          <a:solidFill>
            <a:schemeClr val="tx2"/>
          </a:solidFill>
          <a:ln w="12700">
            <a:solidFill>
              <a:schemeClr val="tx2"/>
            </a:solidFill>
            <a:prstDash val="solid"/>
          </a:ln>
        </p:spPr>
      </p:sp>
      <p:sp>
        <p:nvSpPr>
          <p:cNvPr id="8" name="Text 6"/>
          <p:cNvSpPr txBox="1"/>
          <p:nvPr/>
        </p:nvSpPr>
        <p:spPr>
          <a:xfrm>
            <a:off x="5394960" y="1417320"/>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Excel</a:t>
            </a:r>
            <a:endParaRPr lang="en-US" sz="1500" dirty="0"/>
          </a:p>
        </p:txBody>
      </p:sp>
      <p:sp>
        <p:nvSpPr>
          <p:cNvPr id="9" name="kc-3"/>
          <p:cNvSpPr/>
          <p:nvPr/>
        </p:nvSpPr>
        <p:spPr>
          <a:xfrm>
            <a:off x="7543800" y="1417320"/>
            <a:ext cx="2011680" cy="548640"/>
          </a:xfrm>
          <a:prstGeom prst="roundRect">
            <a:avLst>
              <a:gd name="adj" fmla="val 13333"/>
            </a:avLst>
          </a:prstGeom>
          <a:solidFill>
            <a:schemeClr val="tx2"/>
          </a:solidFill>
          <a:ln w="12700">
            <a:solidFill>
              <a:schemeClr val="tx2"/>
            </a:solidFill>
            <a:prstDash val="solid"/>
          </a:ln>
        </p:spPr>
      </p:sp>
      <p:sp>
        <p:nvSpPr>
          <p:cNvPr id="10" name="Text 8"/>
          <p:cNvSpPr txBox="1"/>
          <p:nvPr/>
        </p:nvSpPr>
        <p:spPr>
          <a:xfrm>
            <a:off x="7498080" y="1417320"/>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Airtable</a:t>
            </a:r>
            <a:endParaRPr lang="en-US" sz="1500" dirty="0"/>
          </a:p>
        </p:txBody>
      </p:sp>
      <p:sp>
        <p:nvSpPr>
          <p:cNvPr id="11" name="kc-4"/>
          <p:cNvSpPr/>
          <p:nvPr/>
        </p:nvSpPr>
        <p:spPr>
          <a:xfrm>
            <a:off x="9646920" y="1417320"/>
            <a:ext cx="1950415" cy="548640"/>
          </a:xfrm>
          <a:prstGeom prst="roundRect">
            <a:avLst>
              <a:gd name="adj" fmla="val 13333"/>
            </a:avLst>
          </a:prstGeom>
          <a:solidFill>
            <a:schemeClr val="accent1"/>
          </a:solidFill>
          <a:ln w="12700">
            <a:solidFill>
              <a:schemeClr val="accent1"/>
            </a:solidFill>
            <a:prstDash val="solid"/>
          </a:ln>
        </p:spPr>
      </p:sp>
      <p:sp>
        <p:nvSpPr>
          <p:cNvPr id="12" name="Text 10"/>
          <p:cNvSpPr txBox="1"/>
          <p:nvPr/>
        </p:nvSpPr>
        <p:spPr>
          <a:xfrm>
            <a:off x="9601200" y="1417320"/>
            <a:ext cx="2041855" cy="548640"/>
          </a:xfrm>
          <a:prstGeom prst="rect">
            <a:avLst/>
          </a:prstGeom>
          <a:noFill/>
          <a:ln/>
        </p:spPr>
        <p:txBody>
          <a:bodyPr wrap="square" lIns="0" tIns="0" rIns="0" bIns="0" rtlCol="0" anchor="ctr"/>
          <a:lstStyle/>
          <a:p>
            <a:pPr algn="ctr" indent="0" marL="0">
              <a:buNone/>
            </a:pPr>
            <a:r>
              <a:rPr lang="en-US" sz="1500" b="1" dirty="0">
                <a:solidFill>
                  <a:schemeClr val="bg1"/>
                </a:solidFill>
              </a:rPr>
              <a:t>SIBAR-RbR</a:t>
            </a:r>
            <a:endParaRPr lang="en-US" sz="1500" dirty="0"/>
          </a:p>
        </p:txBody>
      </p:sp>
      <p:sp>
        <p:nvSpPr>
          <p:cNvPr id="13" name="kl-0"/>
          <p:cNvSpPr/>
          <p:nvPr/>
        </p:nvSpPr>
        <p:spPr>
          <a:xfrm>
            <a:off x="548640" y="2103120"/>
            <a:ext cx="11094415" cy="585216"/>
          </a:xfrm>
          <a:prstGeom prst="roundRect">
            <a:avLst>
              <a:gd name="adj" fmla="val 18750"/>
            </a:avLst>
          </a:prstGeom>
          <a:solidFill>
            <a:srgbClr val="F7F9F8"/>
          </a:solidFill>
          <a:ln w="12700">
            <a:solidFill>
              <a:srgbClr val="F7F9F8"/>
            </a:solidFill>
            <a:prstDash val="solid"/>
          </a:ln>
        </p:spPr>
      </p:sp>
      <p:sp>
        <p:nvSpPr>
          <p:cNvPr id="14" name="Text 12"/>
          <p:cNvSpPr txBox="1"/>
          <p:nvPr/>
        </p:nvSpPr>
        <p:spPr>
          <a:xfrm>
            <a:off x="777240" y="2103120"/>
            <a:ext cx="2468880" cy="585216"/>
          </a:xfrm>
          <a:prstGeom prst="rect">
            <a:avLst/>
          </a:prstGeom>
          <a:noFill/>
          <a:ln/>
        </p:spPr>
        <p:txBody>
          <a:bodyPr wrap="square" lIns="0" tIns="0" rIns="0" bIns="0" rtlCol="0" anchor="ctr"/>
          <a:lstStyle/>
          <a:p>
            <a:pPr algn="l" indent="0" marL="0">
              <a:buNone/>
            </a:pPr>
            <a:r>
              <a:rPr lang="en-US" sz="1500" b="1" dirty="0">
                <a:solidFill>
                  <a:schemeClr val="tx2"/>
                </a:solidFill>
              </a:rPr>
              <a:t>Buka kazu</a:t>
            </a:r>
            <a:endParaRPr lang="en-US" sz="1500" dirty="0"/>
          </a:p>
        </p:txBody>
      </p:sp>
      <p:sp>
        <p:nvSpPr>
          <p:cNvPr id="15" name="Text 13"/>
          <p:cNvSpPr txBox="1"/>
          <p:nvPr/>
        </p:nvSpPr>
        <p:spPr>
          <a:xfrm>
            <a:off x="3291840" y="2103120"/>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Oras</a:t>
            </a:r>
            <a:endParaRPr lang="en-US" sz="1400" dirty="0"/>
          </a:p>
        </p:txBody>
      </p:sp>
      <p:sp>
        <p:nvSpPr>
          <p:cNvPr id="16" name="Text 14"/>
          <p:cNvSpPr txBox="1"/>
          <p:nvPr/>
        </p:nvSpPr>
        <p:spPr>
          <a:xfrm>
            <a:off x="5394960" y="2103120"/>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Minutu</a:t>
            </a:r>
            <a:endParaRPr lang="en-US" sz="1400" dirty="0"/>
          </a:p>
        </p:txBody>
      </p:sp>
      <p:sp>
        <p:nvSpPr>
          <p:cNvPr id="17" name="Text 15"/>
          <p:cNvSpPr txBox="1"/>
          <p:nvPr/>
        </p:nvSpPr>
        <p:spPr>
          <a:xfrm>
            <a:off x="7498080" y="2103120"/>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Segundu</a:t>
            </a:r>
            <a:endParaRPr lang="en-US" sz="1400" dirty="0"/>
          </a:p>
        </p:txBody>
      </p:sp>
      <p:sp>
        <p:nvSpPr>
          <p:cNvPr id="18" name="Text 16"/>
          <p:cNvSpPr txBox="1"/>
          <p:nvPr/>
        </p:nvSpPr>
        <p:spPr>
          <a:xfrm>
            <a:off x="9601200" y="2103120"/>
            <a:ext cx="2041855" cy="585216"/>
          </a:xfrm>
          <a:prstGeom prst="rect">
            <a:avLst/>
          </a:prstGeom>
          <a:noFill/>
          <a:ln/>
        </p:spPr>
        <p:txBody>
          <a:bodyPr wrap="square" lIns="0" tIns="0" rIns="0" bIns="0" rtlCol="0" anchor="ctr"/>
          <a:lstStyle/>
          <a:p>
            <a:pPr algn="ctr" indent="0" marL="0">
              <a:buNone/>
            </a:pPr>
            <a:r>
              <a:rPr lang="en-US" sz="1400" b="1" dirty="0">
                <a:solidFill>
                  <a:schemeClr val="accent1"/>
                </a:solidFill>
              </a:rPr>
              <a:t>Segundu</a:t>
            </a:r>
            <a:endParaRPr lang="en-US" sz="1400" dirty="0"/>
          </a:p>
        </p:txBody>
      </p:sp>
      <p:sp>
        <p:nvSpPr>
          <p:cNvPr id="19" name="kl-1"/>
          <p:cNvSpPr/>
          <p:nvPr/>
        </p:nvSpPr>
        <p:spPr>
          <a:xfrm>
            <a:off x="548640" y="2779776"/>
            <a:ext cx="11094415" cy="585216"/>
          </a:xfrm>
          <a:prstGeom prst="roundRect">
            <a:avLst>
              <a:gd name="adj" fmla="val 18750"/>
            </a:avLst>
          </a:prstGeom>
          <a:solidFill>
            <a:schemeClr val="bg2"/>
          </a:solidFill>
          <a:ln w="12700">
            <a:solidFill>
              <a:schemeClr val="bg2"/>
            </a:solidFill>
            <a:prstDash val="solid"/>
          </a:ln>
        </p:spPr>
      </p:sp>
      <p:sp>
        <p:nvSpPr>
          <p:cNvPr id="20" name="Text 18"/>
          <p:cNvSpPr txBox="1"/>
          <p:nvPr/>
        </p:nvSpPr>
        <p:spPr>
          <a:xfrm>
            <a:off x="777240" y="2779776"/>
            <a:ext cx="2468880" cy="585216"/>
          </a:xfrm>
          <a:prstGeom prst="rect">
            <a:avLst/>
          </a:prstGeom>
          <a:noFill/>
          <a:ln/>
        </p:spPr>
        <p:txBody>
          <a:bodyPr wrap="square" lIns="0" tIns="0" rIns="0" bIns="0" rtlCol="0" anchor="ctr"/>
          <a:lstStyle/>
          <a:p>
            <a:pPr algn="l" indent="0" marL="0">
              <a:buNone/>
            </a:pPr>
            <a:r>
              <a:rPr lang="en-US" sz="1500" b="1" dirty="0">
                <a:solidFill>
                  <a:schemeClr val="tx2"/>
                </a:solidFill>
              </a:rPr>
              <a:t>Relatóriu</a:t>
            </a:r>
            <a:endParaRPr lang="en-US" sz="1500" dirty="0"/>
          </a:p>
        </p:txBody>
      </p:sp>
      <p:sp>
        <p:nvSpPr>
          <p:cNvPr id="21" name="Text 19"/>
          <p:cNvSpPr txBox="1"/>
          <p:nvPr/>
        </p:nvSpPr>
        <p:spPr>
          <a:xfrm>
            <a:off x="3291840" y="2779776"/>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Manuál</a:t>
            </a:r>
            <a:endParaRPr lang="en-US" sz="1400" dirty="0"/>
          </a:p>
        </p:txBody>
      </p:sp>
      <p:sp>
        <p:nvSpPr>
          <p:cNvPr id="22" name="Text 20"/>
          <p:cNvSpPr txBox="1"/>
          <p:nvPr/>
        </p:nvSpPr>
        <p:spPr>
          <a:xfrm>
            <a:off x="5394960" y="2779776"/>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Manuál</a:t>
            </a:r>
            <a:endParaRPr lang="en-US" sz="1400" dirty="0"/>
          </a:p>
        </p:txBody>
      </p:sp>
      <p:sp>
        <p:nvSpPr>
          <p:cNvPr id="23" name="Text 21"/>
          <p:cNvSpPr txBox="1"/>
          <p:nvPr/>
        </p:nvSpPr>
        <p:spPr>
          <a:xfrm>
            <a:off x="7498080" y="2779776"/>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Parte</a:t>
            </a:r>
            <a:endParaRPr lang="en-US" sz="1400" dirty="0"/>
          </a:p>
        </p:txBody>
      </p:sp>
      <p:sp>
        <p:nvSpPr>
          <p:cNvPr id="24" name="Text 22"/>
          <p:cNvSpPr txBox="1"/>
          <p:nvPr/>
        </p:nvSpPr>
        <p:spPr>
          <a:xfrm>
            <a:off x="9601200" y="2779776"/>
            <a:ext cx="2041855" cy="585216"/>
          </a:xfrm>
          <a:prstGeom prst="rect">
            <a:avLst/>
          </a:prstGeom>
          <a:noFill/>
          <a:ln/>
        </p:spPr>
        <p:txBody>
          <a:bodyPr wrap="square" lIns="0" tIns="0" rIns="0" bIns="0" rtlCol="0" anchor="ctr"/>
          <a:lstStyle/>
          <a:p>
            <a:pPr algn="ctr" indent="0" marL="0">
              <a:buNone/>
            </a:pPr>
            <a:r>
              <a:rPr lang="en-US" sz="1400" b="1" dirty="0">
                <a:solidFill>
                  <a:schemeClr val="accent1"/>
                </a:solidFill>
              </a:rPr>
              <a:t>Automátiku</a:t>
            </a:r>
            <a:endParaRPr lang="en-US" sz="1400" dirty="0"/>
          </a:p>
        </p:txBody>
      </p:sp>
      <p:sp>
        <p:nvSpPr>
          <p:cNvPr id="25" name="kl-2"/>
          <p:cNvSpPr/>
          <p:nvPr/>
        </p:nvSpPr>
        <p:spPr>
          <a:xfrm>
            <a:off x="548640" y="3456432"/>
            <a:ext cx="11094415" cy="585216"/>
          </a:xfrm>
          <a:prstGeom prst="roundRect">
            <a:avLst>
              <a:gd name="adj" fmla="val 18750"/>
            </a:avLst>
          </a:prstGeom>
          <a:solidFill>
            <a:srgbClr val="F7F9F8"/>
          </a:solidFill>
          <a:ln w="12700">
            <a:solidFill>
              <a:srgbClr val="F7F9F8"/>
            </a:solidFill>
            <a:prstDash val="solid"/>
          </a:ln>
        </p:spPr>
      </p:sp>
      <p:sp>
        <p:nvSpPr>
          <p:cNvPr id="26" name="Text 24"/>
          <p:cNvSpPr txBox="1"/>
          <p:nvPr/>
        </p:nvSpPr>
        <p:spPr>
          <a:xfrm>
            <a:off x="777240" y="3456432"/>
            <a:ext cx="2468880" cy="585216"/>
          </a:xfrm>
          <a:prstGeom prst="rect">
            <a:avLst/>
          </a:prstGeom>
          <a:noFill/>
          <a:ln/>
        </p:spPr>
        <p:txBody>
          <a:bodyPr wrap="square" lIns="0" tIns="0" rIns="0" bIns="0" rtlCol="0" anchor="ctr"/>
          <a:lstStyle/>
          <a:p>
            <a:pPr algn="l" indent="0" marL="0">
              <a:buNone/>
            </a:pPr>
            <a:r>
              <a:rPr lang="en-US" sz="1500" b="1" dirty="0">
                <a:solidFill>
                  <a:schemeClr val="tx2"/>
                </a:solidFill>
              </a:rPr>
              <a:t>Terrenu la ho sinál</a:t>
            </a:r>
            <a:endParaRPr lang="en-US" sz="1500" dirty="0"/>
          </a:p>
        </p:txBody>
      </p:sp>
      <p:sp>
        <p:nvSpPr>
          <p:cNvPr id="27" name="Text 25"/>
          <p:cNvSpPr txBox="1"/>
          <p:nvPr/>
        </p:nvSpPr>
        <p:spPr>
          <a:xfrm>
            <a:off x="3291840" y="3456432"/>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 papél</a:t>
            </a:r>
            <a:endParaRPr lang="en-US" sz="1400" dirty="0"/>
          </a:p>
        </p:txBody>
      </p:sp>
      <p:sp>
        <p:nvSpPr>
          <p:cNvPr id="28" name="Text 26"/>
          <p:cNvSpPr txBox="1"/>
          <p:nvPr/>
        </p:nvSpPr>
        <p:spPr>
          <a:xfrm>
            <a:off x="5394960" y="3456432"/>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a:t>
            </a:r>
            <a:endParaRPr lang="en-US" sz="1400" dirty="0"/>
          </a:p>
        </p:txBody>
      </p:sp>
      <p:sp>
        <p:nvSpPr>
          <p:cNvPr id="29" name="Text 27"/>
          <p:cNvSpPr txBox="1"/>
          <p:nvPr/>
        </p:nvSpPr>
        <p:spPr>
          <a:xfrm>
            <a:off x="7498080" y="3456432"/>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a:t>
            </a:r>
            <a:endParaRPr lang="en-US" sz="1400" dirty="0"/>
          </a:p>
        </p:txBody>
      </p:sp>
      <p:sp>
        <p:nvSpPr>
          <p:cNvPr id="30" name="Text 28"/>
          <p:cNvSpPr txBox="1"/>
          <p:nvPr/>
        </p:nvSpPr>
        <p:spPr>
          <a:xfrm>
            <a:off x="9601200" y="3456432"/>
            <a:ext cx="2041855" cy="585216"/>
          </a:xfrm>
          <a:prstGeom prst="rect">
            <a:avLst/>
          </a:prstGeom>
          <a:noFill/>
          <a:ln/>
        </p:spPr>
        <p:txBody>
          <a:bodyPr wrap="square" lIns="0" tIns="0" rIns="0" bIns="0" rtlCol="0" anchor="ctr"/>
          <a:lstStyle/>
          <a:p>
            <a:pPr algn="ctr" indent="0" marL="0">
              <a:buNone/>
            </a:pPr>
            <a:r>
              <a:rPr lang="en-US" sz="1400" b="1" dirty="0">
                <a:solidFill>
                  <a:schemeClr val="accent1"/>
                </a:solidFill>
              </a:rPr>
              <a:t>✓ app offline</a:t>
            </a:r>
            <a:endParaRPr lang="en-US" sz="1400" dirty="0"/>
          </a:p>
        </p:txBody>
      </p:sp>
      <p:sp>
        <p:nvSpPr>
          <p:cNvPr id="31" name="kl-3"/>
          <p:cNvSpPr/>
          <p:nvPr/>
        </p:nvSpPr>
        <p:spPr>
          <a:xfrm>
            <a:off x="548640" y="4133088"/>
            <a:ext cx="11094415" cy="585216"/>
          </a:xfrm>
          <a:prstGeom prst="roundRect">
            <a:avLst>
              <a:gd name="adj" fmla="val 18750"/>
            </a:avLst>
          </a:prstGeom>
          <a:solidFill>
            <a:schemeClr val="bg2"/>
          </a:solidFill>
          <a:ln w="12700">
            <a:solidFill>
              <a:schemeClr val="bg2"/>
            </a:solidFill>
            <a:prstDash val="solid"/>
          </a:ln>
        </p:spPr>
      </p:sp>
      <p:sp>
        <p:nvSpPr>
          <p:cNvPr id="32" name="Text 30"/>
          <p:cNvSpPr txBox="1"/>
          <p:nvPr/>
        </p:nvSpPr>
        <p:spPr>
          <a:xfrm>
            <a:off x="777240" y="4133088"/>
            <a:ext cx="2468880" cy="585216"/>
          </a:xfrm>
          <a:prstGeom prst="rect">
            <a:avLst/>
          </a:prstGeom>
          <a:noFill/>
          <a:ln/>
        </p:spPr>
        <p:txBody>
          <a:bodyPr wrap="square" lIns="0" tIns="0" rIns="0" bIns="0" rtlCol="0" anchor="ctr"/>
          <a:lstStyle/>
          <a:p>
            <a:pPr algn="l" indent="0" marL="0">
              <a:buNone/>
            </a:pPr>
            <a:r>
              <a:rPr lang="en-US" sz="1500" b="1" dirty="0">
                <a:solidFill>
                  <a:schemeClr val="tx2"/>
                </a:solidFill>
              </a:rPr>
              <a:t>Mapa no GPS</a:t>
            </a:r>
            <a:endParaRPr lang="en-US" sz="1500" dirty="0"/>
          </a:p>
        </p:txBody>
      </p:sp>
      <p:sp>
        <p:nvSpPr>
          <p:cNvPr id="33" name="Text 31"/>
          <p:cNvSpPr txBox="1"/>
          <p:nvPr/>
        </p:nvSpPr>
        <p:spPr>
          <a:xfrm>
            <a:off x="3291840" y="4133088"/>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a:t>
            </a:r>
            <a:endParaRPr lang="en-US" sz="1400" dirty="0"/>
          </a:p>
        </p:txBody>
      </p:sp>
      <p:sp>
        <p:nvSpPr>
          <p:cNvPr id="34" name="Text 32"/>
          <p:cNvSpPr txBox="1"/>
          <p:nvPr/>
        </p:nvSpPr>
        <p:spPr>
          <a:xfrm>
            <a:off x="5394960" y="4133088"/>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a:t>
            </a:r>
            <a:endParaRPr lang="en-US" sz="1400" dirty="0"/>
          </a:p>
        </p:txBody>
      </p:sp>
      <p:sp>
        <p:nvSpPr>
          <p:cNvPr id="35" name="Text 33"/>
          <p:cNvSpPr txBox="1"/>
          <p:nvPr/>
        </p:nvSpPr>
        <p:spPr>
          <a:xfrm>
            <a:off x="7498080" y="4133088"/>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Parte</a:t>
            </a:r>
            <a:endParaRPr lang="en-US" sz="1400" dirty="0"/>
          </a:p>
        </p:txBody>
      </p:sp>
      <p:sp>
        <p:nvSpPr>
          <p:cNvPr id="36" name="Text 34"/>
          <p:cNvSpPr txBox="1"/>
          <p:nvPr/>
        </p:nvSpPr>
        <p:spPr>
          <a:xfrm>
            <a:off x="9601200" y="4133088"/>
            <a:ext cx="2041855" cy="585216"/>
          </a:xfrm>
          <a:prstGeom prst="rect">
            <a:avLst/>
          </a:prstGeom>
          <a:noFill/>
          <a:ln/>
        </p:spPr>
        <p:txBody>
          <a:bodyPr wrap="square" lIns="0" tIns="0" rIns="0" bIns="0" rtlCol="0" anchor="ctr"/>
          <a:lstStyle/>
          <a:p>
            <a:pPr algn="ctr" indent="0" marL="0">
              <a:buNone/>
            </a:pPr>
            <a:r>
              <a:rPr lang="en-US" sz="1400" b="1" dirty="0">
                <a:solidFill>
                  <a:schemeClr val="accent1"/>
                </a:solidFill>
              </a:rPr>
              <a:t>✓</a:t>
            </a:r>
            <a:endParaRPr lang="en-US" sz="1400" dirty="0"/>
          </a:p>
        </p:txBody>
      </p:sp>
      <p:sp>
        <p:nvSpPr>
          <p:cNvPr id="37" name="kl-4"/>
          <p:cNvSpPr/>
          <p:nvPr/>
        </p:nvSpPr>
        <p:spPr>
          <a:xfrm>
            <a:off x="548640" y="4809744"/>
            <a:ext cx="11094415" cy="585216"/>
          </a:xfrm>
          <a:prstGeom prst="roundRect">
            <a:avLst>
              <a:gd name="adj" fmla="val 18750"/>
            </a:avLst>
          </a:prstGeom>
          <a:solidFill>
            <a:srgbClr val="F7F9F8"/>
          </a:solidFill>
          <a:ln w="12700">
            <a:solidFill>
              <a:srgbClr val="F7F9F8"/>
            </a:solidFill>
            <a:prstDash val="solid"/>
          </a:ln>
        </p:spPr>
      </p:sp>
      <p:sp>
        <p:nvSpPr>
          <p:cNvPr id="38" name="Text 36"/>
          <p:cNvSpPr txBox="1"/>
          <p:nvPr/>
        </p:nvSpPr>
        <p:spPr>
          <a:xfrm>
            <a:off x="777240" y="4809744"/>
            <a:ext cx="2468880" cy="585216"/>
          </a:xfrm>
          <a:prstGeom prst="rect">
            <a:avLst/>
          </a:prstGeom>
          <a:noFill/>
          <a:ln/>
        </p:spPr>
        <p:txBody>
          <a:bodyPr wrap="square" lIns="0" tIns="0" rIns="0" bIns="0" rtlCol="0" anchor="ctr"/>
          <a:lstStyle/>
          <a:p>
            <a:pPr algn="l" indent="0" marL="0">
              <a:buNone/>
            </a:pPr>
            <a:r>
              <a:rPr lang="en-US" sz="1500" b="1" dirty="0">
                <a:solidFill>
                  <a:schemeClr val="tx2"/>
                </a:solidFill>
              </a:rPr>
              <a:t>Seguransa no asesu</a:t>
            </a:r>
            <a:endParaRPr lang="en-US" sz="1500" dirty="0"/>
          </a:p>
        </p:txBody>
      </p:sp>
      <p:sp>
        <p:nvSpPr>
          <p:cNvPr id="39" name="Text 37"/>
          <p:cNvSpPr txBox="1"/>
          <p:nvPr/>
        </p:nvSpPr>
        <p:spPr>
          <a:xfrm>
            <a:off x="3291840" y="4809744"/>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Fraku</a:t>
            </a:r>
            <a:endParaRPr lang="en-US" sz="1400" dirty="0"/>
          </a:p>
        </p:txBody>
      </p:sp>
      <p:sp>
        <p:nvSpPr>
          <p:cNvPr id="40" name="Text 38"/>
          <p:cNvSpPr txBox="1"/>
          <p:nvPr/>
        </p:nvSpPr>
        <p:spPr>
          <a:xfrm>
            <a:off x="5394960" y="4809744"/>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Fraku</a:t>
            </a:r>
            <a:endParaRPr lang="en-US" sz="1400" dirty="0"/>
          </a:p>
        </p:txBody>
      </p:sp>
      <p:sp>
        <p:nvSpPr>
          <p:cNvPr id="41" name="Text 39"/>
          <p:cNvSpPr txBox="1"/>
          <p:nvPr/>
        </p:nvSpPr>
        <p:spPr>
          <a:xfrm>
            <a:off x="7498080" y="4809744"/>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Médiu</a:t>
            </a:r>
            <a:endParaRPr lang="en-US" sz="1400" dirty="0"/>
          </a:p>
        </p:txBody>
      </p:sp>
      <p:sp>
        <p:nvSpPr>
          <p:cNvPr id="42" name="Text 40"/>
          <p:cNvSpPr txBox="1"/>
          <p:nvPr/>
        </p:nvSpPr>
        <p:spPr>
          <a:xfrm>
            <a:off x="9601200" y="4809744"/>
            <a:ext cx="2041855" cy="585216"/>
          </a:xfrm>
          <a:prstGeom prst="rect">
            <a:avLst/>
          </a:prstGeom>
          <a:noFill/>
          <a:ln/>
        </p:spPr>
        <p:txBody>
          <a:bodyPr wrap="square" lIns="0" tIns="0" rIns="0" bIns="0" rtlCol="0" anchor="ctr"/>
          <a:lstStyle/>
          <a:p>
            <a:pPr algn="ctr" indent="0" marL="0">
              <a:buNone/>
            </a:pPr>
            <a:r>
              <a:rPr lang="en-US" sz="1400" b="1" dirty="0">
                <a:solidFill>
                  <a:schemeClr val="accent1"/>
                </a:solidFill>
              </a:rPr>
              <a:t>Papél + PIN + log</a:t>
            </a:r>
            <a:endParaRPr lang="en-US" sz="1400" dirty="0"/>
          </a:p>
        </p:txBody>
      </p:sp>
      <p:sp>
        <p:nvSpPr>
          <p:cNvPr id="43" name="kl-5"/>
          <p:cNvSpPr/>
          <p:nvPr/>
        </p:nvSpPr>
        <p:spPr>
          <a:xfrm>
            <a:off x="548640" y="5486400"/>
            <a:ext cx="11094415" cy="585216"/>
          </a:xfrm>
          <a:prstGeom prst="roundRect">
            <a:avLst>
              <a:gd name="adj" fmla="val 18750"/>
            </a:avLst>
          </a:prstGeom>
          <a:solidFill>
            <a:schemeClr val="bg2"/>
          </a:solidFill>
          <a:ln w="12700">
            <a:solidFill>
              <a:schemeClr val="bg2"/>
            </a:solidFill>
            <a:prstDash val="solid"/>
          </a:ln>
        </p:spPr>
      </p:sp>
      <p:sp>
        <p:nvSpPr>
          <p:cNvPr id="44" name="Text 42"/>
          <p:cNvSpPr txBox="1"/>
          <p:nvPr/>
        </p:nvSpPr>
        <p:spPr>
          <a:xfrm>
            <a:off x="777240" y="5486400"/>
            <a:ext cx="2468880" cy="585216"/>
          </a:xfrm>
          <a:prstGeom prst="rect">
            <a:avLst/>
          </a:prstGeom>
          <a:noFill/>
          <a:ln/>
        </p:spPr>
        <p:txBody>
          <a:bodyPr wrap="square" lIns="0" tIns="0" rIns="0" bIns="0" rtlCol="0" anchor="ctr"/>
          <a:lstStyle/>
          <a:p>
            <a:pPr algn="l" indent="0" marL="0">
              <a:buNone/>
            </a:pPr>
            <a:r>
              <a:rPr lang="en-US" sz="1500" b="1" dirty="0">
                <a:solidFill>
                  <a:schemeClr val="tx2"/>
                </a:solidFill>
              </a:rPr>
              <a:t>Na'in ba dadus</a:t>
            </a:r>
            <a:endParaRPr lang="en-US" sz="1500" dirty="0"/>
          </a:p>
        </p:txBody>
      </p:sp>
      <p:sp>
        <p:nvSpPr>
          <p:cNvPr id="45" name="Text 43"/>
          <p:cNvSpPr txBox="1"/>
          <p:nvPr/>
        </p:nvSpPr>
        <p:spPr>
          <a:xfrm>
            <a:off x="3291840" y="5486400"/>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RbR</a:t>
            </a:r>
            <a:endParaRPr lang="en-US" sz="1400" dirty="0"/>
          </a:p>
        </p:txBody>
      </p:sp>
      <p:sp>
        <p:nvSpPr>
          <p:cNvPr id="46" name="Text 44"/>
          <p:cNvSpPr txBox="1"/>
          <p:nvPr/>
        </p:nvSpPr>
        <p:spPr>
          <a:xfrm>
            <a:off x="5394960" y="5486400"/>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RbR</a:t>
            </a:r>
            <a:endParaRPr lang="en-US" sz="1400" dirty="0"/>
          </a:p>
        </p:txBody>
      </p:sp>
      <p:sp>
        <p:nvSpPr>
          <p:cNvPr id="47" name="Text 45"/>
          <p:cNvSpPr txBox="1"/>
          <p:nvPr/>
        </p:nvSpPr>
        <p:spPr>
          <a:xfrm>
            <a:off x="7498080" y="5486400"/>
            <a:ext cx="2103120" cy="585216"/>
          </a:xfrm>
          <a:prstGeom prst="rect">
            <a:avLst/>
          </a:prstGeom>
          <a:noFill/>
          <a:ln/>
        </p:spPr>
        <p:txBody>
          <a:bodyPr wrap="square" lIns="0" tIns="0" rIns="0" bIns="0" rtlCol="0" anchor="ctr"/>
          <a:lstStyle/>
          <a:p>
            <a:pPr algn="ctr" indent="0" marL="0">
              <a:buNone/>
            </a:pPr>
            <a:r>
              <a:rPr lang="en-US" sz="1400" dirty="0">
                <a:solidFill>
                  <a:schemeClr val="tx1"/>
                </a:solidFill>
              </a:rPr>
              <a:t>Kompañia</a:t>
            </a:r>
            <a:endParaRPr lang="en-US" sz="1400" dirty="0"/>
          </a:p>
        </p:txBody>
      </p:sp>
      <p:sp>
        <p:nvSpPr>
          <p:cNvPr id="48" name="Text 46"/>
          <p:cNvSpPr txBox="1"/>
          <p:nvPr/>
        </p:nvSpPr>
        <p:spPr>
          <a:xfrm>
            <a:off x="9601200" y="5486400"/>
            <a:ext cx="2041855" cy="585216"/>
          </a:xfrm>
          <a:prstGeom prst="rect">
            <a:avLst/>
          </a:prstGeom>
          <a:noFill/>
          <a:ln/>
        </p:spPr>
        <p:txBody>
          <a:bodyPr wrap="square" lIns="0" tIns="0" rIns="0" bIns="0" rtlCol="0" anchor="ctr"/>
          <a:lstStyle/>
          <a:p>
            <a:pPr algn="ctr" indent="0" marL="0">
              <a:buNone/>
            </a:pPr>
            <a:r>
              <a:rPr lang="en-US" sz="1400" b="1" dirty="0">
                <a:solidFill>
                  <a:schemeClr val="accent1"/>
                </a:solidFill>
              </a:rPr>
              <a:t>RbR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Kódigu → Live Dashboard</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Haree kódigu Python loos no rezultadu iha ekran</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04</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11:20 – 11:35</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Kartaun númeru (KPI)</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11:20</a:t>
            </a:r>
            <a:endParaRPr lang="en-US" sz="1200" dirty="0"/>
          </a:p>
        </p:txBody>
      </p:sp>
      <p:sp>
        <p:nvSpPr>
          <p:cNvPr id="5" name="Text 3"/>
          <p:cNvSpPr txBox="1"/>
          <p:nvPr/>
        </p:nvSpPr>
        <p:spPr>
          <a:xfrm>
            <a:off x="548640" y="1280160"/>
            <a:ext cx="5394960" cy="320040"/>
          </a:xfrm>
          <a:prstGeom prst="rect">
            <a:avLst/>
          </a:prstGeom>
          <a:noFill/>
          <a:ln/>
        </p:spPr>
        <p:txBody>
          <a:bodyPr wrap="square" lIns="0" tIns="0" rIns="0" bIns="0" rtlCol="0" anchor="t"/>
          <a:lstStyle/>
          <a:p>
            <a:pPr indent="0" marL="0">
              <a:buNone/>
            </a:pPr>
            <a:r>
              <a:rPr lang="en-US" sz="1300" b="1" dirty="0">
                <a:solidFill>
                  <a:schemeClr val="accent1"/>
                </a:solidFill>
              </a:rPr>
              <a:t>Kódigu Python iha SIBAR-RbR</a:t>
            </a:r>
            <a:endParaRPr lang="en-US" sz="1300" dirty="0"/>
          </a:p>
        </p:txBody>
      </p:sp>
      <p:sp>
        <p:nvSpPr>
          <p:cNvPr id="6" name="k"/>
          <p:cNvSpPr/>
          <p:nvPr/>
        </p:nvSpPr>
        <p:spPr>
          <a:xfrm>
            <a:off x="548640" y="1645920"/>
            <a:ext cx="5394960" cy="3246120"/>
          </a:xfrm>
          <a:prstGeom prst="roundRect">
            <a:avLst>
              <a:gd name="adj" fmla="val 2817"/>
            </a:avLst>
          </a:prstGeom>
          <a:solidFill>
            <a:schemeClr val="tx1"/>
          </a:solidFill>
          <a:ln w="12700">
            <a:solidFill>
              <a:schemeClr val="tx1"/>
            </a:solidFill>
            <a:prstDash val="solid"/>
          </a:ln>
        </p:spPr>
      </p:sp>
      <p:sp>
        <p:nvSpPr>
          <p:cNvPr id="7" name="k-t"/>
          <p:cNvSpPr txBox="1"/>
          <p:nvPr/>
        </p:nvSpPr>
        <p:spPr>
          <a:xfrm>
            <a:off x="822960" y="1874520"/>
            <a:ext cx="4846320" cy="2788920"/>
          </a:xfrm>
          <a:prstGeom prst="rect">
            <a:avLst/>
          </a:prstGeom>
          <a:noFill/>
          <a:ln/>
        </p:spPr>
        <p:txBody>
          <a:bodyPr wrap="square" lIns="0" tIns="0" rIns="0" bIns="0" rtlCol="0" anchor="t"/>
          <a:lstStyle/>
          <a:p>
            <a:pPr indent="0" marL="0">
              <a:buNone/>
            </a:pPr>
            <a:r>
              <a:rPr lang="en-US" sz="1250" i="1" dirty="0">
                <a:solidFill>
                  <a:schemeClr val="accent2"/>
                </a:solidFill>
                <a:latin typeface="Courier New" pitchFamily="34" charset="0"/>
                <a:ea typeface="Courier New" pitchFamily="34" charset="-122"/>
                <a:cs typeface="Courier New" pitchFamily="34" charset="-120"/>
              </a:rPr>
              <a:t># report/live.py — kalkula númeru Live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kazu = Kazu.objects.exclude(status="DRAFT")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kpi =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"total": kazu.count(),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"hein": kazu.filter(status="SYNCED").count(),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"urjente": kazu.filter(urjente=True).count(),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"uma_kain": afetadu.aggregate(Sum("uma_kain")),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8" name="sig"/>
          <p:cNvSpPr/>
          <p:nvPr/>
        </p:nvSpPr>
        <p:spPr>
          <a:xfrm>
            <a:off x="548640" y="5029200"/>
            <a:ext cx="5394960" cy="1143000"/>
          </a:xfrm>
          <a:prstGeom prst="roundRect">
            <a:avLst>
              <a:gd name="adj" fmla="val 9600"/>
            </a:avLst>
          </a:prstGeom>
          <a:solidFill>
            <a:schemeClr val="bg2"/>
          </a:solidFill>
          <a:ln w="12700">
            <a:solidFill>
              <a:schemeClr val="bg2"/>
            </a:solidFill>
            <a:prstDash val="solid"/>
          </a:ln>
        </p:spPr>
      </p:sp>
      <p:sp>
        <p:nvSpPr>
          <p:cNvPr id="9" name="Text 7"/>
          <p:cNvSpPr txBox="1"/>
          <p:nvPr/>
        </p:nvSpPr>
        <p:spPr>
          <a:xfrm>
            <a:off x="777240" y="5029200"/>
            <a:ext cx="4937760" cy="1143000"/>
          </a:xfrm>
          <a:prstGeom prst="rect">
            <a:avLst/>
          </a:prstGeom>
          <a:noFill/>
          <a:ln/>
        </p:spPr>
        <p:txBody>
          <a:bodyPr wrap="square" lIns="0" tIns="0" rIns="0" bIns="0" rtlCol="0" anchor="ctr"/>
          <a:lstStyle/>
          <a:p>
            <a:pPr indent="0" marL="0">
              <a:buNone/>
            </a:pPr>
            <a:r>
              <a:rPr lang="en-US" sz="1400" b="1" dirty="0">
                <a:solidFill>
                  <a:schemeClr val="tx2"/>
                </a:solidFill>
              </a:rPr>
              <a:t>Signifika: </a:t>
            </a:r>
            <a:pPr indent="0" marL="0">
              <a:buNone/>
            </a:pPr>
            <a:r>
              <a:rPr lang="en-US" sz="1400" dirty="0">
                <a:solidFill>
                  <a:schemeClr val="tx1"/>
                </a:solidFill>
              </a:rPr>
              <a:t>Python konta kazu hotu, kazu hein verifikasaun no urjente iha base de dadus, no haruka númeru ba ekran kada segundu 30.</a:t>
            </a:r>
            <a:endParaRPr lang="en-US" sz="1400" dirty="0"/>
          </a:p>
        </p:txBody>
      </p:sp>
      <p:sp>
        <p:nvSpPr>
          <p:cNvPr id="10" name="seta"/>
          <p:cNvSpPr/>
          <p:nvPr/>
        </p:nvSpPr>
        <p:spPr>
          <a:xfrm>
            <a:off x="6035040" y="3291840"/>
            <a:ext cx="502920" cy="914"/>
          </a:xfrm>
          <a:prstGeom prst="line">
            <a:avLst/>
          </a:prstGeom>
          <a:noFill/>
          <a:ln w="31750">
            <a:solidFill>
              <a:schemeClr val="accent1"/>
            </a:solidFill>
            <a:prstDash val="solid"/>
            <a:tailEnd type="triangle"/>
          </a:ln>
        </p:spPr>
      </p:sp>
      <p:sp>
        <p:nvSpPr>
          <p:cNvPr id="11" name="Text 9"/>
          <p:cNvSpPr txBox="1"/>
          <p:nvPr/>
        </p:nvSpPr>
        <p:spPr>
          <a:xfrm>
            <a:off x="6629400" y="1280160"/>
            <a:ext cx="5013655" cy="320040"/>
          </a:xfrm>
          <a:prstGeom prst="rect">
            <a:avLst/>
          </a:prstGeom>
          <a:noFill/>
          <a:ln/>
        </p:spPr>
        <p:txBody>
          <a:bodyPr wrap="square" lIns="0" tIns="0" rIns="0" bIns="0" rtlCol="0" anchor="t"/>
          <a:lstStyle/>
          <a:p>
            <a:pPr indent="0" marL="0">
              <a:buNone/>
            </a:pPr>
            <a:r>
              <a:rPr lang="en-US" sz="1300" b="1" dirty="0">
                <a:solidFill>
                  <a:schemeClr val="accent1"/>
                </a:solidFill>
              </a:rPr>
              <a:t>Rezultadu iha Live Dashboard</a:t>
            </a:r>
            <a:endParaRPr lang="en-US" sz="1300" dirty="0"/>
          </a:p>
        </p:txBody>
      </p:sp>
      <p:sp>
        <p:nvSpPr>
          <p:cNvPr id="12" name="live-moldura"/>
          <p:cNvSpPr/>
          <p:nvPr/>
        </p:nvSpPr>
        <p:spPr>
          <a:xfrm>
            <a:off x="6574536" y="1636776"/>
            <a:ext cx="5123383" cy="2029851"/>
          </a:xfrm>
          <a:prstGeom prst="roundRect">
            <a:avLst>
              <a:gd name="adj" fmla="val 360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3" name="live" descr="/tmp/claude-0/-home-user-sjamci/3266590f-78d1-5366-b61d-23553f70b1cc/scratchpad/besik/kpi2.png">    </p:cNvPr>
          <p:cNvPicPr>
            <a:picLocks noChangeAspect="1"/>
          </p:cNvPicPr>
          <p:nvPr/>
        </p:nvPicPr>
        <p:blipFill>
          <a:blip r:embed="rId1"/>
          <a:stretch>
            <a:fillRect/>
          </a:stretch>
        </p:blipFill>
        <p:spPr>
          <a:xfrm>
            <a:off x="6629400" y="1691640"/>
            <a:ext cx="5013655" cy="1920123"/>
          </a:xfrm>
          <a:prstGeom prst="rect">
            <a:avLst/>
          </a:prstGeom>
        </p:spPr>
      </p:pic>
      <p:sp>
        <p:nvSpPr>
          <p:cNvPr id="14" name="live-c"/>
          <p:cNvSpPr txBox="1"/>
          <p:nvPr/>
        </p:nvSpPr>
        <p:spPr>
          <a:xfrm>
            <a:off x="6355080" y="3721491"/>
            <a:ext cx="5562295" cy="274320"/>
          </a:xfrm>
          <a:prstGeom prst="rect">
            <a:avLst/>
          </a:prstGeom>
          <a:noFill/>
          <a:ln/>
        </p:spPr>
        <p:txBody>
          <a:bodyPr wrap="square" lIns="0" tIns="0" rIns="0" bIns="0" rtlCol="0" anchor="t"/>
          <a:lstStyle/>
          <a:p>
            <a:pPr algn="ctr" indent="0" marL="0">
              <a:buNone/>
            </a:pPr>
            <a:r>
              <a:rPr lang="en-US" sz="1100" i="1" dirty="0">
                <a:solidFill>
                  <a:srgbClr val="5E6B66"/>
                </a:solidFill>
              </a:rPr>
              <a:t>Ekran Live SIBAR-RbR (dadus ezemplu)</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Mapa no kazu kada munisípiu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11:24</a:t>
            </a:r>
            <a:endParaRPr lang="en-US" sz="1200" dirty="0"/>
          </a:p>
        </p:txBody>
      </p:sp>
      <p:sp>
        <p:nvSpPr>
          <p:cNvPr id="5" name="Text 3"/>
          <p:cNvSpPr txBox="1"/>
          <p:nvPr/>
        </p:nvSpPr>
        <p:spPr>
          <a:xfrm>
            <a:off x="548640" y="1280160"/>
            <a:ext cx="5394960" cy="320040"/>
          </a:xfrm>
          <a:prstGeom prst="rect">
            <a:avLst/>
          </a:prstGeom>
          <a:noFill/>
          <a:ln/>
        </p:spPr>
        <p:txBody>
          <a:bodyPr wrap="square" lIns="0" tIns="0" rIns="0" bIns="0" rtlCol="0" anchor="t"/>
          <a:lstStyle/>
          <a:p>
            <a:pPr indent="0" marL="0">
              <a:buNone/>
            </a:pPr>
            <a:r>
              <a:rPr lang="en-US" sz="1300" b="1" dirty="0">
                <a:solidFill>
                  <a:schemeClr val="accent1"/>
                </a:solidFill>
              </a:rPr>
              <a:t>Kódigu Python iha SIBAR-RbR</a:t>
            </a:r>
            <a:endParaRPr lang="en-US" sz="1300" dirty="0"/>
          </a:p>
        </p:txBody>
      </p:sp>
      <p:sp>
        <p:nvSpPr>
          <p:cNvPr id="6" name="k"/>
          <p:cNvSpPr/>
          <p:nvPr/>
        </p:nvSpPr>
        <p:spPr>
          <a:xfrm>
            <a:off x="548640" y="1645920"/>
            <a:ext cx="5394960" cy="3246120"/>
          </a:xfrm>
          <a:prstGeom prst="roundRect">
            <a:avLst>
              <a:gd name="adj" fmla="val 2817"/>
            </a:avLst>
          </a:prstGeom>
          <a:solidFill>
            <a:schemeClr val="tx1"/>
          </a:solidFill>
          <a:ln w="12700">
            <a:solidFill>
              <a:schemeClr val="tx1"/>
            </a:solidFill>
            <a:prstDash val="solid"/>
          </a:ln>
        </p:spPr>
      </p:sp>
      <p:sp>
        <p:nvSpPr>
          <p:cNvPr id="7" name="k-t"/>
          <p:cNvSpPr txBox="1"/>
          <p:nvPr/>
        </p:nvSpPr>
        <p:spPr>
          <a:xfrm>
            <a:off x="822960" y="1874520"/>
            <a:ext cx="4846320" cy="2788920"/>
          </a:xfrm>
          <a:prstGeom prst="rect">
            <a:avLst/>
          </a:prstGeom>
          <a:noFill/>
          <a:ln/>
        </p:spPr>
        <p:txBody>
          <a:bodyPr wrap="square" lIns="0" tIns="0" rIns="0" bIns="0" rtlCol="0" anchor="t"/>
          <a:lstStyle/>
          <a:p>
            <a:pPr indent="0" marL="0">
              <a:buNone/>
            </a:pPr>
            <a:r>
              <a:rPr lang="en-US" sz="1250" i="1" dirty="0">
                <a:solidFill>
                  <a:schemeClr val="accent2"/>
                </a:solidFill>
                <a:latin typeface="Courier New" pitchFamily="34" charset="0"/>
                <a:ea typeface="Courier New" pitchFamily="34" charset="-122"/>
                <a:cs typeface="Courier New" pitchFamily="34" charset="-120"/>
              </a:rPr>
              <a:t># Konta kazu kada munisípiu</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mun_n = kazu.values("munisipiu")</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.annotate(n=Count("pk"))</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i="1" dirty="0">
                <a:solidFill>
                  <a:schemeClr val="accent2"/>
                </a:solidFill>
                <a:latin typeface="Courier New" pitchFamily="34" charset="0"/>
                <a:ea typeface="Courier New" pitchFamily="34" charset="-122"/>
                <a:cs typeface="Courier New" pitchFamily="34" charset="-120"/>
              </a:rPr>
              <a:t># Pontu iha mapa: GPS kada kazu</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pontu =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{"lat": k.latitude, "lng": k.longitude,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"urjente": k.urjente}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for k in kazu.exclude(latitude=None)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8" name="sig"/>
          <p:cNvSpPr/>
          <p:nvPr/>
        </p:nvSpPr>
        <p:spPr>
          <a:xfrm>
            <a:off x="548640" y="5029200"/>
            <a:ext cx="5394960" cy="1143000"/>
          </a:xfrm>
          <a:prstGeom prst="roundRect">
            <a:avLst>
              <a:gd name="adj" fmla="val 9600"/>
            </a:avLst>
          </a:prstGeom>
          <a:solidFill>
            <a:schemeClr val="bg2"/>
          </a:solidFill>
          <a:ln w="12700">
            <a:solidFill>
              <a:schemeClr val="bg2"/>
            </a:solidFill>
            <a:prstDash val="solid"/>
          </a:ln>
        </p:spPr>
      </p:sp>
      <p:sp>
        <p:nvSpPr>
          <p:cNvPr id="9" name="Text 7"/>
          <p:cNvSpPr txBox="1"/>
          <p:nvPr/>
        </p:nvSpPr>
        <p:spPr>
          <a:xfrm>
            <a:off x="777240" y="5029200"/>
            <a:ext cx="4937760" cy="1143000"/>
          </a:xfrm>
          <a:prstGeom prst="rect">
            <a:avLst/>
          </a:prstGeom>
          <a:noFill/>
          <a:ln/>
        </p:spPr>
        <p:txBody>
          <a:bodyPr wrap="square" lIns="0" tIns="0" rIns="0" bIns="0" rtlCol="0" anchor="ctr"/>
          <a:lstStyle/>
          <a:p>
            <a:pPr indent="0" marL="0">
              <a:buNone/>
            </a:pPr>
            <a:r>
              <a:rPr lang="en-US" sz="1400" b="1" dirty="0">
                <a:solidFill>
                  <a:schemeClr val="tx2"/>
                </a:solidFill>
              </a:rPr>
              <a:t>Signifika: </a:t>
            </a:r>
            <a:pPr indent="0" marL="0">
              <a:buNone/>
            </a:pPr>
            <a:r>
              <a:rPr lang="en-US" sz="1400" dirty="0">
                <a:solidFill>
                  <a:schemeClr val="tx1"/>
                </a:solidFill>
              </a:rPr>
              <a:t>Python grupu kazu tuir munisípiu no foti koordenada GPS kazu ida-idak; mapa hatudu kór no pontu (mean = urjente).</a:t>
            </a:r>
            <a:endParaRPr lang="en-US" sz="1400" dirty="0"/>
          </a:p>
        </p:txBody>
      </p:sp>
      <p:sp>
        <p:nvSpPr>
          <p:cNvPr id="10" name="seta"/>
          <p:cNvSpPr/>
          <p:nvPr/>
        </p:nvSpPr>
        <p:spPr>
          <a:xfrm>
            <a:off x="6035040" y="3291840"/>
            <a:ext cx="502920" cy="914"/>
          </a:xfrm>
          <a:prstGeom prst="line">
            <a:avLst/>
          </a:prstGeom>
          <a:noFill/>
          <a:ln w="31750">
            <a:solidFill>
              <a:schemeClr val="accent1"/>
            </a:solidFill>
            <a:prstDash val="solid"/>
            <a:tailEnd type="triangle"/>
          </a:ln>
        </p:spPr>
      </p:sp>
      <p:sp>
        <p:nvSpPr>
          <p:cNvPr id="11" name="Text 9"/>
          <p:cNvSpPr txBox="1"/>
          <p:nvPr/>
        </p:nvSpPr>
        <p:spPr>
          <a:xfrm>
            <a:off x="6629400" y="1280160"/>
            <a:ext cx="5013655" cy="320040"/>
          </a:xfrm>
          <a:prstGeom prst="rect">
            <a:avLst/>
          </a:prstGeom>
          <a:noFill/>
          <a:ln/>
        </p:spPr>
        <p:txBody>
          <a:bodyPr wrap="square" lIns="0" tIns="0" rIns="0" bIns="0" rtlCol="0" anchor="t"/>
          <a:lstStyle/>
          <a:p>
            <a:pPr indent="0" marL="0">
              <a:buNone/>
            </a:pPr>
            <a:r>
              <a:rPr lang="en-US" sz="1300" b="1" dirty="0">
                <a:solidFill>
                  <a:schemeClr val="accent1"/>
                </a:solidFill>
              </a:rPr>
              <a:t>Rezultadu iha Live Dashboard</a:t>
            </a:r>
            <a:endParaRPr lang="en-US" sz="1300" dirty="0"/>
          </a:p>
        </p:txBody>
      </p:sp>
      <p:sp>
        <p:nvSpPr>
          <p:cNvPr id="12" name="live-moldura"/>
          <p:cNvSpPr/>
          <p:nvPr/>
        </p:nvSpPr>
        <p:spPr>
          <a:xfrm>
            <a:off x="6574536" y="1636776"/>
            <a:ext cx="5123383" cy="4247471"/>
          </a:xfrm>
          <a:prstGeom prst="roundRect">
            <a:avLst>
              <a:gd name="adj" fmla="val 1722"/>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3" name="live" descr="/tmp/claude-0/-home-user-sjamci/3266590f-78d1-5366-b61d-23553f70b1cc/scratchpad/besik/mapa.png">    </p:cNvPr>
          <p:cNvPicPr>
            <a:picLocks noChangeAspect="1"/>
          </p:cNvPicPr>
          <p:nvPr/>
        </p:nvPicPr>
        <p:blipFill>
          <a:blip r:embed="rId1"/>
          <a:stretch>
            <a:fillRect/>
          </a:stretch>
        </p:blipFill>
        <p:spPr>
          <a:xfrm>
            <a:off x="6629400" y="1691640"/>
            <a:ext cx="5013655" cy="4137743"/>
          </a:xfrm>
          <a:prstGeom prst="rect">
            <a:avLst/>
          </a:prstGeom>
        </p:spPr>
      </p:pic>
      <p:sp>
        <p:nvSpPr>
          <p:cNvPr id="14" name="live-c"/>
          <p:cNvSpPr txBox="1"/>
          <p:nvPr/>
        </p:nvSpPr>
        <p:spPr>
          <a:xfrm>
            <a:off x="6355080" y="5939111"/>
            <a:ext cx="5562295" cy="274320"/>
          </a:xfrm>
          <a:prstGeom prst="rect">
            <a:avLst/>
          </a:prstGeom>
          <a:noFill/>
          <a:ln/>
        </p:spPr>
        <p:txBody>
          <a:bodyPr wrap="square" lIns="0" tIns="0" rIns="0" bIns="0" rtlCol="0" anchor="t"/>
          <a:lstStyle/>
          <a:p>
            <a:pPr algn="ctr" indent="0" marL="0">
              <a:buNone/>
            </a:pPr>
            <a:r>
              <a:rPr lang="en-US" sz="1100" i="1" dirty="0">
                <a:solidFill>
                  <a:srgbClr val="5E6B66"/>
                </a:solidFill>
              </a:rPr>
              <a:t>Ekran Live SIBAR-RbR (dadus ezemplu)</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Tendénsia kazu tuir fulan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11:28</a:t>
            </a:r>
            <a:endParaRPr lang="en-US" sz="1200" dirty="0"/>
          </a:p>
        </p:txBody>
      </p:sp>
      <p:sp>
        <p:nvSpPr>
          <p:cNvPr id="5" name="Text 3"/>
          <p:cNvSpPr txBox="1"/>
          <p:nvPr/>
        </p:nvSpPr>
        <p:spPr>
          <a:xfrm>
            <a:off x="548640" y="1280160"/>
            <a:ext cx="5394960" cy="320040"/>
          </a:xfrm>
          <a:prstGeom prst="rect">
            <a:avLst/>
          </a:prstGeom>
          <a:noFill/>
          <a:ln/>
        </p:spPr>
        <p:txBody>
          <a:bodyPr wrap="square" lIns="0" tIns="0" rIns="0" bIns="0" rtlCol="0" anchor="t"/>
          <a:lstStyle/>
          <a:p>
            <a:pPr indent="0" marL="0">
              <a:buNone/>
            </a:pPr>
            <a:r>
              <a:rPr lang="en-US" sz="1300" b="1" dirty="0">
                <a:solidFill>
                  <a:schemeClr val="accent1"/>
                </a:solidFill>
              </a:rPr>
              <a:t>Kódigu Python iha SIBAR-RbR</a:t>
            </a:r>
            <a:endParaRPr lang="en-US" sz="1300" dirty="0"/>
          </a:p>
        </p:txBody>
      </p:sp>
      <p:sp>
        <p:nvSpPr>
          <p:cNvPr id="6" name="k"/>
          <p:cNvSpPr/>
          <p:nvPr/>
        </p:nvSpPr>
        <p:spPr>
          <a:xfrm>
            <a:off x="548640" y="1645920"/>
            <a:ext cx="5394960" cy="3246120"/>
          </a:xfrm>
          <a:prstGeom prst="roundRect">
            <a:avLst>
              <a:gd name="adj" fmla="val 2817"/>
            </a:avLst>
          </a:prstGeom>
          <a:solidFill>
            <a:schemeClr val="tx1"/>
          </a:solidFill>
          <a:ln w="12700">
            <a:solidFill>
              <a:schemeClr val="tx1"/>
            </a:solidFill>
            <a:prstDash val="solid"/>
          </a:ln>
        </p:spPr>
      </p:sp>
      <p:sp>
        <p:nvSpPr>
          <p:cNvPr id="7" name="k-t"/>
          <p:cNvSpPr txBox="1"/>
          <p:nvPr/>
        </p:nvSpPr>
        <p:spPr>
          <a:xfrm>
            <a:off x="822960" y="1874520"/>
            <a:ext cx="4846320" cy="2788920"/>
          </a:xfrm>
          <a:prstGeom prst="rect">
            <a:avLst/>
          </a:prstGeom>
          <a:noFill/>
          <a:ln/>
        </p:spPr>
        <p:txBody>
          <a:bodyPr wrap="square" lIns="0" tIns="0" rIns="0" bIns="0" rtlCol="0" anchor="t"/>
          <a:lstStyle/>
          <a:p>
            <a:pPr indent="0" marL="0">
              <a:buNone/>
            </a:pPr>
            <a:r>
              <a:rPr lang="en-US" sz="1250" i="1" dirty="0">
                <a:solidFill>
                  <a:schemeClr val="accent2"/>
                </a:solidFill>
                <a:latin typeface="Courier New" pitchFamily="34" charset="0"/>
                <a:ea typeface="Courier New" pitchFamily="34" charset="-122"/>
                <a:cs typeface="Courier New" pitchFamily="34" charset="-120"/>
              </a:rPr>
              <a:t># Kazu kada fulan (fulan 12 ikus)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por_fulan = (kazu</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.filter(d__gte=hahu)</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.annotate(f=TruncMonth("d"))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.values("f")</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.annotate(n=Count("pk")))</a:t>
            </a:r>
            <a:endParaRPr lang="en-US" sz="1250" dirty="0"/>
          </a:p>
        </p:txBody>
      </p:sp>
      <p:sp>
        <p:nvSpPr>
          <p:cNvPr id="8" name="sig"/>
          <p:cNvSpPr/>
          <p:nvPr/>
        </p:nvSpPr>
        <p:spPr>
          <a:xfrm>
            <a:off x="548640" y="5029200"/>
            <a:ext cx="5394960" cy="1143000"/>
          </a:xfrm>
          <a:prstGeom prst="roundRect">
            <a:avLst>
              <a:gd name="adj" fmla="val 9600"/>
            </a:avLst>
          </a:prstGeom>
          <a:solidFill>
            <a:schemeClr val="bg2"/>
          </a:solidFill>
          <a:ln w="12700">
            <a:solidFill>
              <a:schemeClr val="bg2"/>
            </a:solidFill>
            <a:prstDash val="solid"/>
          </a:ln>
        </p:spPr>
      </p:sp>
      <p:sp>
        <p:nvSpPr>
          <p:cNvPr id="9" name="Text 7"/>
          <p:cNvSpPr txBox="1"/>
          <p:nvPr/>
        </p:nvSpPr>
        <p:spPr>
          <a:xfrm>
            <a:off x="777240" y="5029200"/>
            <a:ext cx="4937760" cy="1143000"/>
          </a:xfrm>
          <a:prstGeom prst="rect">
            <a:avLst/>
          </a:prstGeom>
          <a:noFill/>
          <a:ln/>
        </p:spPr>
        <p:txBody>
          <a:bodyPr wrap="square" lIns="0" tIns="0" rIns="0" bIns="0" rtlCol="0" anchor="ctr"/>
          <a:lstStyle/>
          <a:p>
            <a:pPr indent="0" marL="0">
              <a:buNone/>
            </a:pPr>
            <a:r>
              <a:rPr lang="en-US" sz="1400" b="1" dirty="0">
                <a:solidFill>
                  <a:schemeClr val="tx2"/>
                </a:solidFill>
              </a:rPr>
              <a:t>Signifika: </a:t>
            </a:r>
            <a:pPr indent="0" marL="0">
              <a:buNone/>
            </a:pPr>
            <a:r>
              <a:rPr lang="en-US" sz="1400" dirty="0">
                <a:solidFill>
                  <a:schemeClr val="tx1"/>
                </a:solidFill>
              </a:rPr>
              <a:t>Python grupu kazu tuir fulan (data simu kazu) no hatudu liña tendénsia fulan 12 ikus.</a:t>
            </a:r>
            <a:endParaRPr lang="en-US" sz="1400" dirty="0"/>
          </a:p>
        </p:txBody>
      </p:sp>
      <p:sp>
        <p:nvSpPr>
          <p:cNvPr id="10" name="seta"/>
          <p:cNvSpPr/>
          <p:nvPr/>
        </p:nvSpPr>
        <p:spPr>
          <a:xfrm>
            <a:off x="6035040" y="3291840"/>
            <a:ext cx="502920" cy="914"/>
          </a:xfrm>
          <a:prstGeom prst="line">
            <a:avLst/>
          </a:prstGeom>
          <a:noFill/>
          <a:ln w="31750">
            <a:solidFill>
              <a:schemeClr val="accent1"/>
            </a:solidFill>
            <a:prstDash val="solid"/>
            <a:tailEnd type="triangle"/>
          </a:ln>
        </p:spPr>
      </p:sp>
      <p:sp>
        <p:nvSpPr>
          <p:cNvPr id="11" name="Text 9"/>
          <p:cNvSpPr txBox="1"/>
          <p:nvPr/>
        </p:nvSpPr>
        <p:spPr>
          <a:xfrm>
            <a:off x="6629400" y="1280160"/>
            <a:ext cx="5013655" cy="320040"/>
          </a:xfrm>
          <a:prstGeom prst="rect">
            <a:avLst/>
          </a:prstGeom>
          <a:noFill/>
          <a:ln/>
        </p:spPr>
        <p:txBody>
          <a:bodyPr wrap="square" lIns="0" tIns="0" rIns="0" bIns="0" rtlCol="0" anchor="t"/>
          <a:lstStyle/>
          <a:p>
            <a:pPr indent="0" marL="0">
              <a:buNone/>
            </a:pPr>
            <a:r>
              <a:rPr lang="en-US" sz="1300" b="1" dirty="0">
                <a:solidFill>
                  <a:schemeClr val="accent1"/>
                </a:solidFill>
              </a:rPr>
              <a:t>Rezultadu iha Live Dashboard</a:t>
            </a:r>
            <a:endParaRPr lang="en-US" sz="1300" dirty="0"/>
          </a:p>
        </p:txBody>
      </p:sp>
      <p:sp>
        <p:nvSpPr>
          <p:cNvPr id="12" name="live-moldura"/>
          <p:cNvSpPr/>
          <p:nvPr/>
        </p:nvSpPr>
        <p:spPr>
          <a:xfrm>
            <a:off x="6574536" y="1636776"/>
            <a:ext cx="5123383" cy="4246264"/>
          </a:xfrm>
          <a:prstGeom prst="roundRect">
            <a:avLst>
              <a:gd name="adj" fmla="val 172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3" name="live" descr="/tmp/claude-0/-home-user-sjamci/3266590f-78d1-5366-b61d-23553f70b1cc/scratchpad/besik/trend.png">    </p:cNvPr>
          <p:cNvPicPr>
            <a:picLocks noChangeAspect="1"/>
          </p:cNvPicPr>
          <p:nvPr/>
        </p:nvPicPr>
        <p:blipFill>
          <a:blip r:embed="rId1"/>
          <a:stretch>
            <a:fillRect/>
          </a:stretch>
        </p:blipFill>
        <p:spPr>
          <a:xfrm>
            <a:off x="6629400" y="1691640"/>
            <a:ext cx="5013655" cy="4136536"/>
          </a:xfrm>
          <a:prstGeom prst="rect">
            <a:avLst/>
          </a:prstGeom>
        </p:spPr>
      </p:pic>
      <p:sp>
        <p:nvSpPr>
          <p:cNvPr id="14" name="live-c"/>
          <p:cNvSpPr txBox="1"/>
          <p:nvPr/>
        </p:nvSpPr>
        <p:spPr>
          <a:xfrm>
            <a:off x="6355080" y="5937904"/>
            <a:ext cx="5562295" cy="274320"/>
          </a:xfrm>
          <a:prstGeom prst="rect">
            <a:avLst/>
          </a:prstGeom>
          <a:noFill/>
          <a:ln/>
        </p:spPr>
        <p:txBody>
          <a:bodyPr wrap="square" lIns="0" tIns="0" rIns="0" bIns="0" rtlCol="0" anchor="t"/>
          <a:lstStyle/>
          <a:p>
            <a:pPr algn="ctr" indent="0" marL="0">
              <a:buNone/>
            </a:pPr>
            <a:r>
              <a:rPr lang="en-US" sz="1100" i="1" dirty="0">
                <a:solidFill>
                  <a:srgbClr val="5E6B66"/>
                </a:solidFill>
              </a:rPr>
              <a:t>Ekran Live SIBAR-RbR (dadus ezemplu)</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Painel eviksaun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11:31</a:t>
            </a:r>
            <a:endParaRPr lang="en-US" sz="1200" dirty="0"/>
          </a:p>
        </p:txBody>
      </p:sp>
      <p:sp>
        <p:nvSpPr>
          <p:cNvPr id="5" name="Text 3"/>
          <p:cNvSpPr txBox="1"/>
          <p:nvPr/>
        </p:nvSpPr>
        <p:spPr>
          <a:xfrm>
            <a:off x="548640" y="1280160"/>
            <a:ext cx="5394960" cy="320040"/>
          </a:xfrm>
          <a:prstGeom prst="rect">
            <a:avLst/>
          </a:prstGeom>
          <a:noFill/>
          <a:ln/>
        </p:spPr>
        <p:txBody>
          <a:bodyPr wrap="square" lIns="0" tIns="0" rIns="0" bIns="0" rtlCol="0" anchor="t"/>
          <a:lstStyle/>
          <a:p>
            <a:pPr indent="0" marL="0">
              <a:buNone/>
            </a:pPr>
            <a:r>
              <a:rPr lang="en-US" sz="1300" b="1" dirty="0">
                <a:solidFill>
                  <a:schemeClr val="accent1"/>
                </a:solidFill>
              </a:rPr>
              <a:t>Kódigu Python iha SIBAR-RbR</a:t>
            </a:r>
            <a:endParaRPr lang="en-US" sz="1300" dirty="0"/>
          </a:p>
        </p:txBody>
      </p:sp>
      <p:sp>
        <p:nvSpPr>
          <p:cNvPr id="6" name="k"/>
          <p:cNvSpPr/>
          <p:nvPr/>
        </p:nvSpPr>
        <p:spPr>
          <a:xfrm>
            <a:off x="548640" y="1645920"/>
            <a:ext cx="5394960" cy="3246120"/>
          </a:xfrm>
          <a:prstGeom prst="roundRect">
            <a:avLst>
              <a:gd name="adj" fmla="val 2817"/>
            </a:avLst>
          </a:prstGeom>
          <a:solidFill>
            <a:schemeClr val="tx1"/>
          </a:solidFill>
          <a:ln w="12700">
            <a:solidFill>
              <a:schemeClr val="tx1"/>
            </a:solidFill>
            <a:prstDash val="solid"/>
          </a:ln>
        </p:spPr>
      </p:sp>
      <p:sp>
        <p:nvSpPr>
          <p:cNvPr id="7" name="k-t"/>
          <p:cNvSpPr txBox="1"/>
          <p:nvPr/>
        </p:nvSpPr>
        <p:spPr>
          <a:xfrm>
            <a:off x="822960" y="1874520"/>
            <a:ext cx="4846320" cy="2788920"/>
          </a:xfrm>
          <a:prstGeom prst="rect">
            <a:avLst/>
          </a:prstGeom>
          <a:noFill/>
          <a:ln/>
        </p:spPr>
        <p:txBody>
          <a:bodyPr wrap="square" lIns="0" tIns="0" rIns="0" bIns="0" rtlCol="0" anchor="t"/>
          <a:lstStyle/>
          <a:p>
            <a:pPr indent="0" marL="0">
              <a:buNone/>
            </a:pPr>
            <a:r>
              <a:rPr lang="en-US" sz="1250" i="1" dirty="0">
                <a:solidFill>
                  <a:schemeClr val="accent2"/>
                </a:solidFill>
                <a:latin typeface="Courier New" pitchFamily="34" charset="0"/>
                <a:ea typeface="Courier New" pitchFamily="34" charset="-122"/>
                <a:cs typeface="Courier New" pitchFamily="34" charset="-120"/>
              </a:rPr>
              <a:t># Kazu ne'ebé hetan ona eviksaun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evik = kazu.filter(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eviksaun__eviksaun_akontese="SIN")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i="1" dirty="0">
                <a:solidFill>
                  <a:schemeClr val="accent2"/>
                </a:solidFill>
                <a:latin typeface="Courier New" pitchFamily="34" charset="0"/>
                <a:ea typeface="Courier New" pitchFamily="34" charset="-122"/>
                <a:cs typeface="Courier New" pitchFamily="34" charset="-120"/>
              </a:rPr>
              <a:t># Konta resposta: Sin / Lae / La hatene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konsultasaun = konta(evik, "konsultasaun_molok")</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notifikasaun = konta(evik, "notifikasaun_klaru")</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forsa = konta(evik, "uza_forsa")</a:t>
            </a:r>
            <a:endParaRPr lang="en-US" sz="1250" dirty="0"/>
          </a:p>
        </p:txBody>
      </p:sp>
      <p:sp>
        <p:nvSpPr>
          <p:cNvPr id="8" name="sig"/>
          <p:cNvSpPr/>
          <p:nvPr/>
        </p:nvSpPr>
        <p:spPr>
          <a:xfrm>
            <a:off x="548640" y="5029200"/>
            <a:ext cx="5394960" cy="1143000"/>
          </a:xfrm>
          <a:prstGeom prst="roundRect">
            <a:avLst>
              <a:gd name="adj" fmla="val 9600"/>
            </a:avLst>
          </a:prstGeom>
          <a:solidFill>
            <a:schemeClr val="bg2"/>
          </a:solidFill>
          <a:ln w="12700">
            <a:solidFill>
              <a:schemeClr val="bg2"/>
            </a:solidFill>
            <a:prstDash val="solid"/>
          </a:ln>
        </p:spPr>
      </p:sp>
      <p:sp>
        <p:nvSpPr>
          <p:cNvPr id="9" name="Text 7"/>
          <p:cNvSpPr txBox="1"/>
          <p:nvPr/>
        </p:nvSpPr>
        <p:spPr>
          <a:xfrm>
            <a:off x="777240" y="5029200"/>
            <a:ext cx="4937760" cy="1143000"/>
          </a:xfrm>
          <a:prstGeom prst="rect">
            <a:avLst/>
          </a:prstGeom>
          <a:noFill/>
          <a:ln/>
        </p:spPr>
        <p:txBody>
          <a:bodyPr wrap="square" lIns="0" tIns="0" rIns="0" bIns="0" rtlCol="0" anchor="ctr"/>
          <a:lstStyle/>
          <a:p>
            <a:pPr indent="0" marL="0">
              <a:buNone/>
            </a:pPr>
            <a:r>
              <a:rPr lang="en-US" sz="1400" b="1" dirty="0">
                <a:solidFill>
                  <a:schemeClr val="tx2"/>
                </a:solidFill>
              </a:rPr>
              <a:t>Signifika: </a:t>
            </a:r>
            <a:pPr indent="0" marL="0">
              <a:buNone/>
            </a:pPr>
            <a:r>
              <a:rPr lang="en-US" sz="1400" dirty="0">
                <a:solidFill>
                  <a:schemeClr val="tx1"/>
                </a:solidFill>
              </a:rPr>
              <a:t>Python hili kazu eviksaun no konta resposta pergunta tolu; mean = resposta aat (la iha konsultasaun, uza forsa).</a:t>
            </a:r>
            <a:endParaRPr lang="en-US" sz="1400" dirty="0"/>
          </a:p>
        </p:txBody>
      </p:sp>
      <p:sp>
        <p:nvSpPr>
          <p:cNvPr id="10" name="seta"/>
          <p:cNvSpPr/>
          <p:nvPr/>
        </p:nvSpPr>
        <p:spPr>
          <a:xfrm>
            <a:off x="6035040" y="3291840"/>
            <a:ext cx="502920" cy="914"/>
          </a:xfrm>
          <a:prstGeom prst="line">
            <a:avLst/>
          </a:prstGeom>
          <a:noFill/>
          <a:ln w="31750">
            <a:solidFill>
              <a:schemeClr val="accent1"/>
            </a:solidFill>
            <a:prstDash val="solid"/>
            <a:tailEnd type="triangle"/>
          </a:ln>
        </p:spPr>
      </p:sp>
      <p:sp>
        <p:nvSpPr>
          <p:cNvPr id="11" name="Text 9"/>
          <p:cNvSpPr txBox="1"/>
          <p:nvPr/>
        </p:nvSpPr>
        <p:spPr>
          <a:xfrm>
            <a:off x="6629400" y="1280160"/>
            <a:ext cx="5013655" cy="320040"/>
          </a:xfrm>
          <a:prstGeom prst="rect">
            <a:avLst/>
          </a:prstGeom>
          <a:noFill/>
          <a:ln/>
        </p:spPr>
        <p:txBody>
          <a:bodyPr wrap="square" lIns="0" tIns="0" rIns="0" bIns="0" rtlCol="0" anchor="t"/>
          <a:lstStyle/>
          <a:p>
            <a:pPr indent="0" marL="0">
              <a:buNone/>
            </a:pPr>
            <a:r>
              <a:rPr lang="en-US" sz="1300" b="1" dirty="0">
                <a:solidFill>
                  <a:schemeClr val="accent1"/>
                </a:solidFill>
              </a:rPr>
              <a:t>Rezultadu iha Live Dashboard</a:t>
            </a:r>
            <a:endParaRPr lang="en-US" sz="1300" dirty="0"/>
          </a:p>
        </p:txBody>
      </p:sp>
      <p:sp>
        <p:nvSpPr>
          <p:cNvPr id="12" name="live-moldura"/>
          <p:cNvSpPr/>
          <p:nvPr/>
        </p:nvSpPr>
        <p:spPr>
          <a:xfrm>
            <a:off x="7778344" y="1636776"/>
            <a:ext cx="2715768" cy="4453128"/>
          </a:xfrm>
          <a:prstGeom prst="roundRect">
            <a:avLst>
              <a:gd name="adj" fmla="val 269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3" name="live" descr="/tmp/claude-0/-home-user-sjamci/3266590f-78d1-5366-b61d-23553f70b1cc/scratchpad/besik/evik.png">    </p:cNvPr>
          <p:cNvPicPr>
            <a:picLocks noChangeAspect="1"/>
          </p:cNvPicPr>
          <p:nvPr/>
        </p:nvPicPr>
        <p:blipFill>
          <a:blip r:embed="rId1"/>
          <a:stretch>
            <a:fillRect/>
          </a:stretch>
        </p:blipFill>
        <p:spPr>
          <a:xfrm>
            <a:off x="7833208" y="1691640"/>
            <a:ext cx="2606040" cy="4343400"/>
          </a:xfrm>
          <a:prstGeom prst="rect">
            <a:avLst/>
          </a:prstGeom>
        </p:spPr>
      </p:pic>
      <p:sp>
        <p:nvSpPr>
          <p:cNvPr id="14" name="live-c"/>
          <p:cNvSpPr txBox="1"/>
          <p:nvPr/>
        </p:nvSpPr>
        <p:spPr>
          <a:xfrm>
            <a:off x="7558888" y="6144768"/>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Ekran Live SIBAR-RbR (dadus ezemplu)</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Target ba futuru (proposta)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11:35</a:t>
            </a:r>
            <a:endParaRPr lang="en-US" sz="1200" dirty="0"/>
          </a:p>
        </p:txBody>
      </p:sp>
      <p:sp>
        <p:nvSpPr>
          <p:cNvPr id="5" name="fu-0"/>
          <p:cNvSpPr/>
          <p:nvPr/>
        </p:nvSpPr>
        <p:spPr>
          <a:xfrm>
            <a:off x="548640" y="1463040"/>
            <a:ext cx="3423818" cy="2103120"/>
          </a:xfrm>
          <a:prstGeom prst="roundRect">
            <a:avLst>
              <a:gd name="adj" fmla="val 5217"/>
            </a:avLst>
          </a:prstGeom>
          <a:solidFill>
            <a:schemeClr val="bg2"/>
          </a:solidFill>
          <a:ln w="12700">
            <a:solidFill>
              <a:schemeClr val="bg2"/>
            </a:solidFill>
            <a:prstDash val="solid"/>
          </a:ln>
        </p:spPr>
      </p:sp>
      <p:sp>
        <p:nvSpPr>
          <p:cNvPr id="6" name="fu-ik-0-sirkulu"/>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7" name="fu-ik-0-ikone" descr="preencoded.png">    </p:cNvPr>
          <p:cNvPicPr>
            <a:picLocks noChangeAspect="1"/>
          </p:cNvPicPr>
          <p:nvPr/>
        </p:nvPicPr>
        <p:blipFill>
          <a:blip r:embed="rId1"/>
          <a:stretch>
            <a:fillRect/>
          </a:stretch>
        </p:blipFill>
        <p:spPr>
          <a:xfrm>
            <a:off x="1020470" y="1934870"/>
            <a:ext cx="427939" cy="427939"/>
          </a:xfrm>
          <a:prstGeom prst="rect">
            <a:avLst/>
          </a:prstGeom>
        </p:spPr>
      </p:pic>
      <p:sp>
        <p:nvSpPr>
          <p:cNvPr id="8" name="Text 5"/>
          <p:cNvSpPr txBox="1"/>
          <p:nvPr/>
        </p:nvSpPr>
        <p:spPr>
          <a:xfrm>
            <a:off x="1783080" y="1691640"/>
            <a:ext cx="2006498" cy="914400"/>
          </a:xfrm>
          <a:prstGeom prst="rect">
            <a:avLst/>
          </a:prstGeom>
          <a:noFill/>
          <a:ln/>
        </p:spPr>
        <p:txBody>
          <a:bodyPr wrap="square" lIns="0" tIns="0" rIns="0" bIns="0" rtlCol="0" anchor="ctr"/>
          <a:lstStyle/>
          <a:p>
            <a:pPr indent="0" marL="0">
              <a:buNone/>
            </a:pPr>
            <a:r>
              <a:rPr lang="en-US" sz="1600" b="1" dirty="0">
                <a:solidFill>
                  <a:schemeClr val="tx2"/>
                </a:solidFill>
              </a:rPr>
              <a:t>Investigadór hotu ho app offline</a:t>
            </a:r>
            <a:endParaRPr lang="en-US" sz="1600" dirty="0"/>
          </a:p>
        </p:txBody>
      </p:sp>
      <p:sp>
        <p:nvSpPr>
          <p:cNvPr id="9" name="Text 6"/>
          <p:cNvSpPr txBox="1"/>
          <p:nvPr/>
        </p:nvSpPr>
        <p:spPr>
          <a:xfrm>
            <a:off x="822960" y="2697480"/>
            <a:ext cx="2875178" cy="777240"/>
          </a:xfrm>
          <a:prstGeom prst="rect">
            <a:avLst/>
          </a:prstGeom>
          <a:noFill/>
          <a:ln/>
        </p:spPr>
        <p:txBody>
          <a:bodyPr wrap="square" lIns="0" tIns="0" rIns="0" bIns="0" rtlCol="0" anchor="t"/>
          <a:lstStyle/>
          <a:p>
            <a:pPr indent="0" marL="0">
              <a:buNone/>
            </a:pPr>
            <a:r>
              <a:rPr lang="en-US" sz="1400" dirty="0">
                <a:solidFill>
                  <a:schemeClr val="tx1"/>
                </a:solidFill>
              </a:rPr>
              <a:t>Rejista kazu direta iha terrenu, GPS no foto.</a:t>
            </a:r>
            <a:endParaRPr lang="en-US" sz="1400" dirty="0"/>
          </a:p>
        </p:txBody>
      </p:sp>
      <p:sp>
        <p:nvSpPr>
          <p:cNvPr id="10" name="fu-1"/>
          <p:cNvSpPr/>
          <p:nvPr/>
        </p:nvSpPr>
        <p:spPr>
          <a:xfrm>
            <a:off x="4246778" y="1463040"/>
            <a:ext cx="3423818" cy="2103120"/>
          </a:xfrm>
          <a:prstGeom prst="roundRect">
            <a:avLst>
              <a:gd name="adj" fmla="val 5217"/>
            </a:avLst>
          </a:prstGeom>
          <a:solidFill>
            <a:schemeClr val="bg2"/>
          </a:solidFill>
          <a:ln w="12700">
            <a:solidFill>
              <a:schemeClr val="bg2"/>
            </a:solidFill>
            <a:prstDash val="solid"/>
          </a:ln>
        </p:spPr>
      </p:sp>
      <p:sp>
        <p:nvSpPr>
          <p:cNvPr id="11" name="fu-ik-1-sirkulu"/>
          <p:cNvSpPr/>
          <p:nvPr/>
        </p:nvSpPr>
        <p:spPr>
          <a:xfrm>
            <a:off x="4521098" y="1737360"/>
            <a:ext cx="822960" cy="822960"/>
          </a:xfrm>
          <a:prstGeom prst="ellipse">
            <a:avLst/>
          </a:prstGeom>
          <a:solidFill>
            <a:schemeClr val="accent5"/>
          </a:solidFill>
          <a:ln w="12700">
            <a:solidFill>
              <a:schemeClr val="accent5"/>
            </a:solidFill>
            <a:prstDash val="solid"/>
          </a:ln>
        </p:spPr>
      </p:sp>
      <p:pic>
        <p:nvPicPr>
          <p:cNvPr id="12" name="fu-ik-1-ikone" descr="preencoded.png">    </p:cNvPr>
          <p:cNvPicPr>
            <a:picLocks noChangeAspect="1"/>
          </p:cNvPicPr>
          <p:nvPr/>
        </p:nvPicPr>
        <p:blipFill>
          <a:blip r:embed="rId2"/>
          <a:stretch>
            <a:fillRect/>
          </a:stretch>
        </p:blipFill>
        <p:spPr>
          <a:xfrm>
            <a:off x="4718609" y="1934870"/>
            <a:ext cx="427939" cy="427939"/>
          </a:xfrm>
          <a:prstGeom prst="rect">
            <a:avLst/>
          </a:prstGeom>
        </p:spPr>
      </p:pic>
      <p:sp>
        <p:nvSpPr>
          <p:cNvPr id="13" name="Text 9"/>
          <p:cNvSpPr txBox="1"/>
          <p:nvPr/>
        </p:nvSpPr>
        <p:spPr>
          <a:xfrm>
            <a:off x="5481218" y="1691640"/>
            <a:ext cx="2006498" cy="914400"/>
          </a:xfrm>
          <a:prstGeom prst="rect">
            <a:avLst/>
          </a:prstGeom>
          <a:noFill/>
          <a:ln/>
        </p:spPr>
        <p:txBody>
          <a:bodyPr wrap="square" lIns="0" tIns="0" rIns="0" bIns="0" rtlCol="0" anchor="ctr"/>
          <a:lstStyle/>
          <a:p>
            <a:pPr indent="0" marL="0">
              <a:buNone/>
            </a:pPr>
            <a:r>
              <a:rPr lang="en-US" sz="1600" b="1" dirty="0">
                <a:solidFill>
                  <a:schemeClr val="tx2"/>
                </a:solidFill>
              </a:rPr>
              <a:t>Portal públiku ba advokasia</a:t>
            </a:r>
            <a:endParaRPr lang="en-US" sz="1600" dirty="0"/>
          </a:p>
        </p:txBody>
      </p:sp>
      <p:sp>
        <p:nvSpPr>
          <p:cNvPr id="14" name="Text 10"/>
          <p:cNvSpPr txBox="1"/>
          <p:nvPr/>
        </p:nvSpPr>
        <p:spPr>
          <a:xfrm>
            <a:off x="4521098" y="2697480"/>
            <a:ext cx="2875178" cy="777240"/>
          </a:xfrm>
          <a:prstGeom prst="rect">
            <a:avLst/>
          </a:prstGeom>
          <a:noFill/>
          <a:ln/>
        </p:spPr>
        <p:txBody>
          <a:bodyPr wrap="square" lIns="0" tIns="0" rIns="0" bIns="0" rtlCol="0" anchor="t"/>
          <a:lstStyle/>
          <a:p>
            <a:pPr indent="0" marL="0">
              <a:buNone/>
            </a:pPr>
            <a:r>
              <a:rPr lang="en-US" sz="1400" dirty="0">
                <a:solidFill>
                  <a:schemeClr val="tx1"/>
                </a:solidFill>
              </a:rPr>
              <a:t>Dadus agregadu ho konsentimentu ba públiku no parseiru.</a:t>
            </a:r>
            <a:endParaRPr lang="en-US" sz="1400" dirty="0"/>
          </a:p>
        </p:txBody>
      </p:sp>
      <p:sp>
        <p:nvSpPr>
          <p:cNvPr id="15" name="fu-2"/>
          <p:cNvSpPr/>
          <p:nvPr/>
        </p:nvSpPr>
        <p:spPr>
          <a:xfrm>
            <a:off x="7944917" y="1463040"/>
            <a:ext cx="3423818" cy="2103120"/>
          </a:xfrm>
          <a:prstGeom prst="roundRect">
            <a:avLst>
              <a:gd name="adj" fmla="val 5217"/>
            </a:avLst>
          </a:prstGeom>
          <a:solidFill>
            <a:schemeClr val="bg2"/>
          </a:solidFill>
          <a:ln w="12700">
            <a:solidFill>
              <a:schemeClr val="bg2"/>
            </a:solidFill>
            <a:prstDash val="solid"/>
          </a:ln>
        </p:spPr>
      </p:sp>
      <p:sp>
        <p:nvSpPr>
          <p:cNvPr id="16" name="fu-ik-2-sirkulu"/>
          <p:cNvSpPr/>
          <p:nvPr/>
        </p:nvSpPr>
        <p:spPr>
          <a:xfrm>
            <a:off x="8219237" y="1737360"/>
            <a:ext cx="822960" cy="822960"/>
          </a:xfrm>
          <a:prstGeom prst="ellipse">
            <a:avLst/>
          </a:prstGeom>
          <a:solidFill>
            <a:schemeClr val="accent6"/>
          </a:solidFill>
          <a:ln w="12700">
            <a:solidFill>
              <a:schemeClr val="accent6"/>
            </a:solidFill>
            <a:prstDash val="solid"/>
          </a:ln>
        </p:spPr>
      </p:sp>
      <p:pic>
        <p:nvPicPr>
          <p:cNvPr id="17" name="fu-ik-2-ikone" descr="preencoded.png">    </p:cNvPr>
          <p:cNvPicPr>
            <a:picLocks noChangeAspect="1"/>
          </p:cNvPicPr>
          <p:nvPr/>
        </p:nvPicPr>
        <p:blipFill>
          <a:blip r:embed="rId3"/>
          <a:stretch>
            <a:fillRect/>
          </a:stretch>
        </p:blipFill>
        <p:spPr>
          <a:xfrm>
            <a:off x="8416747" y="1934870"/>
            <a:ext cx="427939" cy="427939"/>
          </a:xfrm>
          <a:prstGeom prst="rect">
            <a:avLst/>
          </a:prstGeom>
        </p:spPr>
      </p:pic>
      <p:sp>
        <p:nvSpPr>
          <p:cNvPr id="18" name="Text 13"/>
          <p:cNvSpPr txBox="1"/>
          <p:nvPr/>
        </p:nvSpPr>
        <p:spPr>
          <a:xfrm>
            <a:off x="9179357" y="1691640"/>
            <a:ext cx="2006498" cy="914400"/>
          </a:xfrm>
          <a:prstGeom prst="rect">
            <a:avLst/>
          </a:prstGeom>
          <a:noFill/>
          <a:ln/>
        </p:spPr>
        <p:txBody>
          <a:bodyPr wrap="square" lIns="0" tIns="0" rIns="0" bIns="0" rtlCol="0" anchor="ctr"/>
          <a:lstStyle/>
          <a:p>
            <a:pPr indent="0" marL="0">
              <a:buNone/>
            </a:pPr>
            <a:r>
              <a:rPr lang="en-US" sz="1600" b="1" dirty="0">
                <a:solidFill>
                  <a:schemeClr val="tx2"/>
                </a:solidFill>
              </a:rPr>
              <a:t>Relatóriu automátiku</a:t>
            </a:r>
            <a:endParaRPr lang="en-US" sz="1600" dirty="0"/>
          </a:p>
        </p:txBody>
      </p:sp>
      <p:sp>
        <p:nvSpPr>
          <p:cNvPr id="19" name="Text 14"/>
          <p:cNvSpPr txBox="1"/>
          <p:nvPr/>
        </p:nvSpPr>
        <p:spPr>
          <a:xfrm>
            <a:off x="8219237" y="2697480"/>
            <a:ext cx="2875178" cy="777240"/>
          </a:xfrm>
          <a:prstGeom prst="rect">
            <a:avLst/>
          </a:prstGeom>
          <a:noFill/>
          <a:ln/>
        </p:spPr>
        <p:txBody>
          <a:bodyPr wrap="square" lIns="0" tIns="0" rIns="0" bIns="0" rtlCol="0" anchor="t"/>
          <a:lstStyle/>
          <a:p>
            <a:pPr indent="0" marL="0">
              <a:buNone/>
            </a:pPr>
            <a:r>
              <a:rPr lang="en-US" sz="1400" dirty="0">
                <a:solidFill>
                  <a:schemeClr val="tx1"/>
                </a:solidFill>
              </a:rPr>
              <a:t>Relatóriu fulan no tinan sai rasik husi sistema.</a:t>
            </a:r>
            <a:endParaRPr lang="en-US" sz="1400" dirty="0"/>
          </a:p>
        </p:txBody>
      </p:sp>
      <p:sp>
        <p:nvSpPr>
          <p:cNvPr id="20" name="fu-3"/>
          <p:cNvSpPr/>
          <p:nvPr/>
        </p:nvSpPr>
        <p:spPr>
          <a:xfrm>
            <a:off x="548640" y="3794760"/>
            <a:ext cx="3423818" cy="2103120"/>
          </a:xfrm>
          <a:prstGeom prst="roundRect">
            <a:avLst>
              <a:gd name="adj" fmla="val 5217"/>
            </a:avLst>
          </a:prstGeom>
          <a:solidFill>
            <a:schemeClr val="bg2"/>
          </a:solidFill>
          <a:ln w="12700">
            <a:solidFill>
              <a:schemeClr val="bg2"/>
            </a:solidFill>
            <a:prstDash val="solid"/>
          </a:ln>
        </p:spPr>
      </p:sp>
      <p:sp>
        <p:nvSpPr>
          <p:cNvPr id="21" name="fu-ik-3-sirkulu"/>
          <p:cNvSpPr/>
          <p:nvPr/>
        </p:nvSpPr>
        <p:spPr>
          <a:xfrm>
            <a:off x="822960" y="4069080"/>
            <a:ext cx="822960" cy="822960"/>
          </a:xfrm>
          <a:prstGeom prst="ellipse">
            <a:avLst/>
          </a:prstGeom>
          <a:solidFill>
            <a:schemeClr val="accent3"/>
          </a:solidFill>
          <a:ln w="12700">
            <a:solidFill>
              <a:schemeClr val="accent3"/>
            </a:solidFill>
            <a:prstDash val="solid"/>
          </a:ln>
        </p:spPr>
      </p:sp>
      <p:pic>
        <p:nvPicPr>
          <p:cNvPr id="22" name="fu-ik-3-ikone" descr="preencoded.png">    </p:cNvPr>
          <p:cNvPicPr>
            <a:picLocks noChangeAspect="1"/>
          </p:cNvPicPr>
          <p:nvPr/>
        </p:nvPicPr>
        <p:blipFill>
          <a:blip r:embed="rId4"/>
          <a:stretch>
            <a:fillRect/>
          </a:stretch>
        </p:blipFill>
        <p:spPr>
          <a:xfrm>
            <a:off x="1020470" y="4266590"/>
            <a:ext cx="427939" cy="427939"/>
          </a:xfrm>
          <a:prstGeom prst="rect">
            <a:avLst/>
          </a:prstGeom>
        </p:spPr>
      </p:pic>
      <p:sp>
        <p:nvSpPr>
          <p:cNvPr id="23" name="Text 17"/>
          <p:cNvSpPr txBox="1"/>
          <p:nvPr/>
        </p:nvSpPr>
        <p:spPr>
          <a:xfrm>
            <a:off x="1783080" y="4023360"/>
            <a:ext cx="2006498" cy="914400"/>
          </a:xfrm>
          <a:prstGeom prst="rect">
            <a:avLst/>
          </a:prstGeom>
          <a:noFill/>
          <a:ln/>
        </p:spPr>
        <p:txBody>
          <a:bodyPr wrap="square" lIns="0" tIns="0" rIns="0" bIns="0" rtlCol="0" anchor="ctr"/>
          <a:lstStyle/>
          <a:p>
            <a:pPr indent="0" marL="0">
              <a:buNone/>
            </a:pPr>
            <a:r>
              <a:rPr lang="en-US" sz="1600" b="1" dirty="0">
                <a:solidFill>
                  <a:schemeClr val="tx2"/>
                </a:solidFill>
              </a:rPr>
              <a:t>Staf hatene Python</a:t>
            </a:r>
            <a:endParaRPr lang="en-US" sz="1600" dirty="0"/>
          </a:p>
        </p:txBody>
      </p:sp>
      <p:sp>
        <p:nvSpPr>
          <p:cNvPr id="24" name="Text 18"/>
          <p:cNvSpPr txBox="1"/>
          <p:nvPr/>
        </p:nvSpPr>
        <p:spPr>
          <a:xfrm>
            <a:off x="822960" y="5029200"/>
            <a:ext cx="2875178" cy="777240"/>
          </a:xfrm>
          <a:prstGeom prst="rect">
            <a:avLst/>
          </a:prstGeom>
          <a:noFill/>
          <a:ln/>
        </p:spPr>
        <p:txBody>
          <a:bodyPr wrap="square" lIns="0" tIns="0" rIns="0" bIns="0" rtlCol="0" anchor="t"/>
          <a:lstStyle/>
          <a:p>
            <a:pPr indent="0" marL="0">
              <a:buNone/>
            </a:pPr>
            <a:r>
              <a:rPr lang="en-US" sz="1400" dirty="0">
                <a:solidFill>
                  <a:schemeClr val="tx1"/>
                </a:solidFill>
              </a:rPr>
              <a:t>Staf balu bele analiza dadus ho Python (pandas).</a:t>
            </a:r>
            <a:endParaRPr lang="en-US" sz="1400" dirty="0"/>
          </a:p>
        </p:txBody>
      </p:sp>
      <p:sp>
        <p:nvSpPr>
          <p:cNvPr id="25" name="fu-4"/>
          <p:cNvSpPr/>
          <p:nvPr/>
        </p:nvSpPr>
        <p:spPr>
          <a:xfrm>
            <a:off x="4246778" y="3794760"/>
            <a:ext cx="3423818" cy="2103120"/>
          </a:xfrm>
          <a:prstGeom prst="roundRect">
            <a:avLst>
              <a:gd name="adj" fmla="val 5217"/>
            </a:avLst>
          </a:prstGeom>
          <a:solidFill>
            <a:schemeClr val="bg2"/>
          </a:solidFill>
          <a:ln w="12700">
            <a:solidFill>
              <a:schemeClr val="bg2"/>
            </a:solidFill>
            <a:prstDash val="solid"/>
          </a:ln>
        </p:spPr>
      </p:sp>
      <p:sp>
        <p:nvSpPr>
          <p:cNvPr id="26" name="fu-ik-4-sirkulu"/>
          <p:cNvSpPr/>
          <p:nvPr/>
        </p:nvSpPr>
        <p:spPr>
          <a:xfrm>
            <a:off x="4521098" y="4069080"/>
            <a:ext cx="822960" cy="822960"/>
          </a:xfrm>
          <a:prstGeom prst="ellipse">
            <a:avLst/>
          </a:prstGeom>
          <a:solidFill>
            <a:schemeClr val="accent4"/>
          </a:solidFill>
          <a:ln w="12700">
            <a:solidFill>
              <a:schemeClr val="accent4"/>
            </a:solidFill>
            <a:prstDash val="solid"/>
          </a:ln>
        </p:spPr>
      </p:sp>
      <p:pic>
        <p:nvPicPr>
          <p:cNvPr id="27" name="fu-ik-4-ikone" descr="preencoded.png">    </p:cNvPr>
          <p:cNvPicPr>
            <a:picLocks noChangeAspect="1"/>
          </p:cNvPicPr>
          <p:nvPr/>
        </p:nvPicPr>
        <p:blipFill>
          <a:blip r:embed="rId5"/>
          <a:stretch>
            <a:fillRect/>
          </a:stretch>
        </p:blipFill>
        <p:spPr>
          <a:xfrm>
            <a:off x="4718609" y="4266590"/>
            <a:ext cx="427939" cy="427939"/>
          </a:xfrm>
          <a:prstGeom prst="rect">
            <a:avLst/>
          </a:prstGeom>
        </p:spPr>
      </p:pic>
      <p:sp>
        <p:nvSpPr>
          <p:cNvPr id="28" name="Text 21"/>
          <p:cNvSpPr txBox="1"/>
          <p:nvPr/>
        </p:nvSpPr>
        <p:spPr>
          <a:xfrm>
            <a:off x="5481218" y="4023360"/>
            <a:ext cx="2006498" cy="914400"/>
          </a:xfrm>
          <a:prstGeom prst="rect">
            <a:avLst/>
          </a:prstGeom>
          <a:noFill/>
          <a:ln/>
        </p:spPr>
        <p:txBody>
          <a:bodyPr wrap="square" lIns="0" tIns="0" rIns="0" bIns="0" rtlCol="0" anchor="ctr"/>
          <a:lstStyle/>
          <a:p>
            <a:pPr indent="0" marL="0">
              <a:buNone/>
            </a:pPr>
            <a:r>
              <a:rPr lang="en-US" sz="1600" b="1" dirty="0">
                <a:solidFill>
                  <a:schemeClr val="tx2"/>
                </a:solidFill>
              </a:rPr>
              <a:t>Dadus kompletu no seguru</a:t>
            </a:r>
            <a:endParaRPr lang="en-US" sz="1600" dirty="0"/>
          </a:p>
        </p:txBody>
      </p:sp>
      <p:sp>
        <p:nvSpPr>
          <p:cNvPr id="29" name="Text 22"/>
          <p:cNvSpPr txBox="1"/>
          <p:nvPr/>
        </p:nvSpPr>
        <p:spPr>
          <a:xfrm>
            <a:off x="4521098" y="5029200"/>
            <a:ext cx="2875178" cy="777240"/>
          </a:xfrm>
          <a:prstGeom prst="rect">
            <a:avLst/>
          </a:prstGeom>
          <a:noFill/>
          <a:ln/>
        </p:spPr>
        <p:txBody>
          <a:bodyPr wrap="square" lIns="0" tIns="0" rIns="0" bIns="0" rtlCol="0" anchor="t"/>
          <a:lstStyle/>
          <a:p>
            <a:pPr indent="0" marL="0">
              <a:buNone/>
            </a:pPr>
            <a:r>
              <a:rPr lang="en-US" sz="1400" dirty="0">
                <a:solidFill>
                  <a:schemeClr val="tx1"/>
                </a:solidFill>
              </a:rPr>
              <a:t>Dadus Airtable tuan tama hotu; backup regulár.</a:t>
            </a:r>
            <a:endParaRPr lang="en-US" sz="1400" dirty="0"/>
          </a:p>
        </p:txBody>
      </p:sp>
      <p:sp>
        <p:nvSpPr>
          <p:cNvPr id="30" name="fu-5"/>
          <p:cNvSpPr/>
          <p:nvPr/>
        </p:nvSpPr>
        <p:spPr>
          <a:xfrm>
            <a:off x="7944917" y="3794760"/>
            <a:ext cx="3423818" cy="2103120"/>
          </a:xfrm>
          <a:prstGeom prst="roundRect">
            <a:avLst>
              <a:gd name="adj" fmla="val 5217"/>
            </a:avLst>
          </a:prstGeom>
          <a:solidFill>
            <a:schemeClr val="bg2"/>
          </a:solidFill>
          <a:ln w="12700">
            <a:solidFill>
              <a:schemeClr val="bg2"/>
            </a:solidFill>
            <a:prstDash val="solid"/>
          </a:ln>
        </p:spPr>
      </p:sp>
      <p:sp>
        <p:nvSpPr>
          <p:cNvPr id="31" name="fu-ik-5-sirkulu"/>
          <p:cNvSpPr/>
          <p:nvPr/>
        </p:nvSpPr>
        <p:spPr>
          <a:xfrm>
            <a:off x="8219237" y="4069080"/>
            <a:ext cx="822960" cy="822960"/>
          </a:xfrm>
          <a:prstGeom prst="ellipse">
            <a:avLst/>
          </a:prstGeom>
          <a:solidFill>
            <a:schemeClr val="tx2"/>
          </a:solidFill>
          <a:ln w="12700">
            <a:solidFill>
              <a:schemeClr val="tx2"/>
            </a:solidFill>
            <a:prstDash val="solid"/>
          </a:ln>
        </p:spPr>
      </p:sp>
      <p:pic>
        <p:nvPicPr>
          <p:cNvPr id="32" name="fu-ik-5-ikone" descr="preencoded.png">    </p:cNvPr>
          <p:cNvPicPr>
            <a:picLocks noChangeAspect="1"/>
          </p:cNvPicPr>
          <p:nvPr/>
        </p:nvPicPr>
        <p:blipFill>
          <a:blip r:embed="rId6"/>
          <a:stretch>
            <a:fillRect/>
          </a:stretch>
        </p:blipFill>
        <p:spPr>
          <a:xfrm>
            <a:off x="8416747" y="4266590"/>
            <a:ext cx="427939" cy="427939"/>
          </a:xfrm>
          <a:prstGeom prst="rect">
            <a:avLst/>
          </a:prstGeom>
        </p:spPr>
      </p:pic>
      <p:sp>
        <p:nvSpPr>
          <p:cNvPr id="33" name="Text 25"/>
          <p:cNvSpPr txBox="1"/>
          <p:nvPr/>
        </p:nvSpPr>
        <p:spPr>
          <a:xfrm>
            <a:off x="9179357" y="4023360"/>
            <a:ext cx="2006498" cy="914400"/>
          </a:xfrm>
          <a:prstGeom prst="rect">
            <a:avLst/>
          </a:prstGeom>
          <a:noFill/>
          <a:ln/>
        </p:spPr>
        <p:txBody>
          <a:bodyPr wrap="square" lIns="0" tIns="0" rIns="0" bIns="0" rtlCol="0" anchor="ctr"/>
          <a:lstStyle/>
          <a:p>
            <a:pPr indent="0" marL="0">
              <a:buNone/>
            </a:pPr>
            <a:r>
              <a:rPr lang="en-US" sz="1600" b="1" dirty="0">
                <a:solidFill>
                  <a:schemeClr val="tx2"/>
                </a:solidFill>
              </a:rPr>
              <a:t>Parseiru no rede</a:t>
            </a:r>
            <a:endParaRPr lang="en-US" sz="1600" dirty="0"/>
          </a:p>
        </p:txBody>
      </p:sp>
      <p:sp>
        <p:nvSpPr>
          <p:cNvPr id="34" name="Text 26"/>
          <p:cNvSpPr txBox="1"/>
          <p:nvPr/>
        </p:nvSpPr>
        <p:spPr>
          <a:xfrm>
            <a:off x="8219237" y="5029200"/>
            <a:ext cx="2875178" cy="777240"/>
          </a:xfrm>
          <a:prstGeom prst="rect">
            <a:avLst/>
          </a:prstGeom>
          <a:noFill/>
          <a:ln/>
        </p:spPr>
        <p:txBody>
          <a:bodyPr wrap="square" lIns="0" tIns="0" rIns="0" bIns="0" rtlCol="0" anchor="t"/>
          <a:lstStyle/>
          <a:p>
            <a:pPr indent="0" marL="0">
              <a:buNone/>
            </a:pPr>
            <a:r>
              <a:rPr lang="en-US" sz="1400" dirty="0">
                <a:solidFill>
                  <a:schemeClr val="tx1"/>
                </a:solidFill>
              </a:rPr>
              <a:t>Fahe dadus agregadu ho seguru ba advokasia nasionál.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Perguntas no resposta</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Tanya jawab</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05</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11:40 – 12:00</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Perguntas ne'ebé ema husu beibeik</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11:40</a:t>
            </a:r>
            <a:endParaRPr lang="en-US" sz="1200" dirty="0"/>
          </a:p>
        </p:txBody>
      </p:sp>
      <p:sp>
        <p:nvSpPr>
          <p:cNvPr id="5" name="q-0"/>
          <p:cNvSpPr/>
          <p:nvPr/>
        </p:nvSpPr>
        <p:spPr>
          <a:xfrm>
            <a:off x="548640" y="1417320"/>
            <a:ext cx="5410048" cy="1417320"/>
          </a:xfrm>
          <a:prstGeom prst="roundRect">
            <a:avLst>
              <a:gd name="adj" fmla="val 7742"/>
            </a:avLst>
          </a:prstGeom>
          <a:solidFill>
            <a:schemeClr val="bg2"/>
          </a:solidFill>
          <a:ln w="12700">
            <a:solidFill>
              <a:schemeClr val="bg2"/>
            </a:solidFill>
            <a:prstDash val="solid"/>
          </a:ln>
        </p:spPr>
      </p:sp>
      <p:sp>
        <p:nvSpPr>
          <p:cNvPr id="6" name="q-n-0"/>
          <p:cNvSpPr/>
          <p:nvPr/>
        </p:nvSpPr>
        <p:spPr>
          <a:xfrm>
            <a:off x="777240" y="1801368"/>
            <a:ext cx="640080" cy="640080"/>
          </a:xfrm>
          <a:prstGeom prst="ellipse">
            <a:avLst/>
          </a:prstGeom>
          <a:solidFill>
            <a:schemeClr val="accent1"/>
          </a:solidFill>
          <a:ln w="12700">
            <a:solidFill>
              <a:schemeClr val="accent1"/>
            </a:solidFill>
            <a:prstDash val="solid"/>
          </a:ln>
        </p:spPr>
      </p:sp>
      <p:sp>
        <p:nvSpPr>
          <p:cNvPr id="7" name="q-n-0-n"/>
          <p:cNvSpPr txBox="1"/>
          <p:nvPr/>
        </p:nvSpPr>
        <p:spPr>
          <a:xfrm>
            <a:off x="777240" y="180136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8" name="Text 6"/>
          <p:cNvSpPr txBox="1"/>
          <p:nvPr/>
        </p:nvSpPr>
        <p:spPr>
          <a:xfrm>
            <a:off x="1600200" y="1554480"/>
            <a:ext cx="4175608" cy="457200"/>
          </a:xfrm>
          <a:prstGeom prst="rect">
            <a:avLst/>
          </a:prstGeom>
          <a:noFill/>
          <a:ln/>
        </p:spPr>
        <p:txBody>
          <a:bodyPr wrap="square" lIns="0" tIns="0" rIns="0" bIns="0" rtlCol="0" anchor="t"/>
          <a:lstStyle/>
          <a:p>
            <a:pPr indent="0" marL="0">
              <a:buNone/>
            </a:pPr>
            <a:r>
              <a:rPr lang="en-US" sz="1600" b="1" dirty="0">
                <a:solidFill>
                  <a:schemeClr val="tx2"/>
                </a:solidFill>
              </a:rPr>
              <a:t>Ha'u presiza matenek matemátika?</a:t>
            </a:r>
            <a:endParaRPr lang="en-US" sz="1600" dirty="0"/>
          </a:p>
        </p:txBody>
      </p:sp>
      <p:sp>
        <p:nvSpPr>
          <p:cNvPr id="9" name="Text 7"/>
          <p:cNvSpPr txBox="1"/>
          <p:nvPr/>
        </p:nvSpPr>
        <p:spPr>
          <a:xfrm>
            <a:off x="1600200" y="2011680"/>
            <a:ext cx="4175608" cy="731520"/>
          </a:xfrm>
          <a:prstGeom prst="rect">
            <a:avLst/>
          </a:prstGeom>
          <a:noFill/>
          <a:ln/>
        </p:spPr>
        <p:txBody>
          <a:bodyPr wrap="square" lIns="0" tIns="0" rIns="0" bIns="0" rtlCol="0" anchor="t"/>
          <a:lstStyle/>
          <a:p>
            <a:pPr indent="0" marL="0">
              <a:buNone/>
            </a:pPr>
            <a:r>
              <a:rPr lang="en-US" sz="1400" dirty="0">
                <a:solidFill>
                  <a:schemeClr val="tx1"/>
                </a:solidFill>
              </a:rPr>
              <a:t>Lae. Python ba dadus presiza lójika simples: soma, konta, kompara.</a:t>
            </a:r>
            <a:endParaRPr lang="en-US" sz="1400" dirty="0"/>
          </a:p>
        </p:txBody>
      </p:sp>
      <p:sp>
        <p:nvSpPr>
          <p:cNvPr id="10" name="q-1"/>
          <p:cNvSpPr/>
          <p:nvPr/>
        </p:nvSpPr>
        <p:spPr>
          <a:xfrm>
            <a:off x="6233008" y="1417320"/>
            <a:ext cx="5410048" cy="1417320"/>
          </a:xfrm>
          <a:prstGeom prst="roundRect">
            <a:avLst>
              <a:gd name="adj" fmla="val 7742"/>
            </a:avLst>
          </a:prstGeom>
          <a:solidFill>
            <a:schemeClr val="bg2"/>
          </a:solidFill>
          <a:ln w="12700">
            <a:solidFill>
              <a:schemeClr val="bg2"/>
            </a:solidFill>
            <a:prstDash val="solid"/>
          </a:ln>
        </p:spPr>
      </p:sp>
      <p:sp>
        <p:nvSpPr>
          <p:cNvPr id="11" name="q-n-1"/>
          <p:cNvSpPr/>
          <p:nvPr/>
        </p:nvSpPr>
        <p:spPr>
          <a:xfrm>
            <a:off x="6461608" y="1801368"/>
            <a:ext cx="640080" cy="640080"/>
          </a:xfrm>
          <a:prstGeom prst="ellipse">
            <a:avLst/>
          </a:prstGeom>
          <a:solidFill>
            <a:schemeClr val="accent5"/>
          </a:solidFill>
          <a:ln w="12700">
            <a:solidFill>
              <a:schemeClr val="accent5"/>
            </a:solidFill>
            <a:prstDash val="solid"/>
          </a:ln>
        </p:spPr>
      </p:sp>
      <p:sp>
        <p:nvSpPr>
          <p:cNvPr id="12" name="q-n-1-n"/>
          <p:cNvSpPr txBox="1"/>
          <p:nvPr/>
        </p:nvSpPr>
        <p:spPr>
          <a:xfrm>
            <a:off x="6461608" y="180136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13" name="Text 11"/>
          <p:cNvSpPr txBox="1"/>
          <p:nvPr/>
        </p:nvSpPr>
        <p:spPr>
          <a:xfrm>
            <a:off x="7284568" y="1554480"/>
            <a:ext cx="4175608" cy="457200"/>
          </a:xfrm>
          <a:prstGeom prst="rect">
            <a:avLst/>
          </a:prstGeom>
          <a:noFill/>
          <a:ln/>
        </p:spPr>
        <p:txBody>
          <a:bodyPr wrap="square" lIns="0" tIns="0" rIns="0" bIns="0" rtlCol="0" anchor="t"/>
          <a:lstStyle/>
          <a:p>
            <a:pPr indent="0" marL="0">
              <a:buNone/>
            </a:pPr>
            <a:r>
              <a:rPr lang="en-US" sz="1600" b="1" dirty="0">
                <a:solidFill>
                  <a:schemeClr val="tx2"/>
                </a:solidFill>
              </a:rPr>
              <a:t>Python troka Excel?</a:t>
            </a:r>
            <a:endParaRPr lang="en-US" sz="1600" dirty="0"/>
          </a:p>
        </p:txBody>
      </p:sp>
      <p:sp>
        <p:nvSpPr>
          <p:cNvPr id="14" name="Text 12"/>
          <p:cNvSpPr txBox="1"/>
          <p:nvPr/>
        </p:nvSpPr>
        <p:spPr>
          <a:xfrm>
            <a:off x="7284568" y="2011680"/>
            <a:ext cx="4175608" cy="731520"/>
          </a:xfrm>
          <a:prstGeom prst="rect">
            <a:avLst/>
          </a:prstGeom>
          <a:noFill/>
          <a:ln/>
        </p:spPr>
        <p:txBody>
          <a:bodyPr wrap="square" lIns="0" tIns="0" rIns="0" bIns="0" rtlCol="0" anchor="t"/>
          <a:lstStyle/>
          <a:p>
            <a:pPr indent="0" marL="0">
              <a:buNone/>
            </a:pPr>
            <a:r>
              <a:rPr lang="en-US" sz="1400" dirty="0">
                <a:solidFill>
                  <a:schemeClr val="tx1"/>
                </a:solidFill>
              </a:rPr>
              <a:t>Lae. Excel nafatin di'ak ba tabela ki'ik; Python ajuda dadus barak no servisu repete.</a:t>
            </a:r>
            <a:endParaRPr lang="en-US" sz="1400" dirty="0"/>
          </a:p>
        </p:txBody>
      </p:sp>
      <p:sp>
        <p:nvSpPr>
          <p:cNvPr id="15" name="q-2"/>
          <p:cNvSpPr/>
          <p:nvPr/>
        </p:nvSpPr>
        <p:spPr>
          <a:xfrm>
            <a:off x="548640" y="2990088"/>
            <a:ext cx="5410048" cy="1417320"/>
          </a:xfrm>
          <a:prstGeom prst="roundRect">
            <a:avLst>
              <a:gd name="adj" fmla="val 7742"/>
            </a:avLst>
          </a:prstGeom>
          <a:solidFill>
            <a:schemeClr val="bg2"/>
          </a:solidFill>
          <a:ln w="12700">
            <a:solidFill>
              <a:schemeClr val="bg2"/>
            </a:solidFill>
            <a:prstDash val="solid"/>
          </a:ln>
        </p:spPr>
      </p:sp>
      <p:sp>
        <p:nvSpPr>
          <p:cNvPr id="16" name="q-n-2"/>
          <p:cNvSpPr/>
          <p:nvPr/>
        </p:nvSpPr>
        <p:spPr>
          <a:xfrm>
            <a:off x="777240" y="3374136"/>
            <a:ext cx="640080" cy="640080"/>
          </a:xfrm>
          <a:prstGeom prst="ellipse">
            <a:avLst/>
          </a:prstGeom>
          <a:solidFill>
            <a:schemeClr val="accent3"/>
          </a:solidFill>
          <a:ln w="12700">
            <a:solidFill>
              <a:schemeClr val="accent3"/>
            </a:solidFill>
            <a:prstDash val="solid"/>
          </a:ln>
        </p:spPr>
      </p:sp>
      <p:sp>
        <p:nvSpPr>
          <p:cNvPr id="17" name="q-n-2-n"/>
          <p:cNvSpPr txBox="1"/>
          <p:nvPr/>
        </p:nvSpPr>
        <p:spPr>
          <a:xfrm>
            <a:off x="777240" y="337413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18" name="Text 16"/>
          <p:cNvSpPr txBox="1"/>
          <p:nvPr/>
        </p:nvSpPr>
        <p:spPr>
          <a:xfrm>
            <a:off x="1600200" y="3127248"/>
            <a:ext cx="4175608" cy="457200"/>
          </a:xfrm>
          <a:prstGeom prst="rect">
            <a:avLst/>
          </a:prstGeom>
          <a:noFill/>
          <a:ln/>
        </p:spPr>
        <p:txBody>
          <a:bodyPr wrap="square" lIns="0" tIns="0" rIns="0" bIns="0" rtlCol="0" anchor="t"/>
          <a:lstStyle/>
          <a:p>
            <a:pPr indent="0" marL="0">
              <a:buNone/>
            </a:pPr>
            <a:r>
              <a:rPr lang="en-US" sz="1600" b="1" dirty="0">
                <a:solidFill>
                  <a:schemeClr val="tx2"/>
                </a:solidFill>
              </a:rPr>
              <a:t>Aprende tempu naruk?</a:t>
            </a:r>
            <a:endParaRPr lang="en-US" sz="1600" dirty="0"/>
          </a:p>
        </p:txBody>
      </p:sp>
      <p:sp>
        <p:nvSpPr>
          <p:cNvPr id="19" name="Text 17"/>
          <p:cNvSpPr txBox="1"/>
          <p:nvPr/>
        </p:nvSpPr>
        <p:spPr>
          <a:xfrm>
            <a:off x="1600200" y="3584448"/>
            <a:ext cx="4175608" cy="731520"/>
          </a:xfrm>
          <a:prstGeom prst="rect">
            <a:avLst/>
          </a:prstGeom>
          <a:noFill/>
          <a:ln/>
        </p:spPr>
        <p:txBody>
          <a:bodyPr wrap="square" lIns="0" tIns="0" rIns="0" bIns="0" rtlCol="0" anchor="t"/>
          <a:lstStyle/>
          <a:p>
            <a:pPr indent="0" marL="0">
              <a:buNone/>
            </a:pPr>
            <a:r>
              <a:rPr lang="en-US" sz="1400" dirty="0">
                <a:solidFill>
                  <a:schemeClr val="tx1"/>
                </a:solidFill>
              </a:rPr>
              <a:t>Baze: semana 4–6 ho prátika minutu 15 loron-loron.</a:t>
            </a:r>
            <a:endParaRPr lang="en-US" sz="1400" dirty="0"/>
          </a:p>
        </p:txBody>
      </p:sp>
      <p:sp>
        <p:nvSpPr>
          <p:cNvPr id="20" name="q-3"/>
          <p:cNvSpPr/>
          <p:nvPr/>
        </p:nvSpPr>
        <p:spPr>
          <a:xfrm>
            <a:off x="6233008" y="2990088"/>
            <a:ext cx="5410048" cy="1417320"/>
          </a:xfrm>
          <a:prstGeom prst="roundRect">
            <a:avLst>
              <a:gd name="adj" fmla="val 7742"/>
            </a:avLst>
          </a:prstGeom>
          <a:solidFill>
            <a:schemeClr val="bg2"/>
          </a:solidFill>
          <a:ln w="12700">
            <a:solidFill>
              <a:schemeClr val="bg2"/>
            </a:solidFill>
            <a:prstDash val="solid"/>
          </a:ln>
        </p:spPr>
      </p:sp>
      <p:sp>
        <p:nvSpPr>
          <p:cNvPr id="21" name="q-n-3"/>
          <p:cNvSpPr/>
          <p:nvPr/>
        </p:nvSpPr>
        <p:spPr>
          <a:xfrm>
            <a:off x="6461608" y="3374136"/>
            <a:ext cx="640080" cy="640080"/>
          </a:xfrm>
          <a:prstGeom prst="ellipse">
            <a:avLst/>
          </a:prstGeom>
          <a:solidFill>
            <a:schemeClr val="accent1"/>
          </a:solidFill>
          <a:ln w="12700">
            <a:solidFill>
              <a:schemeClr val="accent1"/>
            </a:solidFill>
            <a:prstDash val="solid"/>
          </a:ln>
        </p:spPr>
      </p:sp>
      <p:sp>
        <p:nvSpPr>
          <p:cNvPr id="22" name="q-n-3-n"/>
          <p:cNvSpPr txBox="1"/>
          <p:nvPr/>
        </p:nvSpPr>
        <p:spPr>
          <a:xfrm>
            <a:off x="6461608" y="337413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23" name="Text 21"/>
          <p:cNvSpPr txBox="1"/>
          <p:nvPr/>
        </p:nvSpPr>
        <p:spPr>
          <a:xfrm>
            <a:off x="7284568" y="3127248"/>
            <a:ext cx="4175608" cy="457200"/>
          </a:xfrm>
          <a:prstGeom prst="rect">
            <a:avLst/>
          </a:prstGeom>
          <a:noFill/>
          <a:ln/>
        </p:spPr>
        <p:txBody>
          <a:bodyPr wrap="square" lIns="0" tIns="0" rIns="0" bIns="0" rtlCol="0" anchor="t"/>
          <a:lstStyle/>
          <a:p>
            <a:pPr indent="0" marL="0">
              <a:buNone/>
            </a:pPr>
            <a:r>
              <a:rPr lang="en-US" sz="1600" b="1" dirty="0">
                <a:solidFill>
                  <a:schemeClr val="tx2"/>
                </a:solidFill>
              </a:rPr>
              <a:t>Dadus kazu seguru ka lae?</a:t>
            </a:r>
            <a:endParaRPr lang="en-US" sz="1600" dirty="0"/>
          </a:p>
        </p:txBody>
      </p:sp>
      <p:sp>
        <p:nvSpPr>
          <p:cNvPr id="24" name="Text 22"/>
          <p:cNvSpPr txBox="1"/>
          <p:nvPr/>
        </p:nvSpPr>
        <p:spPr>
          <a:xfrm>
            <a:off x="7284568" y="3584448"/>
            <a:ext cx="4175608" cy="731520"/>
          </a:xfrm>
          <a:prstGeom prst="rect">
            <a:avLst/>
          </a:prstGeom>
          <a:noFill/>
          <a:ln/>
        </p:spPr>
        <p:txBody>
          <a:bodyPr wrap="square" lIns="0" tIns="0" rIns="0" bIns="0" rtlCol="0" anchor="t"/>
          <a:lstStyle/>
          <a:p>
            <a:pPr indent="0" marL="0">
              <a:buNone/>
            </a:pPr>
            <a:r>
              <a:rPr lang="en-US" sz="1400" dirty="0">
                <a:solidFill>
                  <a:schemeClr val="tx1"/>
                </a:solidFill>
              </a:rPr>
              <a:t>Sin: asesu tuir papél, password, PIN, enkriptasaun iha HP no log asesu.</a:t>
            </a:r>
            <a:endParaRPr lang="en-US" sz="1400" dirty="0"/>
          </a:p>
        </p:txBody>
      </p:sp>
      <p:sp>
        <p:nvSpPr>
          <p:cNvPr id="25" name="q-4"/>
          <p:cNvSpPr/>
          <p:nvPr/>
        </p:nvSpPr>
        <p:spPr>
          <a:xfrm>
            <a:off x="548640" y="4562856"/>
            <a:ext cx="5410048" cy="1417320"/>
          </a:xfrm>
          <a:prstGeom prst="roundRect">
            <a:avLst>
              <a:gd name="adj" fmla="val 7742"/>
            </a:avLst>
          </a:prstGeom>
          <a:solidFill>
            <a:schemeClr val="bg2"/>
          </a:solidFill>
          <a:ln w="12700">
            <a:solidFill>
              <a:schemeClr val="bg2"/>
            </a:solidFill>
            <a:prstDash val="solid"/>
          </a:ln>
        </p:spPr>
      </p:sp>
      <p:sp>
        <p:nvSpPr>
          <p:cNvPr id="26" name="q-n-4"/>
          <p:cNvSpPr/>
          <p:nvPr/>
        </p:nvSpPr>
        <p:spPr>
          <a:xfrm>
            <a:off x="777240" y="4946904"/>
            <a:ext cx="640080" cy="640080"/>
          </a:xfrm>
          <a:prstGeom prst="ellipse">
            <a:avLst/>
          </a:prstGeom>
          <a:solidFill>
            <a:schemeClr val="accent5"/>
          </a:solidFill>
          <a:ln w="12700">
            <a:solidFill>
              <a:schemeClr val="accent5"/>
            </a:solidFill>
            <a:prstDash val="solid"/>
          </a:ln>
        </p:spPr>
      </p:sp>
      <p:sp>
        <p:nvSpPr>
          <p:cNvPr id="27" name="q-n-4-n"/>
          <p:cNvSpPr txBox="1"/>
          <p:nvPr/>
        </p:nvSpPr>
        <p:spPr>
          <a:xfrm>
            <a:off x="777240" y="4946904"/>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28" name="Text 26"/>
          <p:cNvSpPr txBox="1"/>
          <p:nvPr/>
        </p:nvSpPr>
        <p:spPr>
          <a:xfrm>
            <a:off x="1600200" y="4700016"/>
            <a:ext cx="4175608" cy="457200"/>
          </a:xfrm>
          <a:prstGeom prst="rect">
            <a:avLst/>
          </a:prstGeom>
          <a:noFill/>
          <a:ln/>
        </p:spPr>
        <p:txBody>
          <a:bodyPr wrap="square" lIns="0" tIns="0" rIns="0" bIns="0" rtlCol="0" anchor="t"/>
          <a:lstStyle/>
          <a:p>
            <a:pPr indent="0" marL="0">
              <a:buNone/>
            </a:pPr>
            <a:r>
              <a:rPr lang="en-US" sz="1600" b="1" dirty="0">
                <a:solidFill>
                  <a:schemeClr val="tx2"/>
                </a:solidFill>
              </a:rPr>
              <a:t>Se ema IT sai husi RbR?</a:t>
            </a:r>
            <a:endParaRPr lang="en-US" sz="1600" dirty="0"/>
          </a:p>
        </p:txBody>
      </p:sp>
      <p:sp>
        <p:nvSpPr>
          <p:cNvPr id="29" name="Text 27"/>
          <p:cNvSpPr txBox="1"/>
          <p:nvPr/>
        </p:nvSpPr>
        <p:spPr>
          <a:xfrm>
            <a:off x="1600200" y="5157216"/>
            <a:ext cx="4175608" cy="731520"/>
          </a:xfrm>
          <a:prstGeom prst="rect">
            <a:avLst/>
          </a:prstGeom>
          <a:noFill/>
          <a:ln/>
        </p:spPr>
        <p:txBody>
          <a:bodyPr wrap="square" lIns="0" tIns="0" rIns="0" bIns="0" rtlCol="0" anchor="t"/>
          <a:lstStyle/>
          <a:p>
            <a:pPr indent="0" marL="0">
              <a:buNone/>
            </a:pPr>
            <a:r>
              <a:rPr lang="en-US" sz="1400" dirty="0">
                <a:solidFill>
                  <a:schemeClr val="tx1"/>
                </a:solidFill>
              </a:rPr>
              <a:t>Kódigu iha GitHub ho dokumentasaun no teste 223; ema foun bele kontinua.</a:t>
            </a:r>
            <a:endParaRPr lang="en-US" sz="1400" dirty="0"/>
          </a:p>
        </p:txBody>
      </p:sp>
      <p:sp>
        <p:nvSpPr>
          <p:cNvPr id="30" name="q-5"/>
          <p:cNvSpPr/>
          <p:nvPr/>
        </p:nvSpPr>
        <p:spPr>
          <a:xfrm>
            <a:off x="6233008" y="4562856"/>
            <a:ext cx="5410048" cy="1417320"/>
          </a:xfrm>
          <a:prstGeom prst="roundRect">
            <a:avLst>
              <a:gd name="adj" fmla="val 7742"/>
            </a:avLst>
          </a:prstGeom>
          <a:solidFill>
            <a:schemeClr val="bg2"/>
          </a:solidFill>
          <a:ln w="12700">
            <a:solidFill>
              <a:schemeClr val="bg2"/>
            </a:solidFill>
            <a:prstDash val="solid"/>
          </a:ln>
        </p:spPr>
      </p:sp>
      <p:sp>
        <p:nvSpPr>
          <p:cNvPr id="31" name="q-n-5"/>
          <p:cNvSpPr/>
          <p:nvPr/>
        </p:nvSpPr>
        <p:spPr>
          <a:xfrm>
            <a:off x="6461608" y="4946904"/>
            <a:ext cx="640080" cy="640080"/>
          </a:xfrm>
          <a:prstGeom prst="ellipse">
            <a:avLst/>
          </a:prstGeom>
          <a:solidFill>
            <a:schemeClr val="accent3"/>
          </a:solidFill>
          <a:ln w="12700">
            <a:solidFill>
              <a:schemeClr val="accent3"/>
            </a:solidFill>
            <a:prstDash val="solid"/>
          </a:ln>
        </p:spPr>
      </p:sp>
      <p:sp>
        <p:nvSpPr>
          <p:cNvPr id="32" name="q-n-5-n"/>
          <p:cNvSpPr txBox="1"/>
          <p:nvPr/>
        </p:nvSpPr>
        <p:spPr>
          <a:xfrm>
            <a:off x="6461608" y="4946904"/>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33" name="Text 31"/>
          <p:cNvSpPr txBox="1"/>
          <p:nvPr/>
        </p:nvSpPr>
        <p:spPr>
          <a:xfrm>
            <a:off x="7284568" y="4700016"/>
            <a:ext cx="4175608" cy="457200"/>
          </a:xfrm>
          <a:prstGeom prst="rect">
            <a:avLst/>
          </a:prstGeom>
          <a:noFill/>
          <a:ln/>
        </p:spPr>
        <p:txBody>
          <a:bodyPr wrap="square" lIns="0" tIns="0" rIns="0" bIns="0" rtlCol="0" anchor="t"/>
          <a:lstStyle/>
          <a:p>
            <a:pPr indent="0" marL="0">
              <a:buNone/>
            </a:pPr>
            <a:r>
              <a:rPr lang="en-US" sz="1600" b="1" dirty="0">
                <a:solidFill>
                  <a:schemeClr val="tx2"/>
                </a:solidFill>
              </a:rPr>
              <a:t>Ha'u bele aprende iha ne'ebé?</a:t>
            </a:r>
            <a:endParaRPr lang="en-US" sz="1600" dirty="0"/>
          </a:p>
        </p:txBody>
      </p:sp>
      <p:sp>
        <p:nvSpPr>
          <p:cNvPr id="34" name="Text 32"/>
          <p:cNvSpPr txBox="1"/>
          <p:nvPr/>
        </p:nvSpPr>
        <p:spPr>
          <a:xfrm>
            <a:off x="7284568" y="5157216"/>
            <a:ext cx="4175608" cy="731520"/>
          </a:xfrm>
          <a:prstGeom prst="rect">
            <a:avLst/>
          </a:prstGeom>
          <a:noFill/>
          <a:ln/>
        </p:spPr>
        <p:txBody>
          <a:bodyPr wrap="square" lIns="0" tIns="0" rIns="0" bIns="0" rtlCol="0" anchor="t"/>
          <a:lstStyle/>
          <a:p>
            <a:pPr indent="0" marL="0">
              <a:buNone/>
            </a:pPr>
            <a:r>
              <a:rPr lang="en-US" sz="1400" dirty="0">
                <a:solidFill>
                  <a:schemeClr val="tx1"/>
                </a:solidFill>
              </a:rPr>
              <a:t>Modulu Word/PDF RbR, Google Colab, w3schools.com/python.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Perguntas?</a:t>
            </a: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Obrigadu barak ba partisipasaun!</a:t>
            </a:r>
            <a:endParaRPr lang="en-US" sz="2000" dirty="0"/>
          </a:p>
          <a:p>
            <a:pPr indent="0" marL="0">
              <a:buNone/>
            </a:pPr>
            <a:r>
              <a:rPr lang="en-US" sz="2000" b="1" dirty="0">
                <a:solidFill>
                  <a:schemeClr val="accent2"/>
                </a:solidFill>
              </a:rPr>
              <a:t>Python: lian ne'ebé harii SIBAR-RbR</a:t>
            </a:r>
            <a:endParaRPr lang="en-US" sz="2000" dirty="0"/>
          </a:p>
        </p:txBody>
      </p:sp>
      <p:sp>
        <p:nvSpPr>
          <p:cNvPr id="4" name="rec-0-sirkulu"/>
          <p:cNvSpPr/>
          <p:nvPr/>
        </p:nvSpPr>
        <p:spPr>
          <a:xfrm>
            <a:off x="7955280" y="1371600"/>
            <a:ext cx="868680" cy="868680"/>
          </a:xfrm>
          <a:prstGeom prst="ellipse">
            <a:avLst/>
          </a:prstGeom>
          <a:solidFill>
            <a:schemeClr val="accent1"/>
          </a:solidFill>
          <a:ln w="12700">
            <a:solidFill>
              <a:schemeClr val="accent1"/>
            </a:solidFill>
            <a:prstDash val="solid"/>
          </a:ln>
        </p:spPr>
      </p:sp>
      <p:pic>
        <p:nvPicPr>
          <p:cNvPr id="5" name="rec-0-ikone" descr="preencoded.png">    </p:cNvPr>
          <p:cNvPicPr>
            <a:picLocks noChangeAspect="1"/>
          </p:cNvPicPr>
          <p:nvPr/>
        </p:nvPicPr>
        <p:blipFill>
          <a:blip r:embed="rId1"/>
          <a:stretch>
            <a:fillRect/>
          </a:stretch>
        </p:blipFill>
        <p:spPr>
          <a:xfrm>
            <a:off x="8163763" y="1580083"/>
            <a:ext cx="451714" cy="451714"/>
          </a:xfrm>
          <a:prstGeom prst="rect">
            <a:avLst/>
          </a:prstGeom>
        </p:spPr>
      </p:pic>
      <p:sp>
        <p:nvSpPr>
          <p:cNvPr id="6" name="Text 3"/>
          <p:cNvSpPr txBox="1"/>
          <p:nvPr/>
        </p:nvSpPr>
        <p:spPr>
          <a:xfrm>
            <a:off x="8961120" y="1444752"/>
            <a:ext cx="3017520" cy="365760"/>
          </a:xfrm>
          <a:prstGeom prst="rect">
            <a:avLst/>
          </a:prstGeom>
          <a:noFill/>
          <a:ln/>
        </p:spPr>
        <p:txBody>
          <a:bodyPr wrap="square" lIns="0" tIns="0" rIns="0" bIns="0" rtlCol="0" anchor="t"/>
          <a:lstStyle/>
          <a:p>
            <a:pPr indent="0" marL="0">
              <a:buNone/>
            </a:pPr>
            <a:r>
              <a:rPr lang="en-US" sz="1400" b="1" dirty="0">
                <a:solidFill>
                  <a:schemeClr val="bg1"/>
                </a:solidFill>
              </a:rPr>
              <a:t>Modulu Python (Word / PDF)</a:t>
            </a:r>
            <a:endParaRPr lang="en-US" sz="1400" dirty="0"/>
          </a:p>
        </p:txBody>
      </p:sp>
      <p:sp>
        <p:nvSpPr>
          <p:cNvPr id="7" name="Text 4"/>
          <p:cNvSpPr txBox="1"/>
          <p:nvPr/>
        </p:nvSpPr>
        <p:spPr>
          <a:xfrm>
            <a:off x="8961120" y="1847088"/>
            <a:ext cx="3017520" cy="365760"/>
          </a:xfrm>
          <a:prstGeom prst="rect">
            <a:avLst/>
          </a:prstGeom>
          <a:noFill/>
          <a:ln/>
        </p:spPr>
        <p:txBody>
          <a:bodyPr wrap="square" lIns="0" tIns="0" rIns="0" bIns="0" rtlCol="0" anchor="t"/>
          <a:lstStyle/>
          <a:p>
            <a:pPr indent="0" marL="0">
              <a:buNone/>
            </a:pPr>
            <a:r>
              <a:rPr lang="en-US" sz="1300" dirty="0">
                <a:solidFill>
                  <a:schemeClr val="bg2"/>
                </a:solidFill>
              </a:rPr>
              <a:t>Fahe ba partisipante</a:t>
            </a:r>
            <a:endParaRPr lang="en-US" sz="1300" dirty="0"/>
          </a:p>
        </p:txBody>
      </p:sp>
      <p:sp>
        <p:nvSpPr>
          <p:cNvPr id="8" name="rec-1-sirkulu"/>
          <p:cNvSpPr/>
          <p:nvPr/>
        </p:nvSpPr>
        <p:spPr>
          <a:xfrm>
            <a:off x="7955280" y="2834640"/>
            <a:ext cx="868680" cy="868680"/>
          </a:xfrm>
          <a:prstGeom prst="ellipse">
            <a:avLst/>
          </a:prstGeom>
          <a:solidFill>
            <a:schemeClr val="accent5"/>
          </a:solidFill>
          <a:ln w="12700">
            <a:solidFill>
              <a:schemeClr val="accent5"/>
            </a:solidFill>
            <a:prstDash val="solid"/>
          </a:ln>
        </p:spPr>
      </p:sp>
      <p:pic>
        <p:nvPicPr>
          <p:cNvPr id="9" name="rec-1-ikone" descr="preencoded.png">    </p:cNvPr>
          <p:cNvPicPr>
            <a:picLocks noChangeAspect="1"/>
          </p:cNvPicPr>
          <p:nvPr/>
        </p:nvPicPr>
        <p:blipFill>
          <a:blip r:embed="rId2"/>
          <a:stretch>
            <a:fillRect/>
          </a:stretch>
        </p:blipFill>
        <p:spPr>
          <a:xfrm>
            <a:off x="8163763" y="3043123"/>
            <a:ext cx="451714" cy="451714"/>
          </a:xfrm>
          <a:prstGeom prst="rect">
            <a:avLst/>
          </a:prstGeom>
        </p:spPr>
      </p:pic>
      <p:sp>
        <p:nvSpPr>
          <p:cNvPr id="10" name="Text 6"/>
          <p:cNvSpPr txBox="1"/>
          <p:nvPr/>
        </p:nvSpPr>
        <p:spPr>
          <a:xfrm>
            <a:off x="8961120" y="2907792"/>
            <a:ext cx="3017520" cy="365760"/>
          </a:xfrm>
          <a:prstGeom prst="rect">
            <a:avLst/>
          </a:prstGeom>
          <a:noFill/>
          <a:ln/>
        </p:spPr>
        <p:txBody>
          <a:bodyPr wrap="square" lIns="0" tIns="0" rIns="0" bIns="0" rtlCol="0" anchor="t"/>
          <a:lstStyle/>
          <a:p>
            <a:pPr indent="0" marL="0">
              <a:buNone/>
            </a:pPr>
            <a:r>
              <a:rPr lang="en-US" sz="1400" b="1" dirty="0">
                <a:solidFill>
                  <a:schemeClr val="bg1"/>
                </a:solidFill>
              </a:rPr>
              <a:t>colab.research.google.com</a:t>
            </a:r>
            <a:endParaRPr lang="en-US" sz="1400" dirty="0"/>
          </a:p>
        </p:txBody>
      </p:sp>
      <p:sp>
        <p:nvSpPr>
          <p:cNvPr id="11" name="Text 7"/>
          <p:cNvSpPr txBox="1"/>
          <p:nvPr/>
        </p:nvSpPr>
        <p:spPr>
          <a:xfrm>
            <a:off x="8961120" y="3310128"/>
            <a:ext cx="3017520" cy="365760"/>
          </a:xfrm>
          <a:prstGeom prst="rect">
            <a:avLst/>
          </a:prstGeom>
          <a:noFill/>
          <a:ln/>
        </p:spPr>
        <p:txBody>
          <a:bodyPr wrap="square" lIns="0" tIns="0" rIns="0" bIns="0" rtlCol="0" anchor="t"/>
          <a:lstStyle/>
          <a:p>
            <a:pPr indent="0" marL="0">
              <a:buNone/>
            </a:pPr>
            <a:r>
              <a:rPr lang="en-US" sz="1300" dirty="0">
                <a:solidFill>
                  <a:schemeClr val="bg2"/>
                </a:solidFill>
              </a:rPr>
              <a:t>Koko iha uma</a:t>
            </a:r>
            <a:endParaRPr lang="en-US" sz="1300" dirty="0"/>
          </a:p>
        </p:txBody>
      </p:sp>
      <p:sp>
        <p:nvSpPr>
          <p:cNvPr id="12" name="rec-2-sirkulu"/>
          <p:cNvSpPr/>
          <p:nvPr/>
        </p:nvSpPr>
        <p:spPr>
          <a:xfrm>
            <a:off x="7955280" y="4297680"/>
            <a:ext cx="868680" cy="868680"/>
          </a:xfrm>
          <a:prstGeom prst="ellipse">
            <a:avLst/>
          </a:prstGeom>
          <a:solidFill>
            <a:schemeClr val="accent3"/>
          </a:solidFill>
          <a:ln w="12700">
            <a:solidFill>
              <a:schemeClr val="accent3"/>
            </a:solidFill>
            <a:prstDash val="solid"/>
          </a:ln>
        </p:spPr>
      </p:sp>
      <p:pic>
        <p:nvPicPr>
          <p:cNvPr id="13" name="rec-2-ikone" descr="preencoded.png">    </p:cNvPr>
          <p:cNvPicPr>
            <a:picLocks noChangeAspect="1"/>
          </p:cNvPicPr>
          <p:nvPr/>
        </p:nvPicPr>
        <p:blipFill>
          <a:blip r:embed="rId3"/>
          <a:stretch>
            <a:fillRect/>
          </a:stretch>
        </p:blipFill>
        <p:spPr>
          <a:xfrm>
            <a:off x="8163763" y="4506163"/>
            <a:ext cx="451714" cy="451714"/>
          </a:xfrm>
          <a:prstGeom prst="rect">
            <a:avLst/>
          </a:prstGeom>
        </p:spPr>
      </p:pic>
      <p:sp>
        <p:nvSpPr>
          <p:cNvPr id="14" name="Text 9"/>
          <p:cNvSpPr txBox="1"/>
          <p:nvPr/>
        </p:nvSpPr>
        <p:spPr>
          <a:xfrm>
            <a:off x="8961120" y="4370832"/>
            <a:ext cx="3017520" cy="365760"/>
          </a:xfrm>
          <a:prstGeom prst="rect">
            <a:avLst/>
          </a:prstGeom>
          <a:noFill/>
          <a:ln/>
        </p:spPr>
        <p:txBody>
          <a:bodyPr wrap="square" lIns="0" tIns="0" rIns="0" bIns="0" rtlCol="0" anchor="t"/>
          <a:lstStyle/>
          <a:p>
            <a:pPr indent="0" marL="0">
              <a:buNone/>
            </a:pPr>
            <a:r>
              <a:rPr lang="en-US" sz="1400" b="1" dirty="0">
                <a:solidFill>
                  <a:schemeClr val="bg1"/>
                </a:solidFill>
              </a:rPr>
              <a:t>Grupu prátika RbR</a:t>
            </a:r>
            <a:endParaRPr lang="en-US" sz="1400" dirty="0"/>
          </a:p>
        </p:txBody>
      </p:sp>
      <p:sp>
        <p:nvSpPr>
          <p:cNvPr id="15" name="Text 10"/>
          <p:cNvSpPr txBox="1"/>
          <p:nvPr/>
        </p:nvSpPr>
        <p:spPr>
          <a:xfrm>
            <a:off x="8961120" y="4773168"/>
            <a:ext cx="3017520" cy="365760"/>
          </a:xfrm>
          <a:prstGeom prst="rect">
            <a:avLst/>
          </a:prstGeom>
          <a:noFill/>
          <a:ln/>
        </p:spPr>
        <p:txBody>
          <a:bodyPr wrap="square" lIns="0" tIns="0" rIns="0" bIns="0" rtlCol="0" anchor="t"/>
          <a:lstStyle/>
          <a:p>
            <a:pPr indent="0" marL="0">
              <a:buNone/>
            </a:pPr>
            <a:r>
              <a:rPr lang="en-US" sz="1300" dirty="0">
                <a:solidFill>
                  <a:schemeClr val="bg2"/>
                </a:solidFill>
              </a:rPr>
              <a:t>Proposta: semana-semana</a:t>
            </a:r>
            <a:endParaRPr lang="en-US" sz="1300" dirty="0"/>
          </a:p>
        </p:txBody>
      </p:sp>
    </p:spTree>
  </p:cSld>
  <p:clrMapOvr>
    <a:masterClrMapping/>
  </p:clrMapOvr>
</p:sld>
</file>

<file path=ppt/theme/theme1.xml><?xml version="1.0" encoding="utf-8"?>
<a:theme xmlns:a="http://schemas.openxmlformats.org/drawingml/2006/main" name="Rede ba Rai">
  <a:themeElements>
    <a:clrScheme name="Rede ba Rai">
      <a:dk1>
        <a:srgbClr val="1F2A26"/>
      </a:dk1>
      <a:lt1>
        <a:srgbClr val="FFFFFF"/>
      </a:lt1>
      <a:dk2>
        <a:srgbClr val="0B4F3C"/>
      </a:dk2>
      <a:lt2>
        <a:srgbClr val="EAF5EF"/>
      </a:lt2>
      <a:accent1>
        <a:srgbClr val="0E8A68"/>
      </a:accent1>
      <a:accent2>
        <a:srgbClr val="82DA36"/>
      </a:accent2>
      <a:accent3>
        <a:srgbClr val="E8772E"/>
      </a:accent3>
      <a:accent4>
        <a:srgbClr val="D63C3C"/>
      </a:accent4>
      <a:accent5>
        <a:srgbClr val="2F6AA6"/>
      </a:accent5>
      <a:accent6>
        <a:srgbClr val="C99A06"/>
      </a:accent6>
      <a:hlink>
        <a:srgbClr val="0E8A68"/>
      </a:hlink>
      <a:folHlink>
        <a:srgbClr val="0B6B50"/>
      </a:folHlink>
    </a:clrScheme>
    <a:fontScheme name="Rede ba R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Rede ba 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lian ne'ebé harii SIBAR-RbR</dc:title>
  <dc:subject>PptxGenJS Presentation</dc:subject>
  <dc:creator>Rede ba Rai</dc:creator>
  <cp:lastModifiedBy>Rede ba Rai</cp:lastModifiedBy>
  <cp:revision>1</cp:revision>
  <dcterms:created xsi:type="dcterms:W3CDTF">2026-10-26T10:46:06Z</dcterms:created>
  <dcterms:modified xsi:type="dcterms:W3CDTF">2026-10-26T10:46:06Z</dcterms:modified>
</cp:coreProperties>
</file>