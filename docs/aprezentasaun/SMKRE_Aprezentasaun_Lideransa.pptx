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saun" id="{478d7ce6-6457-f196-dc08-bc37e25a85a4}">
          <p14:sldIdLst>
            <p14:sldId id="256"/>
            <p14:sldId id="257"/>
            <p14:sldId id="258"/>
            <p14:sldId id="259"/>
          </p14:sldIdLst>
        </p14:section>
        <p14:section name="Sistema" id="{c5e6630b-a725-2a2b-a692-e73584a4a20a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eguransa no kualidade" id="{fe311605-8f90-1176-22c4-0bfd3cec6698}">
          <p14:sldIdLst>
            <p14:sldId id="267"/>
            <p14:sldId id="268"/>
            <p14:sldId id="269"/>
          </p14:sldIdLst>
        </p14:section>
        <p14:section name="Pasu tuir mai" id="{ac0fa24e-e2b3-34a0-61d5-91659399de9c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Bondia. Ohin ha'u aprezenta SMKRE: sistema ne'ebé Rede ba Rai uza atu rejista, verifika no uza dadus konflitu rai no eviksaun, husi terrenu to'o asaun legál no portal públiku. Iha minutu 20: rezultadu, oinsá sistema servisu, seguransa, no desizaun ne'ebé ami presiza husi lideransa.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Mensajen prinsipál: sistema kompletu ona ho faze 6 hotu, teste otomátiku 146 pasa, no dadus wilayah ofisiál husi Diploma Ministerial 31/2026 tama ona. Ita prontu ba piloto. Pasu tuir mai presiza desizaun husi lideransa, ne'ebé ha'u aprezenta iha ikus.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Dezafiu haat ne'e mak razaun atu harii SMKRE. Kada dezafiu iha resposta konkreta iha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Kadeia ida: dadus tama dala ida iha terrenu no uza ba buat hotu. Ida ne'e fó kredibilidade: númeru hotu bele traça fila ba kazu verifikadu.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Módulu walu iha plataforma ida, ho login ida no dadus ida. Iha slide tuir mai ha'u hatudu ekran loos husi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Portal mak face públiku Rede ba Rai. Doador, governu no media bele haree trend no impaktu, maibé nunka naran, foto ka uma ida-idak.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fó imajen nasionál ba lideransa no ba advokasia. Kada númeru bele traça fila ba lista kazu. Númeru iha ekran ne'e dadus demo ba formasaun.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Verifikasaun dala rua mak garantia kualidade. Butaun xave tuir status, no servidór mós bloku asaun la permite. Kada mudansa iha 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offline mak inovasaun importante ba terrenu: Investigadór la presiza sinál. Dadus seguru iha HP ho enkriptasaun, no Admin kontrola se mak bele uza.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Ekipa legál iha fatin seguru ida ba dokumentu: karta, sertifikadu, desizaun. Sistema haruka lembrete molok prazu no prepara dossier ba tribunál.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Rejistu kazu tuan husi Excel bele tama sistema. Admin haree pratinjau molok konfirma. Kazu sein koordenada hetan fatin aproksimadu, no Admin hadia ho dada marka iha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Dadus SMKRE kona-ba família iha konflitu. Privasidade no seguransa mak prioridade: portal hatudu total deit, no sistema proteje dadus iha servidór no iha 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Teknolojia padraun no livre: la iha kustu lisensa. Ekipa TI lokál bele mantein. Kódigu iha GitHub ho teste otomátiku.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Kualidade la'ós promesa: teste otomátiku 146 pasa, tradusaun kompletu, dadus wilayah ofisiál. Ami prepara mós material formasaun no gia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 6 hotu kompletu, plus funsionalidade adisionál husi feedback. Agora sistema iha servidór teste. Pasu tuir mai mak servidór ofisiál no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pasu lima. Piloto iha munisípiu ida ajuda ita hadia antes uza nasionál. Iha mós lista teknikál ne'ebé tenke halo molok uza ofisiál.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Ida ne'e mak parte importante liu: ami presiza desizaun neen ne'e atu hahú piloto. Ami sujere hahú ho servidór no munisípiu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Obrigadu. Agora ha'u bele hatudu demonstrasaun direta no simu pergunta. Ami hein desizaun lideransa atu hahú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</a:rPr>
              <a:t>SMKRE · Aprezentasaun ba Lideransa · Rede ba Rai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sirkulu"/>
          <p:cNvSpPr/>
          <p:nvPr/>
        </p:nvSpPr>
        <p:spPr>
          <a:xfrm>
            <a:off x="548640" y="640080"/>
            <a:ext cx="1325880" cy="1325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/home/user/SMKRE/main/static/main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960120" cy="9144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48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SMKRE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Sistema Monitorizasaun Konflitu Rai no Eviksaun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Aprezentasaun ba Lideransa Rede ba Rai · Outubru 2026</a:t>
            </a:r>
            <a:endParaRPr lang="en-US" sz="2000" dirty="0"/>
          </a:p>
        </p:txBody>
      </p:sp>
      <p:sp>
        <p:nvSpPr>
          <p:cNvPr id="6" name="kapa-portal-moldura"/>
          <p:cNvSpPr/>
          <p:nvPr/>
        </p:nvSpPr>
        <p:spPr>
          <a:xfrm>
            <a:off x="7534656" y="1408176"/>
            <a:ext cx="4178808" cy="2539873"/>
          </a:xfrm>
          <a:prstGeom prst="roundRect">
            <a:avLst>
              <a:gd name="adj" fmla="val 2880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kapa-portal" descr="/tmp/claude-0/-home-user-sjamci/3266590f-78d1-5366-b61d-23553f70b1cc/scratchpad/own/portal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69080" cy="2430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Rezumu: sistema kompletu, prontu ba piloto</a:t>
            </a:r>
            <a:endParaRPr lang="en-US" sz="2600" dirty="0"/>
          </a:p>
        </p:txBody>
      </p:sp>
      <p:sp>
        <p:nvSpPr>
          <p:cNvPr id="3" name="rez-0"/>
          <p:cNvSpPr/>
          <p:nvPr/>
        </p:nvSpPr>
        <p:spPr>
          <a:xfrm>
            <a:off x="548640" y="1280160"/>
            <a:ext cx="20665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z-n-0"/>
          <p:cNvSpPr txBox="1"/>
          <p:nvPr/>
        </p:nvSpPr>
        <p:spPr>
          <a:xfrm>
            <a:off x="640080" y="1371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5" name="rez-d-0"/>
          <p:cNvSpPr txBox="1"/>
          <p:nvPr/>
        </p:nvSpPr>
        <p:spPr>
          <a:xfrm>
            <a:off x="685800" y="22402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faze dezenvolvimentu kompletu</a:t>
            </a:r>
            <a:endParaRPr lang="en-US" sz="1300" dirty="0"/>
          </a:p>
        </p:txBody>
      </p:sp>
      <p:sp>
        <p:nvSpPr>
          <p:cNvPr id="6" name="rez-1"/>
          <p:cNvSpPr/>
          <p:nvPr/>
        </p:nvSpPr>
        <p:spPr>
          <a:xfrm>
            <a:off x="2798064" y="1280160"/>
            <a:ext cx="20665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ez-n-1"/>
          <p:cNvSpPr txBox="1"/>
          <p:nvPr/>
        </p:nvSpPr>
        <p:spPr>
          <a:xfrm>
            <a:off x="2889504" y="1371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rez-d-1"/>
          <p:cNvSpPr txBox="1"/>
          <p:nvPr/>
        </p:nvSpPr>
        <p:spPr>
          <a:xfrm>
            <a:off x="2935224" y="22402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papél ho asesu ketak</a:t>
            </a:r>
            <a:endParaRPr lang="en-US" sz="1300" dirty="0"/>
          </a:p>
        </p:txBody>
      </p:sp>
      <p:sp>
        <p:nvSpPr>
          <p:cNvPr id="9" name="rez-2"/>
          <p:cNvSpPr/>
          <p:nvPr/>
        </p:nvSpPr>
        <p:spPr>
          <a:xfrm>
            <a:off x="5047488" y="1280160"/>
            <a:ext cx="20665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ez-n-2"/>
          <p:cNvSpPr txBox="1"/>
          <p:nvPr/>
        </p:nvSpPr>
        <p:spPr>
          <a:xfrm>
            <a:off x="5138928" y="1371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rez-d-2"/>
          <p:cNvSpPr txBox="1"/>
          <p:nvPr/>
        </p:nvSpPr>
        <p:spPr>
          <a:xfrm>
            <a:off x="5184648" y="22402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lian: Tetun, PT, EN, ID</a:t>
            </a:r>
            <a:endParaRPr lang="en-US" sz="1300" dirty="0"/>
          </a:p>
        </p:txBody>
      </p:sp>
      <p:sp>
        <p:nvSpPr>
          <p:cNvPr id="12" name="rez-3"/>
          <p:cNvSpPr/>
          <p:nvPr/>
        </p:nvSpPr>
        <p:spPr>
          <a:xfrm>
            <a:off x="7296912" y="1280160"/>
            <a:ext cx="20665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ez-n-3"/>
          <p:cNvSpPr txBox="1"/>
          <p:nvPr/>
        </p:nvSpPr>
        <p:spPr>
          <a:xfrm>
            <a:off x="7388352" y="1371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4000" dirty="0"/>
          </a:p>
        </p:txBody>
      </p:sp>
      <p:sp>
        <p:nvSpPr>
          <p:cNvPr id="14" name="rez-d-3"/>
          <p:cNvSpPr txBox="1"/>
          <p:nvPr/>
        </p:nvSpPr>
        <p:spPr>
          <a:xfrm>
            <a:off x="7434072" y="22402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 otomátiku pasa</a:t>
            </a:r>
            <a:endParaRPr lang="en-US" sz="1300" dirty="0"/>
          </a:p>
        </p:txBody>
      </p:sp>
      <p:sp>
        <p:nvSpPr>
          <p:cNvPr id="15" name="rez-4"/>
          <p:cNvSpPr/>
          <p:nvPr/>
        </p:nvSpPr>
        <p:spPr>
          <a:xfrm>
            <a:off x="9546336" y="1280160"/>
            <a:ext cx="20665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ez-n-4"/>
          <p:cNvSpPr txBox="1"/>
          <p:nvPr/>
        </p:nvSpPr>
        <p:spPr>
          <a:xfrm>
            <a:off x="9637776" y="1371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2.250</a:t>
            </a:r>
            <a:endParaRPr lang="en-US" sz="4000" dirty="0"/>
          </a:p>
        </p:txBody>
      </p:sp>
      <p:sp>
        <p:nvSpPr>
          <p:cNvPr id="17" name="rez-d-4"/>
          <p:cNvSpPr txBox="1"/>
          <p:nvPr/>
        </p:nvSpPr>
        <p:spPr>
          <a:xfrm>
            <a:off x="9683496" y="22402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aldeia husi DM 31/2026</a:t>
            </a:r>
            <a:endParaRPr lang="en-US" sz="1300" dirty="0"/>
          </a:p>
        </p:txBody>
      </p:sp>
      <p:sp>
        <p:nvSpPr>
          <p:cNvPr id="18" name="rz-0"/>
          <p:cNvSpPr/>
          <p:nvPr/>
        </p:nvSpPr>
        <p:spPr>
          <a:xfrm>
            <a:off x="548640" y="33375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rz-b-0"/>
          <p:cNvSpPr/>
          <p:nvPr/>
        </p:nvSpPr>
        <p:spPr>
          <a:xfrm>
            <a:off x="548640" y="33375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20" name="rz-ik-0-sirkulu"/>
          <p:cNvSpPr/>
          <p:nvPr/>
        </p:nvSpPr>
        <p:spPr>
          <a:xfrm>
            <a:off x="822960" y="3611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rz-ik-0-ik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3787445"/>
            <a:ext cx="380390" cy="380390"/>
          </a:xfrm>
          <a:prstGeom prst="rect">
            <a:avLst/>
          </a:prstGeom>
        </p:spPr>
      </p:pic>
      <p:sp>
        <p:nvSpPr>
          <p:cNvPr id="22" name="rz-n-0"/>
          <p:cNvSpPr txBox="1"/>
          <p:nvPr/>
        </p:nvSpPr>
        <p:spPr>
          <a:xfrm>
            <a:off x="1737360" y="3685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Saida mak iha</a:t>
            </a:r>
            <a:endParaRPr lang="en-US" sz="1800" dirty="0"/>
          </a:p>
        </p:txBody>
      </p:sp>
      <p:sp>
        <p:nvSpPr>
          <p:cNvPr id="23" name="rz-d-0"/>
          <p:cNvSpPr txBox="1"/>
          <p:nvPr/>
        </p:nvSpPr>
        <p:spPr>
          <a:xfrm>
            <a:off x="822960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Rejistu kazu online no offline, verifikasaun dala rua, dashboard, mapa, Vault legál, portal públiku, import Excel.</a:t>
            </a:r>
            <a:endParaRPr lang="en-US" sz="1400" dirty="0"/>
          </a:p>
        </p:txBody>
      </p:sp>
      <p:sp>
        <p:nvSpPr>
          <p:cNvPr id="24" name="rz-1"/>
          <p:cNvSpPr/>
          <p:nvPr/>
        </p:nvSpPr>
        <p:spPr>
          <a:xfrm>
            <a:off x="4297680" y="33375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rz-b-1"/>
          <p:cNvSpPr/>
          <p:nvPr/>
        </p:nvSpPr>
        <p:spPr>
          <a:xfrm>
            <a:off x="4297680" y="33375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26" name="rz-ik-1-sirkulu"/>
          <p:cNvSpPr/>
          <p:nvPr/>
        </p:nvSpPr>
        <p:spPr>
          <a:xfrm>
            <a:off x="4572000" y="36118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rz-ik-1-ik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3787445"/>
            <a:ext cx="380390" cy="380390"/>
          </a:xfrm>
          <a:prstGeom prst="rect">
            <a:avLst/>
          </a:prstGeom>
        </p:spPr>
      </p:pic>
      <p:sp>
        <p:nvSpPr>
          <p:cNvPr id="28" name="rz-n-1"/>
          <p:cNvSpPr txBox="1"/>
          <p:nvPr/>
        </p:nvSpPr>
        <p:spPr>
          <a:xfrm>
            <a:off x="5486400" y="3685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Proteje komunidade</a:t>
            </a:r>
            <a:endParaRPr lang="en-US" sz="1800" dirty="0"/>
          </a:p>
        </p:txBody>
      </p:sp>
      <p:sp>
        <p:nvSpPr>
          <p:cNvPr id="29" name="rz-d-1"/>
          <p:cNvSpPr txBox="1"/>
          <p:nvPr/>
        </p:nvSpPr>
        <p:spPr>
          <a:xfrm>
            <a:off x="4572000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Portal hatudu total deit; dadus HP enkripta; kada mudansa iha istória.</a:t>
            </a:r>
            <a:endParaRPr lang="en-US" sz="1400" dirty="0"/>
          </a:p>
        </p:txBody>
      </p:sp>
      <p:sp>
        <p:nvSpPr>
          <p:cNvPr id="30" name="rz-2"/>
          <p:cNvSpPr/>
          <p:nvPr/>
        </p:nvSpPr>
        <p:spPr>
          <a:xfrm>
            <a:off x="8046720" y="33375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rz-b-2"/>
          <p:cNvSpPr/>
          <p:nvPr/>
        </p:nvSpPr>
        <p:spPr>
          <a:xfrm>
            <a:off x="8046720" y="33375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32" name="rz-ik-2-sirkulu"/>
          <p:cNvSpPr/>
          <p:nvPr/>
        </p:nvSpPr>
        <p:spPr>
          <a:xfrm>
            <a:off x="8321040" y="36118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rz-ik-2-ik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3787445"/>
            <a:ext cx="380390" cy="380390"/>
          </a:xfrm>
          <a:prstGeom prst="rect">
            <a:avLst/>
          </a:prstGeom>
        </p:spPr>
      </p:pic>
      <p:sp>
        <p:nvSpPr>
          <p:cNvPr id="34" name="rz-n-2"/>
          <p:cNvSpPr txBox="1"/>
          <p:nvPr/>
        </p:nvSpPr>
        <p:spPr>
          <a:xfrm>
            <a:off x="9235440" y="3685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Pasu tuir mai</a:t>
            </a:r>
            <a:endParaRPr lang="en-US" sz="1800" dirty="0"/>
          </a:p>
        </p:txBody>
      </p:sp>
      <p:sp>
        <p:nvSpPr>
          <p:cNvPr id="35" name="rz-d-2"/>
          <p:cNvSpPr txBox="1"/>
          <p:nvPr/>
        </p:nvSpPr>
        <p:spPr>
          <a:xfrm>
            <a:off x="8321040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Servidór ofisiál, formasaun staf no piloto iha munisípiu ida molok uza iha nasaun tomak.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Dezafiu ne'ebé SMKRE rezolve</a:t>
            </a:r>
            <a:endParaRPr lang="en-US" sz="2600" dirty="0"/>
          </a:p>
        </p:txBody>
      </p:sp>
      <p:sp>
        <p:nvSpPr>
          <p:cNvPr id="3" name="dz-h1"/>
          <p:cNvSpPr txBox="1"/>
          <p:nvPr/>
        </p:nvSpPr>
        <p:spPr>
          <a:xfrm>
            <a:off x="146304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6B66"/>
                </a:solidFill>
              </a:rPr>
              <a:t>Dezafiu</a:t>
            </a:r>
            <a:endParaRPr lang="en-US" sz="1500" dirty="0"/>
          </a:p>
        </p:txBody>
      </p:sp>
      <p:sp>
        <p:nvSpPr>
          <p:cNvPr id="4" name="dz-h2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Resposta SMKRE</a:t>
            </a:r>
            <a:endParaRPr lang="en-US" sz="1500" dirty="0"/>
          </a:p>
        </p:txBody>
      </p:sp>
      <p:sp>
        <p:nvSpPr>
          <p:cNvPr id="5" name="dz-ik-0-sirkulu"/>
          <p:cNvSpPr/>
          <p:nvPr/>
        </p:nvSpPr>
        <p:spPr>
          <a:xfrm>
            <a:off x="548640" y="1755648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dz-ik-0-ik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20240"/>
            <a:ext cx="356616" cy="356616"/>
          </a:xfrm>
          <a:prstGeom prst="rect">
            <a:avLst/>
          </a:prstGeom>
        </p:spPr>
      </p:pic>
      <p:sp>
        <p:nvSpPr>
          <p:cNvPr id="7" name="dz-t-0"/>
          <p:cNvSpPr txBox="1"/>
          <p:nvPr/>
        </p:nvSpPr>
        <p:spPr>
          <a:xfrm>
            <a:off x="1463040" y="16459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2"/>
                </a:solidFill>
              </a:rPr>
              <a:t>Dadus fahe-fahe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Kazu iha papél, Excel no telefone ketak-ketak; susar atu haree imajen nasionál.</a:t>
            </a:r>
            <a:endParaRPr lang="en-US" sz="1400" dirty="0"/>
          </a:p>
        </p:txBody>
      </p:sp>
      <p:sp>
        <p:nvSpPr>
          <p:cNvPr id="8" name="dz-a-0"/>
          <p:cNvSpPr/>
          <p:nvPr/>
        </p:nvSpPr>
        <p:spPr>
          <a:xfrm>
            <a:off x="5760720" y="2121408"/>
            <a:ext cx="5943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dz-r-0"/>
          <p:cNvSpPr/>
          <p:nvPr/>
        </p:nvSpPr>
        <p:spPr>
          <a:xfrm>
            <a:off x="6492240" y="1691640"/>
            <a:ext cx="51480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z-rt-0"/>
          <p:cNvSpPr txBox="1"/>
          <p:nvPr/>
        </p:nvSpPr>
        <p:spPr>
          <a:xfrm>
            <a:off x="6675120" y="1691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Base dadus ida, padraun formuláriu ida, kódigu kazu úniku (SMKRE-LIQ-2026-00014).</a:t>
            </a:r>
            <a:endParaRPr lang="en-US" sz="1350" dirty="0"/>
          </a:p>
        </p:txBody>
      </p:sp>
      <p:sp>
        <p:nvSpPr>
          <p:cNvPr id="11" name="dz-ik-1-sirkulu"/>
          <p:cNvSpPr/>
          <p:nvPr/>
        </p:nvSpPr>
        <p:spPr>
          <a:xfrm>
            <a:off x="548640" y="2898648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dz-ik-1-ik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63240"/>
            <a:ext cx="356616" cy="356616"/>
          </a:xfrm>
          <a:prstGeom prst="rect">
            <a:avLst/>
          </a:prstGeom>
        </p:spPr>
      </p:pic>
      <p:sp>
        <p:nvSpPr>
          <p:cNvPr id="13" name="dz-t-1"/>
          <p:cNvSpPr txBox="1"/>
          <p:nvPr/>
        </p:nvSpPr>
        <p:spPr>
          <a:xfrm>
            <a:off x="1463040" y="27889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2"/>
                </a:solidFill>
              </a:rPr>
              <a:t>Terrenu sein sinál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Fatin konflitu barak iha área rurál sein internet.</a:t>
            </a:r>
            <a:endParaRPr lang="en-US" sz="1400" dirty="0"/>
          </a:p>
        </p:txBody>
      </p:sp>
      <p:sp>
        <p:nvSpPr>
          <p:cNvPr id="14" name="dz-a-1"/>
          <p:cNvSpPr/>
          <p:nvPr/>
        </p:nvSpPr>
        <p:spPr>
          <a:xfrm>
            <a:off x="5760720" y="3264408"/>
            <a:ext cx="5943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dz-r-1"/>
          <p:cNvSpPr/>
          <p:nvPr/>
        </p:nvSpPr>
        <p:spPr>
          <a:xfrm>
            <a:off x="6492240" y="2834640"/>
            <a:ext cx="51480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z-rt-1"/>
          <p:cNvSpPr txBox="1"/>
          <p:nvPr/>
        </p:nvSpPr>
        <p:spPr>
          <a:xfrm>
            <a:off x="6675120" y="2834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App offline: rejista sein sinál, sinkron automátiku bainhira iha sinál.</a:t>
            </a:r>
            <a:endParaRPr lang="en-US" sz="1350" dirty="0"/>
          </a:p>
        </p:txBody>
      </p:sp>
      <p:sp>
        <p:nvSpPr>
          <p:cNvPr id="17" name="dz-ik-2-sirkulu"/>
          <p:cNvSpPr/>
          <p:nvPr/>
        </p:nvSpPr>
        <p:spPr>
          <a:xfrm>
            <a:off x="548640" y="4041648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dz-ik-2-ik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206240"/>
            <a:ext cx="356616" cy="356616"/>
          </a:xfrm>
          <a:prstGeom prst="rect">
            <a:avLst/>
          </a:prstGeom>
        </p:spPr>
      </p:pic>
      <p:sp>
        <p:nvSpPr>
          <p:cNvPr id="19" name="dz-t-2"/>
          <p:cNvSpPr txBox="1"/>
          <p:nvPr/>
        </p:nvSpPr>
        <p:spPr>
          <a:xfrm>
            <a:off x="1463040" y="39319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2"/>
                </a:solidFill>
              </a:rPr>
              <a:t>Kualidade dadus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Dadus la verifika bele hamate kredibilidade advokasia.</a:t>
            </a:r>
            <a:endParaRPr lang="en-US" sz="1400" dirty="0"/>
          </a:p>
        </p:txBody>
      </p:sp>
      <p:sp>
        <p:nvSpPr>
          <p:cNvPr id="20" name="dz-a-2"/>
          <p:cNvSpPr/>
          <p:nvPr/>
        </p:nvSpPr>
        <p:spPr>
          <a:xfrm>
            <a:off x="5760720" y="4407408"/>
            <a:ext cx="5943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dz-r-2"/>
          <p:cNvSpPr/>
          <p:nvPr/>
        </p:nvSpPr>
        <p:spPr>
          <a:xfrm>
            <a:off x="6492240" y="3977640"/>
            <a:ext cx="51480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z-rt-2"/>
          <p:cNvSpPr txBox="1"/>
          <p:nvPr/>
        </p:nvSpPr>
        <p:spPr>
          <a:xfrm>
            <a:off x="6675120" y="3977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Verifikasaun dala rua (Admin + Superadmin) ho istória kompletu.</a:t>
            </a:r>
            <a:endParaRPr lang="en-US" sz="1350" dirty="0"/>
          </a:p>
        </p:txBody>
      </p:sp>
      <p:sp>
        <p:nvSpPr>
          <p:cNvPr id="23" name="dz-ik-3-sirkulu"/>
          <p:cNvSpPr/>
          <p:nvPr/>
        </p:nvSpPr>
        <p:spPr>
          <a:xfrm>
            <a:off x="548640" y="5184648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4" name="dz-ik-3-ik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349240"/>
            <a:ext cx="356616" cy="356616"/>
          </a:xfrm>
          <a:prstGeom prst="rect">
            <a:avLst/>
          </a:prstGeom>
        </p:spPr>
      </p:pic>
      <p:sp>
        <p:nvSpPr>
          <p:cNvPr id="25" name="dz-t-3"/>
          <p:cNvSpPr txBox="1"/>
          <p:nvPr/>
        </p:nvSpPr>
        <p:spPr>
          <a:xfrm>
            <a:off x="1463040" y="50749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2"/>
                </a:solidFill>
              </a:rPr>
              <a:t>Risku ba komunidade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Publika fatin ka naran bele hamosu perigu ba família.</a:t>
            </a:r>
            <a:endParaRPr lang="en-US" sz="1400" dirty="0"/>
          </a:p>
        </p:txBody>
      </p:sp>
      <p:sp>
        <p:nvSpPr>
          <p:cNvPr id="26" name="dz-a-3"/>
          <p:cNvSpPr/>
          <p:nvPr/>
        </p:nvSpPr>
        <p:spPr>
          <a:xfrm>
            <a:off x="5760720" y="5550408"/>
            <a:ext cx="5943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dz-r-3"/>
          <p:cNvSpPr/>
          <p:nvPr/>
        </p:nvSpPr>
        <p:spPr>
          <a:xfrm>
            <a:off x="6492240" y="5120640"/>
            <a:ext cx="51480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dz-rt-3"/>
          <p:cNvSpPr txBox="1"/>
          <p:nvPr/>
        </p:nvSpPr>
        <p:spPr>
          <a:xfrm>
            <a:off x="6675120" y="5120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Portal agregadu deit; fatin aproksimadu; komunidade bele husu La publika.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Husi terrenu to'o públiku: kadeia ida, dadus ida</a:t>
            </a:r>
            <a:endParaRPr lang="en-US" sz="2600" dirty="0"/>
          </a:p>
        </p:txBody>
      </p:sp>
      <p:sp>
        <p:nvSpPr>
          <p:cNvPr id="3" name="kad-ik-0-sirkulu"/>
          <p:cNvSpPr/>
          <p:nvPr/>
        </p:nvSpPr>
        <p:spPr>
          <a:xfrm>
            <a:off x="960120" y="164592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kad-ik-0-ik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467" y="1909267"/>
            <a:ext cx="570586" cy="570586"/>
          </a:xfrm>
          <a:prstGeom prst="rect">
            <a:avLst/>
          </a:prstGeom>
        </p:spPr>
      </p:pic>
      <p:sp>
        <p:nvSpPr>
          <p:cNvPr id="5" name="kad-a-0"/>
          <p:cNvSpPr/>
          <p:nvPr/>
        </p:nvSpPr>
        <p:spPr>
          <a:xfrm>
            <a:off x="2167128" y="2194560"/>
            <a:ext cx="950976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kad-n-0"/>
          <p:cNvSpPr txBox="1"/>
          <p:nvPr/>
        </p:nvSpPr>
        <p:spPr>
          <a:xfrm>
            <a:off x="54864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Rejista</a:t>
            </a:r>
            <a:endParaRPr lang="en-US" sz="1800" dirty="0"/>
          </a:p>
        </p:txBody>
      </p:sp>
      <p:sp>
        <p:nvSpPr>
          <p:cNvPr id="7" name="kad-d-0"/>
          <p:cNvSpPr txBox="1"/>
          <p:nvPr/>
        </p:nvSpPr>
        <p:spPr>
          <a:xfrm>
            <a:off x="594360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Investigadór iha terrenu: GPS, foto, konsentimentu</a:t>
            </a:r>
            <a:endParaRPr lang="en-US" sz="1300" dirty="0"/>
          </a:p>
        </p:txBody>
      </p:sp>
      <p:sp>
        <p:nvSpPr>
          <p:cNvPr id="8" name="kad-ik-1-sirkulu"/>
          <p:cNvSpPr/>
          <p:nvPr/>
        </p:nvSpPr>
        <p:spPr>
          <a:xfrm>
            <a:off x="3227832" y="1645920"/>
            <a:ext cx="1097280" cy="10972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kad-ik-1-ik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179" y="1909267"/>
            <a:ext cx="570586" cy="570586"/>
          </a:xfrm>
          <a:prstGeom prst="rect">
            <a:avLst/>
          </a:prstGeom>
        </p:spPr>
      </p:pic>
      <p:sp>
        <p:nvSpPr>
          <p:cNvPr id="10" name="kad-a-1"/>
          <p:cNvSpPr/>
          <p:nvPr/>
        </p:nvSpPr>
        <p:spPr>
          <a:xfrm>
            <a:off x="4434840" y="2194560"/>
            <a:ext cx="950976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kad-n-1"/>
          <p:cNvSpPr txBox="1"/>
          <p:nvPr/>
        </p:nvSpPr>
        <p:spPr>
          <a:xfrm>
            <a:off x="2816352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Verifika</a:t>
            </a:r>
            <a:endParaRPr lang="en-US" sz="1800" dirty="0"/>
          </a:p>
        </p:txBody>
      </p:sp>
      <p:sp>
        <p:nvSpPr>
          <p:cNvPr id="12" name="kad-d-1"/>
          <p:cNvSpPr txBox="1"/>
          <p:nvPr/>
        </p:nvSpPr>
        <p:spPr>
          <a:xfrm>
            <a:off x="2862072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 verifika, Superadmin aprova</a:t>
            </a:r>
            <a:endParaRPr lang="en-US" sz="1300" dirty="0"/>
          </a:p>
        </p:txBody>
      </p:sp>
      <p:sp>
        <p:nvSpPr>
          <p:cNvPr id="13" name="kad-ik-2-sirkulu"/>
          <p:cNvSpPr/>
          <p:nvPr/>
        </p:nvSpPr>
        <p:spPr>
          <a:xfrm>
            <a:off x="5495544" y="1645920"/>
            <a:ext cx="1097280" cy="10972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kad-ik-2-ik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891" y="1909267"/>
            <a:ext cx="570586" cy="570586"/>
          </a:xfrm>
          <a:prstGeom prst="rect">
            <a:avLst/>
          </a:prstGeom>
        </p:spPr>
      </p:pic>
      <p:sp>
        <p:nvSpPr>
          <p:cNvPr id="15" name="kad-a-2"/>
          <p:cNvSpPr/>
          <p:nvPr/>
        </p:nvSpPr>
        <p:spPr>
          <a:xfrm>
            <a:off x="6702552" y="2194560"/>
            <a:ext cx="950976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kad-n-2"/>
          <p:cNvSpPr txBox="1"/>
          <p:nvPr/>
        </p:nvSpPr>
        <p:spPr>
          <a:xfrm>
            <a:off x="5084064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Analiza</a:t>
            </a:r>
            <a:endParaRPr lang="en-US" sz="1800" dirty="0"/>
          </a:p>
        </p:txBody>
      </p:sp>
      <p:sp>
        <p:nvSpPr>
          <p:cNvPr id="17" name="kad-d-2"/>
          <p:cNvSpPr txBox="1"/>
          <p:nvPr/>
        </p:nvSpPr>
        <p:spPr>
          <a:xfrm>
            <a:off x="5129784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Dashboard, mapa, relatóriu, export</a:t>
            </a:r>
            <a:endParaRPr lang="en-US" sz="1300" dirty="0"/>
          </a:p>
        </p:txBody>
      </p:sp>
      <p:sp>
        <p:nvSpPr>
          <p:cNvPr id="18" name="kad-ik-3-sirkulu"/>
          <p:cNvSpPr/>
          <p:nvPr/>
        </p:nvSpPr>
        <p:spPr>
          <a:xfrm>
            <a:off x="7763256" y="1645920"/>
            <a:ext cx="1097280" cy="10972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kad-ik-3-ik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603" y="1909267"/>
            <a:ext cx="570586" cy="570586"/>
          </a:xfrm>
          <a:prstGeom prst="rect">
            <a:avLst/>
          </a:prstGeom>
        </p:spPr>
      </p:pic>
      <p:sp>
        <p:nvSpPr>
          <p:cNvPr id="20" name="kad-a-3"/>
          <p:cNvSpPr/>
          <p:nvPr/>
        </p:nvSpPr>
        <p:spPr>
          <a:xfrm>
            <a:off x="8970264" y="2194560"/>
            <a:ext cx="950976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kad-n-3"/>
          <p:cNvSpPr txBox="1"/>
          <p:nvPr/>
        </p:nvSpPr>
        <p:spPr>
          <a:xfrm>
            <a:off x="7351776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Asaun legál</a:t>
            </a:r>
            <a:endParaRPr lang="en-US" sz="1800" dirty="0"/>
          </a:p>
        </p:txBody>
      </p:sp>
      <p:sp>
        <p:nvSpPr>
          <p:cNvPr id="22" name="kad-d-3"/>
          <p:cNvSpPr txBox="1"/>
          <p:nvPr/>
        </p:nvSpPr>
        <p:spPr>
          <a:xfrm>
            <a:off x="7397496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Vault dokumentu, nota, prazu, dossier</a:t>
            </a:r>
            <a:endParaRPr lang="en-US" sz="1300" dirty="0"/>
          </a:p>
        </p:txBody>
      </p:sp>
      <p:sp>
        <p:nvSpPr>
          <p:cNvPr id="23" name="kad-ik-4-sirkulu"/>
          <p:cNvSpPr/>
          <p:nvPr/>
        </p:nvSpPr>
        <p:spPr>
          <a:xfrm>
            <a:off x="10030968" y="1645920"/>
            <a:ext cx="1097280" cy="10972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kad-ik-4-ik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4315" y="1909267"/>
            <a:ext cx="570586" cy="570586"/>
          </a:xfrm>
          <a:prstGeom prst="rect">
            <a:avLst/>
          </a:prstGeom>
        </p:spPr>
      </p:pic>
      <p:sp>
        <p:nvSpPr>
          <p:cNvPr id="25" name="kad-n-4"/>
          <p:cNvSpPr txBox="1"/>
          <p:nvPr/>
        </p:nvSpPr>
        <p:spPr>
          <a:xfrm>
            <a:off x="9619488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Públiku</a:t>
            </a:r>
            <a:endParaRPr lang="en-US" sz="1800" dirty="0"/>
          </a:p>
        </p:txBody>
      </p:sp>
      <p:sp>
        <p:nvSpPr>
          <p:cNvPr id="26" name="kad-d-4"/>
          <p:cNvSpPr txBox="1"/>
          <p:nvPr/>
        </p:nvSpPr>
        <p:spPr>
          <a:xfrm>
            <a:off x="9665208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Portal: total no gráfiku, sein dadus pesoál</a:t>
            </a:r>
            <a:endParaRPr lang="en-US" sz="1300" dirty="0"/>
          </a:p>
        </p:txBody>
      </p:sp>
      <p:sp>
        <p:nvSpPr>
          <p:cNvPr id="27" name="kad-nota"/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kad-nota-t"/>
          <p:cNvSpPr txBox="1"/>
          <p:nvPr/>
        </p:nvSpPr>
        <p:spPr>
          <a:xfrm>
            <a:off x="822960" y="4709160"/>
            <a:ext cx="10545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Rezultadu ba Rede ba Rai: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kada númeru iha relatóriu ka portal bele traça fila ba kazu verifikadu ida, ho se mak rejista, verifika no aprova — no bainhira.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Saida mak entrega: módulu 8 iha plataforma ida</a:t>
            </a:r>
            <a:endParaRPr lang="en-US" sz="2600" dirty="0"/>
          </a:p>
        </p:txBody>
      </p:sp>
      <p:sp>
        <p:nvSpPr>
          <p:cNvPr id="3" name="mod-0"/>
          <p:cNvSpPr/>
          <p:nvPr/>
        </p:nvSpPr>
        <p:spPr>
          <a:xfrm>
            <a:off x="548640" y="132588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-ik-0-sirkulu"/>
          <p:cNvSpPr/>
          <p:nvPr/>
        </p:nvSpPr>
        <p:spPr>
          <a:xfrm>
            <a:off x="1449324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od-ik-0-ik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1786738"/>
            <a:ext cx="404165" cy="404165"/>
          </a:xfrm>
          <a:prstGeom prst="rect">
            <a:avLst/>
          </a:prstGeom>
        </p:spPr>
      </p:pic>
      <p:sp>
        <p:nvSpPr>
          <p:cNvPr id="6" name="mod-n-0"/>
          <p:cNvSpPr txBox="1"/>
          <p:nvPr/>
        </p:nvSpPr>
        <p:spPr>
          <a:xfrm>
            <a:off x="640080" y="246888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Rejistu kazu</a:t>
            </a:r>
            <a:endParaRPr lang="en-US" sz="1650" dirty="0"/>
          </a:p>
        </p:txBody>
      </p:sp>
      <p:sp>
        <p:nvSpPr>
          <p:cNvPr id="7" name="mod-d-0"/>
          <p:cNvSpPr txBox="1"/>
          <p:nvPr/>
        </p:nvSpPr>
        <p:spPr>
          <a:xfrm>
            <a:off x="731520" y="28803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Formuláriu pasu 6, GPS, validasaun</a:t>
            </a:r>
            <a:endParaRPr lang="en-US" sz="1250" dirty="0"/>
          </a:p>
        </p:txBody>
      </p:sp>
      <p:sp>
        <p:nvSpPr>
          <p:cNvPr id="8" name="mod-1"/>
          <p:cNvSpPr/>
          <p:nvPr/>
        </p:nvSpPr>
        <p:spPr>
          <a:xfrm>
            <a:off x="3355848" y="132588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d-ik-1-sirkulu"/>
          <p:cNvSpPr/>
          <p:nvPr/>
        </p:nvSpPr>
        <p:spPr>
          <a:xfrm>
            <a:off x="4256532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mod-ik-1-ik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70" y="1786738"/>
            <a:ext cx="404165" cy="404165"/>
          </a:xfrm>
          <a:prstGeom prst="rect">
            <a:avLst/>
          </a:prstGeom>
        </p:spPr>
      </p:pic>
      <p:sp>
        <p:nvSpPr>
          <p:cNvPr id="11" name="mod-n-1"/>
          <p:cNvSpPr txBox="1"/>
          <p:nvPr/>
        </p:nvSpPr>
        <p:spPr>
          <a:xfrm>
            <a:off x="3447288" y="246888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App offline</a:t>
            </a:r>
            <a:endParaRPr lang="en-US" sz="1650" dirty="0"/>
          </a:p>
        </p:txBody>
      </p:sp>
      <p:sp>
        <p:nvSpPr>
          <p:cNvPr id="12" name="mod-d-1"/>
          <p:cNvSpPr txBox="1"/>
          <p:nvPr/>
        </p:nvSpPr>
        <p:spPr>
          <a:xfrm>
            <a:off x="3538728" y="28803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Sein sinál, PIN, sinkron automátiku</a:t>
            </a:r>
            <a:endParaRPr lang="en-US" sz="1250" dirty="0"/>
          </a:p>
        </p:txBody>
      </p:sp>
      <p:sp>
        <p:nvSpPr>
          <p:cNvPr id="13" name="mod-2"/>
          <p:cNvSpPr/>
          <p:nvPr/>
        </p:nvSpPr>
        <p:spPr>
          <a:xfrm>
            <a:off x="6163056" y="132588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d-ik-2-sirkulu"/>
          <p:cNvSpPr/>
          <p:nvPr/>
        </p:nvSpPr>
        <p:spPr>
          <a:xfrm>
            <a:off x="7063740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mod-ik-2-ik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78" y="1786738"/>
            <a:ext cx="404165" cy="404165"/>
          </a:xfrm>
          <a:prstGeom prst="rect">
            <a:avLst/>
          </a:prstGeom>
        </p:spPr>
      </p:pic>
      <p:sp>
        <p:nvSpPr>
          <p:cNvPr id="16" name="mod-n-2"/>
          <p:cNvSpPr txBox="1"/>
          <p:nvPr/>
        </p:nvSpPr>
        <p:spPr>
          <a:xfrm>
            <a:off x="6254496" y="246888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Verifikasaun</a:t>
            </a:r>
            <a:endParaRPr lang="en-US" sz="1650" dirty="0"/>
          </a:p>
        </p:txBody>
      </p:sp>
      <p:sp>
        <p:nvSpPr>
          <p:cNvPr id="17" name="mod-d-2"/>
          <p:cNvSpPr txBox="1"/>
          <p:nvPr/>
        </p:nvSpPr>
        <p:spPr>
          <a:xfrm>
            <a:off x="6345936" y="28803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Admin + Superadmin, modal, istória</a:t>
            </a:r>
            <a:endParaRPr lang="en-US" sz="1250" dirty="0"/>
          </a:p>
        </p:txBody>
      </p:sp>
      <p:sp>
        <p:nvSpPr>
          <p:cNvPr id="18" name="mod-3"/>
          <p:cNvSpPr/>
          <p:nvPr/>
        </p:nvSpPr>
        <p:spPr>
          <a:xfrm>
            <a:off x="8970264" y="132588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-ik-3-sirkulu"/>
          <p:cNvSpPr/>
          <p:nvPr/>
        </p:nvSpPr>
        <p:spPr>
          <a:xfrm>
            <a:off x="9870948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mod-ik-3-ik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7486" y="1786738"/>
            <a:ext cx="404165" cy="404165"/>
          </a:xfrm>
          <a:prstGeom prst="rect">
            <a:avLst/>
          </a:prstGeom>
        </p:spPr>
      </p:pic>
      <p:sp>
        <p:nvSpPr>
          <p:cNvPr id="21" name="mod-n-3"/>
          <p:cNvSpPr txBox="1"/>
          <p:nvPr/>
        </p:nvSpPr>
        <p:spPr>
          <a:xfrm>
            <a:off x="9061704" y="246888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Dashboard no mapa</a:t>
            </a:r>
            <a:endParaRPr lang="en-US" sz="1650" dirty="0"/>
          </a:p>
        </p:txBody>
      </p:sp>
      <p:sp>
        <p:nvSpPr>
          <p:cNvPr id="22" name="mod-d-3"/>
          <p:cNvSpPr txBox="1"/>
          <p:nvPr/>
        </p:nvSpPr>
        <p:spPr>
          <a:xfrm>
            <a:off x="9153144" y="28803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Gráfiku, filtru, mapa satélite</a:t>
            </a:r>
            <a:endParaRPr lang="en-US" sz="1250" dirty="0"/>
          </a:p>
        </p:txBody>
      </p:sp>
      <p:sp>
        <p:nvSpPr>
          <p:cNvPr id="23" name="mod-4"/>
          <p:cNvSpPr/>
          <p:nvPr/>
        </p:nvSpPr>
        <p:spPr>
          <a:xfrm>
            <a:off x="548640" y="370332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od-ik-4-sirkulu"/>
          <p:cNvSpPr/>
          <p:nvPr/>
        </p:nvSpPr>
        <p:spPr>
          <a:xfrm>
            <a:off x="1449324" y="397764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mod-ik-4-ik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862" y="4164178"/>
            <a:ext cx="404165" cy="404165"/>
          </a:xfrm>
          <a:prstGeom prst="rect">
            <a:avLst/>
          </a:prstGeom>
        </p:spPr>
      </p:pic>
      <p:sp>
        <p:nvSpPr>
          <p:cNvPr id="26" name="mod-n-4"/>
          <p:cNvSpPr txBox="1"/>
          <p:nvPr/>
        </p:nvSpPr>
        <p:spPr>
          <a:xfrm>
            <a:off x="640080" y="484632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Relatóriu</a:t>
            </a:r>
            <a:endParaRPr lang="en-US" sz="1650" dirty="0"/>
          </a:p>
        </p:txBody>
      </p:sp>
      <p:sp>
        <p:nvSpPr>
          <p:cNvPr id="27" name="mod-d-4"/>
          <p:cNvSpPr txBox="1"/>
          <p:nvPr/>
        </p:nvSpPr>
        <p:spPr>
          <a:xfrm>
            <a:off x="731520" y="52578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PDF, Excel, print</a:t>
            </a:r>
            <a:endParaRPr lang="en-US" sz="1250" dirty="0"/>
          </a:p>
        </p:txBody>
      </p:sp>
      <p:sp>
        <p:nvSpPr>
          <p:cNvPr id="28" name="mod-5"/>
          <p:cNvSpPr/>
          <p:nvPr/>
        </p:nvSpPr>
        <p:spPr>
          <a:xfrm>
            <a:off x="3355848" y="370332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mod-ik-5-sirkulu"/>
          <p:cNvSpPr/>
          <p:nvPr/>
        </p:nvSpPr>
        <p:spPr>
          <a:xfrm>
            <a:off x="4256532" y="397764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mod-ik-5-ik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070" y="4164178"/>
            <a:ext cx="404165" cy="404165"/>
          </a:xfrm>
          <a:prstGeom prst="rect">
            <a:avLst/>
          </a:prstGeom>
        </p:spPr>
      </p:pic>
      <p:sp>
        <p:nvSpPr>
          <p:cNvPr id="31" name="mod-n-5"/>
          <p:cNvSpPr txBox="1"/>
          <p:nvPr/>
        </p:nvSpPr>
        <p:spPr>
          <a:xfrm>
            <a:off x="3447288" y="484632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Vault legál</a:t>
            </a:r>
            <a:endParaRPr lang="en-US" sz="1650" dirty="0"/>
          </a:p>
        </p:txBody>
      </p:sp>
      <p:sp>
        <p:nvSpPr>
          <p:cNvPr id="32" name="mod-d-5"/>
          <p:cNvSpPr txBox="1"/>
          <p:nvPr/>
        </p:nvSpPr>
        <p:spPr>
          <a:xfrm>
            <a:off x="3538728" y="52578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Dokumentu, versaun, prazu, dossier</a:t>
            </a:r>
            <a:endParaRPr lang="en-US" sz="1250" dirty="0"/>
          </a:p>
        </p:txBody>
      </p:sp>
      <p:sp>
        <p:nvSpPr>
          <p:cNvPr id="33" name="mod-6"/>
          <p:cNvSpPr/>
          <p:nvPr/>
        </p:nvSpPr>
        <p:spPr>
          <a:xfrm>
            <a:off x="6163056" y="370332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mod-ik-6-sirkulu"/>
          <p:cNvSpPr/>
          <p:nvPr/>
        </p:nvSpPr>
        <p:spPr>
          <a:xfrm>
            <a:off x="7063740" y="397764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mod-ik-6-ik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0278" y="4164178"/>
            <a:ext cx="404165" cy="404165"/>
          </a:xfrm>
          <a:prstGeom prst="rect">
            <a:avLst/>
          </a:prstGeom>
        </p:spPr>
      </p:pic>
      <p:sp>
        <p:nvSpPr>
          <p:cNvPr id="36" name="mod-n-6"/>
          <p:cNvSpPr txBox="1"/>
          <p:nvPr/>
        </p:nvSpPr>
        <p:spPr>
          <a:xfrm>
            <a:off x="6254496" y="484632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Portal públiku</a:t>
            </a:r>
            <a:endParaRPr lang="en-US" sz="1650" dirty="0"/>
          </a:p>
        </p:txBody>
      </p:sp>
      <p:sp>
        <p:nvSpPr>
          <p:cNvPr id="37" name="mod-d-6"/>
          <p:cNvSpPr txBox="1"/>
          <p:nvPr/>
        </p:nvSpPr>
        <p:spPr>
          <a:xfrm>
            <a:off x="6345936" y="52578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Pin, gráfiku, publikasaun, lian 4</a:t>
            </a:r>
            <a:endParaRPr lang="en-US" sz="1250" dirty="0"/>
          </a:p>
        </p:txBody>
      </p:sp>
      <p:sp>
        <p:nvSpPr>
          <p:cNvPr id="38" name="mod-7"/>
          <p:cNvSpPr/>
          <p:nvPr/>
        </p:nvSpPr>
        <p:spPr>
          <a:xfrm>
            <a:off x="8970264" y="3703320"/>
            <a:ext cx="257860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mod-ik-7-sirkulu"/>
          <p:cNvSpPr/>
          <p:nvPr/>
        </p:nvSpPr>
        <p:spPr>
          <a:xfrm>
            <a:off x="9870948" y="397764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0" name="mod-ik-7-ik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7486" y="4164178"/>
            <a:ext cx="404165" cy="404165"/>
          </a:xfrm>
          <a:prstGeom prst="rect">
            <a:avLst/>
          </a:prstGeom>
        </p:spPr>
      </p:pic>
      <p:sp>
        <p:nvSpPr>
          <p:cNvPr id="41" name="mod-n-7"/>
          <p:cNvSpPr txBox="1"/>
          <p:nvPr/>
        </p:nvSpPr>
        <p:spPr>
          <a:xfrm>
            <a:off x="9061704" y="484632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Import Excel</a:t>
            </a:r>
            <a:endParaRPr lang="en-US" sz="1650" dirty="0"/>
          </a:p>
        </p:txBody>
      </p:sp>
      <p:sp>
        <p:nvSpPr>
          <p:cNvPr id="42" name="mod-d-7"/>
          <p:cNvSpPr txBox="1"/>
          <p:nvPr/>
        </p:nvSpPr>
        <p:spPr>
          <a:xfrm>
            <a:off x="9153144" y="52578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Dadus tuan, hadia fatin iha mapa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Portal públiku: hatudu impaktu, proteje komunidade</a:t>
            </a:r>
            <a:endParaRPr lang="en-US" sz="2600" dirty="0"/>
          </a:p>
        </p:txBody>
      </p:sp>
      <p:sp>
        <p:nvSpPr>
          <p:cNvPr id="3" name="portal-shot-moldura"/>
          <p:cNvSpPr/>
          <p:nvPr/>
        </p:nvSpPr>
        <p:spPr>
          <a:xfrm>
            <a:off x="493776" y="1271016"/>
            <a:ext cx="7059168" cy="3275584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portal-shot" descr="/tmp/claude-0/-home-user-sjamci/3266590f-78d1-5366-b61d-23553f70b1cc/scratchpad/own/portal_m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3165856"/>
          </a:xfrm>
          <a:prstGeom prst="rect">
            <a:avLst/>
          </a:prstGeom>
        </p:spPr>
      </p:pic>
      <p:sp>
        <p:nvSpPr>
          <p:cNvPr id="5" name="portal-shot-c"/>
          <p:cNvSpPr txBox="1"/>
          <p:nvPr/>
        </p:nvSpPr>
        <p:spPr>
          <a:xfrm>
            <a:off x="548640" y="46014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66"/>
                </a:solidFill>
              </a:rPr>
              <a:t>Mapa portal: pin ho total kada munisípiu (dadus demo)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37160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Pájina dahuluk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ba ema hotu; staf klik Login.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Pin no gráfiku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interativu: munisípiu, tipu, tinan.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Kazu aprovadu deit,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ho konsentimentu.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Privasidade: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númeru 1–2 = "&lt; 3"; fatin ~1 km; zoom limitadu.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Publikasaun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(policy brief) ba advokasia.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Lian 4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ba parseiru nasionál no internasionál.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Dashboard: imajen nasionál iha segundu balun</a:t>
            </a:r>
            <a:endParaRPr lang="en-US" sz="2600" dirty="0"/>
          </a:p>
        </p:txBody>
      </p:sp>
      <p:sp>
        <p:nvSpPr>
          <p:cNvPr id="3" name="dash-shot-moldura"/>
          <p:cNvSpPr/>
          <p:nvPr/>
        </p:nvSpPr>
        <p:spPr>
          <a:xfrm>
            <a:off x="499092" y="1271016"/>
            <a:ext cx="7688615" cy="4636008"/>
          </a:xfrm>
          <a:prstGeom prst="roundRect">
            <a:avLst>
              <a:gd name="adj" fmla="val 1578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dash-shot" descr="/tmp/claude-0/-home-user-sjamci/3266590f-78d1-5366-b61d-23553f70b1cc/scratchpad/own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956" y="1325880"/>
            <a:ext cx="7578887" cy="4526280"/>
          </a:xfrm>
          <a:prstGeom prst="rect">
            <a:avLst/>
          </a:prstGeom>
        </p:spPr>
      </p:pic>
      <p:sp>
        <p:nvSpPr>
          <p:cNvPr id="5" name="dash-shot-c"/>
          <p:cNvSpPr txBox="1"/>
          <p:nvPr/>
        </p:nvSpPr>
        <p:spPr>
          <a:xfrm>
            <a:off x="553956" y="5961888"/>
            <a:ext cx="757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66"/>
                </a:solidFill>
              </a:rPr>
              <a:t>Dashboard staf (dadus demo ba formasaun)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371600"/>
            <a:ext cx="3200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Total, ativu, urjente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no kada status verifikasaun.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Kada númeru bele klik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→ lista kazu ne'ebé hamosu nia.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Filtru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munisípiu, tipu, tinan.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Export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Excel no PDF ba relatóriu doador.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Kontrolu kualidade: ema rua tenke konkorda</a:t>
            </a:r>
            <a:endParaRPr lang="en-US" sz="2600" dirty="0"/>
          </a:p>
        </p:txBody>
      </p:sp>
      <p:sp>
        <p:nvSpPr>
          <p:cNvPr id="3" name="vf-0"/>
          <p:cNvSpPr/>
          <p:nvPr/>
        </p:nvSpPr>
        <p:spPr>
          <a:xfrm>
            <a:off x="548640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vf-0-t"/>
          <p:cNvSpPr txBox="1"/>
          <p:nvPr/>
        </p:nvSpPr>
        <p:spPr>
          <a:xfrm>
            <a:off x="621792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Investigadór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Haruka kazu</a:t>
            </a:r>
            <a:endParaRPr lang="en-US" sz="1400" dirty="0"/>
          </a:p>
        </p:txBody>
      </p:sp>
      <p:sp>
        <p:nvSpPr>
          <p:cNvPr id="5" name="vf-1"/>
          <p:cNvSpPr/>
          <p:nvPr/>
        </p:nvSpPr>
        <p:spPr>
          <a:xfrm>
            <a:off x="2862072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vf-1-t"/>
          <p:cNvSpPr txBox="1"/>
          <p:nvPr/>
        </p:nvSpPr>
        <p:spPr>
          <a:xfrm>
            <a:off x="2935224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Hein Verifikasaun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Admin rejeita ka verifika</a:t>
            </a:r>
            <a:endParaRPr lang="en-US" sz="1400" dirty="0"/>
          </a:p>
        </p:txBody>
      </p:sp>
      <p:sp>
        <p:nvSpPr>
          <p:cNvPr id="7" name="vf-2"/>
          <p:cNvSpPr/>
          <p:nvPr/>
        </p:nvSpPr>
        <p:spPr>
          <a:xfrm>
            <a:off x="5175504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vf-2-t"/>
          <p:cNvSpPr txBox="1"/>
          <p:nvPr/>
        </p:nvSpPr>
        <p:spPr>
          <a:xfrm>
            <a:off x="5248656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Verifikadu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Superadmin aprova</a:t>
            </a:r>
            <a:endParaRPr lang="en-US" sz="1400" dirty="0"/>
          </a:p>
        </p:txBody>
      </p:sp>
      <p:sp>
        <p:nvSpPr>
          <p:cNvPr id="9" name="vf-3"/>
          <p:cNvSpPr/>
          <p:nvPr/>
        </p:nvSpPr>
        <p:spPr>
          <a:xfrm>
            <a:off x="7488936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0" name="vf-3-t"/>
          <p:cNvSpPr txBox="1"/>
          <p:nvPr/>
        </p:nvSpPr>
        <p:spPr>
          <a:xfrm>
            <a:off x="7562088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Aprovadu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Dashboard + portal</a:t>
            </a:r>
            <a:endParaRPr lang="en-US" sz="1400" dirty="0"/>
          </a:p>
        </p:txBody>
      </p:sp>
      <p:sp>
        <p:nvSpPr>
          <p:cNvPr id="11" name="vf-4"/>
          <p:cNvSpPr/>
          <p:nvPr/>
        </p:nvSpPr>
        <p:spPr>
          <a:xfrm>
            <a:off x="9802368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vf-4-t"/>
          <p:cNvSpPr txBox="1"/>
          <p:nvPr/>
        </p:nvSpPr>
        <p:spPr>
          <a:xfrm>
            <a:off x="9875520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Remata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Final</a:t>
            </a:r>
            <a:endParaRPr lang="en-US" sz="1400" dirty="0"/>
          </a:p>
        </p:txBody>
      </p:sp>
      <p:sp>
        <p:nvSpPr>
          <p:cNvPr id="13" name="vf-a-0"/>
          <p:cNvSpPr/>
          <p:nvPr/>
        </p:nvSpPr>
        <p:spPr>
          <a:xfrm>
            <a:off x="2423160" y="2080260"/>
            <a:ext cx="438912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vf-a-1"/>
          <p:cNvSpPr/>
          <p:nvPr/>
        </p:nvSpPr>
        <p:spPr>
          <a:xfrm>
            <a:off x="4736592" y="2080260"/>
            <a:ext cx="438912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vf-a-2"/>
          <p:cNvSpPr/>
          <p:nvPr/>
        </p:nvSpPr>
        <p:spPr>
          <a:xfrm>
            <a:off x="7050024" y="2080260"/>
            <a:ext cx="438912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vf-a-3"/>
          <p:cNvSpPr/>
          <p:nvPr/>
        </p:nvSpPr>
        <p:spPr>
          <a:xfrm>
            <a:off x="9363456" y="2080260"/>
            <a:ext cx="438912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vf-shot-moldura"/>
          <p:cNvSpPr/>
          <p:nvPr/>
        </p:nvSpPr>
        <p:spPr>
          <a:xfrm>
            <a:off x="493776" y="3008376"/>
            <a:ext cx="6876288" cy="969973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vf-shot" descr="/tmp/claude-0/-home-user-sjamci/3266590f-78d1-5366-b61d-23553f70b1cc/scratchpad/own/aksa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6766560" cy="860245"/>
          </a:xfrm>
          <a:prstGeom prst="rect">
            <a:avLst/>
          </a:prstGeom>
        </p:spPr>
      </p:pic>
      <p:sp>
        <p:nvSpPr>
          <p:cNvPr id="19" name="vf-shot-c"/>
          <p:cNvSpPr txBox="1"/>
          <p:nvPr/>
        </p:nvSpPr>
        <p:spPr>
          <a:xfrm>
            <a:off x="548640" y="4033213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66"/>
                </a:solidFill>
              </a:rPr>
              <a:t>Butaun xave tuir status: Rejeita no Kansela xave hafoin verifika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3017520"/>
            <a:ext cx="3977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Butaun xave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tuir status — servidór mós bloku.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Rejeita / Kansela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obriga razaun; Investigadór simu notifikasaun.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Istória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rejista se, bainhira no razaun.</a:t>
            </a:r>
            <a:endParaRPr lang="en-US" sz="1400" dirty="0"/>
          </a:p>
        </p:txBody>
      </p:sp>
      <p:sp>
        <p:nvSpPr>
          <p:cNvPr id="21" name="vf-nota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Ema ida labele verifika no aprova kazu hanesan: separasaun knaar entre Admin no Superadmin.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 offline: servisu iha fatin sein sinál</a:t>
            </a:r>
            <a:endParaRPr lang="en-US" sz="2600" dirty="0"/>
          </a:p>
        </p:txBody>
      </p:sp>
      <p:sp>
        <p:nvSpPr>
          <p:cNvPr id="3" name="off-shot-moldura"/>
          <p:cNvSpPr/>
          <p:nvPr/>
        </p:nvSpPr>
        <p:spPr>
          <a:xfrm>
            <a:off x="689273" y="1225296"/>
            <a:ext cx="2096173" cy="4818888"/>
          </a:xfrm>
          <a:prstGeom prst="roundRect">
            <a:avLst>
              <a:gd name="adj" fmla="val 3490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off-shot" descr="/tmp/claude-0/-home-user-sjamci/3266590f-78d1-5366-b61d-23553f70b1cc/scratchpad/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137" y="1280160"/>
            <a:ext cx="1986445" cy="4709160"/>
          </a:xfrm>
          <a:prstGeom prst="rect">
            <a:avLst/>
          </a:prstGeom>
        </p:spPr>
      </p:pic>
      <p:sp>
        <p:nvSpPr>
          <p:cNvPr id="5" name="off-0"/>
          <p:cNvSpPr/>
          <p:nvPr/>
        </p:nvSpPr>
        <p:spPr>
          <a:xfrm>
            <a:off x="3429000" y="132588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off-ik-0-sirkulu"/>
          <p:cNvSpPr/>
          <p:nvPr/>
        </p:nvSpPr>
        <p:spPr>
          <a:xfrm>
            <a:off x="370332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off-ik-0-ik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885" y="1775765"/>
            <a:ext cx="380390" cy="380390"/>
          </a:xfrm>
          <a:prstGeom prst="rect">
            <a:avLst/>
          </a:prstGeom>
        </p:spPr>
      </p:pic>
      <p:sp>
        <p:nvSpPr>
          <p:cNvPr id="8" name="off-n-0"/>
          <p:cNvSpPr txBox="1"/>
          <p:nvPr/>
        </p:nvSpPr>
        <p:spPr>
          <a:xfrm>
            <a:off x="4617720" y="16733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Sein internet</a:t>
            </a:r>
            <a:endParaRPr lang="en-US" sz="1800" dirty="0"/>
          </a:p>
        </p:txBody>
      </p:sp>
      <p:sp>
        <p:nvSpPr>
          <p:cNvPr id="9" name="off-d-0"/>
          <p:cNvSpPr txBox="1"/>
          <p:nvPr/>
        </p:nvSpPr>
        <p:spPr>
          <a:xfrm>
            <a:off x="370332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Rejista kazu kompletu iha terrenu; sinkron automátiku bainhira iha sinál.</a:t>
            </a:r>
            <a:endParaRPr lang="en-US" sz="1400" dirty="0"/>
          </a:p>
        </p:txBody>
      </p:sp>
      <p:sp>
        <p:nvSpPr>
          <p:cNvPr id="10" name="off-1"/>
          <p:cNvSpPr/>
          <p:nvPr/>
        </p:nvSpPr>
        <p:spPr>
          <a:xfrm>
            <a:off x="7589520" y="132588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ff-ik-1-sirkulu"/>
          <p:cNvSpPr/>
          <p:nvPr/>
        </p:nvSpPr>
        <p:spPr>
          <a:xfrm>
            <a:off x="7863840" y="16002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off-ik-1-ik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405" y="1775765"/>
            <a:ext cx="380390" cy="380390"/>
          </a:xfrm>
          <a:prstGeom prst="rect">
            <a:avLst/>
          </a:prstGeom>
        </p:spPr>
      </p:pic>
      <p:sp>
        <p:nvSpPr>
          <p:cNvPr id="13" name="off-n-1"/>
          <p:cNvSpPr txBox="1"/>
          <p:nvPr/>
        </p:nvSpPr>
        <p:spPr>
          <a:xfrm>
            <a:off x="8778240" y="16733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Enkripta ho PIN</a:t>
            </a:r>
            <a:endParaRPr lang="en-US" sz="1800" dirty="0"/>
          </a:p>
        </p:txBody>
      </p:sp>
      <p:sp>
        <p:nvSpPr>
          <p:cNvPr id="14" name="off-d-1"/>
          <p:cNvSpPr txBox="1"/>
          <p:nvPr/>
        </p:nvSpPr>
        <p:spPr>
          <a:xfrm>
            <a:off x="786384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Dadus iha HP enkripta (AES-256); PIN sala dala 5 = dadus hamoos.</a:t>
            </a:r>
            <a:endParaRPr lang="en-US" sz="1400" dirty="0"/>
          </a:p>
        </p:txBody>
      </p:sp>
      <p:sp>
        <p:nvSpPr>
          <p:cNvPr id="15" name="off-2"/>
          <p:cNvSpPr/>
          <p:nvPr/>
        </p:nvSpPr>
        <p:spPr>
          <a:xfrm>
            <a:off x="3429000" y="370332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off-ik-2-sirkulu"/>
          <p:cNvSpPr/>
          <p:nvPr/>
        </p:nvSpPr>
        <p:spPr>
          <a:xfrm>
            <a:off x="3703320" y="397764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off-ik-2-ik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885" y="4153205"/>
            <a:ext cx="380390" cy="380390"/>
          </a:xfrm>
          <a:prstGeom prst="rect">
            <a:avLst/>
          </a:prstGeom>
        </p:spPr>
      </p:pic>
      <p:sp>
        <p:nvSpPr>
          <p:cNvPr id="18" name="off-n-2"/>
          <p:cNvSpPr txBox="1"/>
          <p:nvPr/>
        </p:nvSpPr>
        <p:spPr>
          <a:xfrm>
            <a:off x="4617720" y="40507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Evidénsia</a:t>
            </a:r>
            <a:endParaRPr lang="en-US" sz="1800" dirty="0"/>
          </a:p>
        </p:txBody>
      </p:sp>
      <p:sp>
        <p:nvSpPr>
          <p:cNvPr id="19" name="off-d-2"/>
          <p:cNvSpPr txBox="1"/>
          <p:nvPr/>
        </p:nvSpPr>
        <p:spPr>
          <a:xfrm>
            <a:off x="3703320" y="4846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Foto 5 (kámera ka galeria), vídeo 1 (60 segundu), kompresa automátiku.</a:t>
            </a:r>
            <a:endParaRPr lang="en-US" sz="1400" dirty="0"/>
          </a:p>
        </p:txBody>
      </p:sp>
      <p:sp>
        <p:nvSpPr>
          <p:cNvPr id="20" name="off-3"/>
          <p:cNvSpPr/>
          <p:nvPr/>
        </p:nvSpPr>
        <p:spPr>
          <a:xfrm>
            <a:off x="7589520" y="370332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off-ik-3-sirkulu"/>
          <p:cNvSpPr/>
          <p:nvPr/>
        </p:nvSpPr>
        <p:spPr>
          <a:xfrm>
            <a:off x="7863840" y="39776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off-ik-3-ik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405" y="4153205"/>
            <a:ext cx="380390" cy="380390"/>
          </a:xfrm>
          <a:prstGeom prst="rect">
            <a:avLst/>
          </a:prstGeom>
        </p:spPr>
      </p:pic>
      <p:sp>
        <p:nvSpPr>
          <p:cNvPr id="23" name="off-n-3"/>
          <p:cNvSpPr txBox="1"/>
          <p:nvPr/>
        </p:nvSpPr>
        <p:spPr>
          <a:xfrm>
            <a:off x="8778240" y="40507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Kontrolu Admin</a:t>
            </a:r>
            <a:endParaRPr lang="en-US" sz="1800" dirty="0"/>
          </a:p>
        </p:txBody>
      </p:sp>
      <p:sp>
        <p:nvSpPr>
          <p:cNvPr id="24" name="off-d-3"/>
          <p:cNvSpPr txBox="1"/>
          <p:nvPr/>
        </p:nvSpPr>
        <p:spPr>
          <a:xfrm>
            <a:off x="7863840" y="4846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Izin offline loron 7; Admin renova ka kansela (HP lakon).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Asaun legál: dokumentu no prazu iha fatin seguru ida</a:t>
            </a:r>
            <a:endParaRPr lang="en-US" sz="2600" dirty="0"/>
          </a:p>
        </p:txBody>
      </p:sp>
      <p:sp>
        <p:nvSpPr>
          <p:cNvPr id="3" name="leg-shot-moldura"/>
          <p:cNvSpPr/>
          <p:nvPr/>
        </p:nvSpPr>
        <p:spPr>
          <a:xfrm>
            <a:off x="493776" y="1271016"/>
            <a:ext cx="7059168" cy="4260088"/>
          </a:xfrm>
          <a:prstGeom prst="roundRect">
            <a:avLst>
              <a:gd name="adj" fmla="val 1717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leg-shot" descr="/tmp/claude-0/-home-user-sjamci/3266590f-78d1-5366-b61d-23553f70b1cc/scratchpad/own/leg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150360"/>
          </a:xfrm>
          <a:prstGeom prst="rect">
            <a:avLst/>
          </a:prstGeom>
        </p:spPr>
      </p:pic>
      <p:sp>
        <p:nvSpPr>
          <p:cNvPr id="5" name="leg-shot-c"/>
          <p:cNvSpPr txBox="1"/>
          <p:nvPr/>
        </p:nvSpPr>
        <p:spPr>
          <a:xfrm>
            <a:off x="548640" y="55859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66"/>
                </a:solidFill>
              </a:rPr>
              <a:t>Document Vault Legál (dadus demo)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37160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Vault dokumentu: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PDF, foto, DOCX; versaun; konfidensiál.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Hash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prova dokumentu la muda.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Nota legál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ho prazu; lembrete loron 3 molok.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Dossier A4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ba tribunál ka mediasaun.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Auditoria: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kada download rejista.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Dadus tuan la lakon: import Excel no hadia fatin iha mapa</a:t>
            </a:r>
            <a:endParaRPr lang="en-US" sz="2600" dirty="0"/>
          </a:p>
        </p:txBody>
      </p:sp>
      <p:sp>
        <p:nvSpPr>
          <p:cNvPr id="3" name="imp-shot1-moldura"/>
          <p:cNvSpPr/>
          <p:nvPr/>
        </p:nvSpPr>
        <p:spPr>
          <a:xfrm>
            <a:off x="493776" y="1271016"/>
            <a:ext cx="5550408" cy="3973461"/>
          </a:xfrm>
          <a:prstGeom prst="roundRect">
            <a:avLst>
              <a:gd name="adj" fmla="val 1841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p-shot1" descr="/tmp/claude-0/-home-user-sjamci/3266590f-78d1-5366-b61d-23553f70b1cc/scratchpad/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40680" cy="3863733"/>
          </a:xfrm>
          <a:prstGeom prst="rect">
            <a:avLst/>
          </a:prstGeom>
        </p:spPr>
      </p:pic>
      <p:sp>
        <p:nvSpPr>
          <p:cNvPr id="5" name="imp-shot1-c"/>
          <p:cNvSpPr txBox="1"/>
          <p:nvPr/>
        </p:nvSpPr>
        <p:spPr>
          <a:xfrm>
            <a:off x="548640" y="5299341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66"/>
                </a:solidFill>
              </a:rPr>
              <a:t>Pratinjau: liña válidu, erru no GPS aproksimadu</a:t>
            </a:r>
            <a:endParaRPr lang="en-US" sz="1100" dirty="0"/>
          </a:p>
        </p:txBody>
      </p:sp>
      <p:sp>
        <p:nvSpPr>
          <p:cNvPr id="6" name="imp-shot2-moldura"/>
          <p:cNvSpPr/>
          <p:nvPr/>
        </p:nvSpPr>
        <p:spPr>
          <a:xfrm>
            <a:off x="6144768" y="1271016"/>
            <a:ext cx="5550408" cy="3935206"/>
          </a:xfrm>
          <a:prstGeom prst="roundRect">
            <a:avLst>
              <a:gd name="adj" fmla="val 1859"/>
            </a:avLst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p-shot2" descr="/tmp/claude-0/-home-user-sjamci/3266590f-78d1-5366-b61d-23553f70b1cc/scratchpad/i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25880"/>
            <a:ext cx="5440680" cy="3825478"/>
          </a:xfrm>
          <a:prstGeom prst="rect">
            <a:avLst/>
          </a:prstGeom>
        </p:spPr>
      </p:pic>
      <p:sp>
        <p:nvSpPr>
          <p:cNvPr id="8" name="imp-shot2-c"/>
          <p:cNvSpPr txBox="1"/>
          <p:nvPr/>
        </p:nvSpPr>
        <p:spPr>
          <a:xfrm>
            <a:off x="6199632" y="526108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66"/>
                </a:solidFill>
              </a:rPr>
              <a:t>Hadia lokasaun: dada marka iha mapa</a:t>
            </a:r>
            <a:endParaRPr lang="en-US" sz="1100" dirty="0"/>
          </a:p>
        </p:txBody>
      </p:sp>
      <p:sp>
        <p:nvSpPr>
          <p:cNvPr id="9" name="imp-nota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 deit · template Excel · pratinjau molok konfirma · kazu import liu verifikasaun hanesan · koordenada mamuk → fatin aproksimadu, hadia iha mapa.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Privasidade no seguransa iha kada nivel</a:t>
            </a:r>
            <a:endParaRPr lang="en-US" sz="2600" dirty="0"/>
          </a:p>
        </p:txBody>
      </p:sp>
      <p:sp>
        <p:nvSpPr>
          <p:cNvPr id="3" name="pv-0"/>
          <p:cNvSpPr/>
          <p:nvPr/>
        </p:nvSpPr>
        <p:spPr>
          <a:xfrm>
            <a:off x="548640" y="132588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v-ik-0-sirkulu"/>
          <p:cNvSpPr/>
          <p:nvPr/>
        </p:nvSpPr>
        <p:spPr>
          <a:xfrm>
            <a:off x="86868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v-ik-0-ik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1854403"/>
            <a:ext cx="451714" cy="451714"/>
          </a:xfrm>
          <a:prstGeom prst="rect">
            <a:avLst/>
          </a:prstGeom>
        </p:spPr>
      </p:pic>
      <p:sp>
        <p:nvSpPr>
          <p:cNvPr id="6" name="pv-n-0"/>
          <p:cNvSpPr txBox="1"/>
          <p:nvPr/>
        </p:nvSpPr>
        <p:spPr>
          <a:xfrm>
            <a:off x="192024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Privasidade komunidade</a:t>
            </a:r>
            <a:endParaRPr lang="en-US" sz="2200" dirty="0"/>
          </a:p>
        </p:txBody>
      </p:sp>
      <p:sp>
        <p:nvSpPr>
          <p:cNvPr id="7" name="pv-d-0"/>
          <p:cNvSpPr txBox="1"/>
          <p:nvPr/>
        </p:nvSpPr>
        <p:spPr>
          <a:xfrm>
            <a:off x="914400" y="2697480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Konsentimentu obrigatóriu ba portal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Komunidade bele husu "La publika"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Portal: total deit; 1–2 = "&lt; 3"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Fatin públiku aproksimadu ~1 km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Foto no dokumentu: login + asesu ba kazu</a:t>
            </a:r>
            <a:endParaRPr lang="en-US" sz="1550" dirty="0"/>
          </a:p>
        </p:txBody>
      </p:sp>
      <p:sp>
        <p:nvSpPr>
          <p:cNvPr id="8" name="pv-1"/>
          <p:cNvSpPr/>
          <p:nvPr/>
        </p:nvSpPr>
        <p:spPr>
          <a:xfrm>
            <a:off x="6172200" y="132588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v-ik-1-sirkulu"/>
          <p:cNvSpPr/>
          <p:nvPr/>
        </p:nvSpPr>
        <p:spPr>
          <a:xfrm>
            <a:off x="6492240" y="164592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pv-ik-1-ik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723" y="1854403"/>
            <a:ext cx="451714" cy="451714"/>
          </a:xfrm>
          <a:prstGeom prst="rect">
            <a:avLst/>
          </a:prstGeom>
        </p:spPr>
      </p:pic>
      <p:sp>
        <p:nvSpPr>
          <p:cNvPr id="11" name="pv-n-1"/>
          <p:cNvSpPr txBox="1"/>
          <p:nvPr/>
        </p:nvSpPr>
        <p:spPr>
          <a:xfrm>
            <a:off x="754380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Seguransa sistema</a:t>
            </a:r>
            <a:endParaRPr lang="en-US" sz="2200" dirty="0"/>
          </a:p>
        </p:txBody>
      </p:sp>
      <p:sp>
        <p:nvSpPr>
          <p:cNvPr id="12" name="pv-d-1"/>
          <p:cNvSpPr txBox="1"/>
          <p:nvPr/>
        </p:nvSpPr>
        <p:spPr>
          <a:xfrm>
            <a:off x="6537960" y="2697480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Asesu tuir papél (5 papél)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Password Argon2; xave hafoin sala dala 5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Sesaun remata oras 8; HTTPS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Dadus HP enkripta AES-256 ho PIN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Istória kada mudansa no download</a:t>
            </a:r>
            <a:endParaRPr lang="en-US" sz="1550" dirty="0"/>
          </a:p>
        </p:txBody>
      </p:sp>
      <p:sp>
        <p:nvSpPr>
          <p:cNvPr id="13" name="pv-nota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pv-nota-t"/>
          <p:cNvSpPr txBox="1"/>
          <p:nvPr/>
        </p:nvSpPr>
        <p:spPr>
          <a:xfrm>
            <a:off x="822960" y="52578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Prinsípiu: dadus pesoál (naran, foto, fatin ezatu) nunka sai husi sistema ba públiku.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Teknolojia: padraun, livre no fasil atu mantein</a:t>
            </a:r>
            <a:endParaRPr lang="en-US" sz="2600" dirty="0"/>
          </a:p>
        </p:txBody>
      </p:sp>
      <p:sp>
        <p:nvSpPr>
          <p:cNvPr id="3" name="ar-web"/>
          <p:cNvSpPr/>
          <p:nvPr/>
        </p:nvSpPr>
        <p:spPr>
          <a:xfrm>
            <a:off x="548640" y="146304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ar-web-t"/>
          <p:cNvSpPr txBox="1"/>
          <p:nvPr/>
        </p:nvSpPr>
        <p:spPr>
          <a:xfrm>
            <a:off x="621792" y="1463040"/>
            <a:ext cx="2962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Navegadór (web)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Komputadór no HP · lian 4</a:t>
            </a:r>
            <a:endParaRPr lang="en-US" sz="1400" dirty="0"/>
          </a:p>
        </p:txBody>
      </p:sp>
      <p:sp>
        <p:nvSpPr>
          <p:cNvPr id="5" name="ar-pwa"/>
          <p:cNvSpPr/>
          <p:nvPr/>
        </p:nvSpPr>
        <p:spPr>
          <a:xfrm>
            <a:off x="548640" y="292608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ar-pwa-t"/>
          <p:cNvSpPr txBox="1"/>
          <p:nvPr/>
        </p:nvSpPr>
        <p:spPr>
          <a:xfrm>
            <a:off x="621792" y="2926080"/>
            <a:ext cx="2962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 offline (PWA)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HP Android / iPhone · IndexedDB enkripta</a:t>
            </a:r>
            <a:endParaRPr lang="en-US" sz="1400" dirty="0"/>
          </a:p>
        </p:txBody>
      </p:sp>
      <p:sp>
        <p:nvSpPr>
          <p:cNvPr id="7" name="ar-portal"/>
          <p:cNvSpPr/>
          <p:nvPr/>
        </p:nvSpPr>
        <p:spPr>
          <a:xfrm>
            <a:off x="548640" y="438912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r-portal-t"/>
          <p:cNvSpPr txBox="1"/>
          <p:nvPr/>
        </p:nvSpPr>
        <p:spPr>
          <a:xfrm>
            <a:off x="621792" y="4389120"/>
            <a:ext cx="2962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Portal públiku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Ema hotu · API agregadu</a:t>
            </a:r>
            <a:endParaRPr lang="en-US" sz="1400" dirty="0"/>
          </a:p>
        </p:txBody>
      </p:sp>
      <p:sp>
        <p:nvSpPr>
          <p:cNvPr id="9" name="ar-srv"/>
          <p:cNvSpPr/>
          <p:nvPr/>
        </p:nvSpPr>
        <p:spPr>
          <a:xfrm>
            <a:off x="4572000" y="2148840"/>
            <a:ext cx="310896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0" name="ar-srv-t"/>
          <p:cNvSpPr txBox="1"/>
          <p:nvPr/>
        </p:nvSpPr>
        <p:spPr>
          <a:xfrm>
            <a:off x="4645152" y="2148840"/>
            <a:ext cx="29626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Servidór SMKRE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Django 5.2 (Python) · API REST + JWT · Kontrolu asesu · Istória · Notifikasaun email</a:t>
            </a:r>
            <a:endParaRPr lang="en-US" sz="1400" dirty="0"/>
          </a:p>
        </p:txBody>
      </p:sp>
      <p:sp>
        <p:nvSpPr>
          <p:cNvPr id="11" name="ar-db"/>
          <p:cNvSpPr/>
          <p:nvPr/>
        </p:nvSpPr>
        <p:spPr>
          <a:xfrm>
            <a:off x="8549640" y="1463040"/>
            <a:ext cx="3090672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ar-db-t"/>
          <p:cNvSpPr txBox="1"/>
          <p:nvPr/>
        </p:nvSpPr>
        <p:spPr>
          <a:xfrm>
            <a:off x="8622792" y="1463040"/>
            <a:ext cx="2944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Base dadus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PostgreSQL (rekomenda) · MySQL</a:t>
            </a:r>
            <a:endParaRPr lang="en-US" sz="1400" dirty="0"/>
          </a:p>
        </p:txBody>
      </p:sp>
      <p:sp>
        <p:nvSpPr>
          <p:cNvPr id="13" name="ar-files"/>
          <p:cNvSpPr/>
          <p:nvPr/>
        </p:nvSpPr>
        <p:spPr>
          <a:xfrm>
            <a:off x="8549640" y="2926080"/>
            <a:ext cx="3090672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ar-files-t"/>
          <p:cNvSpPr txBox="1"/>
          <p:nvPr/>
        </p:nvSpPr>
        <p:spPr>
          <a:xfrm>
            <a:off x="8622792" y="2926080"/>
            <a:ext cx="2944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File seguru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Foto, vídeo, dokumentu legál</a:t>
            </a:r>
            <a:endParaRPr lang="en-US" sz="1400" dirty="0"/>
          </a:p>
        </p:txBody>
      </p:sp>
      <p:sp>
        <p:nvSpPr>
          <p:cNvPr id="15" name="ar-task"/>
          <p:cNvSpPr/>
          <p:nvPr/>
        </p:nvSpPr>
        <p:spPr>
          <a:xfrm>
            <a:off x="8549640" y="4389120"/>
            <a:ext cx="3090672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ar-task-t"/>
          <p:cNvSpPr txBox="1"/>
          <p:nvPr/>
        </p:nvSpPr>
        <p:spPr>
          <a:xfrm>
            <a:off x="8622792" y="4389120"/>
            <a:ext cx="2944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Knaar automátiku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Lembrete prazu · izin offline</a:t>
            </a:r>
            <a:endParaRPr lang="en-US" sz="1400" dirty="0"/>
          </a:p>
        </p:txBody>
      </p:sp>
      <p:sp>
        <p:nvSpPr>
          <p:cNvPr id="17" name="ar-a0"/>
          <p:cNvSpPr/>
          <p:nvPr/>
        </p:nvSpPr>
        <p:spPr>
          <a:xfrm>
            <a:off x="3657600" y="1984248"/>
            <a:ext cx="914400" cy="75895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ar-a1"/>
          <p:cNvSpPr/>
          <p:nvPr/>
        </p:nvSpPr>
        <p:spPr>
          <a:xfrm>
            <a:off x="3657600" y="3447288"/>
            <a:ext cx="914400" cy="2743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ar-a2"/>
          <p:cNvSpPr/>
          <p:nvPr/>
        </p:nvSpPr>
        <p:spPr>
          <a:xfrm flipV="1">
            <a:off x="3657600" y="4206240"/>
            <a:ext cx="914400" cy="704088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ar-b0"/>
          <p:cNvSpPr/>
          <p:nvPr/>
        </p:nvSpPr>
        <p:spPr>
          <a:xfrm flipV="1">
            <a:off x="7680960" y="1984248"/>
            <a:ext cx="868680" cy="75895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ar-b1"/>
          <p:cNvSpPr/>
          <p:nvPr/>
        </p:nvSpPr>
        <p:spPr>
          <a:xfrm flipV="1">
            <a:off x="7680960" y="3447288"/>
            <a:ext cx="868680" cy="2743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ar-b2"/>
          <p:cNvSpPr/>
          <p:nvPr/>
        </p:nvSpPr>
        <p:spPr>
          <a:xfrm>
            <a:off x="7680960" y="4206240"/>
            <a:ext cx="868680" cy="704088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ar-nota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E6B66"/>
                </a:solidFill>
              </a:rPr>
              <a:t>Software livre hotu (sein lisensa) · mapa OpenStreetMap / Esri · aset lokál (la depende CDN) · kódigu iha GitHub ho teste otomátiku.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Kualidade: testadu, tradusidu no dokumentadu</a:t>
            </a:r>
            <a:endParaRPr lang="en-US" sz="2600" dirty="0"/>
          </a:p>
        </p:txBody>
      </p:sp>
      <p:sp>
        <p:nvSpPr>
          <p:cNvPr id="3" name="kq-0"/>
          <p:cNvSpPr/>
          <p:nvPr/>
        </p:nvSpPr>
        <p:spPr>
          <a:xfrm>
            <a:off x="548640" y="1371600"/>
            <a:ext cx="257860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q-n-0"/>
          <p:cNvSpPr txBox="1"/>
          <p:nvPr/>
        </p:nvSpPr>
        <p:spPr>
          <a:xfrm>
            <a:off x="640080" y="160020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2800" dirty="0"/>
          </a:p>
        </p:txBody>
      </p:sp>
      <p:sp>
        <p:nvSpPr>
          <p:cNvPr id="5" name="kq-d-0"/>
          <p:cNvSpPr txBox="1"/>
          <p:nvPr/>
        </p:nvSpPr>
        <p:spPr>
          <a:xfrm>
            <a:off x="731520" y="25603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teste otomátiku</a:t>
            </a:r>
            <a:endParaRPr lang="en-US" sz="14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pasa hotu molok kada mudansa</a:t>
            </a:r>
            <a:endParaRPr lang="en-US" sz="1400" dirty="0"/>
          </a:p>
        </p:txBody>
      </p:sp>
      <p:sp>
        <p:nvSpPr>
          <p:cNvPr id="6" name="kq-1"/>
          <p:cNvSpPr/>
          <p:nvPr/>
        </p:nvSpPr>
        <p:spPr>
          <a:xfrm>
            <a:off x="3355848" y="1371600"/>
            <a:ext cx="257860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q-n-1"/>
          <p:cNvSpPr txBox="1"/>
          <p:nvPr/>
        </p:nvSpPr>
        <p:spPr>
          <a:xfrm>
            <a:off x="3447288" y="160020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kq-d-1"/>
          <p:cNvSpPr txBox="1"/>
          <p:nvPr/>
        </p:nvSpPr>
        <p:spPr>
          <a:xfrm>
            <a:off x="3538728" y="25603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tradusaun</a:t>
            </a:r>
            <a:endParaRPr lang="en-US" sz="14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Tetun, Português, English, Indonesia</a:t>
            </a:r>
            <a:endParaRPr lang="en-US" sz="1400" dirty="0"/>
          </a:p>
        </p:txBody>
      </p:sp>
      <p:sp>
        <p:nvSpPr>
          <p:cNvPr id="9" name="kq-2"/>
          <p:cNvSpPr/>
          <p:nvPr/>
        </p:nvSpPr>
        <p:spPr>
          <a:xfrm>
            <a:off x="6163056" y="1371600"/>
            <a:ext cx="257860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q-n-2"/>
          <p:cNvSpPr txBox="1"/>
          <p:nvPr/>
        </p:nvSpPr>
        <p:spPr>
          <a:xfrm>
            <a:off x="6254496" y="160020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· 71</a:t>
            </a:r>
            <a:endParaRPr lang="en-US" sz="2800" dirty="0"/>
          </a:p>
        </p:txBody>
      </p:sp>
      <p:sp>
        <p:nvSpPr>
          <p:cNvPr id="11" name="kq-d-2"/>
          <p:cNvSpPr txBox="1"/>
          <p:nvPr/>
        </p:nvSpPr>
        <p:spPr>
          <a:xfrm>
            <a:off x="6345936" y="25603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munisípiu · postu</a:t>
            </a:r>
            <a:endParaRPr lang="en-US" sz="14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tuir DM 31/2026</a:t>
            </a:r>
            <a:endParaRPr lang="en-US" sz="1400" dirty="0"/>
          </a:p>
        </p:txBody>
      </p:sp>
      <p:sp>
        <p:nvSpPr>
          <p:cNvPr id="12" name="kq-3"/>
          <p:cNvSpPr/>
          <p:nvPr/>
        </p:nvSpPr>
        <p:spPr>
          <a:xfrm>
            <a:off x="8970264" y="1371600"/>
            <a:ext cx="257860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q-n-3"/>
          <p:cNvSpPr txBox="1"/>
          <p:nvPr/>
        </p:nvSpPr>
        <p:spPr>
          <a:xfrm>
            <a:off x="9061704" y="160020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 · 2.250</a:t>
            </a:r>
            <a:endParaRPr lang="en-US" sz="2800" dirty="0"/>
          </a:p>
        </p:txBody>
      </p:sp>
      <p:sp>
        <p:nvSpPr>
          <p:cNvPr id="14" name="kq-d-3"/>
          <p:cNvSpPr txBox="1"/>
          <p:nvPr/>
        </p:nvSpPr>
        <p:spPr>
          <a:xfrm>
            <a:off x="9153144" y="256032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suku · aldeia</a:t>
            </a:r>
            <a:endParaRPr lang="en-US" sz="14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prontu ba import iha servidór</a:t>
            </a:r>
            <a:endParaRPr lang="en-US" sz="1400" dirty="0"/>
          </a:p>
        </p:txBody>
      </p:sp>
      <p:sp>
        <p:nvSpPr>
          <p:cNvPr id="15" name="doc-ik-0-sirkulu"/>
          <p:cNvSpPr/>
          <p:nvPr/>
        </p:nvSpPr>
        <p:spPr>
          <a:xfrm>
            <a:off x="548640" y="411480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doc-ik-0-ik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4301338"/>
            <a:ext cx="404165" cy="404165"/>
          </a:xfrm>
          <a:prstGeom prst="rect">
            <a:avLst/>
          </a:prstGeom>
        </p:spPr>
      </p:pic>
      <p:sp>
        <p:nvSpPr>
          <p:cNvPr id="17" name="doc-t-0"/>
          <p:cNvSpPr txBox="1"/>
          <p:nvPr/>
        </p:nvSpPr>
        <p:spPr>
          <a:xfrm>
            <a:off x="1508760" y="4069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Modul formasaun staf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Gia kompletu kada papél (Tetun)</a:t>
            </a:r>
            <a:endParaRPr lang="en-US" sz="1400" dirty="0"/>
          </a:p>
        </p:txBody>
      </p:sp>
      <p:sp>
        <p:nvSpPr>
          <p:cNvPr id="18" name="doc-ik-1-sirkulu"/>
          <p:cNvSpPr/>
          <p:nvPr/>
        </p:nvSpPr>
        <p:spPr>
          <a:xfrm>
            <a:off x="4297680" y="411480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doc-ik-1-ik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18" y="4301338"/>
            <a:ext cx="404165" cy="404165"/>
          </a:xfrm>
          <a:prstGeom prst="rect">
            <a:avLst/>
          </a:prstGeom>
        </p:spPr>
      </p:pic>
      <p:sp>
        <p:nvSpPr>
          <p:cNvPr id="20" name="doc-t-1"/>
          <p:cNvSpPr txBox="1"/>
          <p:nvPr/>
        </p:nvSpPr>
        <p:spPr>
          <a:xfrm>
            <a:off x="5257800" y="4069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Slide formasaun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18 slide ho nota aprezentadór</a:t>
            </a:r>
            <a:endParaRPr lang="en-US" sz="1400" dirty="0"/>
          </a:p>
        </p:txBody>
      </p:sp>
      <p:sp>
        <p:nvSpPr>
          <p:cNvPr id="21" name="doc-ik-2-sirkulu"/>
          <p:cNvSpPr/>
          <p:nvPr/>
        </p:nvSpPr>
        <p:spPr>
          <a:xfrm>
            <a:off x="8046720" y="411480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doc-ik-2-ik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4301338"/>
            <a:ext cx="404165" cy="404165"/>
          </a:xfrm>
          <a:prstGeom prst="rect">
            <a:avLst/>
          </a:prstGeom>
        </p:spPr>
      </p:pic>
      <p:sp>
        <p:nvSpPr>
          <p:cNvPr id="23" name="doc-t-2"/>
          <p:cNvSpPr txBox="1"/>
          <p:nvPr/>
        </p:nvSpPr>
        <p:spPr>
          <a:xfrm>
            <a:off x="9006840" y="4069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Gia deploy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Servidór, backup, atualizasaun</a:t>
            </a:r>
            <a:endParaRPr lang="en-US" sz="1400" dirty="0"/>
          </a:p>
        </p:txBody>
      </p:sp>
      <p:sp>
        <p:nvSpPr>
          <p:cNvPr id="24" name="kq-fonte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B66"/>
                </a:solidFill>
              </a:rPr>
              <a:t>Dadus wilayah husi Jornal da República (Diploma Ministerial N.º 31/2026).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Status: dezenvolvimentu remata, fase teste online</a:t>
            </a:r>
            <a:endParaRPr lang="en-US" sz="2600" dirty="0"/>
          </a:p>
        </p:txBody>
      </p:sp>
      <p:graphicFrame>
        <p:nvGraphicFramePr>
          <p:cNvPr id="16" name="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5330952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Konteúdu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Baze no asesu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papél 5, lian 4, utilizador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Rejistu kazu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Formuláriu, evidénsia, validasaun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Verifikasaun no relatóriu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Fluxu dala rua, dashboard, mapa, 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offline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PWA, enkriptasaun, sinkron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Legál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Vault, nota, prazu, dossier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públiku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Pin, gráfiku, publikasaun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Adisionál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Excel, galeria, hadia fatin, modal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" name="status-nota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Ohin: teste online iha redebarai.pythonanywhere.com (servidór provizóriu).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Pasu tuir mai: husi teste ba uza ofisiál</a:t>
            </a:r>
            <a:endParaRPr lang="en-US" sz="2600" dirty="0"/>
          </a:p>
        </p:txBody>
      </p:sp>
      <p:sp>
        <p:nvSpPr>
          <p:cNvPr id="3" name="rd-chev-0"/>
          <p:cNvSpPr/>
          <p:nvPr/>
        </p:nvSpPr>
        <p:spPr>
          <a:xfrm>
            <a:off x="548640" y="1463040"/>
            <a:ext cx="2286000" cy="868680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rd-n-0"/>
          <p:cNvSpPr txBox="1"/>
          <p:nvPr/>
        </p:nvSpPr>
        <p:spPr>
          <a:xfrm>
            <a:off x="86868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rd-t-0"/>
          <p:cNvSpPr txBox="1"/>
          <p:nvPr/>
        </p:nvSpPr>
        <p:spPr>
          <a:xfrm>
            <a:off x="594360" y="25603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Servidór ofisiál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PostgreSQL, HTTPS, backup kada loron, domínio Rede ba Rai</a:t>
            </a:r>
            <a:endParaRPr lang="en-US" sz="1400" dirty="0"/>
          </a:p>
        </p:txBody>
      </p:sp>
      <p:sp>
        <p:nvSpPr>
          <p:cNvPr id="6" name="rd-chev-1"/>
          <p:cNvSpPr/>
          <p:nvPr/>
        </p:nvSpPr>
        <p:spPr>
          <a:xfrm>
            <a:off x="2743200" y="1463040"/>
            <a:ext cx="2286000" cy="8686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d-n-1"/>
          <p:cNvSpPr txBox="1"/>
          <p:nvPr/>
        </p:nvSpPr>
        <p:spPr>
          <a:xfrm>
            <a:off x="306324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rd-t-1"/>
          <p:cNvSpPr txBox="1"/>
          <p:nvPr/>
        </p:nvSpPr>
        <p:spPr>
          <a:xfrm>
            <a:off x="2788920" y="25603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Formasaun staf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Modul + slide; prátika ho konta teste</a:t>
            </a:r>
            <a:endParaRPr lang="en-US" sz="1400" dirty="0"/>
          </a:p>
        </p:txBody>
      </p:sp>
      <p:sp>
        <p:nvSpPr>
          <p:cNvPr id="9" name="rd-chev-2"/>
          <p:cNvSpPr/>
          <p:nvPr/>
        </p:nvSpPr>
        <p:spPr>
          <a:xfrm>
            <a:off x="4937760" y="1463040"/>
            <a:ext cx="2286000" cy="86868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rd-n-2"/>
          <p:cNvSpPr txBox="1"/>
          <p:nvPr/>
        </p:nvSpPr>
        <p:spPr>
          <a:xfrm>
            <a:off x="525780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rd-t-2"/>
          <p:cNvSpPr txBox="1"/>
          <p:nvPr/>
        </p:nvSpPr>
        <p:spPr>
          <a:xfrm>
            <a:off x="4983480" y="25603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Munisípiu ida, Investigadór balun, semana 4–6</a:t>
            </a:r>
            <a:endParaRPr lang="en-US" sz="1400" dirty="0"/>
          </a:p>
        </p:txBody>
      </p:sp>
      <p:sp>
        <p:nvSpPr>
          <p:cNvPr id="12" name="rd-chev-3"/>
          <p:cNvSpPr/>
          <p:nvPr/>
        </p:nvSpPr>
        <p:spPr>
          <a:xfrm>
            <a:off x="7132320" y="1463040"/>
            <a:ext cx="2286000" cy="86868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rd-n-3"/>
          <p:cNvSpPr txBox="1"/>
          <p:nvPr/>
        </p:nvSpPr>
        <p:spPr>
          <a:xfrm>
            <a:off x="745236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rd-t-3"/>
          <p:cNvSpPr txBox="1"/>
          <p:nvPr/>
        </p:nvSpPr>
        <p:spPr>
          <a:xfrm>
            <a:off x="7178040" y="25603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Avaliasaun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Feedback staf no komunidade; hadia</a:t>
            </a:r>
            <a:endParaRPr lang="en-US" sz="1400" dirty="0"/>
          </a:p>
        </p:txBody>
      </p:sp>
      <p:sp>
        <p:nvSpPr>
          <p:cNvPr id="15" name="rd-chev-4"/>
          <p:cNvSpPr/>
          <p:nvPr/>
        </p:nvSpPr>
        <p:spPr>
          <a:xfrm>
            <a:off x="9326880" y="1463040"/>
            <a:ext cx="2286000" cy="86868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rd-n-4"/>
          <p:cNvSpPr txBox="1"/>
          <p:nvPr/>
        </p:nvSpPr>
        <p:spPr>
          <a:xfrm>
            <a:off x="964692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17" name="rd-t-4"/>
          <p:cNvSpPr txBox="1"/>
          <p:nvPr/>
        </p:nvSpPr>
        <p:spPr>
          <a:xfrm>
            <a:off x="9372600" y="25603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Uza nasionál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Munisípiu hotu; import dadus tuan</a:t>
            </a:r>
            <a:endParaRPr lang="en-US" sz="1400" dirty="0"/>
          </a:p>
        </p:txBody>
      </p:sp>
      <p:sp>
        <p:nvSpPr>
          <p:cNvPr id="18" name="rd-risku"/>
          <p:cNvSpPr/>
          <p:nvPr/>
        </p:nvSpPr>
        <p:spPr>
          <a:xfrm>
            <a:off x="548640" y="4343400"/>
            <a:ext cx="11094415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d-risku-t"/>
          <p:cNvSpPr txBox="1"/>
          <p:nvPr/>
        </p:nvSpPr>
        <p:spPr>
          <a:xfrm>
            <a:off x="822960" y="4434840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Antes uza ofisiál (teknikál):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DEBUG=False iha servidór · troka kontaktu portal ba kontaktu loos · troka API key mapa ne'ebé hatudu ona · backup automátiku · konta Superadmin ba ema rua.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Desizaun ne'ebé ami presiza husi lideransa</a:t>
            </a:r>
            <a:endParaRPr lang="en-US" sz="2600" dirty="0"/>
          </a:p>
        </p:txBody>
      </p:sp>
      <p:sp>
        <p:nvSpPr>
          <p:cNvPr id="3" name="dz2-0"/>
          <p:cNvSpPr/>
          <p:nvPr/>
        </p:nvSpPr>
        <p:spPr>
          <a:xfrm>
            <a:off x="548640" y="132588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z2-n-0"/>
          <p:cNvSpPr/>
          <p:nvPr/>
        </p:nvSpPr>
        <p:spPr>
          <a:xfrm>
            <a:off x="777240" y="162763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dz2-n-0-n"/>
          <p:cNvSpPr txBox="1"/>
          <p:nvPr/>
        </p:nvSpPr>
        <p:spPr>
          <a:xfrm>
            <a:off x="77724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dz2-t-0"/>
          <p:cNvSpPr txBox="1"/>
          <p:nvPr/>
        </p:nvSpPr>
        <p:spPr>
          <a:xfrm>
            <a:off x="1691640" y="143560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Servidór no domínio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Servidór propriu ka hosting? Domínio (ex. smkre.redebarai.org)?</a:t>
            </a:r>
            <a:endParaRPr lang="en-US" sz="1400" dirty="0"/>
          </a:p>
        </p:txBody>
      </p:sp>
      <p:sp>
        <p:nvSpPr>
          <p:cNvPr id="7" name="dz2-1"/>
          <p:cNvSpPr/>
          <p:nvPr/>
        </p:nvSpPr>
        <p:spPr>
          <a:xfrm>
            <a:off x="6172200" y="132588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z2-n-1"/>
          <p:cNvSpPr/>
          <p:nvPr/>
        </p:nvSpPr>
        <p:spPr>
          <a:xfrm>
            <a:off x="6400800" y="162763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dz2-n-1-n"/>
          <p:cNvSpPr txBox="1"/>
          <p:nvPr/>
        </p:nvSpPr>
        <p:spPr>
          <a:xfrm>
            <a:off x="640080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2</a:t>
            </a:r>
            <a:endParaRPr lang="en-US" sz="2080" dirty="0"/>
          </a:p>
        </p:txBody>
      </p:sp>
      <p:sp>
        <p:nvSpPr>
          <p:cNvPr id="10" name="dz2-t-1"/>
          <p:cNvSpPr txBox="1"/>
          <p:nvPr/>
        </p:nvSpPr>
        <p:spPr>
          <a:xfrm>
            <a:off x="7315200" y="143560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Munisípiu piloto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Munisípiu ida no data hahú piloto.</a:t>
            </a:r>
            <a:endParaRPr lang="en-US" sz="1400" dirty="0"/>
          </a:p>
        </p:txBody>
      </p:sp>
      <p:sp>
        <p:nvSpPr>
          <p:cNvPr id="11" name="dz2-2"/>
          <p:cNvSpPr/>
          <p:nvPr/>
        </p:nvSpPr>
        <p:spPr>
          <a:xfrm>
            <a:off x="548640" y="288036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z2-n-2"/>
          <p:cNvSpPr/>
          <p:nvPr/>
        </p:nvSpPr>
        <p:spPr>
          <a:xfrm>
            <a:off x="777240" y="318211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dz2-n-2-n"/>
          <p:cNvSpPr txBox="1"/>
          <p:nvPr/>
        </p:nvSpPr>
        <p:spPr>
          <a:xfrm>
            <a:off x="777240" y="3182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3</a:t>
            </a:r>
            <a:endParaRPr lang="en-US" sz="2080" dirty="0"/>
          </a:p>
        </p:txBody>
      </p:sp>
      <p:sp>
        <p:nvSpPr>
          <p:cNvPr id="14" name="dz2-t-2"/>
          <p:cNvSpPr txBox="1"/>
          <p:nvPr/>
        </p:nvSpPr>
        <p:spPr>
          <a:xfrm>
            <a:off x="1691640" y="299008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Responsável sistema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 mak Superadmin (2) no Admin; ekipa TI ba manutensaun.</a:t>
            </a:r>
            <a:endParaRPr lang="en-US" sz="1400" dirty="0"/>
          </a:p>
        </p:txBody>
      </p:sp>
      <p:sp>
        <p:nvSpPr>
          <p:cNvPr id="15" name="dz2-3"/>
          <p:cNvSpPr/>
          <p:nvPr/>
        </p:nvSpPr>
        <p:spPr>
          <a:xfrm>
            <a:off x="6172200" y="288036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z2-n-3"/>
          <p:cNvSpPr/>
          <p:nvPr/>
        </p:nvSpPr>
        <p:spPr>
          <a:xfrm>
            <a:off x="6400800" y="318211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dz2-n-3-n"/>
          <p:cNvSpPr txBox="1"/>
          <p:nvPr/>
        </p:nvSpPr>
        <p:spPr>
          <a:xfrm>
            <a:off x="6400800" y="3182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4</a:t>
            </a:r>
            <a:endParaRPr lang="en-US" sz="2080" dirty="0"/>
          </a:p>
        </p:txBody>
      </p:sp>
      <p:sp>
        <p:nvSpPr>
          <p:cNvPr id="18" name="dz2-t-3"/>
          <p:cNvSpPr txBox="1"/>
          <p:nvPr/>
        </p:nvSpPr>
        <p:spPr>
          <a:xfrm>
            <a:off x="7315200" y="299008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Kontaktu portal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Telefone, email no enderesu ofisiál ba portal públiku.</a:t>
            </a:r>
            <a:endParaRPr lang="en-US" sz="1400" dirty="0"/>
          </a:p>
        </p:txBody>
      </p:sp>
      <p:sp>
        <p:nvSpPr>
          <p:cNvPr id="19" name="dz2-4"/>
          <p:cNvSpPr/>
          <p:nvPr/>
        </p:nvSpPr>
        <p:spPr>
          <a:xfrm>
            <a:off x="548640" y="44348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z2-n-4"/>
          <p:cNvSpPr/>
          <p:nvPr/>
        </p:nvSpPr>
        <p:spPr>
          <a:xfrm>
            <a:off x="777240" y="473659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dz2-n-4-n"/>
          <p:cNvSpPr txBox="1"/>
          <p:nvPr/>
        </p:nvSpPr>
        <p:spPr>
          <a:xfrm>
            <a:off x="777240" y="4736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5</a:t>
            </a:r>
            <a:endParaRPr lang="en-US" sz="2080" dirty="0"/>
          </a:p>
        </p:txBody>
      </p:sp>
      <p:sp>
        <p:nvSpPr>
          <p:cNvPr id="22" name="dz2-t-4"/>
          <p:cNvSpPr txBox="1"/>
          <p:nvPr/>
        </p:nvSpPr>
        <p:spPr>
          <a:xfrm>
            <a:off x="1691640" y="454456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Polítika publikasaun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 mak aprova dadus no policy brief ba públiku.</a:t>
            </a:r>
            <a:endParaRPr lang="en-US" sz="1400" dirty="0"/>
          </a:p>
        </p:txBody>
      </p:sp>
      <p:sp>
        <p:nvSpPr>
          <p:cNvPr id="23" name="dz2-5"/>
          <p:cNvSpPr/>
          <p:nvPr/>
        </p:nvSpPr>
        <p:spPr>
          <a:xfrm>
            <a:off x="6172200" y="44348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z2-n-5"/>
          <p:cNvSpPr/>
          <p:nvPr/>
        </p:nvSpPr>
        <p:spPr>
          <a:xfrm>
            <a:off x="6400800" y="473659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dz2-n-5-n"/>
          <p:cNvSpPr txBox="1"/>
          <p:nvPr/>
        </p:nvSpPr>
        <p:spPr>
          <a:xfrm>
            <a:off x="6400800" y="4736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6</a:t>
            </a:r>
            <a:endParaRPr lang="en-US" sz="2080" dirty="0"/>
          </a:p>
        </p:txBody>
      </p:sp>
      <p:sp>
        <p:nvSpPr>
          <p:cNvPr id="26" name="dz2-t-5"/>
          <p:cNvSpPr txBox="1"/>
          <p:nvPr/>
        </p:nvSpPr>
        <p:spPr>
          <a:xfrm>
            <a:off x="7315200" y="454456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Lian formasaun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Material formasaun mós iha Indonesia ka Português?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Obrigadu!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Pergunta no diskusaun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Demonstrasaun direta: redebarai.pythonanywhere.com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Portal · Rejistu kazu · App offline · Verifikasaun · Dashboard</a:t>
            </a:r>
            <a:endParaRPr lang="en-US" sz="2000" dirty="0"/>
          </a:p>
        </p:txBody>
      </p:sp>
      <p:sp>
        <p:nvSpPr>
          <p:cNvPr id="4" name="remata-ik-sirkulu"/>
          <p:cNvSpPr/>
          <p:nvPr/>
        </p:nvSpPr>
        <p:spPr>
          <a:xfrm>
            <a:off x="9235440" y="219456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mata-ik-ik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8243" y="2677363"/>
            <a:ext cx="1046074" cy="1046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de ba Rai">
  <a:themeElements>
    <a:clrScheme name="Rede ba Rai">
      <a:dk1>
        <a:srgbClr val="1F2A26"/>
      </a:dk1>
      <a:lt1>
        <a:srgbClr val="FFFFFF"/>
      </a:lt1>
      <a:dk2>
        <a:srgbClr val="0B4F3C"/>
      </a:dk2>
      <a:lt2>
        <a:srgbClr val="EAF5EF"/>
      </a:lt2>
      <a:accent1>
        <a:srgbClr val="0E8A68"/>
      </a:accent1>
      <a:accent2>
        <a:srgbClr val="82DA36"/>
      </a:accent2>
      <a:accent3>
        <a:srgbClr val="E8772E"/>
      </a:accent3>
      <a:accent4>
        <a:srgbClr val="D63C3C"/>
      </a:accent4>
      <a:accent5>
        <a:srgbClr val="2F6AA6"/>
      </a:accent5>
      <a:accent6>
        <a:srgbClr val="C99A06"/>
      </a:accent6>
      <a:hlink>
        <a:srgbClr val="0E8A68"/>
      </a:hlink>
      <a:folHlink>
        <a:srgbClr val="0B6B50"/>
      </a:folHlink>
    </a:clrScheme>
    <a:fontScheme name="Rede ba R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Rede ba Rai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SMKRE — Aprezentasaun ba Lideransa</dc:title>
  <dc:subject>PptxGenJS Presentation</dc:subject>
  <dc:creator>Rede ba Rai</dc:creator>
  <cp:lastModifiedBy>Rede ba Rai</cp:lastModifiedBy>
  <cp:revision>1</cp:revision>
  <dcterms:created xsi:type="dcterms:W3CDTF">2026-10-07T03:29:51Z</dcterms:created>
  <dcterms:modified xsi:type="dcterms:W3CDTF">2026-10-07T03:29:51Z</dcterms:modified>
</cp:coreProperties>
</file>